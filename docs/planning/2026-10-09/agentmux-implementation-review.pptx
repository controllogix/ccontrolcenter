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0c4f5674304738" /><Relationship Type="http://schemas.openxmlformats.org/officeDocument/2006/relationships/extended-properties" Target="/docProps/app.xml" Id="Rab2baeb73f8a4060" /><Relationship Type="http://schemas.openxmlformats.org/officeDocument/2006/relationships/officeDocument" Target="/ppt/presentation.xml" Id="R6ca14cfebb3e4704" /></Relationships>
</file>

<file path=ppt/presentation.xml><?xml version="1.0" encoding="utf-8"?>
<p:presentation xmlns:p="http://schemas.openxmlformats.org/presentationml/2006/main">
  <p:sldMasterIdLst>
    <p:sldMasterId xmlns:r="http://schemas.openxmlformats.org/officeDocument/2006/relationships" id="2147483648" r:id="R10bbfd2b3f004402"/>
  </p:sldMasterIdLst>
  <p:notesMasterIdLst>
    <p:notesMasterId xmlns:r="http://schemas.openxmlformats.org/officeDocument/2006/relationships" r:id="Rff76bcafff39432c"/>
  </p:notesMasterIdLst>
  <p:sldIdLst>
    <p:sldId xmlns:r="http://schemas.openxmlformats.org/officeDocument/2006/relationships" id="256" r:id="Re9950307c3624f19"/>
    <p:sldId xmlns:r="http://schemas.openxmlformats.org/officeDocument/2006/relationships" id="257" r:id="Rd9fd0e916ce445ea"/>
    <p:sldId xmlns:r="http://schemas.openxmlformats.org/officeDocument/2006/relationships" id="258" r:id="R9472543e632a4890"/>
    <p:sldId xmlns:r="http://schemas.openxmlformats.org/officeDocument/2006/relationships" id="259" r:id="R9e712e812871452a"/>
    <p:sldId xmlns:r="http://schemas.openxmlformats.org/officeDocument/2006/relationships" id="260" r:id="R3241cb75f04f4b90"/>
    <p:sldId xmlns:r="http://schemas.openxmlformats.org/officeDocument/2006/relationships" id="261" r:id="Re18c626389e742a0"/>
    <p:sldId xmlns:r="http://schemas.openxmlformats.org/officeDocument/2006/relationships" id="262" r:id="Rbb7b72637efe4ec6"/>
    <p:sldId xmlns:r="http://schemas.openxmlformats.org/officeDocument/2006/relationships" id="263" r:id="R3bc01c7cdb034fb0"/>
    <p:sldId xmlns:r="http://schemas.openxmlformats.org/officeDocument/2006/relationships" id="264" r:id="R9b9a9f01f5d04900"/>
    <p:sldId xmlns:r="http://schemas.openxmlformats.org/officeDocument/2006/relationships" id="265" r:id="Rcb0f08eed6a24ec4"/>
    <p:sldId xmlns:r="http://schemas.openxmlformats.org/officeDocument/2006/relationships" id="266" r:id="R8bdaab35d43d4e66"/>
    <p:sldId xmlns:r="http://schemas.openxmlformats.org/officeDocument/2006/relationships" id="267" r:id="Ree407faebf9242c7"/>
    <p:sldId xmlns:r="http://schemas.openxmlformats.org/officeDocument/2006/relationships" id="268" r:id="Ra10e99bfdf21435a"/>
    <p:sldId xmlns:r="http://schemas.openxmlformats.org/officeDocument/2006/relationships" id="269" r:id="Ra5ede353d8334497"/>
    <p:sldId xmlns:r="http://schemas.openxmlformats.org/officeDocument/2006/relationships" id="270" r:id="Re6698c66fef94fa5"/>
    <p:sldId xmlns:r="http://schemas.openxmlformats.org/officeDocument/2006/relationships" id="271" r:id="R69fd81f3fe1a4b87"/>
    <p:sldId xmlns:r="http://schemas.openxmlformats.org/officeDocument/2006/relationships" id="272" r:id="R55e0648383a24235"/>
    <p:sldId xmlns:r="http://schemas.openxmlformats.org/officeDocument/2006/relationships" id="273" r:id="R3fee1271d795425c"/>
    <p:sldId xmlns:r="http://schemas.openxmlformats.org/officeDocument/2006/relationships" id="274" r:id="Ra6a799e6f9ec4d55"/>
    <p:sldId xmlns:r="http://schemas.openxmlformats.org/officeDocument/2006/relationships" id="275" r:id="Rfa3d58af227e4e17"/>
    <p:sldId xmlns:r="http://schemas.openxmlformats.org/officeDocument/2006/relationships" id="276" r:id="R9fe53761bc56463c"/>
    <p:sldId xmlns:r="http://schemas.openxmlformats.org/officeDocument/2006/relationships" id="277" r:id="Rcc97dc9c16514125"/>
    <p:sldId xmlns:r="http://schemas.openxmlformats.org/officeDocument/2006/relationships" id="278" r:id="Rf1d27bfdbd7b4d1b"/>
    <p:sldId xmlns:r="http://schemas.openxmlformats.org/officeDocument/2006/relationships" id="279" r:id="Rba32a71cf4724ed3"/>
    <p:sldId xmlns:r="http://schemas.openxmlformats.org/officeDocument/2006/relationships" id="280" r:id="Rfe7603c1139c48d3"/>
    <p:sldId xmlns:r="http://schemas.openxmlformats.org/officeDocument/2006/relationships" id="281" r:id="R0c92f6ae8e8149ee"/>
    <p:sldId xmlns:r="http://schemas.openxmlformats.org/officeDocument/2006/relationships" id="282" r:id="R36321328bb7240fb"/>
    <p:sldId xmlns:r="http://schemas.openxmlformats.org/officeDocument/2006/relationships" id="283" r:id="Rbff6fd257578498d"/>
    <p:sldId xmlns:r="http://schemas.openxmlformats.org/officeDocument/2006/relationships" id="284" r:id="Rfc2b6d1ce4ac4bb4"/>
    <p:sldId xmlns:r="http://schemas.openxmlformats.org/officeDocument/2006/relationships" id="285" r:id="Re0870c4bdd0d4c06"/>
    <p:sldId xmlns:r="http://schemas.openxmlformats.org/officeDocument/2006/relationships" id="286" r:id="R59696b90ffd14b6d"/>
    <p:sldId xmlns:r="http://schemas.openxmlformats.org/officeDocument/2006/relationships" id="287" r:id="R58af6dfc998c4c31"/>
    <p:sldId xmlns:r="http://schemas.openxmlformats.org/officeDocument/2006/relationships" id="288" r:id="R179380e26a624e1d"/>
    <p:sldId xmlns:r="http://schemas.openxmlformats.org/officeDocument/2006/relationships" id="289" r:id="R82cef310419441b6"/>
    <p:sldId xmlns:r="http://schemas.openxmlformats.org/officeDocument/2006/relationships" id="290" r:id="R9c5e093d36c3475d"/>
    <p:sldId xmlns:r="http://schemas.openxmlformats.org/officeDocument/2006/relationships" id="291" r:id="Rb344ae4594df430e"/>
    <p:sldId xmlns:r="http://schemas.openxmlformats.org/officeDocument/2006/relationships" id="292" r:id="Rd955990baa624e62"/>
    <p:sldId xmlns:r="http://schemas.openxmlformats.org/officeDocument/2006/relationships" id="293" r:id="Rdeea271ff0574917"/>
    <p:sldId xmlns:r="http://schemas.openxmlformats.org/officeDocument/2006/relationships" id="294" r:id="Rf6c980eceddd4d9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819ac995de4d79" /><Relationship Type="http://schemas.openxmlformats.org/officeDocument/2006/relationships/slideMaster" Target="/ppt/slideMasters/slideMaster1.xml" Id="R10bbfd2b3f004402" /><Relationship Type="http://schemas.openxmlformats.org/officeDocument/2006/relationships/notesMaster" Target="/ppt/notesMasters/notesMaster1.xml" Id="Rff76bcafff39432c" /><Relationship Type="http://schemas.openxmlformats.org/officeDocument/2006/relationships/presProps" Target="/ppt/presProps.xml" Id="R89391e861ee04d51" /><Relationship Type="http://schemas.openxmlformats.org/officeDocument/2006/relationships/tableStyles" Target="/ppt/tableStyles.xml" Id="R75c215daa2274c48" /><Relationship Type="http://schemas.openxmlformats.org/officeDocument/2006/relationships/slide" Target="/ppt/slides/slide1.xml" Id="Re9950307c3624f19" /><Relationship Type="http://schemas.openxmlformats.org/officeDocument/2006/relationships/slide" Target="/ppt/slides/slide2.xml" Id="Rd9fd0e916ce445ea" /><Relationship Type="http://schemas.openxmlformats.org/officeDocument/2006/relationships/slide" Target="/ppt/slides/slide3.xml" Id="R9472543e632a4890" /><Relationship Type="http://schemas.openxmlformats.org/officeDocument/2006/relationships/slide" Target="/ppt/slides/slide4.xml" Id="R9e712e812871452a" /><Relationship Type="http://schemas.openxmlformats.org/officeDocument/2006/relationships/slide" Target="/ppt/slides/slide5.xml" Id="R3241cb75f04f4b90" /><Relationship Type="http://schemas.openxmlformats.org/officeDocument/2006/relationships/slide" Target="/ppt/slides/slide6.xml" Id="Re18c626389e742a0" /><Relationship Type="http://schemas.openxmlformats.org/officeDocument/2006/relationships/slide" Target="/ppt/slides/slide7.xml" Id="Rbb7b72637efe4ec6" /><Relationship Type="http://schemas.openxmlformats.org/officeDocument/2006/relationships/slide" Target="/ppt/slides/slide8.xml" Id="R3bc01c7cdb034fb0" /><Relationship Type="http://schemas.openxmlformats.org/officeDocument/2006/relationships/slide" Target="/ppt/slides/slide9.xml" Id="R9b9a9f01f5d04900" /><Relationship Type="http://schemas.openxmlformats.org/officeDocument/2006/relationships/slide" Target="/ppt/slides/slide10.xml" Id="Rcb0f08eed6a24ec4" /><Relationship Type="http://schemas.openxmlformats.org/officeDocument/2006/relationships/slide" Target="/ppt/slides/slide11.xml" Id="R8bdaab35d43d4e66" /><Relationship Type="http://schemas.openxmlformats.org/officeDocument/2006/relationships/slide" Target="/ppt/slides/slide12.xml" Id="Ree407faebf9242c7" /><Relationship Type="http://schemas.openxmlformats.org/officeDocument/2006/relationships/slide" Target="/ppt/slides/slide13.xml" Id="Ra10e99bfdf21435a" /><Relationship Type="http://schemas.openxmlformats.org/officeDocument/2006/relationships/slide" Target="/ppt/slides/slide14.xml" Id="Ra5ede353d8334497" /><Relationship Type="http://schemas.openxmlformats.org/officeDocument/2006/relationships/slide" Target="/ppt/slides/slide15.xml" Id="Re6698c66fef94fa5" /><Relationship Type="http://schemas.openxmlformats.org/officeDocument/2006/relationships/slide" Target="/ppt/slides/slide16.xml" Id="R69fd81f3fe1a4b87" /><Relationship Type="http://schemas.openxmlformats.org/officeDocument/2006/relationships/slide" Target="/ppt/slides/slide17.xml" Id="R55e0648383a24235" /><Relationship Type="http://schemas.openxmlformats.org/officeDocument/2006/relationships/slide" Target="/ppt/slides/slide18.xml" Id="R3fee1271d795425c" /><Relationship Type="http://schemas.openxmlformats.org/officeDocument/2006/relationships/slide" Target="/ppt/slides/slide19.xml" Id="Ra6a799e6f9ec4d55" /><Relationship Type="http://schemas.openxmlformats.org/officeDocument/2006/relationships/slide" Target="/ppt/slides/slide20.xml" Id="Rfa3d58af227e4e17" /><Relationship Type="http://schemas.openxmlformats.org/officeDocument/2006/relationships/slide" Target="/ppt/slides/slide21.xml" Id="R9fe53761bc56463c" /><Relationship Type="http://schemas.openxmlformats.org/officeDocument/2006/relationships/slide" Target="/ppt/slides/slide22.xml" Id="Rcc97dc9c16514125" /><Relationship Type="http://schemas.openxmlformats.org/officeDocument/2006/relationships/slide" Target="/ppt/slides/slide23.xml" Id="Rf1d27bfdbd7b4d1b" /><Relationship Type="http://schemas.openxmlformats.org/officeDocument/2006/relationships/slide" Target="/ppt/slides/slide24.xml" Id="Rba32a71cf4724ed3" /><Relationship Type="http://schemas.openxmlformats.org/officeDocument/2006/relationships/slide" Target="/ppt/slides/slide25.xml" Id="Rfe7603c1139c48d3" /><Relationship Type="http://schemas.openxmlformats.org/officeDocument/2006/relationships/slide" Target="/ppt/slides/slide26.xml" Id="R0c92f6ae8e8149ee" /><Relationship Type="http://schemas.openxmlformats.org/officeDocument/2006/relationships/slide" Target="/ppt/slides/slide27.xml" Id="R36321328bb7240fb" /><Relationship Type="http://schemas.openxmlformats.org/officeDocument/2006/relationships/slide" Target="/ppt/slides/slide28.xml" Id="Rbff6fd257578498d" /><Relationship Type="http://schemas.openxmlformats.org/officeDocument/2006/relationships/slide" Target="/ppt/slides/slide29.xml" Id="Rfc2b6d1ce4ac4bb4" /><Relationship Type="http://schemas.openxmlformats.org/officeDocument/2006/relationships/slide" Target="/ppt/slides/slide30.xml" Id="Re0870c4bdd0d4c06" /><Relationship Type="http://schemas.openxmlformats.org/officeDocument/2006/relationships/slide" Target="/ppt/slides/slide31.xml" Id="R59696b90ffd14b6d" /><Relationship Type="http://schemas.openxmlformats.org/officeDocument/2006/relationships/slide" Target="/ppt/slides/slide32.xml" Id="R58af6dfc998c4c31" /><Relationship Type="http://schemas.openxmlformats.org/officeDocument/2006/relationships/slide" Target="/ppt/slides/slide33.xml" Id="R179380e26a624e1d" /><Relationship Type="http://schemas.openxmlformats.org/officeDocument/2006/relationships/slide" Target="/ppt/slides/slide34.xml" Id="R82cef310419441b6" /><Relationship Type="http://schemas.openxmlformats.org/officeDocument/2006/relationships/slide" Target="/ppt/slides/slide35.xml" Id="R9c5e093d36c3475d" /><Relationship Type="http://schemas.openxmlformats.org/officeDocument/2006/relationships/slide" Target="/ppt/slides/slide36.xml" Id="Rb344ae4594df430e" /><Relationship Type="http://schemas.openxmlformats.org/officeDocument/2006/relationships/slide" Target="/ppt/slides/slide37.xml" Id="Rd955990baa624e62" /><Relationship Type="http://schemas.openxmlformats.org/officeDocument/2006/relationships/slide" Target="/ppt/slides/slide38.xml" Id="Rdeea271ff0574917" /><Relationship Type="http://schemas.openxmlformats.org/officeDocument/2006/relationships/slide" Target="/ppt/slides/slide39.xml" Id="Rf6c980eceddd4d9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e7eb1623254dc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7bc839fae24cc1" /><Relationship Type="http://schemas.openxmlformats.org/officeDocument/2006/relationships/notesMaster" Target="/ppt/notesMasters/notesMaster1.xml" Id="R6d201eabd2c04f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e19dcb2e13b64538" /><Relationship Type="http://schemas.openxmlformats.org/officeDocument/2006/relationships/notesMaster" Target="/ppt/notesMasters/notesMaster1.xml" Id="R2a1275a072734a9f" /></Relationships>
</file>

<file path=ppt/notesSlides/_rels/notesSlide3.xml.rels>&#65279;<?xml version="1.0" encoding="utf-8"?><Relationships xmlns="http://schemas.openxmlformats.org/package/2006/relationships"><Relationship Type="http://schemas.openxmlformats.org/officeDocument/2006/relationships/slide" Target="/ppt/slides/slide3.xml" Id="R74728c1eec544aaa" /><Relationship Type="http://schemas.openxmlformats.org/officeDocument/2006/relationships/notesMaster" Target="/ppt/notesMasters/notesMaster1.xml" Id="R4643fd7aade848e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ddab3b49d9433c" /><Relationship Type="http://schemas.openxmlformats.org/officeDocument/2006/relationships/notesMaster" Target="/ppt/notesMasters/notesMaster1.xml" Id="R44e9ed28fd084a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23385253884123" /><Relationship Type="http://schemas.openxmlformats.org/officeDocument/2006/relationships/notesMaster" Target="/ppt/notesMasters/notesMaster1.xml" Id="Rc44cc9ac1e4142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1ce45233042f4f39" /><Relationship Type="http://schemas.openxmlformats.org/officeDocument/2006/relationships/notesMaster" Target="/ppt/notesMasters/notesMaster1.xml" Id="Raf5a67045de942d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62c8269272840a1" /><Relationship Type="http://schemas.openxmlformats.org/officeDocument/2006/relationships/notesMaster" Target="/ppt/notesMasters/notesMaster1.xml" Id="R28ee858762ed40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6b7669dd147a4eb1" /><Relationship Type="http://schemas.openxmlformats.org/officeDocument/2006/relationships/notesMaster" Target="/ppt/notesMasters/notesMaster1.xml" Id="Rf08e32393200403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d4cb519e454d4a" /><Relationship Type="http://schemas.openxmlformats.org/officeDocument/2006/relationships/notesMaster" Target="/ppt/notesMasters/notesMaster1.xml" Id="Rd41aec9809814f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e44082065c24ba0" /><Relationship Type="http://schemas.openxmlformats.org/officeDocument/2006/relationships/notesMaster" Target="/ppt/notesMasters/notesMaster1.xml" Id="Racb25d1e080b4a3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5cb55eea9ae4db3" /><Relationship Type="http://schemas.openxmlformats.org/officeDocument/2006/relationships/notesMaster" Target="/ppt/notesMasters/notesMaster1.xml" Id="Ra73438ba57c2422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6ff0142dd64972" /><Relationship Type="http://schemas.openxmlformats.org/officeDocument/2006/relationships/notesMaster" Target="/ppt/notesMasters/notesMaster1.xml" Id="R6e0e5c9d8129446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f0351ea2514afc" /><Relationship Type="http://schemas.openxmlformats.org/officeDocument/2006/relationships/notesMaster" Target="/ppt/notesMasters/notesMaster1.xml" Id="Rb986a14dffd3469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2941d6f87144d74" /><Relationship Type="http://schemas.openxmlformats.org/officeDocument/2006/relationships/notesMaster" Target="/ppt/notesMasters/notesMaster1.xml" Id="Rc584b489c05c4b88"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4974196e7f14847" /><Relationship Type="http://schemas.openxmlformats.org/officeDocument/2006/relationships/notesMaster" Target="/ppt/notesMasters/notesMaster1.xml" Id="R73bba4c655ba4bd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db7ef6919764f39" /><Relationship Type="http://schemas.openxmlformats.org/officeDocument/2006/relationships/notesMaster" Target="/ppt/notesMasters/notesMaster1.xml" Id="R60ab14657a6a4e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8358b795bef4d0e" /><Relationship Type="http://schemas.openxmlformats.org/officeDocument/2006/relationships/notesMaster" Target="/ppt/notesMasters/notesMaster1.xml" Id="Rf617a9ae8ddd4e2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7fa4dc550e540b5" /><Relationship Type="http://schemas.openxmlformats.org/officeDocument/2006/relationships/notesMaster" Target="/ppt/notesMasters/notesMaster1.xml" Id="R3091ba30f82b476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a744095dda904af3" /><Relationship Type="http://schemas.openxmlformats.org/officeDocument/2006/relationships/notesMaster" Target="/ppt/notesMasters/notesMaster1.xml" Id="R93cacd54edd3473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00707e118ca4942" /><Relationship Type="http://schemas.openxmlformats.org/officeDocument/2006/relationships/notesMaster" Target="/ppt/notesMasters/notesMaster1.xml" Id="Reb3903736c7842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66c94e39a95490b" /><Relationship Type="http://schemas.openxmlformats.org/officeDocument/2006/relationships/notesMaster" Target="/ppt/notesMasters/notesMaster1.xml" Id="R3946d533337a466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7fcdcf5b7534ec9" /><Relationship Type="http://schemas.openxmlformats.org/officeDocument/2006/relationships/notesMaster" Target="/ppt/notesMasters/notesMaster1.xml" Id="R182dbb3bb2354a8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64b8506a9cb64676" /><Relationship Type="http://schemas.openxmlformats.org/officeDocument/2006/relationships/notesMaster" Target="/ppt/notesMasters/notesMaster1.xml" Id="R840ccd56b21d467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308452a6bce4962" /><Relationship Type="http://schemas.openxmlformats.org/officeDocument/2006/relationships/notesMaster" Target="/ppt/notesMasters/notesMaster1.xml" Id="Rc94590d274bb485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054d0ca0dc74647" /><Relationship Type="http://schemas.openxmlformats.org/officeDocument/2006/relationships/notesMaster" Target="/ppt/notesMasters/notesMaster1.xml" Id="R77e1d37000bf4ee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fef8aabbb0e94f4e" /><Relationship Type="http://schemas.openxmlformats.org/officeDocument/2006/relationships/notesMaster" Target="/ppt/notesMasters/notesMaster1.xml" Id="Rad013c932d4c4e3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55a0e90d3cc4668" /><Relationship Type="http://schemas.openxmlformats.org/officeDocument/2006/relationships/notesMaster" Target="/ppt/notesMasters/notesMaster1.xml" Id="R463c95ce940a41e7"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78db46bfd0c4d14" /><Relationship Type="http://schemas.openxmlformats.org/officeDocument/2006/relationships/notesMaster" Target="/ppt/notesMasters/notesMaster1.xml" Id="Rd1b8b81bc0274bf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8d6004f5d0549a4" /><Relationship Type="http://schemas.openxmlformats.org/officeDocument/2006/relationships/notesMaster" Target="/ppt/notesMasters/notesMaster1.xml" Id="Rc6f14f662b5446d9"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0c9fe22eff3a4903" /><Relationship Type="http://schemas.openxmlformats.org/officeDocument/2006/relationships/notesMaster" Target="/ppt/notesMasters/notesMaster1.xml" Id="R215f7d90da5e430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47a03da828a64885" /><Relationship Type="http://schemas.openxmlformats.org/officeDocument/2006/relationships/notesMaster" Target="/ppt/notesMasters/notesMaster1.xml" Id="Rc17f25c94fa6415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f218c6c72c48fe" /><Relationship Type="http://schemas.openxmlformats.org/officeDocument/2006/relationships/notesMaster" Target="/ppt/notesMasters/notesMaster1.xml" Id="R3d7f77461a384f15"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17ddb7ec7b694c26" /><Relationship Type="http://schemas.openxmlformats.org/officeDocument/2006/relationships/notesMaster" Target="/ppt/notesMasters/notesMaster1.xml" Id="Rbd85332c5846430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7fb20ff6e6834436" /><Relationship Type="http://schemas.openxmlformats.org/officeDocument/2006/relationships/notesMaster" Target="/ppt/notesMasters/notesMaster1.xml" Id="R0d7da92e2b85424d"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8d92415390ea46d4" /><Relationship Type="http://schemas.openxmlformats.org/officeDocument/2006/relationships/notesMaster" Target="/ppt/notesMasters/notesMaster1.xml" Id="R27197b64927d458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1c271e4f5ae347bc" /><Relationship Type="http://schemas.openxmlformats.org/officeDocument/2006/relationships/notesMaster" Target="/ppt/notesMasters/notesMaster1.xml" Id="R39c25837c76c4c6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76c227d4a0364938" /><Relationship Type="http://schemas.openxmlformats.org/officeDocument/2006/relationships/notesMaster" Target="/ppt/notesMasters/notesMaster1.xml" Id="Rc20cbc2e8fab4474"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fbe45dfb107461c" /><Relationship Type="http://schemas.openxmlformats.org/officeDocument/2006/relationships/notesMaster" Target="/ppt/notesMasters/notesMaster1.xml" Id="R38c3d43646294d7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272a0f483e44e04" /><Relationship Type="http://schemas.openxmlformats.org/officeDocument/2006/relationships/notesMaster" Target="/ppt/notesMasters/notesMaster1.xml" Id="Rbbca0298faf3479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Planning and presentation only. No future product functionality or acceptance test is claimed complete. Baseline df46e94570fadf78ef67a75a692dd48b968a10f7, Agentmux 0.32.0. All rearchitecture work belongs on feat/agentmux-platform-rearchitecture. Ryan reviews with Nick and explicitly authorizes merge.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decisions are distinct from proposed implementation details. Native Windows runtime, hosted service, runtime language, SDK languages and dashboard command scope have not been committed.</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Verified baseline. Multiple local stores and transport paths coexist. NATS federation is present, but local component communication is not universally NATS. Current federation uses direct broker clients and in-process Python extensions.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C:/Users/RyanHelms/GitHub/agentmux/agentmux.sh</a:t>
            </a:r>
          </a:p>
          <a:p xmlns:a="http://schemas.openxmlformats.org/drawingml/2006/main">
            <a:r>
              <a:t>C:/Users/RyanHelms/GitHub/agentmux/hub/server.py</a:t>
            </a:r>
          </a:p>
          <a:p xmlns:a="http://schemas.openxmlformats.org/drawingml/2006/main">
            <a:r>
              <a:t>C:/Users/RyanHelms/GitHub/agentmux/hub/fed/runtime.py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component responsibilities. Every ordinary product capability uses plugin contracts. The operating system and broker are bootstrap infrastructure. External native tool I/O stays inside the owning plugin. UI transport terminates at the interface plugin.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C:/Users/RyanHelms/.codex/visualizations/2026/10/09/01a11e6d-8b51-7ec1-962b-bac33576c294/agentmux-product-architecture-working-brief.md</a:t>
            </a:r>
          </a:p>
          <a:p xmlns:a="http://schemas.openxmlformats.org/drawingml/2006/main">
            <a:r>
              <a:t>https://docs.nats.io/</a:t>
            </a:r>
          </a:p>
          <a:p xmlns:a="http://schemas.openxmlformats.org/drawingml/2006/main">
            <a:r>
              <a:t>https://docs.ag-ui.com/introduction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minimal kernel: boot, lifecycle of protected plugins, internal communication and status publication. Outside plugins have only permitted subscriptions to published kernel information. No general inbound kernel write interface is approved. Surrounding supervisor owns ordinary plugin lifecycle. Deterministic boot does not depend on an LLM, Jev or identity-provider availability.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Package relationship, runtime instance ownership and placement are separate declarations. PluginContext carries stable package/instance identity and scoped services. OperationContext carries validated caller/project/task/attempt/grant and deadline. Children inherit allowed defaults, not unlimited authority or a raw service container. Initial trusted native plugins are not hostile-code confinement.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service allocation, subject to pinned-version tests. Core timeout may leave an unknown outcome. JetStream requires declared ack points, redelivery handling and persistence/fault assumptions. KV TTL does not revoke task ownership. Leaf links do not automatically provide offline storage or stream replication.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https://docs.nats.io/</a:t>
            </a:r>
          </a:p>
          <a:p xmlns:a="http://schemas.openxmlformats.org/drawingml/2006/main">
            <a:r>
              <a:t>https://docs.nats.io/learn/topologies/leafnodes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workflow is a summary of existing separate harness/task/run steps. After is the proposed complete reference workflow. Existing external client sessions and Agentmux-owned workers are different resources. Publishing and merging require explicit authority.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identity/workspace model. Isolation must apply to reads, subscriptions, artifact access, secret resolution and commands. Worktree isolation separates Git state but does not by itself provide process security. Shared work requires explicit coordination and ownership.</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 owns task and final result acceptance. Receiver owns delegated execution. The proposed launch includes independently administered organizations. A scoped NATS link permits only explicitly exported services/data. Transitive connectivity provides no implicit access. Local and team persistence/failure behavior must be tested.</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https://docs.nats.io/learn/topologies/leafnodes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automatic timeout edge from accepted or acceptance-unknown delegation to execution on another hub. Lost acceptance reply can hide a successful acceptance. Receiver may continue within its offline grant. Reassignment is explicit, records prior attempt and cannot guarantee reversal of external effects. Revocation cannot instantly stop an isolated machine.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two-layer enforcement. Broker permissions limit message/API reach. Authoritative service validates actor, operation scope, policy, task version, approval and state. NATS possession or an agent claim alone cannot grant domain authority. Trusted plugins initially can still abuse OS privileges, so scope claims must match that trust assumption.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Accepted UI direction and proposed mapping. NATS retains internal communication and authoritative ownership. AG-UI is the UI-facing event contract. CopilotKit supplies interface facilities. Snapshot/revision/replay authorization must be implemented by the platform. Display only supported client events, authored plans/messages and emitted summaries; no claim of private model reasoning access.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https://docs.ag-ui.com/concepts/events</a:t>
            </a:r>
          </a:p>
          <a:p xmlns:a="http://schemas.openxmlformats.org/drawingml/2006/main">
            <a:r>
              <a:t>https://docs.ag-ui.com/concepts/state</a:t>
            </a:r>
          </a:p>
          <a:p xmlns:a="http://schemas.openxmlformats.org/drawingml/2006/main">
            <a:r>
              <a:t>https://docs.copilotkit.ai/</a:t>
            </a:r>
          </a:p>
          <a:p xmlns:a="http://schemas.openxmlformats.org/drawingml/2006/main">
            <a:r>
              <a:t>C:/Users/RyanHelms/.codex/visualizations/2026/10/09/01a11e6d-8b51-7ec1-962b-bac33576c294/agentmux-product-architecture-working-brief.md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optional semantic service. Exact eligibility and data export checks occur before hosted inference. Jev supports bounded decisions; it is not used to generate arbitrary summaries or code. Policies revalidate current state and grants before any command. Abstention, unavailable provider, invalid output, stale source and uncertain billing remain explicit. Boot and ordinary orchestration work without Jev.</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C:/Users/RyanHelms/.codex/visualizations/2026/10/09/01a11e6d-8b51-7ec1-962b-bac33576c294/agentmux-jev-integration-report.md</a:t>
            </a:r>
          </a:p>
          <a:p xmlns:a="http://schemas.openxmlformats.org/drawingml/2006/main">
            <a:r>
              <a:t>https://docs.typesafe.ai/introduction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 measured Agentmux product savings are claimed. Earlier offline scenario math uses illustrative LLM prices/volumes and shows a cache-loss counterexample. P08 proposes independent comparisons of baseline, Jev tools and tools+skills, with final untouched cases. Proposed default-activation target is &gt;=10% lower total cost per accepted outcome and &lt;=2 percentage-point accepted-outcome degradation, with uncertainty reported. These values need approval and adequate sample sizes. Classifier thresholds are definition/risk-specific. Pilot productivity comparisons use matched baseline tasks and report time to first accepted change, engineer active minutes, elapsed time, review iterations, reopened work, escaped defects, recovery effort and cost per accepted outcome, with sample size and task mix.</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C:/Users/RyanHelms/.codex/visualizations/2026/10/09/01a11e6d-8b51-7ec1-962b-bac33576c294/jev-efficiency-scenarios.mjs</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skill-suite proposal contains 13 general, 10 Agentmux-specific and 3 industrial skill proposals, totaling 26. Names, triggers and defaults remain for discussion and evaluation. They are not 26 installed skills. General skills are useful independently of Agentmux; Agentmux skills bind to authorized hub contracts; domain skills ship in industrial packages. CLI/MCP runtime portability does not imply identical hooks, compaction or event capture on each host.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C:/Users/RyanHelms/.codex/visualizations/2026/10/09/01a11e6d-8b51-7ec1-962b-bac33576c294/jev-plugin-skill-suite-proposal.md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Industrial controls is an optional domain layer, not a specialization of the general kernel. Preserve current operational modules and explicitly select supported vendor/tool/host versions. CODESYS, Siemens and Rockwell are vendor families to scope, not claims of complete current automation. Simulated transport tests do not qualify device writes. Unknown external outcome prevents blind retries.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cutover: inventory source state and semantics, versioned export/import, read-only comparisons, writer cutover, recovery proof then explicit retirement. Preserve stable IDs and evidence, pending messages, dirty worktrees and unmerged branches. Never replay historical completed commands or assume external side effects reverse with local rollback.</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C:/Users/RyanHelms/.codex/visualizations/2026/10/09/01a11e6d-8b51-7ec1-962b-bac33576c294/implementation-baseline-review.md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gate record includes phase/revision, commit, dependency/config/schema versions, criterion IDs, environment/dataset, commands/exit codes, artifacts, fault tests, limitations, rollback rehearsal, independent reviewer and authorized advancement. Each phase depends on accepted predecessor. Skips and mock-only substitutes are gaps. Material changes invalidate affected evidence. Waivers cannot change accepted authority/security/kernel/reservation/merge invariants.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P00-P12 is the proposed first-release sequence, including initial-release cross-organization federation. P13 preserves remaining evaluated Jev/skill proposals, and P14 qualifies sandboxing later. This release split is proposed, not an approved scope reduction. All phases promote sequentially. Independent preparation may overlap only within approved contracts. Relative sizes are not dates.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P00: Scope, baseline, and architecture decisions</a:t>
            </a:r>
          </a:p>
          <a:p xmlns:a="http://schemas.openxmlformats.org/drawingml/2006/main">
            <a:r>
              <a:t>Status: proposed</a:t>
            </a:r>
          </a:p>
          <a:p xmlns:a="http://schemas.openxmlformats.org/drawingml/2006/main">
            <a:r>
              <a:t>Outcome: An approved implementation contract with no unresolved decision hidden in code.</a:t>
            </a:r>
          </a:p>
          <a:p xmlns:a="http://schemas.openxmlformats.org/drawingml/2006/main">
            <a:r>
              <a:t>Accountable function: Product + architecture</a:t>
            </a:r>
          </a:p>
          <a:p xmlns:a="http://schemas.openxmlformats.org/drawingml/2006/main">
            <a:r>
              <a:t>Relative size: M (complexity, not calendar duration)</a:t>
            </a:r>
          </a:p>
          <a:p xmlns:a="http://schemas.openxmlformats.org/drawingml/2006/main">
            <a:r>
              <a:t>Dependencies: none</a:t>
            </a:r>
          </a:p>
          <a:p xmlns:a="http://schemas.openxmlformats.org/drawingml/2006/main">
            <a:r>
              <a:t/>
            </a:r>
          </a:p>
          <a:p xmlns:a="http://schemas.openxmlformats.org/drawingml/2006/main">
            <a:r>
              <a:t>Work packages</a:t>
            </a:r>
          </a:p>
          <a:p xmlns:a="http://schemas.openxmlformats.org/drawingml/2006/main">
            <a:r>
              <a:t>1. Freeze df46e94570fadf78ef67a75a692dd48b968a10f7 as the behavioral comparison baseline and inventory every CLI verb, dashboard view, protocol, state store, integration, and evaluation.</a:t>
            </a:r>
          </a:p>
          <a:p xmlns:a="http://schemas.openxmlformats.org/drawingml/2006/main">
            <a:r>
              <a:t>2. Resolve launch workflow, dashboard controls, language/runtime and initial SDKs, storage topology, NATS account/domain layout, supported OS/tool versions, initial scale, identity enrollment, and provider/data policy.</a:t>
            </a:r>
          </a:p>
          <a:p xmlns:a="http://schemas.openxmlformats.org/drawingml/2006/main">
            <a:r>
              <a:t>3. Reproduce or explicitly scope the previously reported federation correctness defects. Turn each into a regression case owned by the replacing phase.</a:t>
            </a:r>
          </a:p>
          <a:p xmlns:a="http://schemas.openxmlformats.org/drawingml/2006/main">
            <a:r>
              <a:t>4. Approve versioned state machines, authority boundaries, plugin manifest/context schemas, migration ownership, and the requirement-to-phase matrix.</a:t>
            </a:r>
          </a:p>
          <a:p xmlns:a="http://schemas.openxmlformats.org/drawingml/2006/main">
            <a:r>
              <a:t/>
            </a:r>
          </a:p>
          <a:p xmlns:a="http://schemas.openxmlformats.org/drawingml/2006/main">
            <a:r>
              <a:t>Acceptance criteria</a:t>
            </a:r>
          </a:p>
          <a:p xmlns:a="http://schemas.openxmlformats.org/drawingml/2006/main">
            <a:r>
              <a:t>P00-AC01: Every accepted user decision and all existing functional groups have a named owner phase and verification scenario.</a:t>
            </a:r>
          </a:p>
          <a:p xmlns:a="http://schemas.openxmlformats.org/drawingml/2006/main">
            <a:r>
              <a:t>P00-AC02: Ryan and Nick review the plan and decision log. Ryan explicitly authorizes implementation before P01 starts.</a:t>
            </a:r>
          </a:p>
          <a:p xmlns:a="http://schemas.openxmlformats.org/drawingml/2006/main">
            <a:r>
              <a:t>P00-AC03: All P01–P04 blocking choices have recorded alternatives, rationale, and consequences. Later choices have a deadline before their owning phase.</a:t>
            </a:r>
          </a:p>
          <a:p xmlns:a="http://schemas.openxmlformats.org/drawingml/2006/main">
            <a:r>
              <a:t>P00-AC04: Baseline checks identify passes, failures, missing environments, and historic-only claims separately.</a:t>
            </a:r>
          </a:p>
          <a:p xmlns:a="http://schemas.openxmlformats.org/drawingml/2006/main">
            <a:r>
              <a:t/>
            </a:r>
          </a:p>
          <a:p xmlns:a="http://schemas.openxmlformats.org/drawingml/2006/main">
            <a:r>
              <a:t>Verification</a:t>
            </a:r>
          </a:p>
          <a:p xmlns:a="http://schemas.openxmlformats.org/drawingml/2006/main">
            <a:r>
              <a:t>1. Review the traceability matrix and inspect contracts together.</a:t>
            </a:r>
          </a:p>
          <a:p xmlns:a="http://schemas.openxmlformats.org/drawingml/2006/main">
            <a:r>
              <a:t>2. Run existing relevant suites on supported environments and reproduce the four reported crash/dispatch defects with isolated fixtures.</a:t>
            </a:r>
          </a:p>
          <a:p xmlns:a="http://schemas.openxmlformats.org/drawingml/2006/main">
            <a:r>
              <a:t>3. Record the exact commit, tools, fixtures, and results. Review missing environments as gaps, not passes.</a:t>
            </a:r>
          </a:p>
          <a:p xmlns:a="http://schemas.openxmlformats.org/drawingml/2006/main">
            <a:r>
              <a:t/>
            </a:r>
          </a:p>
          <a:p xmlns:a="http://schemas.openxmlformats.org/drawingml/2006/main">
            <a:r>
              <a:t>Required evidence</a:t>
            </a:r>
          </a:p>
          <a:p xmlns:a="http://schemas.openxmlformats.org/drawingml/2006/main">
            <a:r>
              <a:t>- Approved plan revision and decision log</a:t>
            </a:r>
          </a:p>
          <a:p xmlns:a="http://schemas.openxmlformats.org/drawingml/2006/main">
            <a:r>
              <a:t>- Baseline behavior inventory and defect fixtures</a:t>
            </a:r>
          </a:p>
          <a:p xmlns:a="http://schemas.openxmlformats.org/drawingml/2006/main">
            <a:r>
              <a:t>- Compatibility and capacity profiles</a:t>
            </a:r>
          </a:p>
          <a:p xmlns:a="http://schemas.openxmlformats.org/drawingml/2006/main">
            <a:r>
              <a:t/>
            </a:r>
          </a:p>
          <a:p xmlns:a="http://schemas.openxmlformats.org/drawingml/2006/main">
            <a:r>
              <a:t>Rollback / containment: Planning only. Preserve current checkout behavior and the existing review history.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P01: Executable contracts, baseline repairs, and verification</a:t>
            </a:r>
          </a:p>
          <a:p xmlns:a="http://schemas.openxmlformats.org/drawingml/2006/main">
            <a:r>
              <a:t>Status: proposed</a:t>
            </a:r>
          </a:p>
          <a:p xmlns:a="http://schemas.openxmlformats.org/drawingml/2006/main">
            <a:r>
              <a:t>Outcome: Contracts and failure scenarios can be tested before business plugins grow.</a:t>
            </a:r>
          </a:p>
          <a:p xmlns:a="http://schemas.openxmlformats.org/drawingml/2006/main">
            <a:r>
              <a:t>Accountable function: Architecture + quality</a:t>
            </a:r>
          </a:p>
          <a:p xmlns:a="http://schemas.openxmlformats.org/drawingml/2006/main">
            <a:r>
              <a:t>Relative size: L (complexity, not calendar duration)</a:t>
            </a:r>
          </a:p>
          <a:p xmlns:a="http://schemas.openxmlformats.org/drawingml/2006/main">
            <a:r>
              <a:t>Dependencies: P00</a:t>
            </a:r>
          </a:p>
          <a:p xmlns:a="http://schemas.openxmlformats.org/drawingml/2006/main">
            <a:r>
              <a:t/>
            </a:r>
          </a:p>
          <a:p xmlns:a="http://schemas.openxmlformats.org/drawingml/2006/main">
            <a:r>
              <a:t>Work packages</a:t>
            </a:r>
          </a:p>
          <a:p xmlns:a="http://schemas.openxmlformats.org/drawingml/2006/main">
            <a:r>
              <a:t>1. Publish language-neutral command/event schemas and compatibility rules with organization, project, task, delegation, attempt, operation, schema version, and trace identifiers.</a:t>
            </a:r>
          </a:p>
          <a:p xmlns:a="http://schemas.openxmlformats.org/drawingml/2006/main">
            <a:r>
              <a:t>2. Create reusable contract fixtures and controllable fake workers/providers plus real NATS integration environments for CI.</a:t>
            </a:r>
          </a:p>
          <a:p xmlns:a="http://schemas.openxmlformats.org/drawingml/2006/main">
            <a:r>
              <a:t>3. Specify lifecycle, delivery acknowledgment, idempotency, deadline, cancellation, approval, and unavailable/unknown result semantics.</a:t>
            </a:r>
          </a:p>
          <a:p xmlns:a="http://schemas.openxmlformats.org/drawingml/2006/main">
            <a:r>
              <a:t>4. Establish per-phase evidence records, dependency gates, migration fixtures, and security/quality regression jobs.</a:t>
            </a:r>
          </a:p>
          <a:p xmlns:a="http://schemas.openxmlformats.org/drawingml/2006/main">
            <a:r>
              <a:t>5. Build an early two-hub contract spike with separate broker accounts and a leaf link. Exercise lost acceptance acknowledgment and reservation reconciliation before the later production federation phase.</a:t>
            </a:r>
          </a:p>
          <a:p xmlns:a="http://schemas.openxmlformats.org/drawingml/2006/main">
            <a:r>
              <a:t>6. Repair the six known baseline blockers after implementation approval, with focused regressions and truthful governance evidence. This prevents existing violations from blocking every later phase while waiting for the new federation layer.</a:t>
            </a:r>
          </a:p>
          <a:p xmlns:a="http://schemas.openxmlformats.org/drawingml/2006/main">
            <a:r>
              <a:t/>
            </a:r>
          </a:p>
          <a:p xmlns:a="http://schemas.openxmlformats.org/drawingml/2006/main">
            <a:r>
              <a:t>Acceptance criteria</a:t>
            </a:r>
          </a:p>
          <a:p xmlns:a="http://schemas.openxmlformats.org/drawingml/2006/main">
            <a:r>
              <a:t>P01-AC01: Two independently implemented test clients exchange valid requests and reject incompatible or malformed envelopes.</a:t>
            </a:r>
          </a:p>
          <a:p xmlns:a="http://schemas.openxmlformats.org/drawingml/2006/main">
            <a:r>
              <a:t>P01-AC02: Fixtures cover duplicate, delayed, out-of-order, unauthorized, canceled, timed-out, and replayed messages without conflating execution with delivery.</a:t>
            </a:r>
          </a:p>
          <a:p xmlns:a="http://schemas.openxmlformats.org/drawingml/2006/main">
            <a:r>
              <a:t>P01-AC03: A failing predecessor gate prevents promotion. Waivers cannot bypass accepted ownership or security invariants.</a:t>
            </a:r>
          </a:p>
          <a:p xmlns:a="http://schemas.openxmlformats.org/drawingml/2006/main">
            <a:r>
              <a:t>P01-AC04: CI captures exact versions and logs without recording credentials or private model reasoning. Known baseline blockers are repaired or disproved with evidence, and the required repository governance gate passes before P02 progression.</a:t>
            </a:r>
          </a:p>
          <a:p xmlns:a="http://schemas.openxmlformats.org/drawingml/2006/main">
            <a:r>
              <a:t/>
            </a:r>
          </a:p>
          <a:p xmlns:a="http://schemas.openxmlformats.org/drawingml/2006/main">
            <a:r>
              <a:t>Verification</a:t>
            </a:r>
          </a:p>
          <a:p xmlns:a="http://schemas.openxmlformats.org/drawingml/2006/main">
            <a:r>
              <a:t>1. Run schema/contract suites in macOS, Linux, and WSL test jobs.</a:t>
            </a:r>
          </a:p>
          <a:p xmlns:a="http://schemas.openxmlformats.org/drawingml/2006/main">
            <a:r>
              <a:t>2. Break one contract fixture and one phase gate deliberately and confirm the pipeline refuses promotion.</a:t>
            </a:r>
          </a:p>
          <a:p xmlns:a="http://schemas.openxmlformats.org/drawingml/2006/main">
            <a:r>
              <a:t>3. Exercise a real broker restart and reconnect in the harness.</a:t>
            </a:r>
          </a:p>
          <a:p xmlns:a="http://schemas.openxmlformats.org/drawingml/2006/main">
            <a:r>
              <a:t/>
            </a:r>
          </a:p>
          <a:p xmlns:a="http://schemas.openxmlformats.org/drawingml/2006/main">
            <a:r>
              <a:t>Required evidence</a:t>
            </a:r>
          </a:p>
          <a:p xmlns:a="http://schemas.openxmlformats.org/drawingml/2006/main">
            <a:r>
              <a:t>- Contract version 1 fixtures</a:t>
            </a:r>
          </a:p>
          <a:p xmlns:a="http://schemas.openxmlformats.org/drawingml/2006/main">
            <a:r>
              <a:t>- Failure injection harness</a:t>
            </a:r>
          </a:p>
          <a:p xmlns:a="http://schemas.openxmlformats.org/drawingml/2006/main">
            <a:r>
              <a:t>- CI gate and compatibility reports</a:t>
            </a:r>
          </a:p>
          <a:p xmlns:a="http://schemas.openxmlformats.org/drawingml/2006/main">
            <a:r>
              <a:t/>
            </a:r>
          </a:p>
          <a:p xmlns:a="http://schemas.openxmlformats.org/drawingml/2006/main">
            <a:r>
              <a:t>Rollback / containment: Keep the new test path isolated from the legacy runtime. If a baseline repair is reverted, reopen its finding and invalidate the affected regression and phase-gate evidence.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P02: Protected boot and the NATS foundation</a:t>
            </a:r>
          </a:p>
          <a:p xmlns:a="http://schemas.openxmlformats.org/drawingml/2006/main">
            <a:r>
              <a:t>Status: proposed</a:t>
            </a:r>
          </a:p>
          <a:p xmlns:a="http://schemas.openxmlformats.org/drawingml/2006/main">
            <a:r>
              <a:t>Outcome: A local installation boots deterministically with protected kernel plugins.</a:t>
            </a:r>
          </a:p>
          <a:p xmlns:a="http://schemas.openxmlformats.org/drawingml/2006/main">
            <a:r>
              <a:t>Accountable function: Runtime + messaging</a:t>
            </a:r>
          </a:p>
          <a:p xmlns:a="http://schemas.openxmlformats.org/drawingml/2006/main">
            <a:r>
              <a:t>Relative size: L (complexity, not calendar duration)</a:t>
            </a:r>
          </a:p>
          <a:p xmlns:a="http://schemas.openxmlformats.org/drawingml/2006/main">
            <a:r>
              <a:t>Dependencies: P01</a:t>
            </a:r>
          </a:p>
          <a:p xmlns:a="http://schemas.openxmlformats.org/drawingml/2006/main">
            <a:r>
              <a:t/>
            </a:r>
          </a:p>
          <a:p xmlns:a="http://schemas.openxmlformats.org/drawingml/2006/main">
            <a:r>
              <a:t>Work packages</a:t>
            </a:r>
          </a:p>
          <a:p xmlns:a="http://schemas.openxmlformats.org/drawingml/2006/main">
            <a:r>
              <a:t>1. Implement a minimal launcher that establishes the configured NATS substrate and loads the fixed protected boot assembly.</a:t>
            </a:r>
          </a:p>
          <a:p xmlns:a="http://schemas.openxmlformats.org/drawingml/2006/main">
            <a:r>
              <a:t>2. Implement boot, protected-plugin lifecycle, protected internal communication, and deliberate publication of kernel status.</a:t>
            </a:r>
          </a:p>
          <a:p xmlns:a="http://schemas.openxmlformats.org/drawingml/2006/main">
            <a:r>
              <a:t>3. Separate protected internal subjects/accounts from exported information and surrounding application services.</a:t>
            </a:r>
          </a:p>
          <a:p xmlns:a="http://schemas.openxmlformats.org/drawingml/2006/main">
            <a:r>
              <a:t>4. Provide readiness snapshots, bounded startup/shutdown, broker recovery, basic installer/doctor skeleton, and local bootstrap diagnostics.</a:t>
            </a:r>
          </a:p>
          <a:p xmlns:a="http://schemas.openxmlformats.org/drawingml/2006/main">
            <a:r>
              <a:t/>
            </a:r>
          </a:p>
          <a:p xmlns:a="http://schemas.openxmlformats.org/drawingml/2006/main">
            <a:r>
              <a:t>Acceptance criteria</a:t>
            </a:r>
          </a:p>
          <a:p xmlns:a="http://schemas.openxmlformats.org/drawingml/2006/main">
            <a:r>
              <a:t>P02-AC01: macOS, Linux, and WSL installations boot without an LLM or hosted Jev connection.</a:t>
            </a:r>
          </a:p>
          <a:p xmlns:a="http://schemas.openxmlformats.org/drawingml/2006/main">
            <a:r>
              <a:t>P02-AC02: An outside plugin can subscribe only to permitted kernel information and cannot publish commands or writes into the kernel.</a:t>
            </a:r>
          </a:p>
          <a:p xmlns:a="http://schemas.openxmlformats.org/drawingml/2006/main">
            <a:r>
              <a:t>P02-AC03: Bad configuration, occupied ports, unavailable broker, and failed protected plugin produce actionable bounded failures.</a:t>
            </a:r>
          </a:p>
          <a:p xmlns:a="http://schemas.openxmlformats.org/drawingml/2006/main">
            <a:r>
              <a:t>P02-AC04: Surrounding plugin failure does not corrupt boot state. Ordinary runtime communication uses NATS after bootstrap.</a:t>
            </a:r>
          </a:p>
          <a:p xmlns:a="http://schemas.openxmlformats.org/drawingml/2006/main">
            <a:r>
              <a:t/>
            </a:r>
          </a:p>
          <a:p xmlns:a="http://schemas.openxmlformats.org/drawingml/2006/main">
            <a:r>
              <a:t>Verification</a:t>
            </a:r>
          </a:p>
          <a:p xmlns:a="http://schemas.openxmlformats.org/drawingml/2006/main">
            <a:r>
              <a:t>1. Capture broker traffic and audit permissions while running normal and unauthorized clients.</a:t>
            </a:r>
          </a:p>
          <a:p xmlns:a="http://schemas.openxmlformats.org/drawingml/2006/main">
            <a:r>
              <a:t>2. Cold-start and restart each platform. Kill NATS and one protected plugin at controlled points.</a:t>
            </a:r>
          </a:p>
          <a:p xmlns:a="http://schemas.openxmlformats.org/drawingml/2006/main">
            <a:r>
              <a:t>3. Verify late subscribers receive a consistent readiness snapshot and updates.</a:t>
            </a:r>
          </a:p>
          <a:p xmlns:a="http://schemas.openxmlformats.org/drawingml/2006/main">
            <a:r>
              <a:t/>
            </a:r>
          </a:p>
          <a:p xmlns:a="http://schemas.openxmlformats.org/drawingml/2006/main">
            <a:r>
              <a:t>Required evidence</a:t>
            </a:r>
          </a:p>
          <a:p xmlns:a="http://schemas.openxmlformats.org/drawingml/2006/main">
            <a:r>
              <a:t>- Boot and shutdown matrix</a:t>
            </a:r>
          </a:p>
          <a:p xmlns:a="http://schemas.openxmlformats.org/drawingml/2006/main">
            <a:r>
              <a:t>- Kernel publication contract and permission tests</a:t>
            </a:r>
          </a:p>
          <a:p xmlns:a="http://schemas.openxmlformats.org/drawingml/2006/main">
            <a:r>
              <a:t>- Bootstrap recovery guide</a:t>
            </a:r>
          </a:p>
          <a:p xmlns:a="http://schemas.openxmlformats.org/drawingml/2006/main">
            <a:r>
              <a:t/>
            </a:r>
          </a:p>
          <a:p xmlns:a="http://schemas.openxmlformats.org/drawingml/2006/main">
            <a:r>
              <a:t>Rollback / containment: Disable the new runtime entrypoint and retain the old launcher. No legacy data conversion yet.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P03: Plugin framework, nested packages, and inherited context</a:t>
            </a:r>
          </a:p>
          <a:p xmlns:a="http://schemas.openxmlformats.org/drawingml/2006/main">
            <a:r>
              <a:t>Status: proposed</a:t>
            </a:r>
          </a:p>
          <a:p xmlns:a="http://schemas.openxmlformats.org/drawingml/2006/main">
            <a:r>
              <a:t>Outcome: A third-party author can build a compatible trusted plugin without changing the kernel.</a:t>
            </a:r>
          </a:p>
          <a:p xmlns:a="http://schemas.openxmlformats.org/drawingml/2006/main">
            <a:r>
              <a:t>Accountable function: Plugin platform + SDK</a:t>
            </a:r>
          </a:p>
          <a:p xmlns:a="http://schemas.openxmlformats.org/drawingml/2006/main">
            <a:r>
              <a:t>Relative size: XL (complexity, not calendar duration)</a:t>
            </a:r>
          </a:p>
          <a:p xmlns:a="http://schemas.openxmlformats.org/drawingml/2006/main">
            <a:r>
              <a:t>Dependencies: P02</a:t>
            </a:r>
          </a:p>
          <a:p xmlns:a="http://schemas.openxmlformats.org/drawingml/2006/main">
            <a:r>
              <a:t/>
            </a:r>
          </a:p>
          <a:p xmlns:a="http://schemas.openxmlformats.org/drawingml/2006/main">
            <a:r>
              <a:t>Work packages</a:t>
            </a:r>
          </a:p>
          <a:p xmlns:a="http://schemas.openxmlformats.org/drawingml/2006/main">
            <a:r>
              <a:t>1. Implement manifest validation, dependency/version resolution, lifecycle supervision, package provenance, configuration schemas, and contribution registration.</a:t>
            </a:r>
          </a:p>
          <a:p xmlns:a="http://schemas.openxmlformats.org/drawingml/2006/main">
            <a:r>
              <a:t>2. Support independently reusable and parent-owned child packages, separately declaring runtime instance ownership and placement.</a:t>
            </a:r>
          </a:p>
          <a:p xmlns:a="http://schemas.openxmlformats.org/drawingml/2006/main">
            <a:r>
              <a:t>3. Inject PluginContext and per-call OperationContext. Supply identity, scoped logger, tracing/metrics, config, lifecycle, clock, and approved NATS service clients.</a:t>
            </a:r>
          </a:p>
          <a:p xmlns:a="http://schemas.openxmlformats.org/drawingml/2006/main">
            <a:r>
              <a:t>4. Add declared storage, artifacts, secrets, workspace, process, policy, and decision handles without sharing raw service implementations or an unrestricted container.</a:t>
            </a:r>
          </a:p>
          <a:p xmlns:a="http://schemas.openxmlformats.org/drawingml/2006/main">
            <a:r>
              <a:t>5. Build starter SDKs and conformance tooling in at least two selected languages. Provide install/upgrade/disable/uninstall and drain behavior.</a:t>
            </a:r>
          </a:p>
          <a:p xmlns:a="http://schemas.openxmlformats.org/drawingml/2006/main">
            <a:r>
              <a:t/>
            </a:r>
          </a:p>
          <a:p xmlns:a="http://schemas.openxmlformats.org/drawingml/2006/main">
            <a:r>
              <a:t>Acceptance criteria</a:t>
            </a:r>
          </a:p>
          <a:p xmlns:a="http://schemas.openxmlformats.org/drawingml/2006/main">
            <a:r>
              <a:t>P03-AC01: Both child package modes install and activate correctly. Removing one parent retains independent children used elsewhere.</a:t>
            </a:r>
          </a:p>
          <a:p xmlns:a="http://schemas.openxmlformats.org/drawingml/2006/main">
            <a:r>
              <a:t>P03-AC02: Two concurrent users cannot overwrite an ambient current-user/current-project value. A child cannot widen its grant or forge logger identity.</a:t>
            </a:r>
          </a:p>
          <a:p xmlns:a="http://schemas.openxmlformats.org/drawingml/2006/main">
            <a:r>
              <a:t>P03-AC03: Dependency cycles, missing versions, partial initialization, and stale handles fail deterministically and clean up resources.</a:t>
            </a:r>
          </a:p>
          <a:p xmlns:a="http://schemas.openxmlformats.org/drawingml/2006/main">
            <a:r>
              <a:t>P03-AC04: A plugin in each selected language passes the same contract fixtures and interacts with another plugin over NATS.</a:t>
            </a:r>
          </a:p>
          <a:p xmlns:a="http://schemas.openxmlformats.org/drawingml/2006/main">
            <a:r>
              <a:t>P03-AC05: The protected kernel has no replacement option in package management. Trusted native code is accurately documented as unsandboxed.</a:t>
            </a:r>
          </a:p>
          <a:p xmlns:a="http://schemas.openxmlformats.org/drawingml/2006/main">
            <a:r>
              <a:t/>
            </a:r>
          </a:p>
          <a:p xmlns:a="http://schemas.openxmlformats.org/drawingml/2006/main">
            <a:r>
              <a:t>Verification</a:t>
            </a:r>
          </a:p>
          <a:p xmlns:a="http://schemas.openxmlformats.org/drawingml/2006/main">
            <a:r>
              <a:t>1. Run an independent author exercise using only published SDK/docs.</a:t>
            </a:r>
          </a:p>
          <a:p xmlns:a="http://schemas.openxmlformats.org/drawingml/2006/main">
            <a:r>
              <a:t>2. Test lifecycle/resource leaks, dependency failure, configuration precedence, version skew, and upgrades with active operations.</a:t>
            </a:r>
          </a:p>
          <a:p xmlns:a="http://schemas.openxmlformats.org/drawingml/2006/main">
            <a:r>
              <a:t>3. Inspect NATS traces and execute negative tests at remote resource owners.</a:t>
            </a:r>
          </a:p>
          <a:p xmlns:a="http://schemas.openxmlformats.org/drawingml/2006/main">
            <a:r>
              <a:t/>
            </a:r>
          </a:p>
          <a:p xmlns:a="http://schemas.openxmlformats.org/drawingml/2006/main">
            <a:r>
              <a:t>Required evidence</a:t>
            </a:r>
          </a:p>
          <a:p xmlns:a="http://schemas.openxmlformats.org/drawingml/2006/main">
            <a:r>
              <a:t>- Plugin manifest and SDK reference</a:t>
            </a:r>
          </a:p>
          <a:p xmlns:a="http://schemas.openxmlformats.org/drawingml/2006/main">
            <a:r>
              <a:t>- Conformance matrix and author tutorial</a:t>
            </a:r>
          </a:p>
          <a:p xmlns:a="http://schemas.openxmlformats.org/drawingml/2006/main">
            <a:r>
              <a:t>- Nested-package/lifecycle test report</a:t>
            </a:r>
          </a:p>
          <a:p xmlns:a="http://schemas.openxmlformats.org/drawingml/2006/main">
            <a:r>
              <a:t/>
            </a:r>
          </a:p>
          <a:p xmlns:a="http://schemas.openxmlformats.org/drawingml/2006/main">
            <a:r>
              <a:t>Rollback / containment: Pin the last working package set, drain active work, and restore compatible configuration. Never silently downgrade incompatible storage.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P04: Identity, projects, durable state, and workspaces</a:t>
            </a:r>
          </a:p>
          <a:p xmlns:a="http://schemas.openxmlformats.org/drawingml/2006/main">
            <a:r>
              <a:t>Status: proposed</a:t>
            </a:r>
          </a:p>
          <a:p xmlns:a="http://schemas.openxmlformats.org/drawingml/2006/main">
            <a:r>
              <a:t>Outcome: Multiple users and projects share a hub with explicit authority and durable ownership.</a:t>
            </a:r>
          </a:p>
          <a:p xmlns:a="http://schemas.openxmlformats.org/drawingml/2006/main">
            <a:r>
              <a:t>Accountable function: Security + data platform</a:t>
            </a:r>
          </a:p>
          <a:p xmlns:a="http://schemas.openxmlformats.org/drawingml/2006/main">
            <a:r>
              <a:t>Relative size: XL (complexity, not calendar duration)</a:t>
            </a:r>
          </a:p>
          <a:p xmlns:a="http://schemas.openxmlformats.org/drawingml/2006/main">
            <a:r>
              <a:t>Dependencies: P03</a:t>
            </a:r>
          </a:p>
          <a:p xmlns:a="http://schemas.openxmlformats.org/drawingml/2006/main">
            <a:r>
              <a:t/>
            </a:r>
          </a:p>
          <a:p xmlns:a="http://schemas.openxmlformats.org/drawingml/2006/main">
            <a:r>
              <a:t>Work packages</a:t>
            </a:r>
          </a:p>
          <a:p xmlns:a="http://schemas.openxmlformats.org/drawingml/2006/main">
            <a:r>
              <a:t>1. Implement human, device, service, and plugin identities, enrollment/revocation, organization/project membership, permissions, approvals, and audit outside the kernel. Distinguish allowed, denied, and review-required actions; ordinary approval cannot override a hard denial.</a:t>
            </a:r>
          </a:p>
          <a:p xmlns:a="http://schemas.openxmlformats.org/drawingml/2006/main">
            <a:r>
              <a:t>2. Implement authoritative storage owners, transactional state plus durable publication, deduplication, artifact digests, retention, backup/restore, and migrations.</a:t>
            </a:r>
          </a:p>
          <a:p xmlns:a="http://schemas.openxmlformats.org/drawingml/2006/main">
            <a:r>
              <a:t>3. Provide scoped workspace/Git/worktree management, configuration, connection/secret references, quotas, and resource reservations.</a:t>
            </a:r>
          </a:p>
          <a:p xmlns:a="http://schemas.openxmlformats.org/drawingml/2006/main">
            <a:r>
              <a:t>4. Provide local single-user defaults and self-hosted identity configuration using the same contracts.</a:t>
            </a:r>
          </a:p>
          <a:p xmlns:a="http://schemas.openxmlformats.org/drawingml/2006/main">
            <a:r>
              <a:t>5. Implement the approved worker execution profile so mutually untrusted task code cannot share unrestricted access to another user's files or credentials. Qualify OS/container/host separation independently of the later third-party-plugin sandbox.</a:t>
            </a:r>
          </a:p>
          <a:p xmlns:a="http://schemas.openxmlformats.org/drawingml/2006/main">
            <a:r>
              <a:t/>
            </a:r>
          </a:p>
          <a:p xmlns:a="http://schemas.openxmlformats.org/drawingml/2006/main">
            <a:r>
              <a:t>Acceptance criteria</a:t>
            </a:r>
          </a:p>
          <a:p xmlns:a="http://schemas.openxmlformats.org/drawingml/2006/main">
            <a:r>
              <a:t>P04-AC01: Cross-user/project/organization negative tests deny unauthorized commands, subscriptions, files, artifacts, and secret resolution.</a:t>
            </a:r>
          </a:p>
          <a:p xmlns:a="http://schemas.openxmlformats.org/drawingml/2006/main">
            <a:r>
              <a:t>P04-AC02: State changes and their durable outgoing events survive crashes at every defined transaction boundary.</a:t>
            </a:r>
          </a:p>
          <a:p xmlns:a="http://schemas.openxmlformats.org/drawingml/2006/main">
            <a:r>
              <a:t>P04-AC03: Duplicate delivery returns the existing outcome and does not allocate a second workspace or task.</a:t>
            </a:r>
          </a:p>
          <a:p xmlns:a="http://schemas.openxmlformats.org/drawingml/2006/main">
            <a:r>
              <a:t>P04-AC04: Backup/restore preserves ownership and result provenance. Migrations preserve dirty worktrees and unmerged branches.</a:t>
            </a:r>
          </a:p>
          <a:p xmlns:a="http://schemas.openxmlformats.org/drawingml/2006/main">
            <a:r>
              <a:t>P04-AC05: Node revocation and secret rotation have tested online behavior and explicit offline limits.</a:t>
            </a:r>
          </a:p>
          <a:p xmlns:a="http://schemas.openxmlformats.org/drawingml/2006/main">
            <a:r>
              <a:t/>
            </a:r>
          </a:p>
          <a:p xmlns:a="http://schemas.openxmlformats.org/drawingml/2006/main">
            <a:r>
              <a:t>Verification</a:t>
            </a:r>
          </a:p>
          <a:p xmlns:a="http://schemas.openxmlformats.org/drawingml/2006/main">
            <a:r>
              <a:t>1. Run the permission matrix against application owners and real broker accounts. Run an adversarial worker that attempts cross-project file, process, network, and credential access under the supported execution profile.</a:t>
            </a:r>
          </a:p>
          <a:p xmlns:a="http://schemas.openxmlformats.org/drawingml/2006/main">
            <a:r>
              <a:t>2. Inject failures before/after commit and publish acknowledgment, exhaust disk/quota, and restore from backup.</a:t>
            </a:r>
          </a:p>
          <a:p xmlns:a="http://schemas.openxmlformats.org/drawingml/2006/main">
            <a:r>
              <a:t>3. Run concurrency tests against every supported storage provider. Reject a provider that lacks required guarantees.</a:t>
            </a:r>
          </a:p>
          <a:p xmlns:a="http://schemas.openxmlformats.org/drawingml/2006/main">
            <a:r>
              <a:t/>
            </a:r>
          </a:p>
          <a:p xmlns:a="http://schemas.openxmlformats.org/drawingml/2006/main">
            <a:r>
              <a:t>Required evidence</a:t>
            </a:r>
          </a:p>
          <a:p xmlns:a="http://schemas.openxmlformats.org/drawingml/2006/main">
            <a:r>
              <a:t>- Threat model and permission matrix</a:t>
            </a:r>
          </a:p>
          <a:p xmlns:a="http://schemas.openxmlformats.org/drawingml/2006/main">
            <a:r>
              <a:t>- Storage capability and migration contracts</a:t>
            </a:r>
          </a:p>
          <a:p xmlns:a="http://schemas.openxmlformats.org/drawingml/2006/main">
            <a:r>
              <a:t>- Recovery and isolation reports</a:t>
            </a:r>
          </a:p>
          <a:p xmlns:a="http://schemas.openxmlformats.org/drawingml/2006/main">
            <a:r>
              <a:t/>
            </a:r>
          </a:p>
          <a:p xmlns:a="http://schemas.openxmlformats.org/drawingml/2006/main">
            <a:r>
              <a:t>Rollback / containment: Quiesce writers, take backups, switch owners only at a verified boundary, and restore the old owner if no new-schema writes have occurred.</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P05: Local orchestration and evidence-based completion</a:t>
            </a:r>
          </a:p>
          <a:p xmlns:a="http://schemas.openxmlformats.org/drawingml/2006/main">
            <a:r>
              <a:t>Status: proposed</a:t>
            </a:r>
          </a:p>
          <a:p xmlns:a="http://schemas.openxmlformats.org/drawingml/2006/main">
            <a:r>
              <a:t>Outcome: A developer can finish a reviewable software task through durable coordinated work.</a:t>
            </a:r>
          </a:p>
          <a:p xmlns:a="http://schemas.openxmlformats.org/drawingml/2006/main">
            <a:r>
              <a:t>Accountable function: Orchestration + developer workflow</a:t>
            </a:r>
          </a:p>
          <a:p xmlns:a="http://schemas.openxmlformats.org/drawingml/2006/main">
            <a:r>
              <a:t>Relative size: XL (complexity, not calendar duration)</a:t>
            </a:r>
          </a:p>
          <a:p xmlns:a="http://schemas.openxmlformats.org/drawingml/2006/main">
            <a:r>
              <a:t>Dependencies: P04</a:t>
            </a:r>
          </a:p>
          <a:p xmlns:a="http://schemas.openxmlformats.org/drawingml/2006/main">
            <a:r>
              <a:t/>
            </a:r>
          </a:p>
          <a:p xmlns:a="http://schemas.openxmlformats.org/drawingml/2006/main">
            <a:r>
              <a:t>Work packages</a:t>
            </a:r>
          </a:p>
          <a:p xmlns:a="http://schemas.openxmlformats.org/drawingml/2006/main">
            <a:r>
              <a:t>1. Implement project plans, tasks, dependencies, boards, role/agent/team definitions, assignment, run/attempt state, claims, resource scheduling, and explicit acceptance.</a:t>
            </a:r>
          </a:p>
          <a:p xmlns:a="http://schemas.openxmlformats.org/drawingml/2006/main">
            <a:r>
              <a:t>2. Implement supervised workers, session resume capability, isolated worktrees, tool calls, messages, handoffs, progress, conversation records, artifacts, validation, and review workflows.</a:t>
            </a:r>
          </a:p>
          <a:p xmlns:a="http://schemas.openxmlformats.org/drawingml/2006/main">
            <a:r>
              <a:t>3. Separate provider/process exit, reported completion, verified evidence, and owner acceptance. Model cancellation-requested, canceled, failed, and unknown states.</a:t>
            </a:r>
          </a:p>
          <a:p xmlns:a="http://schemas.openxmlformats.org/drawingml/2006/main">
            <a:r>
              <a:t>4. Port existing journal/notice/dead-letter, search/knowledge, code sharing, cost/resource, and orchestration evaluation behavior behind plugins.</a:t>
            </a:r>
          </a:p>
          <a:p xmlns:a="http://schemas.openxmlformats.org/drawingml/2006/main">
            <a:r>
              <a:t>5. Produce a software-change workflow from request through test evidence and a reviewable diff/PR proposal. Publishing and merging follow explicit permissions.</a:t>
            </a:r>
          </a:p>
          <a:p xmlns:a="http://schemas.openxmlformats.org/drawingml/2006/main">
            <a:r>
              <a:t>6. Preserve epics, sprints, ADR/capability proposal records, WIP/readiness gates, notifications, objections, and independent reviewer policy. Bind reviews to immutable repository/commit/artifact identities across multiple repositories.</a:t>
            </a:r>
          </a:p>
          <a:p xmlns:a="http://schemas.openxmlformats.org/drawingml/2006/main">
            <a:r>
              <a:t/>
            </a:r>
          </a:p>
          <a:p xmlns:a="http://schemas.openxmlformats.org/drawingml/2006/main">
            <a:r>
              <a:t>Acceptance criteria</a:t>
            </a:r>
          </a:p>
          <a:p xmlns:a="http://schemas.openxmlformats.org/drawingml/2006/main">
            <a:r>
              <a:t>P05-AC01: A complete fixture workflow creates a plan, delegates tasks, executes in isolated workspaces, validates the result, and returns reviewable evidence.</a:t>
            </a:r>
          </a:p>
          <a:p xmlns:a="http://schemas.openxmlformats.org/drawingml/2006/main">
            <a:r>
              <a:t>P05-AC02: Two developers working on different or shared projects do not steal each other's claims, sessions, workspaces, or tool credentials.</a:t>
            </a:r>
          </a:p>
          <a:p xmlns:a="http://schemas.openxmlformats.org/drawingml/2006/main">
            <a:r>
              <a:t>P05-AC03: No task becomes accepted from terminal text, process exit, or a worker's self-reported done event alone.</a:t>
            </a:r>
          </a:p>
          <a:p xmlns:a="http://schemas.openxmlformats.org/drawingml/2006/main">
            <a:r>
              <a:t>P05-AC04: A crashed or disconnected worker leaves a recoverable known or explicitly unknown attempt. Retry preserves the prior attempt and its effects.</a:t>
            </a:r>
          </a:p>
          <a:p xmlns:a="http://schemas.openxmlformats.org/drawingml/2006/main">
            <a:r>
              <a:t>P05-AC05: Every P05-owned legacy functional group has parity evidence or an explicit replacement and data migration decision. Later client, dashboard, federation, and domain groups have an owned inventory and migration plan, with parity gated in their own phases. Changed artifacts invalidate bound approvals, and migration preserves distinct board, run, hub-work, and shared-board identities.</a:t>
            </a:r>
          </a:p>
          <a:p xmlns:a="http://schemas.openxmlformats.org/drawingml/2006/main">
            <a:r>
              <a:t/>
            </a:r>
          </a:p>
          <a:p xmlns:a="http://schemas.openxmlformats.org/drawingml/2006/main">
            <a:r>
              <a:t>Verification</a:t>
            </a:r>
          </a:p>
          <a:p xmlns:a="http://schemas.openxmlformats.org/drawingml/2006/main">
            <a:r>
              <a:t>1. Run normal, failure, retry, cancellation, resume, parallel-team, cross-repo, and swarm-style scenario suites.</a:t>
            </a:r>
          </a:p>
          <a:p xmlns:a="http://schemas.openxmlformats.org/drawingml/2006/main">
            <a:r>
              <a:t>2. Inject crash windows around work attribution and result publication identified in the repository analysis.</a:t>
            </a:r>
          </a:p>
          <a:p xmlns:a="http://schemas.openxmlformats.org/drawingml/2006/main">
            <a:r>
              <a:t>3. Use real CLI worker smoke tests plus deterministic fake workers for exhaustive state transitions.</a:t>
            </a:r>
          </a:p>
          <a:p xmlns:a="http://schemas.openxmlformats.org/drawingml/2006/main">
            <a:r>
              <a:t/>
            </a:r>
          </a:p>
          <a:p xmlns:a="http://schemas.openxmlformats.org/drawingml/2006/main">
            <a:r>
              <a:t>Required evidence</a:t>
            </a:r>
          </a:p>
          <a:p xmlns:a="http://schemas.openxmlformats.org/drawingml/2006/main">
            <a:r>
              <a:t>- End-to-end workflow recording</a:t>
            </a:r>
          </a:p>
          <a:p xmlns:a="http://schemas.openxmlformats.org/drawingml/2006/main">
            <a:r>
              <a:t>- Completion/ownership invariant report</a:t>
            </a:r>
          </a:p>
          <a:p xmlns:a="http://schemas.openxmlformats.org/drawingml/2006/main">
            <a:r>
              <a:t>- Legacy parity and migration checklist</a:t>
            </a:r>
          </a:p>
          <a:p xmlns:a="http://schemas.openxmlformats.org/drawingml/2006/main">
            <a:r>
              <a:t/>
            </a:r>
          </a:p>
          <a:p xmlns:a="http://schemas.openxmlformats.org/drawingml/2006/main">
            <a:r>
              <a:t>Rollback / containment: Route new tasks back to the legacy path only after draining or explicitly reconciling active attempts. Never run both paths as writers for one task.</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P06: Agent-client entry points and portable tooling</a:t>
            </a:r>
          </a:p>
          <a:p xmlns:a="http://schemas.openxmlformats.org/drawingml/2006/main">
            <a:r>
              <a:t>Status: proposed</a:t>
            </a:r>
          </a:p>
          <a:p xmlns:a="http://schemas.openxmlformats.org/drawingml/2006/main">
            <a:r>
              <a:t>Outcome: Developers use Agentmux from their preferred supported client.</a:t>
            </a:r>
          </a:p>
          <a:p xmlns:a="http://schemas.openxmlformats.org/drawingml/2006/main">
            <a:r>
              <a:t>Accountable function: Integrations + developer experience</a:t>
            </a:r>
          </a:p>
          <a:p xmlns:a="http://schemas.openxmlformats.org/drawingml/2006/main">
            <a:r>
              <a:t>Relative size: L (complexity, not calendar duration)</a:t>
            </a:r>
          </a:p>
          <a:p xmlns:a="http://schemas.openxmlformats.org/drawingml/2006/main">
            <a:r>
              <a:t>Dependencies: P05</a:t>
            </a:r>
          </a:p>
          <a:p xmlns:a="http://schemas.openxmlformats.org/drawingml/2006/main">
            <a:r>
              <a:t/>
            </a:r>
          </a:p>
          <a:p xmlns:a="http://schemas.openxmlformats.org/drawingml/2006/main">
            <a:r>
              <a:t>Work packages</a:t>
            </a:r>
          </a:p>
          <a:p xmlns:a="http://schemas.openxmlformats.org/drawingml/2006/main">
            <a:r>
              <a:t>1. Provide stable CLI and MCP interfaces generated from declared command contracts, with discoverable resources and error semantics.</a:t>
            </a:r>
          </a:p>
          <a:p xmlns:a="http://schemas.openxmlformats.org/drawingml/2006/main">
            <a:r>
              <a:t>2. Package and test integrations for Claude Code, Codex CLI, Pi, and Claude Desktop using each host's documented capabilities.</a:t>
            </a:r>
          </a:p>
          <a:p xmlns:a="http://schemas.openxmlformats.org/drawingml/2006/main">
            <a:r>
              <a:t>3. Distinguish external client sessions submitting work from Agentmux-managed worker sessions. Publish coverage for events, controls, resume, hooks, and compaction.</a:t>
            </a:r>
          </a:p>
          <a:p xmlns:a="http://schemas.openxmlformats.org/drawingml/2006/main">
            <a:r>
              <a:t>4. Add setup, credential references, diagnostics, install checks, and client-specific documentation without silently replacing user configuration.</a:t>
            </a:r>
          </a:p>
          <a:p xmlns:a="http://schemas.openxmlformats.org/drawingml/2006/main">
            <a:r>
              <a:t>5. Inventory and qualify existing Grok/provider authentication methods and any Bedrock compatibility path. Migrate GitHub and Jira/Confluence workflows as tool plugins with explicit writes and credentials.</a:t>
            </a:r>
          </a:p>
          <a:p xmlns:a="http://schemas.openxmlformats.org/drawingml/2006/main">
            <a:r>
              <a:t/>
            </a:r>
          </a:p>
          <a:p xmlns:a="http://schemas.openxmlformats.org/drawingml/2006/main">
            <a:r>
              <a:t>Acceptance criteria</a:t>
            </a:r>
          </a:p>
          <a:p xmlns:a="http://schemas.openxmlformats.org/drawingml/2006/main">
            <a:r>
              <a:t>P06-AC01: Each supported client can submit a task, inspect progress/evidence, participate in required approvals, and retrieve the result.</a:t>
            </a:r>
          </a:p>
          <a:p xmlns:a="http://schemas.openxmlformats.org/drawingml/2006/main">
            <a:r>
              <a:t>P06-AC02: Unsupported event capture, cancellation, or compaction reports an explicit capability limit instead of simulating success.</a:t>
            </a:r>
          </a:p>
          <a:p xmlns:a="http://schemas.openxmlformats.org/drawingml/2006/main">
            <a:r>
              <a:t>P06-AC03: Closing the originating client or observer does not duplicate or implicitly terminate durable work.</a:t>
            </a:r>
          </a:p>
          <a:p xmlns:a="http://schemas.openxmlformats.org/drawingml/2006/main">
            <a:r>
              <a:t>P06-AC04: Fresh-user install and uninstall preserve unrelated client settings and secrets.</a:t>
            </a:r>
          </a:p>
          <a:p xmlns:a="http://schemas.openxmlformats.org/drawingml/2006/main">
            <a:r>
              <a:t/>
            </a:r>
          </a:p>
          <a:p xmlns:a="http://schemas.openxmlformats.org/drawingml/2006/main">
            <a:r>
              <a:t>Verification</a:t>
            </a:r>
          </a:p>
          <a:p xmlns:a="http://schemas.openxmlformats.org/drawingml/2006/main">
            <a:r>
              <a:t>1. Execute the same reference workflow on every pinned client version in the support matrix.</a:t>
            </a:r>
          </a:p>
          <a:p xmlns:a="http://schemas.openxmlformats.org/drawingml/2006/main">
            <a:r>
              <a:t>2. Test reconnect, authentication expiry, missing tool, malformed MCP request, and client shutdown.</a:t>
            </a:r>
          </a:p>
          <a:p xmlns:a="http://schemas.openxmlformats.org/drawingml/2006/main">
            <a:r>
              <a:t>3. Review provider commercial integration terms before promising a supported paid distribution.</a:t>
            </a:r>
          </a:p>
          <a:p xmlns:a="http://schemas.openxmlformats.org/drawingml/2006/main">
            <a:r>
              <a:t/>
            </a:r>
          </a:p>
          <a:p xmlns:a="http://schemas.openxmlformats.org/drawingml/2006/main">
            <a:r>
              <a:t>Required evidence</a:t>
            </a:r>
          </a:p>
          <a:p xmlns:a="http://schemas.openxmlformats.org/drawingml/2006/main">
            <a:r>
              <a:t>- Actual-host compatibility matrix</a:t>
            </a:r>
          </a:p>
          <a:p xmlns:a="http://schemas.openxmlformats.org/drawingml/2006/main">
            <a:r>
              <a:t>- CLI/MCP reference and setup guides</a:t>
            </a:r>
          </a:p>
          <a:p xmlns:a="http://schemas.openxmlformats.org/drawingml/2006/main">
            <a:r>
              <a:t>- Per-client workflow results</a:t>
            </a:r>
          </a:p>
          <a:p xmlns:a="http://schemas.openxmlformats.org/drawingml/2006/main">
            <a:r>
              <a:t/>
            </a:r>
          </a:p>
          <a:p xmlns:a="http://schemas.openxmlformats.org/drawingml/2006/main">
            <a:r>
              <a:t>Rollback / containment: Disable only the affected adapter and preserve the underlying task state and alternate CLI access.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P07: AG-UI dashboard and Atomic Design</a:t>
            </a:r>
          </a:p>
          <a:p xmlns:a="http://schemas.openxmlformats.org/drawingml/2006/main">
            <a:r>
              <a:t>Status: proposed</a:t>
            </a:r>
          </a:p>
          <a:p xmlns:a="http://schemas.openxmlformats.org/drawingml/2006/main">
            <a:r>
              <a:t>Outcome: Authorized users can understand work across agents, projects, and hubs.</a:t>
            </a:r>
          </a:p>
          <a:p xmlns:a="http://schemas.openxmlformats.org/drawingml/2006/main">
            <a:r>
              <a:t>Accountable function: Frontend + interface platform</a:t>
            </a:r>
          </a:p>
          <a:p xmlns:a="http://schemas.openxmlformats.org/drawingml/2006/main">
            <a:r>
              <a:t>Relative size: L (complexity, not calendar duration)</a:t>
            </a:r>
          </a:p>
          <a:p xmlns:a="http://schemas.openxmlformats.org/drawingml/2006/main">
            <a:r>
              <a:t>Dependencies: P06</a:t>
            </a:r>
          </a:p>
          <a:p xmlns:a="http://schemas.openxmlformats.org/drawingml/2006/main">
            <a:r>
              <a:t/>
            </a:r>
          </a:p>
          <a:p xmlns:a="http://schemas.openxmlformats.org/drawingml/2006/main">
            <a:r>
              <a:t>Work packages</a:t>
            </a:r>
          </a:p>
          <a:p xmlns:a="http://schemas.openxmlformats.org/drawingml/2006/main">
            <a:r>
              <a:t>1. Build a NATS-facing interface plugin that converts authorized state/events into a pinned AG-UI contract for CopilotKit.</a:t>
            </a:r>
          </a:p>
          <a:p xmlns:a="http://schemas.openxmlformats.org/drawingml/2006/main">
            <a:r>
              <a:t>2. Implement plans, tasks/boards, runs/attempts, agents/hubs, tool activity, agent conversations, evidence/artifacts, decisions/costs, settings, and domain contribution slots.</a:t>
            </a:r>
          </a:p>
          <a:p xmlns:a="http://schemas.openxmlformats.org/drawingml/2006/main">
            <a:r>
              <a:t>3. Use snapshots, ordered deltas, stable IDs/cursors, resynchronization, redaction, and explicit unknown/stale state.</a:t>
            </a:r>
          </a:p>
          <a:p xmlns:a="http://schemas.openxmlformats.org/drawingml/2006/main">
            <a:r>
              <a:t>4. Use atoms, molecules, organisms, templates, and feature/page composition. Implement keyboard, contrast, accessible names, empty/error/offline states.</a:t>
            </a:r>
          </a:p>
          <a:p xmlns:a="http://schemas.openxmlformats.org/drawingml/2006/main">
            <a:r>
              <a:t>5. Include approvals and run controls only to the approved scope. Commands always return to their authoritative owner over NATS.</a:t>
            </a:r>
          </a:p>
          <a:p xmlns:a="http://schemas.openxmlformats.org/drawingml/2006/main">
            <a:r>
              <a:t/>
            </a:r>
          </a:p>
          <a:p xmlns:a="http://schemas.openxmlformats.org/drawingml/2006/main">
            <a:r>
              <a:t>Acceptance criteria</a:t>
            </a:r>
          </a:p>
          <a:p xmlns:a="http://schemas.openxmlformats.org/drawingml/2006/main">
            <a:r>
              <a:t>P07-AC01: Refresh, reconnect, duplicate events, delayed events, and history gaps converge to the same authorized view without starting work.</a:t>
            </a:r>
          </a:p>
          <a:p xmlns:a="http://schemas.openxmlformats.org/drawingml/2006/main">
            <a:r>
              <a:t>P07-AC02: An unauthorized user cannot access another project's snapshots, streams, conversation, or artifact by guessing an ID.</a:t>
            </a:r>
          </a:p>
          <a:p xmlns:a="http://schemas.openxmlformats.org/drawingml/2006/main">
            <a:r>
              <a:t>P07-AC03: Every displayed completion or cancellation state distinguishes worker output from accepted/confirmed state.</a:t>
            </a:r>
          </a:p>
          <a:p xmlns:a="http://schemas.openxmlformats.org/drawingml/2006/main">
            <a:r>
              <a:t>P07-AC04: Domain UI contributions use versioned registered components. Core views remain usable when an optional plugin fails.</a:t>
            </a:r>
          </a:p>
          <a:p xmlns:a="http://schemas.openxmlformats.org/drawingml/2006/main">
            <a:r>
              <a:t>P07-AC05: Reusable component boundaries and accessibility checks pass for all launch views.</a:t>
            </a:r>
          </a:p>
          <a:p xmlns:a="http://schemas.openxmlformats.org/drawingml/2006/main">
            <a:r>
              <a:t/>
            </a:r>
          </a:p>
          <a:p xmlns:a="http://schemas.openxmlformats.org/drawingml/2006/main">
            <a:r>
              <a:t>Verification</a:t>
            </a:r>
          </a:p>
          <a:p xmlns:a="http://schemas.openxmlformats.org/drawingml/2006/main">
            <a:r>
              <a:t>1. Run multi-viewer browser tests, revoked-session tests, stream replay, and network interruptions.</a:t>
            </a:r>
          </a:p>
          <a:p xmlns:a="http://schemas.openxmlformats.org/drawingml/2006/main">
            <a:r>
              <a:t>2. Compare UI snapshots to authoritative records after each failure scenario.</a:t>
            </a:r>
          </a:p>
          <a:p xmlns:a="http://schemas.openxmlformats.org/drawingml/2006/main">
            <a:r>
              <a:t>3. Run component dependency checks, keyboard/screen-reader review, and visual regression tests.</a:t>
            </a:r>
          </a:p>
          <a:p xmlns:a="http://schemas.openxmlformats.org/drawingml/2006/main">
            <a:r>
              <a:t/>
            </a:r>
          </a:p>
          <a:p xmlns:a="http://schemas.openxmlformats.org/drawingml/2006/main">
            <a:r>
              <a:t>Required evidence</a:t>
            </a:r>
          </a:p>
          <a:p xmlns:a="http://schemas.openxmlformats.org/drawingml/2006/main">
            <a:r>
              <a:t>- AG-UI event mapping</a:t>
            </a:r>
          </a:p>
          <a:p xmlns:a="http://schemas.openxmlformats.org/drawingml/2006/main">
            <a:r>
              <a:t>- UI extension and accessibility reports</a:t>
            </a:r>
          </a:p>
          <a:p xmlns:a="http://schemas.openxmlformats.org/drawingml/2006/main">
            <a:r>
              <a:t>- Dashboard before/after demonstration</a:t>
            </a:r>
          </a:p>
          <a:p xmlns:a="http://schemas.openxmlformats.org/drawingml/2006/main">
            <a:r>
              <a:t/>
            </a:r>
          </a:p>
          <a:p xmlns:a="http://schemas.openxmlformats.org/drawingml/2006/main">
            <a:r>
              <a:t>Rollback / containment: Retain CLI access and pin the prior interface/UI version. A UI rollback cannot roll back task ownership.</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P08: Jev decision services and measured efficiency</a:t>
            </a:r>
          </a:p>
          <a:p xmlns:a="http://schemas.openxmlformats.org/drawingml/2006/main">
            <a:r>
              <a:t>Status: proposed</a:t>
            </a:r>
          </a:p>
          <a:p xmlns:a="http://schemas.openxmlformats.org/drawingml/2006/main">
            <a:r>
              <a:t>Outcome: Plugins request bounded semantic advice with traceable evidence and safe fallback.</a:t>
            </a:r>
          </a:p>
          <a:p xmlns:a="http://schemas.openxmlformats.org/drawingml/2006/main">
            <a:r>
              <a:t>Accountable function: Decision platform + evaluation</a:t>
            </a:r>
          </a:p>
          <a:p xmlns:a="http://schemas.openxmlformats.org/drawingml/2006/main">
            <a:r>
              <a:t>Relative size: L (complexity, not calendar duration)</a:t>
            </a:r>
          </a:p>
          <a:p xmlns:a="http://schemas.openxmlformats.org/drawingml/2006/main">
            <a:r>
              <a:t>Dependencies: P07</a:t>
            </a:r>
          </a:p>
          <a:p xmlns:a="http://schemas.openxmlformats.org/drawingml/2006/main">
            <a:r>
              <a:t/>
            </a:r>
          </a:p>
          <a:p xmlns:a="http://schemas.openxmlformats.org/drawingml/2006/main">
            <a:r>
              <a:t>Work packages</a:t>
            </a:r>
          </a:p>
          <a:p xmlns:a="http://schemas.openxmlformats.org/drawingml/2006/main">
            <a:r>
              <a:t>1. Implement a language-neutral decision service with optional Jev provider, versioned definitions/rubrics/schemas, scoped NATS requests, cache, budgets, cancellation, and evidence ledger.</a:t>
            </a:r>
          </a:p>
          <a:p xmlns:a="http://schemas.openxmlformats.org/drawingml/2006/main">
            <a:r>
              <a:t>2. Check exact rules and data-export authority before hosted inference. Distinguish known answer, abstention, partial evidence, unavailable provider, and ambiguous billing.</a:t>
            </a:r>
          </a:p>
          <a:p xmlns:a="http://schemas.openxmlformats.org/drawingml/2006/main">
            <a:r>
              <a:t>3. Support the eight reusable decision families and contributed definitions. Start in shadow/advisory mode for capability discovery, evidence selection, failure triage, and review.</a:t>
            </a:r>
          </a:p>
          <a:p xmlns:a="http://schemas.openxmlformats.org/drawingml/2006/main">
            <a:r>
              <a:t>4. Preserve exact source IDs/spans, required facts, contrary evidence, and context-expansion routes. Mandatory events bypass relevance filters.</a:t>
            </a:r>
          </a:p>
          <a:p xmlns:a="http://schemas.openxmlformats.org/drawingml/2006/main">
            <a:r>
              <a:t>5. Measure downstream tokens, provider costs, prompt-cache effects, latency, retries, rework, and accepted outcomes against a baseline.</a:t>
            </a:r>
          </a:p>
          <a:p xmlns:a="http://schemas.openxmlformats.org/drawingml/2006/main">
            <a:r>
              <a:t/>
            </a:r>
          </a:p>
          <a:p xmlns:a="http://schemas.openxmlformats.org/drawingml/2006/main">
            <a:r>
              <a:t>Acceptance criteria</a:t>
            </a:r>
          </a:p>
          <a:p xmlns:a="http://schemas.openxmlformats.org/drawingml/2006/main">
            <a:r>
              <a:t>P08-AC01: Boot and core orchestration still work when Jev is disabled or unreachable, using documented fallbacks.</a:t>
            </a:r>
          </a:p>
          <a:p xmlns:a="http://schemas.openxmlformats.org/drawingml/2006/main">
            <a:r>
              <a:t>P08-AC02: Jev cannot grant authority, mutate kernel state, invent tool success, transfer task ownership, or accept a result.</a:t>
            </a:r>
          </a:p>
          <a:p xmlns:a="http://schemas.openxmlformats.org/drawingml/2006/main">
            <a:r>
              <a:t>P08-AC03: Cache keys bind tenant, scope, source/version, definition/model, and policy. Revoked sharing cannot return a cached restricted result.</a:t>
            </a:r>
          </a:p>
          <a:p xmlns:a="http://schemas.openxmlformats.org/drawingml/2006/main">
            <a:r>
              <a:t>P08-AC04: All calls obey size/time/budget limits and account for failed/uncertain attempts. Replay of stored annotations makes no new paid call.</a:t>
            </a:r>
          </a:p>
          <a:p xmlns:a="http://schemas.openxmlformats.org/drawingml/2006/main">
            <a:r>
              <a:t>P08-AC05: Each enabled definition passes its own labeled holdout criteria and workflow non-regression threshold before promotion.</a:t>
            </a:r>
          </a:p>
          <a:p xmlns:a="http://schemas.openxmlformats.org/drawingml/2006/main">
            <a:r>
              <a:t/>
            </a:r>
          </a:p>
          <a:p xmlns:a="http://schemas.openxmlformats.org/drawingml/2006/main">
            <a:r>
              <a:t>Verification</a:t>
            </a:r>
          </a:p>
          <a:p xmlns:a="http://schemas.openxmlformats.org/drawingml/2006/main">
            <a:r>
              <a:t>1. Run the existing synthetic examples and 44-case policy illustration as historical inputs, then extend with real service and NATS tests.</a:t>
            </a:r>
          </a:p>
          <a:p xmlns:a="http://schemas.openxmlformats.org/drawingml/2006/main">
            <a:r>
              <a:t>2. Evaluate with provider mocks for mechanics, separately with capped live calls for semantic quality after local token configuration and budget approval.</a:t>
            </a:r>
          </a:p>
          <a:p xmlns:a="http://schemas.openxmlformats.org/drawingml/2006/main">
            <a:r>
              <a:t>3. Compare deterministic baseline, Jev tools only, and tools plus skills on equivalent fresh tasks.</a:t>
            </a:r>
          </a:p>
          <a:p xmlns:a="http://schemas.openxmlformats.org/drawingml/2006/main">
            <a:r>
              <a:t/>
            </a:r>
          </a:p>
          <a:p xmlns:a="http://schemas.openxmlformats.org/drawingml/2006/main">
            <a:r>
              <a:t>Required evidence</a:t>
            </a:r>
          </a:p>
          <a:p xmlns:a="http://schemas.openxmlformats.org/drawingml/2006/main">
            <a:r>
              <a:t>- Decision contracts and policy ledger</a:t>
            </a:r>
          </a:p>
          <a:p xmlns:a="http://schemas.openxmlformats.org/drawingml/2006/main">
            <a:r>
              <a:t>- Definition-specific scorecards</a:t>
            </a:r>
          </a:p>
          <a:p xmlns:a="http://schemas.openxmlformats.org/drawingml/2006/main">
            <a:r>
              <a:t>- Cost per accepted outcome and fallback report</a:t>
            </a:r>
          </a:p>
          <a:p xmlns:a="http://schemas.openxmlformats.org/drawingml/2006/main">
            <a:r>
              <a:t/>
            </a:r>
          </a:p>
          <a:p xmlns:a="http://schemas.openxmlformats.org/drawingml/2006/main">
            <a:r>
              <a:t>Rollback / containment: Disable a definition or provider and use the deterministic/manual fallback. Retain audit/evaluation history.</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P09: Portable Jev plugin and first skill wave</a:t>
            </a:r>
          </a:p>
          <a:p xmlns:a="http://schemas.openxmlformats.org/drawingml/2006/main">
            <a:r>
              <a:t>Status: proposed</a:t>
            </a:r>
          </a:p>
          <a:p xmlns:a="http://schemas.openxmlformats.org/drawingml/2006/main">
            <a:r>
              <a:t>Outcome: The same Jev capabilities improve supported clients with host-specific packaging.</a:t>
            </a:r>
          </a:p>
          <a:p xmlns:a="http://schemas.openxmlformats.org/drawingml/2006/main">
            <a:r>
              <a:t>Accountable function: Skills + client integrations</a:t>
            </a:r>
          </a:p>
          <a:p xmlns:a="http://schemas.openxmlformats.org/drawingml/2006/main">
            <a:r>
              <a:t>Relative size: L (complexity, not calendar duration)</a:t>
            </a:r>
          </a:p>
          <a:p xmlns:a="http://schemas.openxmlformats.org/drawingml/2006/main">
            <a:r>
              <a:t>Dependencies: P08</a:t>
            </a:r>
          </a:p>
          <a:p xmlns:a="http://schemas.openxmlformats.org/drawingml/2006/main">
            <a:r>
              <a:t/>
            </a:r>
          </a:p>
          <a:p xmlns:a="http://schemas.openxmlformats.org/drawingml/2006/main">
            <a:r>
              <a:t>Work packages</a:t>
            </a:r>
          </a:p>
          <a:p xmlns:a="http://schemas.openxmlformats.org/drawingml/2006/main">
            <a:r>
              <a:t>1. Build one shared Jev CLI/MCP runtime and portable skill content with separate Claude, Codex, Pi, and Desktop packaging.</a:t>
            </a:r>
          </a:p>
          <a:p xmlns:a="http://schemas.openxmlformats.org/drawingml/2006/main">
            <a:r>
              <a:t>2. Keep standalone Jev usable without Agentmux or NATS. In Agentmux mode route decision requests through scoped hub services.</a:t>
            </a:r>
          </a:p>
          <a:p xmlns:a="http://schemas.openxmlformats.org/drawingml/2006/main">
            <a:r>
              <a:t>3. Create the proposed first general skill wave: setup, classify, scout, context, triage, review, author, and eval.</a:t>
            </a:r>
          </a:p>
          <a:p xmlns:a="http://schemas.openxmlformats.org/drawingml/2006/main">
            <a:r>
              <a:t>4. Create the first Agentmux wave: prepare-worker, delegate, inspect-hub, and review-results. Qualify local-hub behavior in P09 and keep remote-hub modes disabled until P10 actual-hub acceptance. Keep final delegation authorization with platform owners.</a:t>
            </a:r>
          </a:p>
          <a:p xmlns:a="http://schemas.openxmlformats.org/drawingml/2006/main">
            <a:r>
              <a:t>5. Use skill-creator to draft, run paired behavioral and trigger tests, review results, revise, and qualify untouched holdout cases.</a:t>
            </a:r>
          </a:p>
          <a:p xmlns:a="http://schemas.openxmlformats.org/drawingml/2006/main">
            <a:r>
              <a:t/>
            </a:r>
          </a:p>
          <a:p xmlns:a="http://schemas.openxmlformats.org/drawingml/2006/main">
            <a:r>
              <a:t>Acceptance criteria</a:t>
            </a:r>
          </a:p>
          <a:p xmlns:a="http://schemas.openxmlformats.org/drawingml/2006/main">
            <a:r>
              <a:t>P09-AC01: All first-wave skills have a clear trigger, declared input/output, real use case, error/fallback behavior, and evaluation fixtures.</a:t>
            </a:r>
          </a:p>
          <a:p xmlns:a="http://schemas.openxmlformats.org/drawingml/2006/main">
            <a:r>
              <a:t>P09-AC02: Whole-suite near-miss tests show skills do not compete unnecessarily or trigger a broad ask-everything path.</a:t>
            </a:r>
          </a:p>
          <a:p xmlns:a="http://schemas.openxmlformats.org/drawingml/2006/main">
            <a:r>
              <a:t>P09-AC03: Every claimed host capability passes on that actual host. Unsupported hooks/compaction are declared.</a:t>
            </a:r>
          </a:p>
          <a:p xmlns:a="http://schemas.openxmlformats.org/drawingml/2006/main">
            <a:r>
              <a:t>P09-AC04: Skills preserve counterevidence and required obligations and cannot override system permissions or invent authority.</a:t>
            </a:r>
          </a:p>
          <a:p xmlns:a="http://schemas.openxmlformats.org/drawingml/2006/main">
            <a:r>
              <a:t>P09-AC05: Live semantic and end-to-end cost gates pass before the corresponding skill is enabled by default.</a:t>
            </a:r>
          </a:p>
          <a:p xmlns:a="http://schemas.openxmlformats.org/drawingml/2006/main">
            <a:r>
              <a:t/>
            </a:r>
          </a:p>
          <a:p xmlns:a="http://schemas.openxmlformats.org/drawingml/2006/main">
            <a:r>
              <a:t>Verification</a:t>
            </a:r>
          </a:p>
          <a:p xmlns:a="http://schemas.openxmlformats.org/drawingml/2006/main">
            <a:r>
              <a:t>1. Run approximately 20 positive/near-miss trigger prompts per skill and representative task pairs plus shared boundary cases.</a:t>
            </a:r>
          </a:p>
          <a:p xmlns:a="http://schemas.openxmlformats.org/drawingml/2006/main">
            <a:r>
              <a:t>2. Use independent review and separate tuning/validation/release sets.</a:t>
            </a:r>
          </a:p>
          <a:p xmlns:a="http://schemas.openxmlformats.org/drawingml/2006/main">
            <a:r>
              <a:t>3. Measure skill discovery metadata overhead, context cost, accuracy, and accepted outcomes across hosts.</a:t>
            </a:r>
          </a:p>
          <a:p xmlns:a="http://schemas.openxmlformats.org/drawingml/2006/main">
            <a:r>
              <a:t/>
            </a:r>
          </a:p>
          <a:p xmlns:a="http://schemas.openxmlformats.org/drawingml/2006/main">
            <a:r>
              <a:t>Required evidence</a:t>
            </a:r>
          </a:p>
          <a:p xmlns:a="http://schemas.openxmlformats.org/drawingml/2006/main">
            <a:r>
              <a:t>- Host packages and skill catalog</a:t>
            </a:r>
          </a:p>
          <a:p xmlns:a="http://schemas.openxmlformats.org/drawingml/2006/main">
            <a:r>
              <a:t>- Paired skill-creator evaluation reports</a:t>
            </a:r>
          </a:p>
          <a:p xmlns:a="http://schemas.openxmlformats.org/drawingml/2006/main">
            <a:r>
              <a:t>- Cross-host conformance and release holdout</a:t>
            </a:r>
          </a:p>
          <a:p xmlns:a="http://schemas.openxmlformats.org/drawingml/2006/main">
            <a:r>
              <a:t/>
            </a:r>
          </a:p>
          <a:p xmlns:a="http://schemas.openxmlformats.org/drawingml/2006/main">
            <a:r>
              <a:t>Rollback / containment: Disable or uninstall the specific skill/package, preserve user config, and retain CLI/MCP access where independently qualified.</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P10: Connected hubs, leaf nodes, and cross-organization work</a:t>
            </a:r>
          </a:p>
          <a:p xmlns:a="http://schemas.openxmlformats.org/drawingml/2006/main">
            <a:r>
              <a:t>Status: proposed</a:t>
            </a:r>
          </a:p>
          <a:p xmlns:a="http://schemas.openxmlformats.org/drawingml/2006/main">
            <a:r>
              <a:t>Outcome: Independent teams share authorized work while retaining their own authority.</a:t>
            </a:r>
          </a:p>
          <a:p xmlns:a="http://schemas.openxmlformats.org/drawingml/2006/main">
            <a:r>
              <a:t>Accountable function: Federation + security + reliability</a:t>
            </a:r>
          </a:p>
          <a:p xmlns:a="http://schemas.openxmlformats.org/drawingml/2006/main">
            <a:r>
              <a:t>Relative size: XL (complexity, not calendar duration)</a:t>
            </a:r>
          </a:p>
          <a:p xmlns:a="http://schemas.openxmlformats.org/drawingml/2006/main">
            <a:r>
              <a:t>Dependencies: P09</a:t>
            </a:r>
          </a:p>
          <a:p xmlns:a="http://schemas.openxmlformats.org/drawingml/2006/main">
            <a:r>
              <a:t/>
            </a:r>
          </a:p>
          <a:p xmlns:a="http://schemas.openxmlformats.org/drawingml/2006/main">
            <a:r>
              <a:t>Work packages</a:t>
            </a:r>
          </a:p>
          <a:p xmlns:a="http://schemas.openxmlformats.org/drawingml/2006/main">
            <a:r>
              <a:t>1. Implement scoped trust agreements, node/peer enrollment, NATS leaf topology, independent JetStream domains where needed, and selective sharing/replication.</a:t>
            </a:r>
          </a:p>
          <a:p xmlns:a="http://schemas.openxmlformats.org/drawingml/2006/main">
            <a:r>
              <a:t>2. Publish authorized capabilities and capacity. Filter deterministic eligibility before optional Jev suitability scoring and revalidate at offer time.</a:t>
            </a:r>
          </a:p>
          <a:p xmlns:a="http://schemas.openxmlformats.org/drawingml/2006/main">
            <a:r>
              <a:t>3. Implement durable offer, acceptance, reservation, execution reporting, result submission, origin acceptance, reconciliation, revocation, and explicit reassignment.</a:t>
            </a:r>
          </a:p>
          <a:p xmlns:a="http://schemas.openxmlformats.org/drawingml/2006/main">
            <a:r>
              <a:t>4. Support work/context/artifacts/code/findings/messages/board projections with authenticated provenance, digests, visibility, and retention.</a:t>
            </a:r>
          </a:p>
          <a:p xmlns:a="http://schemas.openxmlformats.org/drawingml/2006/main">
            <a:r>
              <a:t>5. Add automatic receiving-hub acceptance inside approved rules, pending human approval for review-required work, and rejection for hard-denied work. Enforce any onward delegation/export separately.</a:t>
            </a:r>
          </a:p>
          <a:p xmlns:a="http://schemas.openxmlformats.org/drawingml/2006/main">
            <a:r>
              <a:t>6. Qualify and enable the remote-hub modes of P09 delegate, inspect-hub, and review-results skills on real connected hubs and supported clients. Their earlier local qualification does not count as federation evidence.</a:t>
            </a:r>
          </a:p>
          <a:p xmlns:a="http://schemas.openxmlformats.org/drawingml/2006/main">
            <a:r>
              <a:t/>
            </a:r>
          </a:p>
          <a:p xmlns:a="http://schemas.openxmlformats.org/drawingml/2006/main">
            <a:r>
              <a:t>Acceptance criteria</a:t>
            </a:r>
          </a:p>
          <a:p xmlns:a="http://schemas.openxmlformats.org/drawingml/2006/main">
            <a:r>
              <a:t>P10-AC01: Same-organization and cross-organization reference workflows both finish with origin-owned result acceptance.</a:t>
            </a:r>
          </a:p>
          <a:p xmlns:a="http://schemas.openxmlformats.org/drawingml/2006/main">
            <a:r>
              <a:t>P10-AC02: Accepted work stays reserved while disconnected. Missing acceptance acknowledgment remains ambiguous until reconciled, never automatically redispatched.</a:t>
            </a:r>
          </a:p>
          <a:p xmlns:a="http://schemas.openxmlformats.org/drawingml/2006/main">
            <a:r>
              <a:t>P10-AC03: Duplicate offer/result delivery creates one delegation/attempt outcome. Wrong executor, project, repository, or task version is rejected. Stale grants cannot authorize new effects. Authenticated historical results from previously authorized reserved work are retained for reconciliation or quarantine when current policy requires it; grant expiry cannot erase the obligation or its evidence.</a:t>
            </a:r>
          </a:p>
          <a:p xmlns:a="http://schemas.openxmlformats.org/drawingml/2006/main">
            <a:r>
              <a:t>P10-AC04: Unauthorized accounts cannot subscribe to private project subjects or fetch protected artifacts. Transitive hub connectivity grants no access.</a:t>
            </a:r>
          </a:p>
          <a:p xmlns:a="http://schemas.openxmlformats.org/drawingml/2006/main">
            <a:r>
              <a:t>P10-AC05: Reconnect recovers progress/results and durable revocations. A stop request is not reported as execution stopped until confirmed or clearly unknown.</a:t>
            </a:r>
          </a:p>
          <a:p xmlns:a="http://schemas.openxmlformats.org/drawingml/2006/main">
            <a:r>
              <a:t>P10-AC06: A leaf outage and independent local persistence produce the agreed offline behavior without treating broker connectivity as shared ownership.</a:t>
            </a:r>
          </a:p>
          <a:p xmlns:a="http://schemas.openxmlformats.org/drawingml/2006/main">
            <a:r>
              <a:t/>
            </a:r>
          </a:p>
          <a:p xmlns:a="http://schemas.openxmlformats.org/drawingml/2006/main">
            <a:r>
              <a:t>Verification</a:t>
            </a:r>
          </a:p>
          <a:p xmlns:a="http://schemas.openxmlformats.org/drawingml/2006/main">
            <a:r>
              <a:t>1. Run at least three hubs and two independently administered organizations with real accounts/leaf links and isolated stores.</a:t>
            </a:r>
          </a:p>
          <a:p xmlns:a="http://schemas.openxmlformats.org/drawingml/2006/main">
            <a:r>
              <a:t>2. Inject partitions before/after offer acceptance, drop replies, duplicate deliveries, restart hubs, expire/revoke grants, and alter task versions.</a:t>
            </a:r>
          </a:p>
          <a:p xmlns:a="http://schemas.openxmlformats.org/drawingml/2006/main">
            <a:r>
              <a:t>3. Exercise explicit cancel/reassign with a possibly running old worker and document unavoidable external-effect uncertainty.</a:t>
            </a:r>
          </a:p>
          <a:p xmlns:a="http://schemas.openxmlformats.org/drawingml/2006/main">
            <a:r>
              <a:t>4. Snapshot the origin before a remote acceptance, let the receiver accept and continue, restore that older origin snapshot, and require reconciliation before overlapping admission. Verify one reservation and no duplicate execution.</a:t>
            </a:r>
          </a:p>
          <a:p xmlns:a="http://schemas.openxmlformats.org/drawingml/2006/main">
            <a:r>
              <a:t>5. Disconnect beyond configured stream-retention and deduplication horizons using short test limits, then prune, restart, and reconnect. Require gap detection, snapshot/reconciliation or explicit intervention, preserved reservations, and no duplicate effects.</a:t>
            </a:r>
          </a:p>
          <a:p xmlns:a="http://schemas.openxmlformats.org/drawingml/2006/main">
            <a:r>
              <a:t/>
            </a:r>
          </a:p>
          <a:p xmlns:a="http://schemas.openxmlformats.org/drawingml/2006/main">
            <a:r>
              <a:t>Required evidence</a:t>
            </a:r>
          </a:p>
          <a:p xmlns:a="http://schemas.openxmlformats.org/drawingml/2006/main">
            <a:r>
              <a:t>- Federation state-machine and authority tests</a:t>
            </a:r>
          </a:p>
          <a:p xmlns:a="http://schemas.openxmlformats.org/drawingml/2006/main">
            <a:r>
              <a:t>- Partition/reconciliation matrix</a:t>
            </a:r>
          </a:p>
          <a:p xmlns:a="http://schemas.openxmlformats.org/drawingml/2006/main">
            <a:r>
              <a:t>- Cross-organization demo with auditable evidence</a:t>
            </a:r>
          </a:p>
          <a:p xmlns:a="http://schemas.openxmlformats.org/drawingml/2006/main">
            <a:r>
              <a:t/>
            </a:r>
          </a:p>
          <a:p xmlns:a="http://schemas.openxmlformats.org/drawingml/2006/main">
            <a:r>
              <a:t>Rollback / containment: Disable new links and stop new offers. Preserve reservations and reconcile accepted work before returning to a prior federation version.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P11: Industrial and vendor extension packages</a:t>
            </a:r>
          </a:p>
          <a:p xmlns:a="http://schemas.openxmlformats.org/drawingml/2006/main">
            <a:r>
              <a:t>Status: proposed</a:t>
            </a:r>
          </a:p>
          <a:p xmlns:a="http://schemas.openxmlformats.org/drawingml/2006/main">
            <a:r>
              <a:t>Outcome: Industrial workflows extend Agentmux through the same contracts as other domains.</a:t>
            </a:r>
          </a:p>
          <a:p xmlns:a="http://schemas.openxmlformats.org/drawingml/2006/main">
            <a:r>
              <a:t>Accountable function: Domain engineering + plugin SDK</a:t>
            </a:r>
          </a:p>
          <a:p xmlns:a="http://schemas.openxmlformats.org/drawingml/2006/main">
            <a:r>
              <a:t>Relative size: XL (complexity, not calendar duration)</a:t>
            </a:r>
          </a:p>
          <a:p xmlns:a="http://schemas.openxmlformats.org/drawingml/2006/main">
            <a:r>
              <a:t>Dependencies: P10</a:t>
            </a:r>
          </a:p>
          <a:p xmlns:a="http://schemas.openxmlformats.org/drawingml/2006/main">
            <a:r>
              <a:t/>
            </a:r>
          </a:p>
          <a:p xmlns:a="http://schemas.openxmlformats.org/drawingml/2006/main">
            <a:r>
              <a:t>Work packages</a:t>
            </a:r>
          </a:p>
          <a:p xmlns:a="http://schemas.openxmlformats.org/drawingml/2006/main">
            <a:r>
              <a:t>1. Package industrial orchestration guidance, tools, schemas, UI renderers, and skills with explicitly independent or parent-owned children.</a:t>
            </a:r>
          </a:p>
          <a:p xmlns:a="http://schemas.openxmlformats.org/drawingml/2006/main">
            <a:r>
              <a:t>2. Migrate current Modbus, MQTT, network discovery, PROFINET snapshot/DCP, passive BOOTP, EtherNet/IP/Logix, ADS, EtherCAT diagnostics, CODESYS runtime tooling, PCAP analysis, and existing engineering wrappers to declared capability plugins.</a:t>
            </a:r>
          </a:p>
          <a:p xmlns:a="http://schemas.openxmlformats.org/drawingml/2006/main">
            <a:r>
              <a:t>3. Define CODESYS, Siemens, Rockwell, and related vendor integration slices with actual licensed tool/OS/hardware prerequisites and test environments.</a:t>
            </a:r>
          </a:p>
          <a:p xmlns:a="http://schemas.openxmlformats.org/drawingml/2006/main">
            <a:r>
              <a:t>4. Add engineering build/migration/evidence skills and Jev definitions for diagnostics and source-preserving comparisons.</a:t>
            </a:r>
          </a:p>
          <a:p xmlns:a="http://schemas.openxmlformats.org/drawingml/2006/main">
            <a:r>
              <a:t>5. Implement read/simulation-first reference workflows and per-action permissions for equipment changes. Resolve any Windows-native execution host arrangement explicitly.</a:t>
            </a:r>
          </a:p>
          <a:p xmlns:a="http://schemas.openxmlformats.org/drawingml/2006/main">
            <a:r>
              <a:t>6. Inventory existing PCM600/ABB-related privilege hooks as integration requirements, preserving target/action confirmation and audit. Do not infer a complete vendor adapter from the existence of a guard hook.</a:t>
            </a:r>
          </a:p>
          <a:p xmlns:a="http://schemas.openxmlformats.org/drawingml/2006/main">
            <a:r>
              <a:t/>
            </a:r>
          </a:p>
          <a:p xmlns:a="http://schemas.openxmlformats.org/drawingml/2006/main">
            <a:r>
              <a:t>Acceptance criteria</a:t>
            </a:r>
          </a:p>
          <a:p xmlns:a="http://schemas.openxmlformats.org/drawingml/2006/main">
            <a:r>
              <a:t>P11-AC01: A selected industrial workflow completes through client, orchestration, tool plugin, evidence, and dashboard without kernel or generic task-model changes.</a:t>
            </a:r>
          </a:p>
          <a:p xmlns:a="http://schemas.openxmlformats.org/drawingml/2006/main">
            <a:r>
              <a:t>P11-AC02: Standalone and nested installation of selected domain children behave as declared.</a:t>
            </a:r>
          </a:p>
          <a:p xmlns:a="http://schemas.openxmlformats.org/drawingml/2006/main">
            <a:r>
              <a:t>P11-AC03: Every migrated existing integration has a parity/deprecation record, tested tool/platform matrix, and explicit missing capability status.</a:t>
            </a:r>
          </a:p>
          <a:p xmlns:a="http://schemas.openxmlformats.org/drawingml/2006/main">
            <a:r>
              <a:t>P11-AC04: Equipment writes require the correct target/action/operation grant and any applicable human approval at the owning tool endpoint.</a:t>
            </a:r>
          </a:p>
          <a:p xmlns:a="http://schemas.openxmlformats.org/drawingml/2006/main">
            <a:r>
              <a:t>P11-AC05: A vendor adapter passes with the actual required tool or a clearly labeled simulator. Simulated success is never sold as hardware qualification.</a:t>
            </a:r>
          </a:p>
          <a:p xmlns:a="http://schemas.openxmlformats.org/drawingml/2006/main">
            <a:r>
              <a:t/>
            </a:r>
          </a:p>
          <a:p xmlns:a="http://schemas.openxmlformats.org/drawingml/2006/main">
            <a:r>
              <a:t>Verification</a:t>
            </a:r>
          </a:p>
          <a:p xmlns:a="http://schemas.openxmlformats.org/drawingml/2006/main">
            <a:r>
              <a:t>1. Use protocol simulators and recorded fixtures, then controlled hardware/vendor environments for supported claims.</a:t>
            </a:r>
          </a:p>
          <a:p xmlns:a="http://schemas.openxmlformats.org/drawingml/2006/main">
            <a:r>
              <a:t>2. Test wrong device/project/version, timeout, partial writes, lost replies, credential failure, and disconnected grants.</a:t>
            </a:r>
          </a:p>
          <a:p xmlns:a="http://schemas.openxmlformats.org/drawingml/2006/main">
            <a:r>
              <a:t>3. Demonstrate missing Windows-native prerequisites as an actionable unsupported environment, not silent fallback.</a:t>
            </a:r>
          </a:p>
          <a:p xmlns:a="http://schemas.openxmlformats.org/drawingml/2006/main">
            <a:r>
              <a:t/>
            </a:r>
          </a:p>
          <a:p xmlns:a="http://schemas.openxmlformats.org/drawingml/2006/main">
            <a:r>
              <a:t>Required evidence</a:t>
            </a:r>
          </a:p>
          <a:p xmlns:a="http://schemas.openxmlformats.org/drawingml/2006/main">
            <a:r>
              <a:t>- Domain package and vendor compatibility matrix</a:t>
            </a:r>
          </a:p>
          <a:p xmlns:a="http://schemas.openxmlformats.org/drawingml/2006/main">
            <a:r>
              <a:t>- Industrial workflow and permission report</a:t>
            </a:r>
          </a:p>
          <a:p xmlns:a="http://schemas.openxmlformats.org/drawingml/2006/main">
            <a:r>
              <a:t>- Protocol parity and hardware qualification records</a:t>
            </a:r>
          </a:p>
          <a:p xmlns:a="http://schemas.openxmlformats.org/drawingml/2006/main">
            <a:r>
              <a:t/>
            </a:r>
          </a:p>
          <a:p xmlns:a="http://schemas.openxmlformats.org/drawingml/2006/main">
            <a:r>
              <a:t>Rollback / containment: Disable the affected domain capability and drain sessions. Preserve device-state uncertainty and do not automatically reverse external equipment effects.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P12: Production hardening and first sellable release</a:t>
            </a:r>
          </a:p>
          <a:p xmlns:a="http://schemas.openxmlformats.org/drawingml/2006/main">
            <a:r>
              <a:t>Status: proposed</a:t>
            </a:r>
          </a:p>
          <a:p xmlns:a="http://schemas.openxmlformats.org/drawingml/2006/main">
            <a:r>
              <a:t>Outcome: Customers can install, operate, recover, and support the complete launch product.</a:t>
            </a:r>
          </a:p>
          <a:p xmlns:a="http://schemas.openxmlformats.org/drawingml/2006/main">
            <a:r>
              <a:t>Accountable function: Release + operations + product</a:t>
            </a:r>
          </a:p>
          <a:p xmlns:a="http://schemas.openxmlformats.org/drawingml/2006/main">
            <a:r>
              <a:t>Relative size: XL (complexity, not calendar duration)</a:t>
            </a:r>
          </a:p>
          <a:p xmlns:a="http://schemas.openxmlformats.org/drawingml/2006/main">
            <a:r>
              <a:t>Dependencies: P11</a:t>
            </a:r>
          </a:p>
          <a:p xmlns:a="http://schemas.openxmlformats.org/drawingml/2006/main">
            <a:r>
              <a:t/>
            </a:r>
          </a:p>
          <a:p xmlns:a="http://schemas.openxmlformats.org/drawingml/2006/main">
            <a:r>
              <a:t>Work packages</a:t>
            </a:r>
          </a:p>
          <a:p xmlns:a="http://schemas.openxmlformats.org/drawingml/2006/main">
            <a:r>
              <a:t>1. Finish signed/reproducible distributions, dependency locks/SBOM, versioned configuration, upgrade/rollback, package verification, and support diagnostics.</a:t>
            </a:r>
          </a:p>
          <a:p xmlns:a="http://schemas.openxmlformats.org/drawingml/2006/main">
            <a:r>
              <a:t>2. Complete self-hosted topology guides, backup/restore drills, durable retention/pruning, quotas/fairness, monitoring, alerts, incident procedures, and consented telemetry.</a:t>
            </a:r>
          </a:p>
          <a:p xmlns:a="http://schemas.openxmlformats.org/drawingml/2006/main">
            <a:r>
              <a:t>3. Validate launch performance/capacity profiles, broker/storage failure recovery, long-running work, and cross-organization safety.</a:t>
            </a:r>
          </a:p>
          <a:p xmlns:a="http://schemas.openxmlformats.org/drawingml/2006/main">
            <a:r>
              <a:t>4. Finish onboarding, documentation, reference plugins, accessibility, support ownership, commercial licensing/provider eligibility, and pilot feedback.</a:t>
            </a:r>
          </a:p>
          <a:p xmlns:a="http://schemas.openxmlformats.org/drawingml/2006/main">
            <a:r>
              <a:t>5. Rehearse migration from v0.32.0 across board/run/hub/federation state, credentials, worktrees, and integrations. Keep an explicit compatibility retirement plan.</a:t>
            </a:r>
          </a:p>
          <a:p xmlns:a="http://schemas.openxmlformats.org/drawingml/2006/main">
            <a:r>
              <a:t>6. Restore an origin hub while a receiver continues accepted work, reconcile outstanding reservations before admitting replacements, test backup-name collisions, and preserve WSL database filesystem requirements.</a:t>
            </a:r>
          </a:p>
          <a:p xmlns:a="http://schemas.openxmlformats.org/drawingml/2006/main">
            <a:r>
              <a:t/>
            </a:r>
          </a:p>
          <a:p xmlns:a="http://schemas.openxmlformats.org/drawingml/2006/main">
            <a:r>
              <a:t>Acceptance criteria</a:t>
            </a:r>
          </a:p>
          <a:p xmlns:a="http://schemas.openxmlformats.org/drawingml/2006/main">
            <a:r>
              <a:t>P12-AC01: Every launch requirement is linked to passing evidence for the exact release candidate. Critical correctness/security defects are closed.</a:t>
            </a:r>
          </a:p>
          <a:p xmlns:a="http://schemas.openxmlformats.org/drawingml/2006/main">
            <a:r>
              <a:t>P12-AC02: A new developer installs and completes the reference task using only published docs on every supported platform.</a:t>
            </a:r>
          </a:p>
          <a:p xmlns:a="http://schemas.openxmlformats.org/drawingml/2006/main">
            <a:r>
              <a:t>P12-AC03: A team administrator enrolls two organizations, shares a scoped project, delegates work, survives a partition, and restores a backup.</a:t>
            </a:r>
          </a:p>
          <a:p xmlns:a="http://schemas.openxmlformats.org/drawingml/2006/main">
            <a:r>
              <a:t>P12-AC04: The approved capacity/SLO targets and recovery drill pass without losing acknowledged durable records within the tested fault model.</a:t>
            </a:r>
          </a:p>
          <a:p xmlns:a="http://schemas.openxmlformats.org/drawingml/2006/main">
            <a:r>
              <a:t>P12-AC05: Ryan reviews the release evidence with Nick and explicitly authorizes merge/release. Passing automation alone cannot merge this branch.</a:t>
            </a:r>
          </a:p>
          <a:p xmlns:a="http://schemas.openxmlformats.org/drawingml/2006/main">
            <a:r>
              <a:t/>
            </a:r>
          </a:p>
          <a:p xmlns:a="http://schemas.openxmlformats.org/drawingml/2006/main">
            <a:r>
              <a:t>Verification</a:t>
            </a:r>
          </a:p>
          <a:p xmlns:a="http://schemas.openxmlformats.org/drawingml/2006/main">
            <a:r>
              <a:t>1. Run the complete release matrix, independent security review, load/soak tests, upgrade/restore rehearsal, and pilot acceptance.</a:t>
            </a:r>
          </a:p>
          <a:p xmlns:a="http://schemas.openxmlformats.org/drawingml/2006/main">
            <a:r>
              <a:t>2. Compare evidence manifests to the exact candidate digest and invalidate stale results after material changes.</a:t>
            </a:r>
          </a:p>
          <a:p xmlns:a="http://schemas.openxmlformats.org/drawingml/2006/main">
            <a:r>
              <a:t>3. Review support and commercial readiness with accountable owners.</a:t>
            </a:r>
          </a:p>
          <a:p xmlns:a="http://schemas.openxmlformats.org/drawingml/2006/main">
            <a:r>
              <a:t/>
            </a:r>
          </a:p>
          <a:p xmlns:a="http://schemas.openxmlformats.org/drawingml/2006/main">
            <a:r>
              <a:t>Required evidence</a:t>
            </a:r>
          </a:p>
          <a:p xmlns:a="http://schemas.openxmlformats.org/drawingml/2006/main">
            <a:r>
              <a:t>- Release readiness dossier</a:t>
            </a:r>
          </a:p>
          <a:p xmlns:a="http://schemas.openxmlformats.org/drawingml/2006/main">
            <a:r>
              <a:t>- Pilot and migration acceptance</a:t>
            </a:r>
          </a:p>
          <a:p xmlns:a="http://schemas.openxmlformats.org/drawingml/2006/main">
            <a:r>
              <a:t>- Signed merge/release decision</a:t>
            </a:r>
          </a:p>
          <a:p xmlns:a="http://schemas.openxmlformats.org/drawingml/2006/main">
            <a:r>
              <a:t/>
            </a:r>
          </a:p>
          <a:p xmlns:a="http://schemas.openxmlformats.org/drawingml/2006/main">
            <a:r>
              <a:t>Rollback / containment: Use rehearsed backup/restore and version compatibility procedures. Stop new work where safe downgrade is impossible; reconcile in-flight tasks first.</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P13: Remaining Jev catalog and skill expansion</a:t>
            </a:r>
          </a:p>
          <a:p xmlns:a="http://schemas.openxmlformats.org/drawingml/2006/main">
            <a:r>
              <a:t>Status: proposed</a:t>
            </a:r>
          </a:p>
          <a:p xmlns:a="http://schemas.openxmlformats.org/drawingml/2006/main">
            <a:r>
              <a:t>Outcome: Every remaining research proposal receives a measured implementation decision.</a:t>
            </a:r>
          </a:p>
          <a:p xmlns:a="http://schemas.openxmlformats.org/drawingml/2006/main">
            <a:r>
              <a:t>Accountable function: Decision platform + domain owners</a:t>
            </a:r>
          </a:p>
          <a:p xmlns:a="http://schemas.openxmlformats.org/drawingml/2006/main">
            <a:r>
              <a:t>Relative size: L–XL per batch (complexity, not calendar duration)</a:t>
            </a:r>
          </a:p>
          <a:p xmlns:a="http://schemas.openxmlformats.org/drawingml/2006/main">
            <a:r>
              <a:t>Dependencies: P12</a:t>
            </a:r>
          </a:p>
          <a:p xmlns:a="http://schemas.openxmlformats.org/drawingml/2006/main">
            <a:r>
              <a:t/>
            </a:r>
          </a:p>
          <a:p xmlns:a="http://schemas.openxmlformats.org/drawingml/2006/main">
            <a:r>
              <a:t>Work packages</a:t>
            </a:r>
          </a:p>
          <a:p xmlns:a="http://schemas.openxmlformats.org/drawingml/2006/main">
            <a:r>
              <a:t>1. Implement the complete remaining catalog in bounded batches using the coverage appendix, without duplicating overlapping video and original use cases.</a:t>
            </a:r>
          </a:p>
          <a:p xmlns:a="http://schemas.openxmlformats.org/drawingml/2006/main">
            <a:r>
              <a:t>2. Complete general extract, compare, checkpoint, integrate, and optimize skills plus remaining Agentmux planning, coordination, diagnosis, knowledge, plugin review, and policy-tuning skills.</a:t>
            </a:r>
          </a:p>
          <a:p xmlns:a="http://schemas.openxmlformats.org/drawingml/2006/main">
            <a:r>
              <a:t>3. Expand temporary bounded questions, semantic inventories, federated source inspection, compaction/retention controls, what-if replay, fidelity review, bilateral contract interpretation, and opportunity scorecards.</a:t>
            </a:r>
          </a:p>
          <a:p xmlns:a="http://schemas.openxmlformats.org/drawingml/2006/main">
            <a:r>
              <a:t>4. Promote only qualified definitions. Record rejected or deferred cases with evidence, reasons, owner, and next review point.</a:t>
            </a:r>
          </a:p>
          <a:p xmlns:a="http://schemas.openxmlformats.org/drawingml/2006/main">
            <a:r>
              <a:t/>
            </a:r>
          </a:p>
          <a:p xmlns:a="http://schemas.openxmlformats.org/drawingml/2006/main">
            <a:r>
              <a:t>Acceptance criteria</a:t>
            </a:r>
          </a:p>
          <a:p xmlns:a="http://schemas.openxmlformats.org/drawingml/2006/main">
            <a:r>
              <a:t>P13-AC01: All 88 original uses, 14 video additions, four enablers, and 26 skills retain a traceable disposition and owning phase.</a:t>
            </a:r>
          </a:p>
          <a:p xmlns:a="http://schemas.openxmlformats.org/drawingml/2006/main">
            <a:r>
              <a:t>P13-AC02: Each batch passes schema, access, failure, semantic holdout, host-capability, and end-to-end economic gates.</a:t>
            </a:r>
          </a:p>
          <a:p xmlns:a="http://schemas.openxmlformats.org/drawingml/2006/main">
            <a:r>
              <a:t>P13-AC03: Compaction preserves mandatory obligations and active evidence and runs only on supported hosts.</a:t>
            </a:r>
          </a:p>
          <a:p xmlns:a="http://schemas.openxmlformats.org/drawingml/2006/main">
            <a:r>
              <a:t>P13-AC04: No savings claim relies only on shortened context or a provider's confidence score. Outcome quality and total cost meet approved thresholds.</a:t>
            </a:r>
          </a:p>
          <a:p xmlns:a="http://schemas.openxmlformats.org/drawingml/2006/main">
            <a:r>
              <a:t/>
            </a:r>
          </a:p>
          <a:p xmlns:a="http://schemas.openxmlformats.org/drawingml/2006/main">
            <a:r>
              <a:t>Verification</a:t>
            </a:r>
          </a:p>
          <a:p xmlns:a="http://schemas.openxmlformats.org/drawingml/2006/main">
            <a:r>
              <a:t>1. Repeat the P08/P09 evaluation protocol per changed definition/skill and representative combined workflows.</a:t>
            </a:r>
          </a:p>
          <a:p xmlns:a="http://schemas.openxmlformats.org/drawingml/2006/main">
            <a:r>
              <a:t>2. Use stored factors for policy-only replay and record when a fresh inference is necessary.</a:t>
            </a:r>
          </a:p>
          <a:p xmlns:a="http://schemas.openxmlformats.org/drawingml/2006/main">
            <a:r>
              <a:t>3. Run regression tests for cache isolation, missing evidence, mandatory messages, provider failure, and decision drift.</a:t>
            </a:r>
          </a:p>
          <a:p xmlns:a="http://schemas.openxmlformats.org/drawingml/2006/main">
            <a:r>
              <a:t/>
            </a:r>
          </a:p>
          <a:p xmlns:a="http://schemas.openxmlformats.org/drawingml/2006/main">
            <a:r>
              <a:t>Required evidence</a:t>
            </a:r>
          </a:p>
          <a:p xmlns:a="http://schemas.openxmlformats.org/drawingml/2006/main">
            <a:r>
              <a:t>- Catalog disposition register</a:t>
            </a:r>
          </a:p>
          <a:p xmlns:a="http://schemas.openxmlformats.org/drawingml/2006/main">
            <a:r>
              <a:t>- Per-batch holdout and economics</a:t>
            </a:r>
          </a:p>
          <a:p xmlns:a="http://schemas.openxmlformats.org/drawingml/2006/main">
            <a:r>
              <a:t>- Complete skill-suite release matrix</a:t>
            </a:r>
          </a:p>
          <a:p xmlns:a="http://schemas.openxmlformats.org/drawingml/2006/main">
            <a:r>
              <a:t/>
            </a:r>
          </a:p>
          <a:p xmlns:a="http://schemas.openxmlformats.org/drawingml/2006/main">
            <a:r>
              <a:t>Rollback / containment: Independently disable definitions/skills and return to the prior pinned set while preserving all evidence.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PHASE. Full authoritative phase definition follows, including all acceptance criteria, verification, evidence and rollback. No criteria are claimed passed.</a:t>
            </a:r>
          </a:p>
          <a:p xmlns:a="http://schemas.openxmlformats.org/drawingml/2006/main">
            <a:r>
              <a:t/>
            </a:r>
          </a:p>
          <a:p xmlns:a="http://schemas.openxmlformats.org/drawingml/2006/main">
            <a:r>
              <a:t>P14: Sandboxed plugins and ecosystem expansion</a:t>
            </a:r>
          </a:p>
          <a:p xmlns:a="http://schemas.openxmlformats.org/drawingml/2006/main">
            <a:r>
              <a:t>Status: proposed</a:t>
            </a:r>
          </a:p>
          <a:p xmlns:a="http://schemas.openxmlformats.org/drawingml/2006/main">
            <a:r>
              <a:t>Outcome: Untrusted third-party plugins gain a tested containment option.</a:t>
            </a:r>
          </a:p>
          <a:p xmlns:a="http://schemas.openxmlformats.org/drawingml/2006/main">
            <a:r>
              <a:t>Accountable function: Security + plugin platform</a:t>
            </a:r>
          </a:p>
          <a:p xmlns:a="http://schemas.openxmlformats.org/drawingml/2006/main">
            <a:r>
              <a:t>Relative size: XL (complexity, not calendar duration)</a:t>
            </a:r>
          </a:p>
          <a:p xmlns:a="http://schemas.openxmlformats.org/drawingml/2006/main">
            <a:r>
              <a:t>Dependencies: P13</a:t>
            </a:r>
          </a:p>
          <a:p xmlns:a="http://schemas.openxmlformats.org/drawingml/2006/main">
            <a:r>
              <a:t/>
            </a:r>
          </a:p>
          <a:p xmlns:a="http://schemas.openxmlformats.org/drawingml/2006/main">
            <a:r>
              <a:t>Work packages</a:t>
            </a:r>
          </a:p>
          <a:p xmlns:a="http://schemas.openxmlformats.org/drawingml/2006/main">
            <a:r>
              <a:t>1. Choose and threat-model isolated execution profiles, process/container/WASM options, host brokers, and platform limitations against actual plugin needs.</a:t>
            </a:r>
          </a:p>
          <a:p xmlns:a="http://schemas.openxmlformats.org/drawingml/2006/main">
            <a:r>
              <a:t>2. Enforce declared filesystem/network/process/device access, secret isolation, quotas, termination, and package provenance at runtime.</a:t>
            </a:r>
          </a:p>
          <a:p xmlns:a="http://schemas.openxmlformats.org/drawingml/2006/main">
            <a:r>
              <a:t>3. Qualify UI contribution isolation and publisher/distribution controls before enabling a public plugin ecosystem.</a:t>
            </a:r>
          </a:p>
          <a:p xmlns:a="http://schemas.openxmlformats.org/drawingml/2006/main">
            <a:r>
              <a:t>4. Retain trusted native profiles only with clear administrator choice. Assess future hosted service and native Windows as separate product decisions.</a:t>
            </a:r>
          </a:p>
          <a:p xmlns:a="http://schemas.openxmlformats.org/drawingml/2006/main">
            <a:r>
              <a:t/>
            </a:r>
          </a:p>
          <a:p xmlns:a="http://schemas.openxmlformats.org/drawingml/2006/main">
            <a:r>
              <a:t>Acceptance criteria</a:t>
            </a:r>
          </a:p>
          <a:p xmlns:a="http://schemas.openxmlformats.org/drawingml/2006/main">
            <a:r>
              <a:t>P14-AC01: Adversarial plugins fail to escape their declared profile or access unauthorized host/team data in the supported threat model.</a:t>
            </a:r>
          </a:p>
          <a:p xmlns:a="http://schemas.openxmlformats.org/drawingml/2006/main">
            <a:r>
              <a:t>P14-AC02: Sandboxed and trusted implementations pass the same language-neutral domain contract tests.</a:t>
            </a:r>
          </a:p>
          <a:p xmlns:a="http://schemas.openxmlformats.org/drawingml/2006/main">
            <a:r>
              <a:t>P14-AC03: Required native/device integrations declare and enforce narrower support or an explicitly trusted execution host.</a:t>
            </a:r>
          </a:p>
          <a:p xmlns:a="http://schemas.openxmlformats.org/drawingml/2006/main">
            <a:r>
              <a:t>P14-AC04: Security review and per-platform tests pass before claiming untrusted-plugin support. Marketplace availability requires this gate or a clearly restricted trusted catalog.</a:t>
            </a:r>
          </a:p>
          <a:p xmlns:a="http://schemas.openxmlformats.org/drawingml/2006/main">
            <a:r>
              <a:t/>
            </a:r>
          </a:p>
          <a:p xmlns:a="http://schemas.openxmlformats.org/drawingml/2006/main">
            <a:r>
              <a:t>Verification</a:t>
            </a:r>
          </a:p>
          <a:p xmlns:a="http://schemas.openxmlformats.org/drawingml/2006/main">
            <a:r>
              <a:t>1. Run exploit-oriented confinement, resource exhaustion, cross-tenant, lifecycle, dependency, and upgrade tests on each supported profile.</a:t>
            </a:r>
          </a:p>
          <a:p xmlns:a="http://schemas.openxmlformats.org/drawingml/2006/main">
            <a:r>
              <a:t>2. Review residual risk and performance/compatibility effects with independent security expertise.</a:t>
            </a:r>
          </a:p>
          <a:p xmlns:a="http://schemas.openxmlformats.org/drawingml/2006/main">
            <a:r>
              <a:t>3. Re-run representative local, team, federation, UI, and industrial workflows.</a:t>
            </a:r>
          </a:p>
          <a:p xmlns:a="http://schemas.openxmlformats.org/drawingml/2006/main">
            <a:r>
              <a:t/>
            </a:r>
          </a:p>
          <a:p xmlns:a="http://schemas.openxmlformats.org/drawingml/2006/main">
            <a:r>
              <a:t>Required evidence</a:t>
            </a:r>
          </a:p>
          <a:p xmlns:a="http://schemas.openxmlformats.org/drawingml/2006/main">
            <a:r>
              <a:t>- Sandbox threat model and test report</a:t>
            </a:r>
          </a:p>
          <a:p xmlns:a="http://schemas.openxmlformats.org/drawingml/2006/main">
            <a:r>
              <a:t>- Profile compatibility matrix</a:t>
            </a:r>
          </a:p>
          <a:p xmlns:a="http://schemas.openxmlformats.org/drawingml/2006/main">
            <a:r>
              <a:t>- Ecosystem launch decision</a:t>
            </a:r>
          </a:p>
          <a:p xmlns:a="http://schemas.openxmlformats.org/drawingml/2006/main">
            <a:r>
              <a:t/>
            </a:r>
          </a:p>
          <a:p xmlns:a="http://schemas.openxmlformats.org/drawingml/2006/main">
            <a:r>
              <a:t>Rollback / containment: Disable new untrusted profiles/packages and preserve the prior trusted-only support promise.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numbers are reviewable proposed test profiles, not measured capacity or service commitments. Plan section 8: solo 1 user/2 projects/4 attempts; team 20 users/10 projects/40 attempts; federation 3 hubs/2 organizations/up to 40 attempts per hub; growth 200 users/10 hubs/up to 400 overall. Proposed p95 metadata &lt;250ms, UI &lt;=2s after owner record, 10,000-event replay &lt;=5s, warm-broker readiness &lt;=10s, prepared setup &lt;=15min after tools/accounts. Approve hardware, payloads, latency, retention and variance before measurement. RPO/RTO remain explicit choices.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future test obligations. The companion verification-matrix.md/json records 41 failure scenarios. Prior selected baseline suites and offline Jev policy/schema examples remain historical evidence, not future platform passes. Require unit/contract tests, actual broker integration, actual client hosts, cross-tenant negative tests, fault injection, browser replay/accessibility, restore drills, capped live semantics after approval and separately authorized hardware qualification.</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C:/Users/RyanHelms/.codex/visualizations/2026/10/09/01a11e6d-8b51-7ec1-962b-bac33576c294/agentmux-repository-analysis.md</a:t>
            </a:r>
          </a:p>
          <a:p xmlns:a="http://schemas.openxmlformats.org/drawingml/2006/main">
            <a:r>
              <a:t>C:/Users/RyanHelms/GitHub/agentmux/docs/planning/2026-10-09/phases.json</a:t>
            </a:r>
          </a:p>
          <a:p xmlns:a="http://schemas.openxmlformats.org/drawingml/2006/main">
            <a:r>
              <a:t>C:/Users/RyanHelms/GitHub/agentmux/docs/planning/2026-10-09/verification-matrix.md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choices remain open in implementation plan section 2. Concrete recommendations make the plan reviewable without asserting acceptance. No schedule can be promised without staffing, proof spikes and actual client/vendor integration qualification. Existing accepted authority, kernel, NATS and platform boundaries persist while resolving details.</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next action: Ryan and Nick review the plan and criteria, resolve P00 choices, approve/revise first-release split and targets, name reviewers and record approved revision. Ryan explicitly authorizes implementation. Later merge/release is a separate decision after review. This deck and current work do not authorize product implementation. Planning is ready for review, while the repository governance gate remains blocked by inherited correctness findings until approved P01 repairs and regressions close them. Presentation package validation is separate from repository governance and product acceptance.</a:t>
            </a:r>
          </a:p>
          <a:p xmlns:a="http://schemas.openxmlformats.org/drawingml/2006/main">
            <a:r>
              <a:t/>
            </a:r>
          </a:p>
          <a:p xmlns:a="http://schemas.openxmlformats.org/drawingml/2006/main">
            <a:r>
              <a:t>Sources:</a:t>
            </a:r>
          </a:p>
          <a:p xmlns:a="http://schemas.openxmlformats.org/drawingml/2006/main">
            <a:r>
              <a:t>C:/Users/RyanHelms/GitHub/agentmux/docs/planning/2026-10-09/implementation-plan.md</a:t>
            </a:r>
          </a:p>
          <a:p xmlns:a="http://schemas.openxmlformats.org/drawingml/2006/main">
            <a:r>
              <a:t>C:/Users/RyanHelms/GitHub/agentmux/docs/planning/2026-10-09/phases.json</a:t>
            </a:r>
          </a:p>
          <a:p xmlns:a="http://schemas.openxmlformats.org/drawingml/2006/main">
            <a:r>
              <a:t>C:/Users/RyanHelms/GitHub/agentmux/.bytedesk/design-patterns/review.json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7e568042dbe433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a2ab65c17c4da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e2ad982784e4c4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ed690c20be42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7e823b03f714f0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9fa0484938f44e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9569F76-9CB0-40A2-9F4C-0533E7F7B4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644DFD9-6F5D-4FF9-9272-405AB2B8DE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9AC96DC-0C99-485E-A88E-346A84FA71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3A90280-6EF6-4234-9A5C-93BDC94E78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559080D-0486-4AE4-A590-3AF3EB1AF93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42EEE2-BC95-4BC9-9F64-0A4B77545F3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884445C-CAB1-404E-9CDA-2522EBA2AF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59B3B9D-CEB8-4226-8161-B0827284DDE4}"/>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EC4ACD-8215-40C0-819D-114A466E292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38CF92-3AEB-4CAA-997F-4B00A6EA752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52fdf675e964c23" /><Relationship Type="http://schemas.openxmlformats.org/officeDocument/2006/relationships/slideLayout" Target="/ppt/slideLayouts/slideLayout1.xml" Id="Re647fc4546a04fed" /><Relationship Type="http://schemas.openxmlformats.org/officeDocument/2006/relationships/slideLayout" Target="/ppt/slideLayouts/slideLayout2.xml" Id="Rad78660c15c34ad3" /><Relationship Type="http://schemas.openxmlformats.org/officeDocument/2006/relationships/slideLayout" Target="/ppt/slideLayouts/slideLayout3.xml" Id="R1b2d9d96b60f4b10" /><Relationship Type="http://schemas.openxmlformats.org/officeDocument/2006/relationships/slideLayout" Target="/ppt/slideLayouts/slideLayout4.xml" Id="R364c3f71cc0c4e5d" /><Relationship Type="http://schemas.openxmlformats.org/officeDocument/2006/relationships/slideLayout" Target="/ppt/slideLayouts/slideLayout5.xml" Id="R825ab19f0a93412f" /><Relationship Type="http://schemas.openxmlformats.org/officeDocument/2006/relationships/slideLayout" Target="/ppt/slideLayouts/slideLayout6.xml" Id="R3af0a04d4d0040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647fc4546a04fed"/>
    <p:sldLayoutId xmlns:r="http://schemas.openxmlformats.org/officeDocument/2006/relationships" id="2147483650" r:id="Rad78660c15c34ad3"/>
    <p:sldLayoutId xmlns:r="http://schemas.openxmlformats.org/officeDocument/2006/relationships" id="2147483651" r:id="R1b2d9d96b60f4b10"/>
    <p:sldLayoutId xmlns:r="http://schemas.openxmlformats.org/officeDocument/2006/relationships" id="2147483652" r:id="R364c3f71cc0c4e5d"/>
    <p:sldLayoutId xmlns:r="http://schemas.openxmlformats.org/officeDocument/2006/relationships" id="2147483653" r:id="R825ab19f0a93412f"/>
    <p:sldLayoutId xmlns:r="http://schemas.openxmlformats.org/officeDocument/2006/relationships" id="2147483654" r:id="R3af0a04d4d00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2a020953c704467" /><Relationship Type="http://schemas.openxmlformats.org/officeDocument/2006/relationships/notesSlide" Target="/ppt/notesSlides/notesSlide1.xml" Id="Rd2ee230156a84fb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017d3693f5041d0" /><Relationship Type="http://schemas.openxmlformats.org/officeDocument/2006/relationships/notesSlide" Target="/ppt/notesSlides/notesSlide2.xml" Id="R4fc1716f8d9e48b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3f4b6732f294b42" /><Relationship Type="http://schemas.openxmlformats.org/officeDocument/2006/relationships/notesSlide" Target="/ppt/notesSlides/notesSlide3.xml" Id="R1f17cc6300d246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5b365967e414eea" /><Relationship Type="http://schemas.openxmlformats.org/officeDocument/2006/relationships/notesSlide" Target="/ppt/notesSlides/notesSlide4.xml" Id="R75a7f195e62c47e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ba4e0840032424b" /><Relationship Type="http://schemas.openxmlformats.org/officeDocument/2006/relationships/notesSlide" Target="/ppt/notesSlides/notesSlide5.xml" Id="R9adcffea38a44c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9cb3114cec04276" /><Relationship Type="http://schemas.openxmlformats.org/officeDocument/2006/relationships/notesSlide" Target="/ppt/notesSlides/notesSlide6.xml" Id="R27d2757a6bc14ae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d5da801acec4d45" /><Relationship Type="http://schemas.openxmlformats.org/officeDocument/2006/relationships/notesSlide" Target="/ppt/notesSlides/notesSlide7.xml" Id="Ra40c97f3727a4ea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b222e9e2846410f" /><Relationship Type="http://schemas.openxmlformats.org/officeDocument/2006/relationships/notesSlide" Target="/ppt/notesSlides/notesSlide8.xml" Id="Rb474f0af813a45c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f1c0774e8b94b51" /><Relationship Type="http://schemas.openxmlformats.org/officeDocument/2006/relationships/notesSlide" Target="/ppt/notesSlides/notesSlide9.xml" Id="R0634cc5fa796441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d0c3e15acea44a4" /><Relationship Type="http://schemas.openxmlformats.org/officeDocument/2006/relationships/notesSlide" Target="/ppt/notesSlides/notesSlide10.xml" Id="R8e052fe6b0b049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1f5aa47932e461a" /><Relationship Type="http://schemas.openxmlformats.org/officeDocument/2006/relationships/notesSlide" Target="/ppt/notesSlides/notesSlide11.xml" Id="R51e516f112d64b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acf93dc170e472f" /><Relationship Type="http://schemas.openxmlformats.org/officeDocument/2006/relationships/notesSlide" Target="/ppt/notesSlides/notesSlide12.xml" Id="R2c66fefab3d244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53a1556ae654ba4" /><Relationship Type="http://schemas.openxmlformats.org/officeDocument/2006/relationships/notesSlide" Target="/ppt/notesSlides/notesSlide13.xml" Id="R0ac850860532446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15634ffba814fac" /><Relationship Type="http://schemas.openxmlformats.org/officeDocument/2006/relationships/notesSlide" Target="/ppt/notesSlides/notesSlide14.xml" Id="R539ec1c6296d42b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598be1e7bd84dd2" /><Relationship Type="http://schemas.openxmlformats.org/officeDocument/2006/relationships/notesSlide" Target="/ppt/notesSlides/notesSlide15.xml" Id="R1e561fb5b0d249a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f7c119437c24710" /><Relationship Type="http://schemas.openxmlformats.org/officeDocument/2006/relationships/notesSlide" Target="/ppt/notesSlides/notesSlide16.xml" Id="Rf545202cc309404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1dc67dbf12e4def" /><Relationship Type="http://schemas.openxmlformats.org/officeDocument/2006/relationships/notesSlide" Target="/ppt/notesSlides/notesSlide17.xml" Id="R953f10e7acbf49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54327aa70704aed" /><Relationship Type="http://schemas.openxmlformats.org/officeDocument/2006/relationships/notesSlide" Target="/ppt/notesSlides/notesSlide18.xml" Id="R76fb4d99d046481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7beb6f5fe6e48ed" /><Relationship Type="http://schemas.openxmlformats.org/officeDocument/2006/relationships/notesSlide" Target="/ppt/notesSlides/notesSlide19.xml" Id="R26e23522c5d6469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c74e63c89954e90" /><Relationship Type="http://schemas.openxmlformats.org/officeDocument/2006/relationships/notesSlide" Target="/ppt/notesSlides/notesSlide20.xml" Id="Rf1358614b4164b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f377350089424b99" /><Relationship Type="http://schemas.openxmlformats.org/officeDocument/2006/relationships/notesSlide" Target="/ppt/notesSlides/notesSlide21.xml" Id="R865a2e7099054a6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11501bd35f9d48f0" /><Relationship Type="http://schemas.openxmlformats.org/officeDocument/2006/relationships/notesSlide" Target="/ppt/notesSlides/notesSlide22.xml" Id="R0cc3501e72b646a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7270d58e7cb34b35" /><Relationship Type="http://schemas.openxmlformats.org/officeDocument/2006/relationships/notesSlide" Target="/ppt/notesSlides/notesSlide23.xml" Id="R4d6ccc4f8d294bd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88e5d479849e4996" /><Relationship Type="http://schemas.openxmlformats.org/officeDocument/2006/relationships/notesSlide" Target="/ppt/notesSlides/notesSlide24.xml" Id="R43d2a088bcd7488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06ede0fd6dd74b69" /><Relationship Type="http://schemas.openxmlformats.org/officeDocument/2006/relationships/notesSlide" Target="/ppt/notesSlides/notesSlide25.xml" Id="R1b55278d0740447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ac80ee3e9c224a1c" /><Relationship Type="http://schemas.openxmlformats.org/officeDocument/2006/relationships/notesSlide" Target="/ppt/notesSlides/notesSlide26.xml" Id="R0168ebbe27554f04"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b9891b8b18344d5f" /><Relationship Type="http://schemas.openxmlformats.org/officeDocument/2006/relationships/notesSlide" Target="/ppt/notesSlides/notesSlide27.xml" Id="R618c6fc7c42e413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7476689d5fb242af" /><Relationship Type="http://schemas.openxmlformats.org/officeDocument/2006/relationships/notesSlide" Target="/ppt/notesSlides/notesSlide28.xml" Id="Raf4971c85b0d43d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efac3199e6724415" /><Relationship Type="http://schemas.openxmlformats.org/officeDocument/2006/relationships/notesSlide" Target="/ppt/notesSlides/notesSlide29.xml" Id="Rd2f3832b8d374b5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f5cea20bc354e82" /><Relationship Type="http://schemas.openxmlformats.org/officeDocument/2006/relationships/notesSlide" Target="/ppt/notesSlides/notesSlide30.xml" Id="R028eced50eeb4af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eb5ca3ac76748ea" /><Relationship Type="http://schemas.openxmlformats.org/officeDocument/2006/relationships/notesSlide" Target="/ppt/notesSlides/notesSlide31.xml" Id="Rbc1d9e6dc41b4255"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0cf0a5f95244238" /><Relationship Type="http://schemas.openxmlformats.org/officeDocument/2006/relationships/notesSlide" Target="/ppt/notesSlides/notesSlide32.xml" Id="Rd24ca1fb31a3401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b95355ef153495d" /><Relationship Type="http://schemas.openxmlformats.org/officeDocument/2006/relationships/notesSlide" Target="/ppt/notesSlides/notesSlide33.xml" Id="R77b457e9135d462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0f18de1c27644c72" /><Relationship Type="http://schemas.openxmlformats.org/officeDocument/2006/relationships/notesSlide" Target="/ppt/notesSlides/notesSlide34.xml" Id="Rc51922ef144c4e3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d6149e063f524aaf" /><Relationship Type="http://schemas.openxmlformats.org/officeDocument/2006/relationships/notesSlide" Target="/ppt/notesSlides/notesSlide35.xml" Id="R9cb397c8c5ab4cba"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84d525c8b04c49d2" /><Relationship Type="http://schemas.openxmlformats.org/officeDocument/2006/relationships/notesSlide" Target="/ppt/notesSlides/notesSlide36.xml" Id="Rbafa762cc494437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ce5a5abfe4347c8" /><Relationship Type="http://schemas.openxmlformats.org/officeDocument/2006/relationships/notesSlide" Target="/ppt/notesSlides/notesSlide37.xml" Id="Rfa9748f82a6a43a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421995be28124f75" /><Relationship Type="http://schemas.openxmlformats.org/officeDocument/2006/relationships/notesSlide" Target="/ppt/notesSlides/notesSlide38.xml" Id="Rfcac2fa4323c4cd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77f2e00431894d19" /><Relationship Type="http://schemas.openxmlformats.org/officeDocument/2006/relationships/notesSlide" Target="/ppt/notesSlides/notesSlide39.xml" Id="R26db21dc8c6e4ae7" /></Relationships>
</file>

<file path=ppt/slides/slide1.xml><?xml version="1.0" encoding="utf-8"?>
<p:sld xmlns:p="http://schemas.openxmlformats.org/presentationml/2006/main">
  <p:cSld>
    <p:bg>
      <p:bgPr>
        <a:solidFill xmlns:a="http://schemas.openxmlformats.org/drawingml/2006/main">
          <a:srgbClr val="152E42"/>
        </a:solidFill>
      </p:bgPr>
    </p:bg>
    <p:spTree>
      <p:nvGrpSpPr>
        <p:cNvPr id="1" name=""/>
        <p:cNvGrpSpPr/>
        <p:nvPr/>
      </p:nvGrpSpPr>
      <p:grpSpPr>
        <a:xfrm xmlns:a="http://schemas.openxmlformats.org/drawingml/2006/main"/>
      </p:grpSpPr>
      <p:sp>
        <p:nvSpPr>
          <p:cNvPr id="5" name="Agentmux">
            <a:extLst xmlns:a="http://schemas.openxmlformats.org/drawingml/2006/main">
              <a:ext uri="{FF2B5EF4-FFF2-40B4-BE49-F238E27FC236}">
                <a16:creationId xmlns:a16="http://schemas.microsoft.com/office/drawing/2014/main" id="{E61958FF-397C-4EEC-87AE-D23C0E7E2465}"/>
              </a:ext>
            </a:extLst>
          </p:cNvPr>
          <p:cNvSpPr>
            <a:spLocks xmlns:a="http://schemas.openxmlformats.org/drawingml/2006/main" noGrp="1"/>
          </p:cNvSpPr>
          <p:nvPr/>
        </p:nvSpPr>
        <p:spPr>
          <a:xfrm xmlns:a="http://schemas.openxmlformats.org/drawingml/2006/main">
            <a:off x="609600" y="1123950"/>
            <a:ext cx="107632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buNone/>
              <a:defRPr sz="5700" b="1">
                <a:solidFill>
                  <a:srgbClr val="FFFFFF"/>
                </a:solidFill>
                <a:latin typeface="Arial"/>
                <a:ea typeface="Arial"/>
                <a:cs typeface="Arial"/>
              </a:defRPr>
            </a:pPr>
            <a:r>
              <a:rPr sz="5700" b="1">
                <a:solidFill>
                  <a:srgbClr val="FFFFFF"/>
                </a:solidFill>
                <a:latin typeface="Arial"/>
                <a:ea typeface="Arial"/>
                <a:cs typeface="Arial"/>
              </a:rPr>
              <a:t>Agentmux</a:t>
            </a:r>
          </a:p>
        </p:txBody>
      </p:sp>
      <p:sp>
        <p:nvSpPr>
          <p:cNvPr id="2" name="Platform implementation review">
            <a:extLst xmlns:a="http://schemas.openxmlformats.org/drawingml/2006/main">
              <a:ext uri="{FF2B5EF4-FFF2-40B4-BE49-F238E27FC236}">
                <a16:creationId xmlns:a16="http://schemas.microsoft.com/office/drawing/2014/main" id="{7E7D80D2-CA16-4207-B478-714E56F27496}"/>
              </a:ext>
            </a:extLst>
          </p:cNvPr>
          <p:cNvSpPr>
            <a:spLocks xmlns:a="http://schemas.openxmlformats.org/drawingml/2006/main" noGrp="1"/>
          </p:cNvSpPr>
          <p:nvPr/>
        </p:nvSpPr>
        <p:spPr>
          <a:xfrm xmlns:a="http://schemas.openxmlformats.org/drawingml/2006/main">
            <a:off x="647700" y="2409825"/>
            <a:ext cx="10477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0">
                <a:solidFill>
                  <a:srgbClr val="BEE5DF"/>
                </a:solidFill>
                <a:latin typeface="Arial"/>
                <a:ea typeface="Arial"/>
                <a:cs typeface="Arial"/>
              </a:defRPr>
            </a:defPPr>
          </a:lstStyle>
          <a:p xmlns:a="http://schemas.openxmlformats.org/drawingml/2006/main">
            <a:pPr algn="l">
              <a:buNone/>
              <a:defRPr sz="3300" b="0">
                <a:solidFill>
                  <a:srgbClr val="BEE5DF"/>
                </a:solidFill>
                <a:latin typeface="Arial"/>
                <a:ea typeface="Arial"/>
                <a:cs typeface="Arial"/>
              </a:defRPr>
            </a:pPr>
            <a:r>
              <a:rPr sz="3300" b="0">
                <a:solidFill>
                  <a:srgbClr val="BEE5DF"/>
                </a:solidFill>
                <a:latin typeface="Arial"/>
                <a:ea typeface="Arial"/>
                <a:cs typeface="Arial"/>
              </a:rPr>
              <a:t>Platform implementation review</a:t>
            </a:r>
          </a:p>
        </p:txBody>
      </p:sp>
      <p:sp>
        <p:nvSpPr>
          <p:cNvPr id="3" name="Architecture, migration and phased acceptance">
            <a:extLst xmlns:a="http://schemas.openxmlformats.org/drawingml/2006/main">
              <a:ext uri="{FF2B5EF4-FFF2-40B4-BE49-F238E27FC236}">
                <a16:creationId xmlns:a16="http://schemas.microsoft.com/office/drawing/2014/main" id="{184A2A79-FDE9-4C0D-ADBD-17AB4AF48598}"/>
              </a:ext>
            </a:extLst>
          </p:cNvPr>
          <p:cNvSpPr>
            <a:spLocks xmlns:a="http://schemas.openxmlformats.org/drawingml/2006/main" noGrp="1"/>
          </p:cNvSpPr>
          <p:nvPr/>
        </p:nvSpPr>
        <p:spPr>
          <a:xfrm xmlns:a="http://schemas.openxmlformats.org/drawingml/2006/main">
            <a:off x="647700" y="3343275"/>
            <a:ext cx="1000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Arial"/>
                <a:ea typeface="Arial"/>
                <a:cs typeface="Arial"/>
              </a:defRPr>
            </a:defPPr>
          </a:lstStyle>
          <a:p xmlns:a="http://schemas.openxmlformats.org/drawingml/2006/main">
            <a:pPr algn="l">
              <a:buNone/>
              <a:defRPr sz="2250" b="0">
                <a:solidFill>
                  <a:srgbClr val="FFFFFF"/>
                </a:solidFill>
                <a:latin typeface="Arial"/>
                <a:ea typeface="Arial"/>
                <a:cs typeface="Arial"/>
              </a:defRPr>
            </a:pPr>
            <a:r>
              <a:rPr sz="2250" b="0">
                <a:solidFill>
                  <a:srgbClr val="FFFFFF"/>
                </a:solidFill>
                <a:latin typeface="Arial"/>
                <a:ea typeface="Arial"/>
                <a:cs typeface="Arial"/>
              </a:rPr>
              <a:t>Architecture, migration and phased acceptance</a:t>
            </a:r>
          </a:p>
        </p:txBody>
      </p:sp>
      <p:sp>
        <p:nvSpPr>
          <p:cNvPr id="4" name="Proposal for Ryan and Nick&#10;October 9, 2026">
            <a:extLst xmlns:a="http://schemas.openxmlformats.org/drawingml/2006/main">
              <a:ext uri="{FF2B5EF4-FFF2-40B4-BE49-F238E27FC236}">
                <a16:creationId xmlns:a16="http://schemas.microsoft.com/office/drawing/2014/main" id="{2D726745-6DE1-4961-A81A-2998BBBDF36D}"/>
              </a:ext>
            </a:extLst>
          </p:cNvPr>
          <p:cNvSpPr>
            <a:spLocks xmlns:a="http://schemas.openxmlformats.org/drawingml/2006/main" noGrp="1"/>
          </p:cNvSpPr>
          <p:nvPr/>
        </p:nvSpPr>
        <p:spPr>
          <a:xfrm xmlns:a="http://schemas.openxmlformats.org/drawingml/2006/main">
            <a:off x="647700" y="5095875"/>
            <a:ext cx="981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C4DFDF"/>
                </a:solidFill>
                <a:latin typeface="Arial"/>
                <a:ea typeface="Arial"/>
                <a:cs typeface="Arial"/>
              </a:defRPr>
            </a:defPPr>
          </a:lstStyle>
          <a:p xmlns:a="http://schemas.openxmlformats.org/drawingml/2006/main">
            <a:pPr algn="l">
              <a:buNone/>
              <a:defRPr sz="1950" b="0">
                <a:solidFill>
                  <a:srgbClr val="C4DFDF"/>
                </a:solidFill>
                <a:latin typeface="Arial"/>
                <a:ea typeface="Arial"/>
                <a:cs typeface="Arial"/>
              </a:defRPr>
            </a:pPr>
            <a:r>
              <a:rPr sz="1950" b="0">
                <a:solidFill>
                  <a:srgbClr val="C4DFDF"/>
                </a:solidFill>
                <a:latin typeface="Arial"/>
                <a:ea typeface="Arial"/>
                <a:cs typeface="Arial"/>
              </a:rPr>
              <a:t>Proposal for Ryan and Nick</a:t>
            </a:r>
          </a:p>
          <a:p xmlns:a="http://schemas.openxmlformats.org/drawingml/2006/main">
            <a:pPr algn="l">
              <a:buNone/>
              <a:defRPr sz="1950" b="0">
                <a:solidFill>
                  <a:srgbClr val="C4DFDF"/>
                </a:solidFill>
                <a:latin typeface="Arial"/>
                <a:ea typeface="Arial"/>
                <a:cs typeface="Arial"/>
              </a:defRPr>
            </a:pPr>
            <a:r>
              <a:rPr sz="1950" b="0">
                <a:solidFill>
                  <a:srgbClr val="C4DFDF"/>
                </a:solidFill>
                <a:latin typeface="Arial"/>
                <a:ea typeface="Arial"/>
                <a:cs typeface="Arial"/>
              </a:rPr>
              <a:t>October 9, 2026</a:t>
            </a:r>
          </a:p>
        </p:txBody>
      </p:sp>
    </p:spTree>
    <p:extLst>
      <p:ext uri="{BB962C8B-B14F-4D97-AF65-F5344CB8AC3E}">
        <p14:creationId xmlns:p14="http://schemas.microsoft.com/office/powerpoint/2010/main" val="1873944645"/>
      </p:ext>
    </p:extLst>
  </p:cSld>
</p:sld>
</file>

<file path=ppt/slides/slide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Confirmed product direction">
            <a:extLst xmlns:a="http://schemas.openxmlformats.org/drawingml/2006/main">
              <a:ext uri="{FF2B5EF4-FFF2-40B4-BE49-F238E27FC236}">
                <a16:creationId xmlns:a16="http://schemas.microsoft.com/office/drawing/2014/main" id="{29EA27E1-0A5E-497E-98B9-6F2159732753}"/>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Confirmed product direction</a:t>
            </a:r>
          </a:p>
        </p:txBody>
      </p:sp>
      <p:sp>
        <p:nvSpPr>
          <p:cNvPr id="2" name="02">
            <a:extLst xmlns:a="http://schemas.openxmlformats.org/drawingml/2006/main">
              <a:ext uri="{FF2B5EF4-FFF2-40B4-BE49-F238E27FC236}">
                <a16:creationId xmlns:a16="http://schemas.microsoft.com/office/drawing/2014/main" id="{FA6B49CF-B727-499D-BA74-54E36EDEE832}"/>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02</a:t>
            </a:r>
          </a:p>
        </p:txBody>
      </p:sp>
      <p:sp>
        <p:nvSpPr>
          <p:cNvPr id="3" name="Plugin foundation">
            <a:extLst xmlns:a="http://schemas.openxmlformats.org/drawingml/2006/main">
              <a:ext uri="{FF2B5EF4-FFF2-40B4-BE49-F238E27FC236}">
                <a16:creationId xmlns:a16="http://schemas.microsoft.com/office/drawing/2014/main" id="{F4453DF1-DFA7-4DE2-8651-589DC09AFC7A}"/>
              </a:ext>
            </a:extLst>
          </p:cNvPr>
          <p:cNvSpPr>
            <a:spLocks xmlns:a="http://schemas.openxmlformats.org/drawingml/2006/main" noGrp="1"/>
          </p:cNvSpPr>
          <p:nvPr/>
        </p:nvSpPr>
        <p:spPr>
          <a:xfrm xmlns:a="http://schemas.openxmlformats.org/drawingml/2006/main">
            <a:off x="609600" y="16764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Plugin foundation</a:t>
            </a:r>
          </a:p>
        </p:txBody>
      </p:sp>
      <p:sp>
        <p:nvSpPr>
          <p:cNvPr id="4" name="A protected boot assembly with extensible surrounding services">
            <a:extLst xmlns:a="http://schemas.openxmlformats.org/drawingml/2006/main">
              <a:ext uri="{FF2B5EF4-FFF2-40B4-BE49-F238E27FC236}">
                <a16:creationId xmlns:a16="http://schemas.microsoft.com/office/drawing/2014/main" id="{02D4AD09-8721-46D1-B20D-C5BFF6772D09}"/>
              </a:ext>
            </a:extLst>
          </p:cNvPr>
          <p:cNvSpPr>
            <a:spLocks xmlns:a="http://schemas.openxmlformats.org/drawingml/2006/main" noGrp="1"/>
          </p:cNvSpPr>
          <p:nvPr/>
        </p:nvSpPr>
        <p:spPr>
          <a:xfrm xmlns:a="http://schemas.openxmlformats.org/drawingml/2006/main">
            <a:off x="609600" y="204787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 protected boot assembly with extensible surrounding services</a:t>
            </a:r>
          </a:p>
        </p:txBody>
      </p:sp>
      <p:sp>
        <p:nvSpPr>
          <p:cNvPr id="5" name="NATS communication">
            <a:extLst xmlns:a="http://schemas.openxmlformats.org/drawingml/2006/main">
              <a:ext uri="{FF2B5EF4-FFF2-40B4-BE49-F238E27FC236}">
                <a16:creationId xmlns:a16="http://schemas.microsoft.com/office/drawing/2014/main" id="{0C6FCC07-9434-48E0-90B2-084F6485EF37}"/>
              </a:ext>
            </a:extLst>
          </p:cNvPr>
          <p:cNvSpPr>
            <a:spLocks xmlns:a="http://schemas.openxmlformats.org/drawingml/2006/main" noGrp="1"/>
          </p:cNvSpPr>
          <p:nvPr/>
        </p:nvSpPr>
        <p:spPr>
          <a:xfrm xmlns:a="http://schemas.openxmlformats.org/drawingml/2006/main">
            <a:off x="609600" y="267652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NATS communication</a:t>
            </a:r>
          </a:p>
        </p:txBody>
      </p:sp>
      <p:sp>
        <p:nvSpPr>
          <p:cNvPr id="6" name="All Agentmux components communicate through scoped NATS contracts">
            <a:extLst xmlns:a="http://schemas.openxmlformats.org/drawingml/2006/main">
              <a:ext uri="{FF2B5EF4-FFF2-40B4-BE49-F238E27FC236}">
                <a16:creationId xmlns:a16="http://schemas.microsoft.com/office/drawing/2014/main" id="{88D0E784-A740-49A4-976F-622F30E4A175}"/>
              </a:ext>
            </a:extLst>
          </p:cNvPr>
          <p:cNvSpPr>
            <a:spLocks xmlns:a="http://schemas.openxmlformats.org/drawingml/2006/main" noGrp="1"/>
          </p:cNvSpPr>
          <p:nvPr/>
        </p:nvSpPr>
        <p:spPr>
          <a:xfrm xmlns:a="http://schemas.openxmlformats.org/drawingml/2006/main">
            <a:off x="609600" y="304800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All Agentmux components communicate through scoped NATS contracts</a:t>
            </a:r>
          </a:p>
        </p:txBody>
      </p:sp>
      <p:sp>
        <p:nvSpPr>
          <p:cNvPr id="7" name="Client-led work">
            <a:extLst xmlns:a="http://schemas.openxmlformats.org/drawingml/2006/main">
              <a:ext uri="{FF2B5EF4-FFF2-40B4-BE49-F238E27FC236}">
                <a16:creationId xmlns:a16="http://schemas.microsoft.com/office/drawing/2014/main" id="{79133A02-28E8-4757-8DAD-330002A74E6E}"/>
              </a:ext>
            </a:extLst>
          </p:cNvPr>
          <p:cNvSpPr>
            <a:spLocks xmlns:a="http://schemas.openxmlformats.org/drawingml/2006/main" noGrp="1"/>
          </p:cNvSpPr>
          <p:nvPr/>
        </p:nvSpPr>
        <p:spPr>
          <a:xfrm xmlns:a="http://schemas.openxmlformats.org/drawingml/2006/main">
            <a:off x="609600" y="36766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Client-led work</a:t>
            </a:r>
          </a:p>
        </p:txBody>
      </p:sp>
      <p:sp>
        <p:nvSpPr>
          <p:cNvPr id="8" name="Existing agent clients lead the workflow; the dashboard shows shared a">
            <a:extLst xmlns:a="http://schemas.openxmlformats.org/drawingml/2006/main">
              <a:ext uri="{FF2B5EF4-FFF2-40B4-BE49-F238E27FC236}">
                <a16:creationId xmlns:a16="http://schemas.microsoft.com/office/drawing/2014/main" id="{C3177F42-0205-4219-BB3C-9BBFCC4E60FB}"/>
              </a:ext>
            </a:extLst>
          </p:cNvPr>
          <p:cNvSpPr>
            <a:spLocks xmlns:a="http://schemas.openxmlformats.org/drawingml/2006/main" noGrp="1"/>
          </p:cNvSpPr>
          <p:nvPr/>
        </p:nvSpPr>
        <p:spPr>
          <a:xfrm xmlns:a="http://schemas.openxmlformats.org/drawingml/2006/main">
            <a:off x="609600" y="4048125"/>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Existing agent clients lead the workflow; the dashboard shows shared activity</a:t>
            </a:r>
          </a:p>
        </p:txBody>
      </p:sp>
      <p:sp>
        <p:nvSpPr>
          <p:cNvPr id="9" name="Local and connected teams">
            <a:extLst xmlns:a="http://schemas.openxmlformats.org/drawingml/2006/main">
              <a:ext uri="{FF2B5EF4-FFF2-40B4-BE49-F238E27FC236}">
                <a16:creationId xmlns:a16="http://schemas.microsoft.com/office/drawing/2014/main" id="{8051EFCB-1183-48D9-B630-B39B2CBE1BED}"/>
              </a:ext>
            </a:extLst>
          </p:cNvPr>
          <p:cNvSpPr>
            <a:spLocks xmlns:a="http://schemas.openxmlformats.org/drawingml/2006/main" noGrp="1"/>
          </p:cNvSpPr>
          <p:nvPr/>
        </p:nvSpPr>
        <p:spPr>
          <a:xfrm xmlns:a="http://schemas.openxmlformats.org/drawingml/2006/main">
            <a:off x="609600" y="46767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Local and connected teams</a:t>
            </a:r>
          </a:p>
        </p:txBody>
      </p:sp>
      <p:sp>
        <p:nvSpPr>
          <p:cNvPr id="10" name="Native macOS/Linux, Windows through WSL, self-hosted hubs across organ">
            <a:extLst xmlns:a="http://schemas.openxmlformats.org/drawingml/2006/main">
              <a:ext uri="{FF2B5EF4-FFF2-40B4-BE49-F238E27FC236}">
                <a16:creationId xmlns:a16="http://schemas.microsoft.com/office/drawing/2014/main" id="{0D3C35BE-4123-4298-BA64-6E9CD46179F7}"/>
              </a:ext>
            </a:extLst>
          </p:cNvPr>
          <p:cNvSpPr>
            <a:spLocks xmlns:a="http://schemas.openxmlformats.org/drawingml/2006/main" noGrp="1"/>
          </p:cNvSpPr>
          <p:nvPr/>
        </p:nvSpPr>
        <p:spPr>
          <a:xfrm xmlns:a="http://schemas.openxmlformats.org/drawingml/2006/main">
            <a:off x="609600" y="50482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Native macOS/Linux, Windows through WSL, self-hosted hubs across organizations</a:t>
            </a:r>
          </a:p>
        </p:txBody>
      </p:sp>
    </p:spTree>
    <p:extLst>
      <p:ext uri="{BB962C8B-B14F-4D97-AF65-F5344CB8AC3E}">
        <p14:creationId xmlns:p14="http://schemas.microsoft.com/office/powerpoint/2010/main" val="399135127"/>
      </p:ext>
    </p:extLst>
  </p:cSld>
</p:sld>
</file>

<file path=ppt/slides/slide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EA331C81-2052-4563-96FB-4C27AB592436}"/>
              </a:ext>
            </a:extLst>
          </p:cNvPr>
          <p:cNvCxnSpPr>
            <a:stCxn xmlns:a="http://schemas.openxmlformats.org/drawingml/2006/main" id="14" idx="3"/>
            <a:endCxn xmlns:a="http://schemas.openxmlformats.org/drawingml/2006/main" id="8" idx="1"/>
          </p:cNvCxnSpPr>
          <p:nvPr/>
        </p:nvCxnSpPr>
        <p:spPr>
          <a:xfrm xmlns:a="http://schemas.openxmlformats.org/drawingml/2006/main">
            <a:off x="2933700" y="3781425"/>
            <a:ext cx="8858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261859BC-ED9C-4D05-8721-31BEC717BA38}"/>
              </a:ext>
            </a:extLst>
          </p:cNvPr>
          <p:cNvCxnSpPr>
            <a:stCxn xmlns:a="http://schemas.openxmlformats.org/drawingml/2006/main" id="9" idx="3"/>
            <a:endCxn xmlns:a="http://schemas.openxmlformats.org/drawingml/2006/main" id="10" idx="1"/>
          </p:cNvCxnSpPr>
          <p:nvPr/>
        </p:nvCxnSpPr>
        <p:spPr>
          <a:xfrm xmlns:a="http://schemas.openxmlformats.org/drawingml/2006/main">
            <a:off x="9296400" y="3781425"/>
            <a:ext cx="7048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A90D922-E287-4785-BCA6-02D09F867828}"/>
              </a:ext>
            </a:extLst>
          </p:cNvPr>
          <p:cNvCxnSpPr>
            <a:stCxn xmlns:a="http://schemas.openxmlformats.org/drawingml/2006/main" id="8" idx="3"/>
            <a:endCxn xmlns:a="http://schemas.openxmlformats.org/drawingml/2006/main" id="9" idx="1"/>
          </p:cNvCxnSpPr>
          <p:nvPr/>
        </p:nvCxnSpPr>
        <p:spPr>
          <a:xfrm xmlns:a="http://schemas.openxmlformats.org/drawingml/2006/main">
            <a:off x="6200775" y="3781425"/>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6B760362-0DD8-47C3-9578-22F55502ACAC}"/>
              </a:ext>
            </a:extLst>
          </p:cNvPr>
          <p:cNvCxnSpPr>
            <a:stCxn xmlns:a="http://schemas.openxmlformats.org/drawingml/2006/main" id="4" idx="2"/>
            <a:endCxn xmlns:a="http://schemas.openxmlformats.org/drawingml/2006/main" id="8" idx="0"/>
          </p:cNvCxnSpPr>
          <p:nvPr/>
        </p:nvCxnSpPr>
        <p:spPr>
          <a:xfrm xmlns:a="http://schemas.openxmlformats.org/drawingml/2006/main">
            <a:off x="5010150" y="2562225"/>
            <a:ext cx="0" cy="83820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11DCDB40-F342-41CA-BD41-5595A005E1D4}"/>
              </a:ext>
            </a:extLst>
          </p:cNvPr>
          <p:cNvCxnSpPr>
            <a:stCxn xmlns:a="http://schemas.openxmlformats.org/drawingml/2006/main" id="4" idx="3"/>
            <a:endCxn xmlns:a="http://schemas.openxmlformats.org/drawingml/2006/main" id="5" idx="1"/>
          </p:cNvCxnSpPr>
          <p:nvPr/>
        </p:nvCxnSpPr>
        <p:spPr>
          <a:xfrm xmlns:a="http://schemas.openxmlformats.org/drawingml/2006/main">
            <a:off x="6200775" y="2181225"/>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77A1BD9B-4DEC-4A1B-AD5F-B8AEFAFC2B7F}"/>
              </a:ext>
            </a:extLst>
          </p:cNvPr>
          <p:cNvCxnSpPr>
            <a:stCxn xmlns:a="http://schemas.openxmlformats.org/drawingml/2006/main" id="3" idx="3"/>
            <a:endCxn xmlns:a="http://schemas.openxmlformats.org/drawingml/2006/main" id="4" idx="1"/>
          </p:cNvCxnSpPr>
          <p:nvPr/>
        </p:nvCxnSpPr>
        <p:spPr>
          <a:xfrm xmlns:a="http://schemas.openxmlformats.org/drawingml/2006/main">
            <a:off x="2933700" y="2181225"/>
            <a:ext cx="8858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20" name="Current architecture">
            <a:extLst xmlns:a="http://schemas.openxmlformats.org/drawingml/2006/main">
              <a:ext uri="{FF2B5EF4-FFF2-40B4-BE49-F238E27FC236}">
                <a16:creationId xmlns:a16="http://schemas.microsoft.com/office/drawing/2014/main" id="{253537BA-4B9B-45AC-A698-57760ACD5EC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Current architecture</a:t>
            </a:r>
          </a:p>
        </p:txBody>
      </p:sp>
      <p:sp>
        <p:nvSpPr>
          <p:cNvPr id="2" name="03">
            <a:extLst xmlns:a="http://schemas.openxmlformats.org/drawingml/2006/main">
              <a:ext uri="{FF2B5EF4-FFF2-40B4-BE49-F238E27FC236}">
                <a16:creationId xmlns:a16="http://schemas.microsoft.com/office/drawing/2014/main" id="{28D98E79-E2D2-44B6-8C16-88F44EDBBBF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03</a:t>
            </a:r>
          </a:p>
        </p:txBody>
      </p:sp>
      <p:sp>
        <p:nvSpPr>
          <p:cNvPr id="3" name="Agent clients&#10;and terminal">
            <a:extLst xmlns:a="http://schemas.openxmlformats.org/drawingml/2006/main">
              <a:ext uri="{FF2B5EF4-FFF2-40B4-BE49-F238E27FC236}">
                <a16:creationId xmlns:a16="http://schemas.microsoft.com/office/drawing/2014/main" id="{E89D9C3A-A411-4BFA-BB59-1FC9E7CC110F}"/>
              </a:ext>
            </a:extLst>
          </p:cNvPr>
          <p:cNvSpPr>
            <a:spLocks xmlns:a="http://schemas.openxmlformats.org/drawingml/2006/main" noGrp="1"/>
          </p:cNvSpPr>
          <p:nvPr/>
        </p:nvSpPr>
        <p:spPr>
          <a:xfrm xmlns:a="http://schemas.openxmlformats.org/drawingml/2006/main">
            <a:off x="609600" y="1800225"/>
            <a:ext cx="23241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Agent clients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terminal</a:t>
            </a:r>
          </a:p>
        </p:txBody>
      </p:sp>
      <p:sp>
        <p:nvSpPr>
          <p:cNvPr id="4" name="Bash / tmux&#10;harness">
            <a:extLst xmlns:a="http://schemas.openxmlformats.org/drawingml/2006/main">
              <a:ext uri="{FF2B5EF4-FFF2-40B4-BE49-F238E27FC236}">
                <a16:creationId xmlns:a16="http://schemas.microsoft.com/office/drawing/2014/main" id="{EE33D32B-18C2-4680-882A-2FA138B4F028}"/>
              </a:ext>
            </a:extLst>
          </p:cNvPr>
          <p:cNvSpPr>
            <a:spLocks xmlns:a="http://schemas.openxmlformats.org/drawingml/2006/main" noGrp="1"/>
          </p:cNvSpPr>
          <p:nvPr/>
        </p:nvSpPr>
        <p:spPr>
          <a:xfrm xmlns:a="http://schemas.openxmlformats.org/drawingml/2006/main">
            <a:off x="3819525" y="1800225"/>
            <a:ext cx="23812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Bash / tmux</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harness</a:t>
            </a:r>
          </a:p>
        </p:txBody>
      </p:sp>
      <p:sp>
        <p:nvSpPr>
          <p:cNvPr id="5" name="Provider processes&#10;and worktrees">
            <a:extLst xmlns:a="http://schemas.openxmlformats.org/drawingml/2006/main">
              <a:ext uri="{FF2B5EF4-FFF2-40B4-BE49-F238E27FC236}">
                <a16:creationId xmlns:a16="http://schemas.microsoft.com/office/drawing/2014/main" id="{F2002494-2974-4018-A539-871382C244B7}"/>
              </a:ext>
            </a:extLst>
          </p:cNvPr>
          <p:cNvSpPr>
            <a:spLocks xmlns:a="http://schemas.openxmlformats.org/drawingml/2006/main" noGrp="1"/>
          </p:cNvSpPr>
          <p:nvPr/>
        </p:nvSpPr>
        <p:spPr>
          <a:xfrm xmlns:a="http://schemas.openxmlformats.org/drawingml/2006/main">
            <a:off x="7200900" y="1800225"/>
            <a:ext cx="4381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Provider processes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8" name="Python hub">
            <a:extLst xmlns:a="http://schemas.openxmlformats.org/drawingml/2006/main">
              <a:ext uri="{FF2B5EF4-FFF2-40B4-BE49-F238E27FC236}">
                <a16:creationId xmlns:a16="http://schemas.microsoft.com/office/drawing/2014/main" id="{7D92B963-488F-4DD7-B94E-980AAD4D3D89}"/>
              </a:ext>
            </a:extLst>
          </p:cNvPr>
          <p:cNvSpPr>
            <a:spLocks xmlns:a="http://schemas.openxmlformats.org/drawingml/2006/main" noGrp="1"/>
          </p:cNvSpPr>
          <p:nvPr/>
        </p:nvSpPr>
        <p:spPr>
          <a:xfrm xmlns:a="http://schemas.openxmlformats.org/drawingml/2006/main">
            <a:off x="3819525" y="3400425"/>
            <a:ext cx="23812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Python hub</a:t>
            </a:r>
          </a:p>
        </p:txBody>
      </p:sp>
      <p:sp>
        <p:nvSpPr>
          <p:cNvPr id="9" name="Federation&#10;extensions">
            <a:extLst xmlns:a="http://schemas.openxmlformats.org/drawingml/2006/main">
              <a:ext uri="{FF2B5EF4-FFF2-40B4-BE49-F238E27FC236}">
                <a16:creationId xmlns:a16="http://schemas.microsoft.com/office/drawing/2014/main" id="{168FE9E5-53C9-4B37-8656-A93118F1C46F}"/>
              </a:ext>
            </a:extLst>
          </p:cNvPr>
          <p:cNvSpPr>
            <a:spLocks xmlns:a="http://schemas.openxmlformats.org/drawingml/2006/main" noGrp="1"/>
          </p:cNvSpPr>
          <p:nvPr/>
        </p:nvSpPr>
        <p:spPr>
          <a:xfrm xmlns:a="http://schemas.openxmlformats.org/drawingml/2006/main">
            <a:off x="7200900" y="3400425"/>
            <a:ext cx="2095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Federation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extensions</a:t>
            </a:r>
          </a:p>
        </p:txBody>
      </p:sp>
      <p:sp>
        <p:nvSpPr>
          <p:cNvPr id="10" name="NATS&#10;shared circle">
            <a:extLst xmlns:a="http://schemas.openxmlformats.org/drawingml/2006/main">
              <a:ext uri="{FF2B5EF4-FFF2-40B4-BE49-F238E27FC236}">
                <a16:creationId xmlns:a16="http://schemas.microsoft.com/office/drawing/2014/main" id="{B6FE736F-5E9C-43ED-82C0-D5A6FE2E3075}"/>
              </a:ext>
            </a:extLst>
          </p:cNvPr>
          <p:cNvSpPr>
            <a:spLocks xmlns:a="http://schemas.openxmlformats.org/drawingml/2006/main" noGrp="1"/>
          </p:cNvSpPr>
          <p:nvPr/>
        </p:nvSpPr>
        <p:spPr>
          <a:xfrm xmlns:a="http://schemas.openxmlformats.org/drawingml/2006/main">
            <a:off x="10001250" y="3400425"/>
            <a:ext cx="158115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00" b="0">
                <a:solidFill>
                  <a:srgbClr val="152E42"/>
                </a:solidFill>
                <a:latin typeface="Arial"/>
                <a:ea typeface="Arial"/>
                <a:cs typeface="Arial"/>
              </a:defRPr>
            </a:defPPr>
          </a:lstStyle>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NATS</a:t>
            </a:r>
          </a:p>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shared circle</a:t>
            </a:r>
          </a:p>
        </p:txBody>
      </p:sp>
      <p:sp>
        <p:nvSpPr>
          <p:cNvPr id="14" name="Local dashboard">
            <a:extLst xmlns:a="http://schemas.openxmlformats.org/drawingml/2006/main">
              <a:ext uri="{FF2B5EF4-FFF2-40B4-BE49-F238E27FC236}">
                <a16:creationId xmlns:a16="http://schemas.microsoft.com/office/drawing/2014/main" id="{3AFC74FD-3783-40C0-9E2F-B99F9314F561}"/>
              </a:ext>
            </a:extLst>
          </p:cNvPr>
          <p:cNvSpPr>
            <a:spLocks xmlns:a="http://schemas.openxmlformats.org/drawingml/2006/main" noGrp="1"/>
          </p:cNvSpPr>
          <p:nvPr/>
        </p:nvSpPr>
        <p:spPr>
          <a:xfrm xmlns:a="http://schemas.openxmlformats.org/drawingml/2006/main">
            <a:off x="609600" y="3400425"/>
            <a:ext cx="23241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Local dashboard</a:t>
            </a:r>
          </a:p>
        </p:txBody>
      </p:sp>
      <p:sp>
        <p:nvSpPr>
          <p:cNvPr id="16" name="Board SQLite">
            <a:extLst xmlns:a="http://schemas.openxmlformats.org/drawingml/2006/main">
              <a:ext uri="{FF2B5EF4-FFF2-40B4-BE49-F238E27FC236}">
                <a16:creationId xmlns:a16="http://schemas.microsoft.com/office/drawing/2014/main" id="{7964FA9B-9513-447D-B7CA-771AEE56C1ED}"/>
              </a:ext>
            </a:extLst>
          </p:cNvPr>
          <p:cNvSpPr>
            <a:spLocks xmlns:a="http://schemas.openxmlformats.org/drawingml/2006/main" noGrp="1"/>
          </p:cNvSpPr>
          <p:nvPr/>
        </p:nvSpPr>
        <p:spPr>
          <a:xfrm xmlns:a="http://schemas.openxmlformats.org/drawingml/2006/main">
            <a:off x="609600" y="4857750"/>
            <a:ext cx="2714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Board SQLite</a:t>
            </a:r>
          </a:p>
        </p:txBody>
      </p:sp>
      <p:sp>
        <p:nvSpPr>
          <p:cNvPr id="17" name="Run files and claims">
            <a:extLst xmlns:a="http://schemas.openxmlformats.org/drawingml/2006/main">
              <a:ext uri="{FF2B5EF4-FFF2-40B4-BE49-F238E27FC236}">
                <a16:creationId xmlns:a16="http://schemas.microsoft.com/office/drawing/2014/main" id="{E9043168-080F-4920-8DC3-F3A0D1B261C9}"/>
              </a:ext>
            </a:extLst>
          </p:cNvPr>
          <p:cNvSpPr>
            <a:spLocks xmlns:a="http://schemas.openxmlformats.org/drawingml/2006/main" noGrp="1"/>
          </p:cNvSpPr>
          <p:nvPr/>
        </p:nvSpPr>
        <p:spPr>
          <a:xfrm xmlns:a="http://schemas.openxmlformats.org/drawingml/2006/main">
            <a:off x="3981450" y="4857750"/>
            <a:ext cx="342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Run files and claims</a:t>
            </a:r>
          </a:p>
        </p:txBody>
      </p:sp>
      <p:sp>
        <p:nvSpPr>
          <p:cNvPr id="18" name="Hub SQLite">
            <a:extLst xmlns:a="http://schemas.openxmlformats.org/drawingml/2006/main">
              <a:ext uri="{FF2B5EF4-FFF2-40B4-BE49-F238E27FC236}">
                <a16:creationId xmlns:a16="http://schemas.microsoft.com/office/drawing/2014/main" id="{8DF5BE24-16DB-4E6F-BA59-847EBD01C589}"/>
              </a:ext>
            </a:extLst>
          </p:cNvPr>
          <p:cNvSpPr>
            <a:spLocks xmlns:a="http://schemas.openxmlformats.org/drawingml/2006/main" noGrp="1"/>
          </p:cNvSpPr>
          <p:nvPr/>
        </p:nvSpPr>
        <p:spPr>
          <a:xfrm xmlns:a="http://schemas.openxmlformats.org/drawingml/2006/main">
            <a:off x="8362950" y="4857750"/>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Hub SQLite</a:t>
            </a:r>
          </a:p>
        </p:txBody>
      </p:sp>
      <p:sp>
        <p:nvSpPr>
          <p:cNvPr id="19" name="Separate ownership and completion signals need explicit migration.">
            <a:extLst xmlns:a="http://schemas.openxmlformats.org/drawingml/2006/main">
              <a:ext uri="{FF2B5EF4-FFF2-40B4-BE49-F238E27FC236}">
                <a16:creationId xmlns:a16="http://schemas.microsoft.com/office/drawing/2014/main" id="{2B778383-DCC7-4754-8505-C34B6148CAC4}"/>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Separate ownership and completion signals need explicit migration.</a:t>
            </a:r>
          </a:p>
        </p:txBody>
      </p:sp>
    </p:spTree>
    <p:extLst>
      <p:ext uri="{BB962C8B-B14F-4D97-AF65-F5344CB8AC3E}">
        <p14:creationId xmlns:p14="http://schemas.microsoft.com/office/powerpoint/2010/main" val="1594268494"/>
      </p:ext>
    </p:extLst>
  </p:cSld>
</p:sld>
</file>

<file path=ppt/slides/slide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2E6751BC-7508-471E-8B35-5C0CEBFDD015}"/>
              </a:ext>
            </a:extLst>
          </p:cNvPr>
          <p:cNvCxnSpPr>
            <a:stCxn xmlns:a="http://schemas.openxmlformats.org/drawingml/2006/main" id="9" idx="0"/>
            <a:endCxn xmlns:a="http://schemas.openxmlformats.org/drawingml/2006/main" id="5" idx="2"/>
          </p:cNvCxnSpPr>
          <p:nvPr/>
        </p:nvCxnSpPr>
        <p:spPr>
          <a:xfrm xmlns:a="http://schemas.openxmlformats.org/drawingml/2006/main" flipV="1">
            <a:off x="9925050" y="2390775"/>
            <a:ext cx="0" cy="180975"/>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678F9B25-F5B9-4C60-8D09-93444EE287B4}"/>
              </a:ext>
            </a:extLst>
          </p:cNvPr>
          <p:cNvCxnSpPr>
            <a:stCxn xmlns:a="http://schemas.openxmlformats.org/drawingml/2006/main" id="3" idx="3"/>
            <a:endCxn xmlns:a="http://schemas.openxmlformats.org/drawingml/2006/main" id="4" idx="1"/>
          </p:cNvCxnSpPr>
          <p:nvPr/>
        </p:nvCxnSpPr>
        <p:spPr>
          <a:xfrm xmlns:a="http://schemas.openxmlformats.org/drawingml/2006/main">
            <a:off x="2895600" y="2038350"/>
            <a:ext cx="91440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21" name="Proposed product architecture">
            <a:extLst xmlns:a="http://schemas.openxmlformats.org/drawingml/2006/main">
              <a:ext uri="{FF2B5EF4-FFF2-40B4-BE49-F238E27FC236}">
                <a16:creationId xmlns:a16="http://schemas.microsoft.com/office/drawing/2014/main" id="{5387D9F8-F402-4FA6-94B4-EC8729B387F3}"/>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product architecture</a:t>
            </a:r>
          </a:p>
        </p:txBody>
      </p:sp>
      <p:sp>
        <p:nvSpPr>
          <p:cNvPr id="2" name="04">
            <a:extLst xmlns:a="http://schemas.openxmlformats.org/drawingml/2006/main">
              <a:ext uri="{FF2B5EF4-FFF2-40B4-BE49-F238E27FC236}">
                <a16:creationId xmlns:a16="http://schemas.microsoft.com/office/drawing/2014/main" id="{4C1D171D-B45F-434D-B845-2C0B79D2E74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04</a:t>
            </a:r>
          </a:p>
        </p:txBody>
      </p:sp>
      <p:sp>
        <p:nvSpPr>
          <p:cNvPr id="3" name="Agent clients">
            <a:extLst xmlns:a="http://schemas.openxmlformats.org/drawingml/2006/main">
              <a:ext uri="{FF2B5EF4-FFF2-40B4-BE49-F238E27FC236}">
                <a16:creationId xmlns:a16="http://schemas.microsoft.com/office/drawing/2014/main" id="{5A96459C-507E-4F5A-B91F-D5D7BDC159D2}"/>
              </a:ext>
            </a:extLst>
          </p:cNvPr>
          <p:cNvSpPr>
            <a:spLocks xmlns:a="http://schemas.openxmlformats.org/drawingml/2006/main" noGrp="1"/>
          </p:cNvSpPr>
          <p:nvPr/>
        </p:nvSpPr>
        <p:spPr>
          <a:xfrm xmlns:a="http://schemas.openxmlformats.org/drawingml/2006/main">
            <a:off x="609600" y="1685925"/>
            <a:ext cx="22860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Agent clients</a:t>
            </a:r>
          </a:p>
        </p:txBody>
      </p:sp>
      <p:sp>
        <p:nvSpPr>
          <p:cNvPr id="4" name="Client integrations">
            <a:extLst xmlns:a="http://schemas.openxmlformats.org/drawingml/2006/main">
              <a:ext uri="{FF2B5EF4-FFF2-40B4-BE49-F238E27FC236}">
                <a16:creationId xmlns:a16="http://schemas.microsoft.com/office/drawing/2014/main" id="{EB706CF3-EB0A-424E-9622-7E91C6BFB7E4}"/>
              </a:ext>
            </a:extLst>
          </p:cNvPr>
          <p:cNvSpPr>
            <a:spLocks xmlns:a="http://schemas.openxmlformats.org/drawingml/2006/main" noGrp="1"/>
          </p:cNvSpPr>
          <p:nvPr/>
        </p:nvSpPr>
        <p:spPr>
          <a:xfrm xmlns:a="http://schemas.openxmlformats.org/drawingml/2006/main">
            <a:off x="3810000" y="1685925"/>
            <a:ext cx="30480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Client integrations</a:t>
            </a:r>
          </a:p>
        </p:txBody>
      </p:sp>
      <p:sp>
        <p:nvSpPr>
          <p:cNvPr id="5" name="CopilotKit dashboard">
            <a:extLst xmlns:a="http://schemas.openxmlformats.org/drawingml/2006/main">
              <a:ext uri="{FF2B5EF4-FFF2-40B4-BE49-F238E27FC236}">
                <a16:creationId xmlns:a16="http://schemas.microsoft.com/office/drawing/2014/main" id="{D66B89A4-4448-4AA9-AECD-82CB0102398F}"/>
              </a:ext>
            </a:extLst>
          </p:cNvPr>
          <p:cNvSpPr>
            <a:spLocks xmlns:a="http://schemas.openxmlformats.org/drawingml/2006/main" noGrp="1"/>
          </p:cNvSpPr>
          <p:nvPr/>
        </p:nvSpPr>
        <p:spPr>
          <a:xfrm xmlns:a="http://schemas.openxmlformats.org/drawingml/2006/main">
            <a:off x="8267700" y="1685925"/>
            <a:ext cx="3314700" cy="7048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CopilotKit dashboard</a:t>
            </a:r>
          </a:p>
        </p:txBody>
      </p:sp>
      <p:sp>
        <p:nvSpPr>
          <p:cNvPr id="7" name="NATS application backbone">
            <a:extLst xmlns:a="http://schemas.openxmlformats.org/drawingml/2006/main">
              <a:ext uri="{FF2B5EF4-FFF2-40B4-BE49-F238E27FC236}">
                <a16:creationId xmlns:a16="http://schemas.microsoft.com/office/drawing/2014/main" id="{D73D6C11-162E-4599-A81C-7B70199BF7DC}"/>
              </a:ext>
            </a:extLst>
          </p:cNvPr>
          <p:cNvSpPr>
            <a:spLocks xmlns:a="http://schemas.openxmlformats.org/drawingml/2006/main" noGrp="1"/>
          </p:cNvSpPr>
          <p:nvPr/>
        </p:nvSpPr>
        <p:spPr>
          <a:xfrm xmlns:a="http://schemas.openxmlformats.org/drawingml/2006/main">
            <a:off x="609600" y="3429000"/>
            <a:ext cx="10972800" cy="571500"/>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stStyle>
          <a:p xmlns:a="http://schemas.openxmlformats.org/drawingml/2006/main">
            <a:pPr algn="ctr">
              <a:buNone/>
              <a:defRPr sz="2250" b="0">
                <a:solidFill>
                  <a:srgbClr val="FFFFFF"/>
                </a:solidFill>
                <a:latin typeface="Arial"/>
                <a:ea typeface="Arial"/>
                <a:cs typeface="Arial"/>
              </a:defRPr>
            </a:pPr>
            <a:r>
              <a:rPr sz="2250" b="0">
                <a:solidFill>
                  <a:srgbClr val="FFFFFF"/>
                </a:solidFill>
                <a:latin typeface="Arial"/>
                <a:ea typeface="Arial"/>
                <a:cs typeface="Arial"/>
              </a:rPr>
              <a:t>NATS application backbone</a:t>
            </a:r>
          </a:p>
        </p:txBody>
      </p:sp>
      <p:cxnSp>
        <p:nvCxnSpPr>
          <p:cNvPr id="8" name="">
            <a:extLst xmlns:a="http://schemas.openxmlformats.org/drawingml/2006/main">
              <a:ext uri="{FF2B5EF4-FFF2-40B4-BE49-F238E27FC236}">
                <a16:creationId xmlns:a16="http://schemas.microsoft.com/office/drawing/2014/main" id="{1B0C5C90-41C6-4E97-B51C-6AE732EA7ABB}"/>
              </a:ext>
            </a:extLst>
          </p:cNvPr>
          <p:cNvCxnSpPr/>
          <p:nvPr/>
        </p:nvCxnSpPr>
        <p:spPr>
          <a:xfrm xmlns:a="http://schemas.openxmlformats.org/drawingml/2006/main">
            <a:off x="5334000" y="2390775"/>
            <a:ext cx="0" cy="1038225"/>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9" name="AG-UI interface">
            <a:extLst xmlns:a="http://schemas.openxmlformats.org/drawingml/2006/main">
              <a:ext uri="{FF2B5EF4-FFF2-40B4-BE49-F238E27FC236}">
                <a16:creationId xmlns:a16="http://schemas.microsoft.com/office/drawing/2014/main" id="{0830C35F-2AB5-470F-B226-7232EEA8C0B4}"/>
              </a:ext>
            </a:extLst>
          </p:cNvPr>
          <p:cNvSpPr>
            <a:spLocks xmlns:a="http://schemas.openxmlformats.org/drawingml/2006/main" noGrp="1"/>
          </p:cNvSpPr>
          <p:nvPr/>
        </p:nvSpPr>
        <p:spPr>
          <a:xfrm xmlns:a="http://schemas.openxmlformats.org/drawingml/2006/main">
            <a:off x="8267700" y="2571750"/>
            <a:ext cx="3314700" cy="4953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00" b="0">
                <a:solidFill>
                  <a:srgbClr val="152E42"/>
                </a:solidFill>
                <a:latin typeface="Arial"/>
                <a:ea typeface="Arial"/>
                <a:cs typeface="Arial"/>
              </a:defRPr>
            </a:defPPr>
          </a:lstStyle>
          <a:p xmlns:a="http://schemas.openxmlformats.org/drawingml/2006/main">
            <a:pPr algn="ctr">
              <a:buNone/>
              <a:defRPr sz="1800" b="0">
                <a:solidFill>
                  <a:srgbClr val="152E42"/>
                </a:solidFill>
                <a:latin typeface="Arial"/>
                <a:ea typeface="Arial"/>
                <a:cs typeface="Arial"/>
              </a:defRPr>
            </a:pPr>
            <a:r>
              <a:rPr sz="1800" b="0">
                <a:solidFill>
                  <a:srgbClr val="152E42"/>
                </a:solidFill>
                <a:latin typeface="Arial"/>
                <a:ea typeface="Arial"/>
                <a:cs typeface="Arial"/>
              </a:rPr>
              <a:t>AG-UI interface</a:t>
            </a:r>
          </a:p>
        </p:txBody>
      </p:sp>
      <p:cxnSp>
        <p:nvCxnSpPr>
          <p:cNvPr id="11" name="">
            <a:extLst xmlns:a="http://schemas.openxmlformats.org/drawingml/2006/main">
              <a:ext uri="{FF2B5EF4-FFF2-40B4-BE49-F238E27FC236}">
                <a16:creationId xmlns:a16="http://schemas.microsoft.com/office/drawing/2014/main" id="{5B22BAC5-68B7-4204-91B8-3CB0A5AABDFC}"/>
              </a:ext>
            </a:extLst>
          </p:cNvPr>
          <p:cNvCxnSpPr/>
          <p:nvPr/>
        </p:nvCxnSpPr>
        <p:spPr>
          <a:xfrm xmlns:a="http://schemas.openxmlformats.org/drawingml/2006/main">
            <a:off x="9925050" y="3067050"/>
            <a:ext cx="0" cy="36195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12" name="Plans / tasks&#10;and workspaces">
            <a:extLst xmlns:a="http://schemas.openxmlformats.org/drawingml/2006/main">
              <a:ext uri="{FF2B5EF4-FFF2-40B4-BE49-F238E27FC236}">
                <a16:creationId xmlns:a16="http://schemas.microsoft.com/office/drawing/2014/main" id="{574C9CE0-20F6-45FB-9044-CF81BF9297DC}"/>
              </a:ext>
            </a:extLst>
          </p:cNvPr>
          <p:cNvSpPr>
            <a:spLocks xmlns:a="http://schemas.openxmlformats.org/drawingml/2006/main" noGrp="1"/>
          </p:cNvSpPr>
          <p:nvPr/>
        </p:nvSpPr>
        <p:spPr>
          <a:xfrm xmlns:a="http://schemas.openxmlformats.org/drawingml/2006/main">
            <a:off x="609600" y="4572000"/>
            <a:ext cx="247650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Plans / tasks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workspaces</a:t>
            </a:r>
          </a:p>
        </p:txBody>
      </p:sp>
      <p:sp>
        <p:nvSpPr>
          <p:cNvPr id="13" name="Execution / tools&#10;and domain plugins">
            <a:extLst xmlns:a="http://schemas.openxmlformats.org/drawingml/2006/main">
              <a:ext uri="{FF2B5EF4-FFF2-40B4-BE49-F238E27FC236}">
                <a16:creationId xmlns:a16="http://schemas.microsoft.com/office/drawing/2014/main" id="{7ACA246A-43BE-4D9C-8F90-6B54CE5F46D9}"/>
              </a:ext>
            </a:extLst>
          </p:cNvPr>
          <p:cNvSpPr>
            <a:spLocks xmlns:a="http://schemas.openxmlformats.org/drawingml/2006/main" noGrp="1"/>
          </p:cNvSpPr>
          <p:nvPr/>
        </p:nvSpPr>
        <p:spPr>
          <a:xfrm xmlns:a="http://schemas.openxmlformats.org/drawingml/2006/main">
            <a:off x="3438525" y="4572000"/>
            <a:ext cx="257175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Execution / tools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domain plugins</a:t>
            </a:r>
          </a:p>
        </p:txBody>
      </p:sp>
      <p:sp>
        <p:nvSpPr>
          <p:cNvPr id="14" name="Identity / policy&#10;and owned storage">
            <a:extLst xmlns:a="http://schemas.openxmlformats.org/drawingml/2006/main">
              <a:ext uri="{FF2B5EF4-FFF2-40B4-BE49-F238E27FC236}">
                <a16:creationId xmlns:a16="http://schemas.microsoft.com/office/drawing/2014/main" id="{DCAFEE94-26F5-4169-B92A-B587504975E2}"/>
              </a:ext>
            </a:extLst>
          </p:cNvPr>
          <p:cNvSpPr>
            <a:spLocks xmlns:a="http://schemas.openxmlformats.org/drawingml/2006/main" noGrp="1"/>
          </p:cNvSpPr>
          <p:nvPr/>
        </p:nvSpPr>
        <p:spPr>
          <a:xfrm xmlns:a="http://schemas.openxmlformats.org/drawingml/2006/main">
            <a:off x="6362700" y="4572000"/>
            <a:ext cx="2524125"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Identity / policy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owned storage</a:t>
            </a:r>
          </a:p>
        </p:txBody>
      </p:sp>
      <p:sp>
        <p:nvSpPr>
          <p:cNvPr id="15" name="Connected&#10;team hubs">
            <a:extLst xmlns:a="http://schemas.openxmlformats.org/drawingml/2006/main">
              <a:ext uri="{FF2B5EF4-FFF2-40B4-BE49-F238E27FC236}">
                <a16:creationId xmlns:a16="http://schemas.microsoft.com/office/drawing/2014/main" id="{161419F0-212F-4DF3-BA73-CEB6B14C95F0}"/>
              </a:ext>
            </a:extLst>
          </p:cNvPr>
          <p:cNvSpPr>
            <a:spLocks xmlns:a="http://schemas.openxmlformats.org/drawingml/2006/main" noGrp="1"/>
          </p:cNvSpPr>
          <p:nvPr/>
        </p:nvSpPr>
        <p:spPr>
          <a:xfrm xmlns:a="http://schemas.openxmlformats.org/drawingml/2006/main">
            <a:off x="9239250" y="4572000"/>
            <a:ext cx="2343150" cy="9048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Connected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team hubs</a:t>
            </a:r>
          </a:p>
        </p:txBody>
      </p:sp>
      <p:cxnSp>
        <p:nvCxnSpPr>
          <p:cNvPr id="16" name="">
            <a:extLst xmlns:a="http://schemas.openxmlformats.org/drawingml/2006/main">
              <a:ext uri="{FF2B5EF4-FFF2-40B4-BE49-F238E27FC236}">
                <a16:creationId xmlns:a16="http://schemas.microsoft.com/office/drawing/2014/main" id="{58296A69-B89A-4CFF-A541-C59F7B8A2DFA}"/>
              </a:ext>
            </a:extLst>
          </p:cNvPr>
          <p:cNvCxnSpPr/>
          <p:nvPr/>
        </p:nvCxnSpPr>
        <p:spPr>
          <a:xfrm xmlns:a="http://schemas.openxmlformats.org/drawingml/2006/main">
            <a:off x="1847850"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7" name="">
            <a:extLst xmlns:a="http://schemas.openxmlformats.org/drawingml/2006/main">
              <a:ext uri="{FF2B5EF4-FFF2-40B4-BE49-F238E27FC236}">
                <a16:creationId xmlns:a16="http://schemas.microsoft.com/office/drawing/2014/main" id="{AEDF2354-2BF6-4093-9AC9-6F4AA2D32386}"/>
              </a:ext>
            </a:extLst>
          </p:cNvPr>
          <p:cNvCxnSpPr/>
          <p:nvPr/>
        </p:nvCxnSpPr>
        <p:spPr>
          <a:xfrm xmlns:a="http://schemas.openxmlformats.org/drawingml/2006/main">
            <a:off x="4724400"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8" name="">
            <a:extLst xmlns:a="http://schemas.openxmlformats.org/drawingml/2006/main">
              <a:ext uri="{FF2B5EF4-FFF2-40B4-BE49-F238E27FC236}">
                <a16:creationId xmlns:a16="http://schemas.microsoft.com/office/drawing/2014/main" id="{F5394286-9C4B-4636-B879-ABC749BC33EE}"/>
              </a:ext>
            </a:extLst>
          </p:cNvPr>
          <p:cNvCxnSpPr/>
          <p:nvPr/>
        </p:nvCxnSpPr>
        <p:spPr>
          <a:xfrm xmlns:a="http://schemas.openxmlformats.org/drawingml/2006/main">
            <a:off x="7624763"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cxnSp>
        <p:nvCxnSpPr>
          <p:cNvPr id="19" name="">
            <a:extLst xmlns:a="http://schemas.openxmlformats.org/drawingml/2006/main">
              <a:ext uri="{FF2B5EF4-FFF2-40B4-BE49-F238E27FC236}">
                <a16:creationId xmlns:a16="http://schemas.microsoft.com/office/drawing/2014/main" id="{7B740A88-D621-42BE-9308-470558369BEC}"/>
              </a:ext>
            </a:extLst>
          </p:cNvPr>
          <p:cNvCxnSpPr/>
          <p:nvPr/>
        </p:nvCxnSpPr>
        <p:spPr>
          <a:xfrm xmlns:a="http://schemas.openxmlformats.org/drawingml/2006/main">
            <a:off x="10410825" y="4000500"/>
            <a:ext cx="0" cy="571500"/>
          </a:xfrm>
          <a:prstGeom xmlns:a="http://schemas.openxmlformats.org/drawingml/2006/main" prst="straightConnector1">
            <a:avLst/>
          </a:prstGeom>
          <a:ln xmlns:a="http://schemas.openxmlformats.org/drawingml/2006/main" w="20955">
            <a:solidFill>
              <a:srgbClr val="087E83"/>
            </a:solidFill>
            <a:headEnd type="triangle" w="med" len="med"/>
            <a:tailEnd type="triangle" w="med" len="med"/>
          </a:ln>
        </p:spPr>
      </p:cxnSp>
      <p:sp>
        <p:nvSpPr>
          <p:cNvPr id="20" name="Protected kernel publishes permitted status into a separate applicatio">
            <a:extLst xmlns:a="http://schemas.openxmlformats.org/drawingml/2006/main">
              <a:ext uri="{FF2B5EF4-FFF2-40B4-BE49-F238E27FC236}">
                <a16:creationId xmlns:a16="http://schemas.microsoft.com/office/drawing/2014/main" id="{D8C2029E-B18A-47ED-A2AB-71DC7ABD9210}"/>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Protected kernel publishes permitted status into a separate application scope.</a:t>
            </a:r>
          </a:p>
        </p:txBody>
      </p:sp>
    </p:spTree>
    <p:extLst>
      <p:ext uri="{BB962C8B-B14F-4D97-AF65-F5344CB8AC3E}">
        <p14:creationId xmlns:p14="http://schemas.microsoft.com/office/powerpoint/2010/main" val="1837291849"/>
      </p:ext>
    </p:extLst>
  </p:cSld>
</p:sld>
</file>

<file path=ppt/slides/slide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6ABA06FF-18AC-401D-BCE1-1489FFB83378}"/>
              </a:ext>
            </a:extLst>
          </p:cNvPr>
          <p:cNvCxnSpPr>
            <a:stCxn xmlns:a="http://schemas.openxmlformats.org/drawingml/2006/main" id="4" idx="2"/>
            <a:endCxn xmlns:a="http://schemas.openxmlformats.org/drawingml/2006/main" id="6" idx="0"/>
          </p:cNvCxnSpPr>
          <p:nvPr/>
        </p:nvCxnSpPr>
        <p:spPr>
          <a:xfrm xmlns:a="http://schemas.openxmlformats.org/drawingml/2006/main">
            <a:off x="9682163" y="3400425"/>
            <a:ext cx="0" cy="25717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5" name="">
            <a:extLst xmlns:a="http://schemas.openxmlformats.org/drawingml/2006/main">
              <a:ext uri="{FF2B5EF4-FFF2-40B4-BE49-F238E27FC236}">
                <a16:creationId xmlns:a16="http://schemas.microsoft.com/office/drawing/2014/main" id="{518DD0B5-DEC4-4929-BF55-297EA1F081B3}"/>
              </a:ext>
            </a:extLst>
          </p:cNvPr>
          <p:cNvCxnSpPr>
            <a:stCxn xmlns:a="http://schemas.openxmlformats.org/drawingml/2006/main" id="3" idx="3"/>
            <a:endCxn xmlns:a="http://schemas.openxmlformats.org/drawingml/2006/main" id="4" idx="1"/>
          </p:cNvCxnSpPr>
          <p:nvPr/>
        </p:nvCxnSpPr>
        <p:spPr>
          <a:xfrm xmlns:a="http://schemas.openxmlformats.org/drawingml/2006/main" flipV="1">
            <a:off x="6515100" y="3009900"/>
            <a:ext cx="1266825" cy="4763"/>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0" name="Protected kernel boundary">
            <a:extLst xmlns:a="http://schemas.openxmlformats.org/drawingml/2006/main">
              <a:ext uri="{FF2B5EF4-FFF2-40B4-BE49-F238E27FC236}">
                <a16:creationId xmlns:a16="http://schemas.microsoft.com/office/drawing/2014/main" id="{A3078485-336D-4CB7-A07C-E3DB3EF49D3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Protected kernel boundary</a:t>
            </a:r>
          </a:p>
        </p:txBody>
      </p:sp>
      <p:sp>
        <p:nvSpPr>
          <p:cNvPr id="2" name="05">
            <a:extLst xmlns:a="http://schemas.openxmlformats.org/drawingml/2006/main">
              <a:ext uri="{FF2B5EF4-FFF2-40B4-BE49-F238E27FC236}">
                <a16:creationId xmlns:a16="http://schemas.microsoft.com/office/drawing/2014/main" id="{B7209B3E-B9E1-4A37-B9EC-51E253C5EB2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05</a:t>
            </a:r>
          </a:p>
        </p:txBody>
      </p:sp>
      <p:sp>
        <p:nvSpPr>
          <p:cNvPr id="3" name="Protected boot assembly&#10;&#10;Boot and protected-plugin lifecycle&#10;Internal NATS communication">
            <a:extLst xmlns:a="http://schemas.openxmlformats.org/drawingml/2006/main">
              <a:ext uri="{FF2B5EF4-FFF2-40B4-BE49-F238E27FC236}">
                <a16:creationId xmlns:a16="http://schemas.microsoft.com/office/drawing/2014/main" id="{61A74854-CA23-4127-A211-188C8A7E61F2}"/>
              </a:ext>
            </a:extLst>
          </p:cNvPr>
          <p:cNvSpPr>
            <a:spLocks xmlns:a="http://schemas.openxmlformats.org/drawingml/2006/main" noGrp="1"/>
          </p:cNvSpPr>
          <p:nvPr/>
        </p:nvSpPr>
        <p:spPr>
          <a:xfrm xmlns:a="http://schemas.openxmlformats.org/drawingml/2006/main">
            <a:off x="609600" y="1752600"/>
            <a:ext cx="5905500" cy="2524125"/>
          </a:xfrm>
          <a:prstGeom xmlns:a="http://schemas.openxmlformats.org/drawingml/2006/main" prst="rect">
            <a:avLst/>
          </a:prstGeom>
          <a:solidFill xmlns:a="http://schemas.openxmlformats.org/drawingml/2006/main">
            <a:srgbClr val="152E42"/>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00" b="0">
                <a:solidFill>
                  <a:srgbClr val="FFFFFF"/>
                </a:solidFill>
                <a:latin typeface="Arial"/>
                <a:ea typeface="Arial"/>
                <a:cs typeface="Arial"/>
              </a:defRPr>
            </a:defPPr>
          </a:lstStyle>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Protected boot assembly</a:t>
            </a:r>
          </a:p>
          <a:p xmlns:a="http://schemas.openxmlformats.org/drawingml/2006/main">
            <a:r>
              <a:t/>
            </a:r>
          </a:p>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Boot and protected-plugin lifecycle</a:t>
            </a:r>
          </a:p>
          <a:p xmlns:a="http://schemas.openxmlformats.org/drawingml/2006/main">
            <a:pPr algn="ctr">
              <a:buNone/>
              <a:defRPr sz="2100" b="0">
                <a:solidFill>
                  <a:srgbClr val="FFFFFF"/>
                </a:solidFill>
                <a:latin typeface="Arial"/>
                <a:ea typeface="Arial"/>
                <a:cs typeface="Arial"/>
              </a:defRPr>
            </a:pPr>
            <a:r>
              <a:rPr sz="2100" b="0">
                <a:solidFill>
                  <a:srgbClr val="FFFFFF"/>
                </a:solidFill>
                <a:latin typeface="Arial"/>
                <a:ea typeface="Arial"/>
                <a:cs typeface="Arial"/>
              </a:rPr>
              <a:t>Internal NATS communication</a:t>
            </a:r>
          </a:p>
        </p:txBody>
      </p:sp>
      <p:sp>
        <p:nvSpPr>
          <p:cNvPr id="4" name="Published kernel status">
            <a:extLst xmlns:a="http://schemas.openxmlformats.org/drawingml/2006/main">
              <a:ext uri="{FF2B5EF4-FFF2-40B4-BE49-F238E27FC236}">
                <a16:creationId xmlns:a16="http://schemas.microsoft.com/office/drawing/2014/main" id="{9BE62E64-92D0-45AF-80AC-D82DEF64EF78}"/>
              </a:ext>
            </a:extLst>
          </p:cNvPr>
          <p:cNvSpPr>
            <a:spLocks xmlns:a="http://schemas.openxmlformats.org/drawingml/2006/main" noGrp="1"/>
          </p:cNvSpPr>
          <p:nvPr/>
        </p:nvSpPr>
        <p:spPr>
          <a:xfrm xmlns:a="http://schemas.openxmlformats.org/drawingml/2006/main">
            <a:off x="7781925" y="2619375"/>
            <a:ext cx="3800475" cy="7810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Published kernel status</a:t>
            </a:r>
          </a:p>
        </p:txBody>
      </p:sp>
      <p:sp>
        <p:nvSpPr>
          <p:cNvPr id="6" name="Surrounding subscribers">
            <a:extLst xmlns:a="http://schemas.openxmlformats.org/drawingml/2006/main">
              <a:ext uri="{FF2B5EF4-FFF2-40B4-BE49-F238E27FC236}">
                <a16:creationId xmlns:a16="http://schemas.microsoft.com/office/drawing/2014/main" id="{1E05F52B-AEB5-4F89-9E7F-5246ADBDCB3D}"/>
              </a:ext>
            </a:extLst>
          </p:cNvPr>
          <p:cNvSpPr>
            <a:spLocks xmlns:a="http://schemas.openxmlformats.org/drawingml/2006/main" noGrp="1"/>
          </p:cNvSpPr>
          <p:nvPr/>
        </p:nvSpPr>
        <p:spPr>
          <a:xfrm xmlns:a="http://schemas.openxmlformats.org/drawingml/2006/main">
            <a:off x="7781925" y="3657600"/>
            <a:ext cx="3800475" cy="7810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Surrounding subscribers</a:t>
            </a:r>
          </a:p>
        </p:txBody>
      </p:sp>
      <p:sp>
        <p:nvSpPr>
          <p:cNvPr id="8" name="Identity, storage, orchestration and domain services live outside this">
            <a:extLst xmlns:a="http://schemas.openxmlformats.org/drawingml/2006/main">
              <a:ext uri="{FF2B5EF4-FFF2-40B4-BE49-F238E27FC236}">
                <a16:creationId xmlns:a16="http://schemas.microsoft.com/office/drawing/2014/main" id="{6D428C88-1377-403C-A0C9-A9A3FF72B743}"/>
              </a:ext>
            </a:extLst>
          </p:cNvPr>
          <p:cNvSpPr>
            <a:spLocks xmlns:a="http://schemas.openxmlformats.org/drawingml/2006/main" noGrp="1"/>
          </p:cNvSpPr>
          <p:nvPr/>
        </p:nvSpPr>
        <p:spPr>
          <a:xfrm xmlns:a="http://schemas.openxmlformats.org/drawingml/2006/main">
            <a:off x="609600" y="4914900"/>
            <a:ext cx="10953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Identity, storage, orchestration and domain services live outside this boundary.</a:t>
            </a:r>
          </a:p>
        </p:txBody>
      </p:sp>
      <p:sp>
        <p:nvSpPr>
          <p:cNvPr id="9" name="Kernel replacement and general external kernel commands remain exclude">
            <a:extLst xmlns:a="http://schemas.openxmlformats.org/drawingml/2006/main">
              <a:ext uri="{FF2B5EF4-FFF2-40B4-BE49-F238E27FC236}">
                <a16:creationId xmlns:a16="http://schemas.microsoft.com/office/drawing/2014/main" id="{B78F1A79-A39D-4CE6-9B54-2B02F7B342B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Kernel replacement and general external kernel commands remain excluded.</a:t>
            </a:r>
          </a:p>
        </p:txBody>
      </p:sp>
    </p:spTree>
    <p:extLst>
      <p:ext uri="{BB962C8B-B14F-4D97-AF65-F5344CB8AC3E}">
        <p14:creationId xmlns:p14="http://schemas.microsoft.com/office/powerpoint/2010/main" val="254858875"/>
      </p:ext>
    </p:extLst>
  </p:cSld>
</p:sld>
</file>

<file path=ppt/slides/slide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B4065CB6-4C75-48FE-820F-3BCE35B94BC5}"/>
              </a:ext>
            </a:extLst>
          </p:cNvPr>
          <p:cNvCxnSpPr>
            <a:stCxn xmlns:a="http://schemas.openxmlformats.org/drawingml/2006/main" id="3" idx="2"/>
            <a:endCxn xmlns:a="http://schemas.openxmlformats.org/drawingml/2006/main" id="5" idx="0"/>
          </p:cNvCxnSpPr>
          <p:nvPr/>
        </p:nvCxnSpPr>
        <p:spPr>
          <a:xfrm xmlns:a="http://schemas.openxmlformats.org/drawingml/2006/main">
            <a:off x="2038350" y="2552700"/>
            <a:ext cx="3829050" cy="704850"/>
          </a:xfrm>
          <a:prstGeom xmlns:a="http://schemas.openxmlformats.org/drawingml/2006/main" prst="bentConnector4">
            <a:avLst>
              <a:gd name="adj1" fmla="val 0"/>
              <a:gd name="adj2" fmla="val 50000"/>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63CFADAA-FCD4-41F7-915C-3845C1286244}"/>
              </a:ext>
            </a:extLst>
          </p:cNvPr>
          <p:cNvCxnSpPr>
            <a:stCxn xmlns:a="http://schemas.openxmlformats.org/drawingml/2006/main" id="3" idx="2"/>
            <a:endCxn xmlns:a="http://schemas.openxmlformats.org/drawingml/2006/main" id="4" idx="0"/>
          </p:cNvCxnSpPr>
          <p:nvPr/>
        </p:nvCxnSpPr>
        <p:spPr>
          <a:xfrm xmlns:a="http://schemas.openxmlformats.org/drawingml/2006/main">
            <a:off x="2038350" y="2552700"/>
            <a:ext cx="0" cy="70485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Nested plugins and scoped context">
            <a:extLst xmlns:a="http://schemas.openxmlformats.org/drawingml/2006/main">
              <a:ext uri="{FF2B5EF4-FFF2-40B4-BE49-F238E27FC236}">
                <a16:creationId xmlns:a16="http://schemas.microsoft.com/office/drawing/2014/main" id="{95C07509-1E5F-4550-831C-83178B4181F5}"/>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Nested plugins and scoped context</a:t>
            </a:r>
          </a:p>
        </p:txBody>
      </p:sp>
      <p:sp>
        <p:nvSpPr>
          <p:cNvPr id="2" name="06">
            <a:extLst xmlns:a="http://schemas.openxmlformats.org/drawingml/2006/main">
              <a:ext uri="{FF2B5EF4-FFF2-40B4-BE49-F238E27FC236}">
                <a16:creationId xmlns:a16="http://schemas.microsoft.com/office/drawing/2014/main" id="{EDCC0873-4E25-4184-8D59-F0289BABE04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06</a:t>
            </a:r>
          </a:p>
        </p:txBody>
      </p:sp>
      <p:sp>
        <p:nvSpPr>
          <p:cNvPr id="3" name="Parent plugin">
            <a:extLst xmlns:a="http://schemas.openxmlformats.org/drawingml/2006/main">
              <a:ext uri="{FF2B5EF4-FFF2-40B4-BE49-F238E27FC236}">
                <a16:creationId xmlns:a16="http://schemas.microsoft.com/office/drawing/2014/main" id="{E9085792-5379-483C-A35C-FF869CD537A5}"/>
              </a:ext>
            </a:extLst>
          </p:cNvPr>
          <p:cNvSpPr>
            <a:spLocks xmlns:a="http://schemas.openxmlformats.org/drawingml/2006/main" noGrp="1"/>
          </p:cNvSpPr>
          <p:nvPr/>
        </p:nvSpPr>
        <p:spPr>
          <a:xfrm xmlns:a="http://schemas.openxmlformats.org/drawingml/2006/main">
            <a:off x="609600" y="1790700"/>
            <a:ext cx="2857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Parent plugin</a:t>
            </a:r>
          </a:p>
        </p:txBody>
      </p:sp>
      <p:sp>
        <p:nvSpPr>
          <p:cNvPr id="4" name="Parent-owned child">
            <a:extLst xmlns:a="http://schemas.openxmlformats.org/drawingml/2006/main">
              <a:ext uri="{FF2B5EF4-FFF2-40B4-BE49-F238E27FC236}">
                <a16:creationId xmlns:a16="http://schemas.microsoft.com/office/drawing/2014/main" id="{FB0B93C7-C2AC-4515-984B-7500654E80CE}"/>
              </a:ext>
            </a:extLst>
          </p:cNvPr>
          <p:cNvSpPr>
            <a:spLocks xmlns:a="http://schemas.openxmlformats.org/drawingml/2006/main" noGrp="1"/>
          </p:cNvSpPr>
          <p:nvPr/>
        </p:nvSpPr>
        <p:spPr>
          <a:xfrm xmlns:a="http://schemas.openxmlformats.org/drawingml/2006/main">
            <a:off x="609600" y="3257550"/>
            <a:ext cx="28575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Parent-owned child</a:t>
            </a:r>
          </a:p>
        </p:txBody>
      </p:sp>
      <p:sp>
        <p:nvSpPr>
          <p:cNvPr id="5" name="Independent child">
            <a:extLst xmlns:a="http://schemas.openxmlformats.org/drawingml/2006/main">
              <a:ext uri="{FF2B5EF4-FFF2-40B4-BE49-F238E27FC236}">
                <a16:creationId xmlns:a16="http://schemas.microsoft.com/office/drawing/2014/main" id="{F012B393-8453-4B50-89FA-5A71EE482221}"/>
              </a:ext>
            </a:extLst>
          </p:cNvPr>
          <p:cNvSpPr>
            <a:spLocks xmlns:a="http://schemas.openxmlformats.org/drawingml/2006/main" noGrp="1"/>
          </p:cNvSpPr>
          <p:nvPr/>
        </p:nvSpPr>
        <p:spPr>
          <a:xfrm xmlns:a="http://schemas.openxmlformats.org/drawingml/2006/main">
            <a:off x="4343400" y="3257550"/>
            <a:ext cx="3048000" cy="762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Independent child</a:t>
            </a:r>
          </a:p>
        </p:txBody>
      </p:sp>
      <p:sp>
        <p:nvSpPr>
          <p:cNvPr id="8" name="PluginContext">
            <a:extLst xmlns:a="http://schemas.openxmlformats.org/drawingml/2006/main">
              <a:ext uri="{FF2B5EF4-FFF2-40B4-BE49-F238E27FC236}">
                <a16:creationId xmlns:a16="http://schemas.microsoft.com/office/drawing/2014/main" id="{723952B2-A690-413F-B50D-1B4DB40D29E1}"/>
              </a:ext>
            </a:extLst>
          </p:cNvPr>
          <p:cNvSpPr>
            <a:spLocks xmlns:a="http://schemas.openxmlformats.org/drawingml/2006/main" noGrp="1"/>
          </p:cNvSpPr>
          <p:nvPr/>
        </p:nvSpPr>
        <p:spPr>
          <a:xfrm xmlns:a="http://schemas.openxmlformats.org/drawingml/2006/main">
            <a:off x="8153400" y="1790700"/>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PluginContext</a:t>
            </a:r>
          </a:p>
        </p:txBody>
      </p:sp>
      <p:sp>
        <p:nvSpPr>
          <p:cNvPr id="9" name="Identity, logger, config,&#10;lifecycle and scoped clients">
            <a:extLst xmlns:a="http://schemas.openxmlformats.org/drawingml/2006/main">
              <a:ext uri="{FF2B5EF4-FFF2-40B4-BE49-F238E27FC236}">
                <a16:creationId xmlns:a16="http://schemas.microsoft.com/office/drawing/2014/main" id="{1803BC33-499F-4CE6-9BDE-DC70CE284D31}"/>
              </a:ext>
            </a:extLst>
          </p:cNvPr>
          <p:cNvSpPr>
            <a:spLocks xmlns:a="http://schemas.openxmlformats.org/drawingml/2006/main" noGrp="1"/>
          </p:cNvSpPr>
          <p:nvPr/>
        </p:nvSpPr>
        <p:spPr>
          <a:xfrm xmlns:a="http://schemas.openxmlformats.org/drawingml/2006/main">
            <a:off x="8153400" y="2276475"/>
            <a:ext cx="337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Identity, logger, config,</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lifecycle and scoped clients</a:t>
            </a:r>
          </a:p>
        </p:txBody>
      </p:sp>
      <p:sp>
        <p:nvSpPr>
          <p:cNvPr id="10" name="OperationContext">
            <a:extLst xmlns:a="http://schemas.openxmlformats.org/drawingml/2006/main">
              <a:ext uri="{FF2B5EF4-FFF2-40B4-BE49-F238E27FC236}">
                <a16:creationId xmlns:a16="http://schemas.microsoft.com/office/drawing/2014/main" id="{85BE6D57-0B10-4442-A6AE-AB5746AC6CF9}"/>
              </a:ext>
            </a:extLst>
          </p:cNvPr>
          <p:cNvSpPr>
            <a:spLocks xmlns:a="http://schemas.openxmlformats.org/drawingml/2006/main" noGrp="1"/>
          </p:cNvSpPr>
          <p:nvPr/>
        </p:nvSpPr>
        <p:spPr>
          <a:xfrm xmlns:a="http://schemas.openxmlformats.org/drawingml/2006/main">
            <a:off x="8153400" y="3609975"/>
            <a:ext cx="33718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OperationContext</a:t>
            </a:r>
          </a:p>
        </p:txBody>
      </p:sp>
      <p:sp>
        <p:nvSpPr>
          <p:cNvPr id="11" name="Caller, project, grant,&#10;attempt and deadline">
            <a:extLst xmlns:a="http://schemas.openxmlformats.org/drawingml/2006/main">
              <a:ext uri="{FF2B5EF4-FFF2-40B4-BE49-F238E27FC236}">
                <a16:creationId xmlns:a16="http://schemas.microsoft.com/office/drawing/2014/main" id="{A33415AB-CAEC-4C70-915E-2A8C9114B29C}"/>
              </a:ext>
            </a:extLst>
          </p:cNvPr>
          <p:cNvSpPr>
            <a:spLocks xmlns:a="http://schemas.openxmlformats.org/drawingml/2006/main" noGrp="1"/>
          </p:cNvSpPr>
          <p:nvPr/>
        </p:nvSpPr>
        <p:spPr>
          <a:xfrm xmlns:a="http://schemas.openxmlformats.org/drawingml/2006/main">
            <a:off x="8153400" y="4095750"/>
            <a:ext cx="33718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Caller, project, grant,</a:t>
            </a:r>
          </a:p>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attempt and deadline</a:t>
            </a:r>
          </a:p>
        </p:txBody>
      </p:sp>
      <p:sp>
        <p:nvSpPr>
          <p:cNvPr id="12" name="Independent reuse survives parent removal. Concurrent callers never sh">
            <a:extLst xmlns:a="http://schemas.openxmlformats.org/drawingml/2006/main">
              <a:ext uri="{FF2B5EF4-FFF2-40B4-BE49-F238E27FC236}">
                <a16:creationId xmlns:a16="http://schemas.microsoft.com/office/drawing/2014/main" id="{93300E1A-F209-4CDC-AEAD-F45C7A101AD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Independent reuse survives parent removal. Concurrent callers never share a mutable “current user.”</a:t>
            </a:r>
          </a:p>
        </p:txBody>
      </p:sp>
    </p:spTree>
    <p:extLst>
      <p:ext uri="{BB962C8B-B14F-4D97-AF65-F5344CB8AC3E}">
        <p14:creationId xmlns:p14="http://schemas.microsoft.com/office/powerpoint/2010/main" val="913327273"/>
      </p:ext>
    </p:extLst>
  </p:cSld>
</p:sld>
</file>

<file path=ppt/slides/slide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NATS service responsibilities">
            <a:extLst xmlns:a="http://schemas.openxmlformats.org/drawingml/2006/main">
              <a:ext uri="{FF2B5EF4-FFF2-40B4-BE49-F238E27FC236}">
                <a16:creationId xmlns:a16="http://schemas.microsoft.com/office/drawing/2014/main" id="{229EBE4B-D426-41F8-B378-72F57C838D8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NATS service responsibilities</a:t>
            </a:r>
          </a:p>
        </p:txBody>
      </p:sp>
      <p:sp>
        <p:nvSpPr>
          <p:cNvPr id="2" name="07">
            <a:extLst xmlns:a="http://schemas.openxmlformats.org/drawingml/2006/main">
              <a:ext uri="{FF2B5EF4-FFF2-40B4-BE49-F238E27FC236}">
                <a16:creationId xmlns:a16="http://schemas.microsoft.com/office/drawing/2014/main" id="{D11120E7-E0ED-4EB4-8388-53730118E5B1}"/>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938FE0E7-1525-40C0-AC0B-68C51581F189}"/>
              </a:ext>
            </a:extLst>
          </p:cNvPr>
          <p:cNvGraphicFramePr/>
          <p:nvPr/>
        </p:nvGraphicFramePr>
        <p:xfrm>
          <a:off xmlns:a="http://schemas.openxmlformats.org/drawingml/2006/main" x="609600" y="1752600"/>
          <a:ext xmlns:a="http://schemas.openxmlformats.org/drawingml/2006/main" cx="10972800" cy="3829050"/>
        </p:xfrm>
        <a:graphic xmlns:a="http://schemas.openxmlformats.org/drawingml/2006/main">
          <a:graphicData uri="http://schemas.openxmlformats.org/drawingml/2006/table">
            <a:tbl>
              <a:tblPr/>
              <a:tblGrid>
                <a:gridCol w="2667000"/>
                <a:gridCol w="4191000"/>
                <a:gridCol w="4114800"/>
              </a:tblGrid>
              <a:tr h="638175">
                <a:tc>
                  <a:txBody>
                    <a:bodyPr lIns="95250" tIns="95250" rIns="95250" bIns="95250"/>
                    <a:lstStyle/>
                    <a:p>
                      <a:r>
                        <a:rPr sz="1800" b="1">
                          <a:solidFill>
                            <a:srgbClr val="FFFFFF"/>
                          </a:solidFill>
                          <a:latin typeface="Arial"/>
                          <a:ea typeface="Arial"/>
                          <a:cs typeface="Arial"/>
                        </a:rPr>
                        <a:t>Facility</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Planned responsibility</a:t>
                      </a:r>
                    </a:p>
                  </a:txBody>
                  <a:tcPr marL="91440" marR="91440" marT="45720" marB="45720" anchor="ctr">
                    <a:solidFill>
                      <a:srgbClr val="152E42"/>
                    </a:solidFill>
                  </a:tcPr>
                </a:tc>
                <a:tc>
                  <a:txBody>
                    <a:bodyPr lIns="95250" tIns="95250" rIns="95250" bIns="95250"/>
                    <a:lstStyle/>
                    <a:p>
                      <a:r>
                        <a:rPr sz="1800" b="1">
                          <a:solidFill>
                            <a:srgbClr val="FFFFFF"/>
                          </a:solidFill>
                          <a:latin typeface="Arial"/>
                          <a:ea typeface="Arial"/>
                          <a:cs typeface="Arial"/>
                        </a:rPr>
                        <a:t>Required distinction</a:t>
                      </a:r>
                    </a:p>
                  </a:txBody>
                  <a:tcPr marL="91440" marR="91440" marT="45720" marB="45720" anchor="ctr">
                    <a:solidFill>
                      <a:srgbClr val="152E42"/>
                    </a:solidFill>
                  </a:tcPr>
                </a:tc>
              </a:tr>
              <a:tr h="638175">
                <a:tc>
                  <a:txBody>
                    <a:bodyPr lIns="95250" tIns="95250" rIns="95250" bIns="95250"/>
                    <a:lstStyle/>
                    <a:p>
                      <a:r>
                        <a:rPr sz="1800" b="0">
                          <a:solidFill>
                            <a:srgbClr val="203747"/>
                          </a:solidFill>
                          <a:latin typeface="Arial"/>
                          <a:ea typeface="Arial"/>
                          <a:cs typeface="Arial"/>
                        </a:rPr>
                        <a:t>Core request/reply</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Queries and live status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Timeout may mean unknown</a:t>
                      </a:r>
                    </a:p>
                  </a:txBody>
                  <a:tcPr marL="91440" marR="91440" marT="45720" marB="45720" anchor="ctr">
                    <a:solidFill>
                      <a:srgbClr val="F8F7F2"/>
                    </a:solidFill>
                  </a:tcPr>
                </a:tc>
              </a:tr>
              <a:tr h="638175">
                <a:tc>
                  <a:txBody>
                    <a:bodyPr lIns="95250" tIns="95250" rIns="95250" bIns="95250"/>
                    <a:lstStyle/>
                    <a:p>
                      <a:r>
                        <a:rPr sz="1800" b="0">
                          <a:solidFill>
                            <a:srgbClr val="203747"/>
                          </a:solidFill>
                          <a:latin typeface="Arial"/>
                          <a:ea typeface="Arial"/>
                          <a:cs typeface="Arial"/>
                        </a:rPr>
                        <a:t>JetStream</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Durable work, results and replay</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Delivery differs from acceptance</a:t>
                      </a:r>
                    </a:p>
                  </a:txBody>
                  <a:tcPr marL="91440" marR="91440" marT="45720" marB="45720" anchor="ctr">
                    <a:solidFill>
                      <a:srgbClr val="EEF2EF"/>
                    </a:solidFill>
                  </a:tcPr>
                </a:tc>
              </a:tr>
              <a:tr h="638175">
                <a:tc>
                  <a:txBody>
                    <a:bodyPr lIns="95250" tIns="95250" rIns="95250" bIns="95250"/>
                    <a:lstStyle/>
                    <a:p>
                      <a:r>
                        <a:rPr sz="1800" b="0">
                          <a:solidFill>
                            <a:srgbClr val="203747"/>
                          </a:solidFill>
                          <a:latin typeface="Arial"/>
                          <a:ea typeface="Arial"/>
                          <a:cs typeface="Arial"/>
                        </a:rPr>
                        <a:t>KV and Object Store</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Registry, configuration and artifacts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Revisions, digests and access</a:t>
                      </a:r>
                    </a:p>
                  </a:txBody>
                  <a:tcPr marL="91440" marR="91440" marT="45720" marB="45720" anchor="ctr">
                    <a:solidFill>
                      <a:srgbClr val="F8F7F2"/>
                    </a:solidFill>
                  </a:tcPr>
                </a:tc>
              </a:tr>
              <a:tr h="638175">
                <a:tc>
                  <a:txBody>
                    <a:bodyPr lIns="95250" tIns="95250" rIns="95250" bIns="95250"/>
                    <a:lstStyle/>
                    <a:p>
                      <a:r>
                        <a:rPr sz="1800" b="0">
                          <a:solidFill>
                            <a:srgbClr val="203747"/>
                          </a:solidFill>
                          <a:latin typeface="Arial"/>
                          <a:ea typeface="Arial"/>
                          <a:cs typeface="Arial"/>
                        </a:rPr>
                        <a:t>Accounts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Kernel, tenant and partner boundaries</a:t>
                      </a:r>
                    </a:p>
                  </a:txBody>
                  <a:tcPr marL="91440" marR="91440" marT="45720" marB="45720" anchor="ctr">
                    <a:solidFill>
                      <a:srgbClr val="EEF2EF"/>
                    </a:solidFill>
                  </a:tcPr>
                </a:tc>
                <a:tc>
                  <a:txBody>
                    <a:bodyPr lIns="95250" tIns="95250" rIns="95250" bIns="95250"/>
                    <a:lstStyle/>
                    <a:p>
                      <a:r>
                        <a:rPr sz="1800" b="0">
                          <a:solidFill>
                            <a:srgbClr val="203747"/>
                          </a:solidFill>
                          <a:latin typeface="Arial"/>
                          <a:ea typeface="Arial"/>
                          <a:cs typeface="Arial"/>
                        </a:rPr>
                        <a:t>Actual broker enforcement</a:t>
                      </a:r>
                    </a:p>
                  </a:txBody>
                  <a:tcPr marL="91440" marR="91440" marT="45720" marB="45720" anchor="ctr">
                    <a:solidFill>
                      <a:srgbClr val="EEF2EF"/>
                    </a:solidFill>
                  </a:tcPr>
                </a:tc>
              </a:tr>
              <a:tr h="638175">
                <a:tc>
                  <a:txBody>
                    <a:bodyPr lIns="95250" tIns="95250" rIns="95250" bIns="95250"/>
                    <a:lstStyle/>
                    <a:p>
                      <a:r>
                        <a:rPr sz="1800" b="0">
                          <a:solidFill>
                            <a:srgbClr val="203747"/>
                          </a:solidFill>
                          <a:latin typeface="Arial"/>
                          <a:ea typeface="Arial"/>
                          <a:cs typeface="Arial"/>
                        </a:rPr>
                        <a:t>Leaf topology</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Connected sites and execution hosts</a:t>
                      </a:r>
                    </a:p>
                  </a:txBody>
                  <a:tcPr marL="91440" marR="91440" marT="45720" marB="45720" anchor="ctr">
                    <a:solidFill>
                      <a:srgbClr val="F8F7F2"/>
                    </a:solidFill>
                  </a:tcPr>
                </a:tc>
                <a:tc>
                  <a:txBody>
                    <a:bodyPr lIns="95250" tIns="95250" rIns="95250" bIns="95250"/>
                    <a:lstStyle/>
                    <a:p>
                      <a:r>
                        <a:rPr sz="1800" b="0">
                          <a:solidFill>
                            <a:srgbClr val="203747"/>
                          </a:solidFill>
                          <a:latin typeface="Arial"/>
                          <a:ea typeface="Arial"/>
                          <a:cs typeface="Arial"/>
                        </a:rPr>
                        <a:t>Explicit storage and replication</a:t>
                      </a:r>
                    </a:p>
                  </a:txBody>
                  <a:tcPr marL="91440" marR="91440" marT="45720" marB="45720" anchor="ctr">
                    <a:solidFill>
                      <a:srgbClr val="F8F7F2"/>
                    </a:solidFill>
                  </a:tcPr>
                </a:tc>
              </a:tr>
            </a:tbl>
          </a:graphicData>
        </a:graphic>
      </p:graphicFrame>
      <p:sp>
        <p:nvSpPr>
          <p:cNvPr id="4" name="A database may sit inside its owning plugin. Other plugins reach it th">
            <a:extLst xmlns:a="http://schemas.openxmlformats.org/drawingml/2006/main">
              <a:ext uri="{FF2B5EF4-FFF2-40B4-BE49-F238E27FC236}">
                <a16:creationId xmlns:a16="http://schemas.microsoft.com/office/drawing/2014/main" id="{B4F2CE6D-6C29-4A6A-B196-660B52796553}"/>
              </a:ext>
            </a:extLst>
          </p:cNvPr>
          <p:cNvSpPr>
            <a:spLocks xmlns:a="http://schemas.openxmlformats.org/drawingml/2006/main" noGrp="1"/>
          </p:cNvSpPr>
          <p:nvPr/>
        </p:nvSpPr>
        <p:spPr>
          <a:xfrm xmlns:a="http://schemas.openxmlformats.org/drawingml/2006/main">
            <a:off x="609600" y="60293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A database may sit inside its owning plugin. Other plugins reach it through NATS.</a:t>
            </a:r>
          </a:p>
        </p:txBody>
      </p:sp>
    </p:spTree>
    <p:extLst>
      <p:ext uri="{BB962C8B-B14F-4D97-AF65-F5344CB8AC3E}">
        <p14:creationId xmlns:p14="http://schemas.microsoft.com/office/powerpoint/2010/main" val="1491611330"/>
      </p:ext>
    </p:extLst>
  </p:cSld>
</p:sld>
</file>

<file path=ppt/slides/slide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123FFC9C-9A42-426F-8AFC-2C0419DF227A}"/>
              </a:ext>
            </a:extLst>
          </p:cNvPr>
          <p:cNvCxnSpPr>
            <a:stCxn xmlns:a="http://schemas.openxmlformats.org/drawingml/2006/main" id="14" idx="3"/>
            <a:endCxn xmlns:a="http://schemas.openxmlformats.org/drawingml/2006/main" id="15" idx="1"/>
          </p:cNvCxnSpPr>
          <p:nvPr/>
        </p:nvCxnSpPr>
        <p:spPr>
          <a:xfrm xmlns:a="http://schemas.openxmlformats.org/drawingml/2006/main">
            <a:off x="87344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7" name="">
            <a:extLst xmlns:a="http://schemas.openxmlformats.org/drawingml/2006/main">
              <a:ext uri="{FF2B5EF4-FFF2-40B4-BE49-F238E27FC236}">
                <a16:creationId xmlns:a16="http://schemas.microsoft.com/office/drawing/2014/main" id="{A8EB6F42-E1EC-4A3C-9D53-20BFB2AFB0AB}"/>
              </a:ext>
            </a:extLst>
          </p:cNvPr>
          <p:cNvCxnSpPr>
            <a:stCxn xmlns:a="http://schemas.openxmlformats.org/drawingml/2006/main" id="13" idx="3"/>
            <a:endCxn xmlns:a="http://schemas.openxmlformats.org/drawingml/2006/main" id="14" idx="1"/>
          </p:cNvCxnSpPr>
          <p:nvPr/>
        </p:nvCxnSpPr>
        <p:spPr>
          <a:xfrm xmlns:a="http://schemas.openxmlformats.org/drawingml/2006/main">
            <a:off x="58769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6" name="">
            <a:extLst xmlns:a="http://schemas.openxmlformats.org/drawingml/2006/main">
              <a:ext uri="{FF2B5EF4-FFF2-40B4-BE49-F238E27FC236}">
                <a16:creationId xmlns:a16="http://schemas.microsoft.com/office/drawing/2014/main" id="{0A268F63-474D-4F4B-8699-A97FDA57379F}"/>
              </a:ext>
            </a:extLst>
          </p:cNvPr>
          <p:cNvCxnSpPr>
            <a:stCxn xmlns:a="http://schemas.openxmlformats.org/drawingml/2006/main" id="12" idx="3"/>
            <a:endCxn xmlns:a="http://schemas.openxmlformats.org/drawingml/2006/main" id="13" idx="1"/>
          </p:cNvCxnSpPr>
          <p:nvPr/>
        </p:nvCxnSpPr>
        <p:spPr>
          <a:xfrm xmlns:a="http://schemas.openxmlformats.org/drawingml/2006/main">
            <a:off x="3019425" y="4891088"/>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A66D1C6F-4565-4B01-A19D-0EE3A9AE2E21}"/>
              </a:ext>
            </a:extLst>
          </p:cNvPr>
          <p:cNvCxnSpPr>
            <a:stCxn xmlns:a="http://schemas.openxmlformats.org/drawingml/2006/main" id="6" idx="3"/>
            <a:endCxn xmlns:a="http://schemas.openxmlformats.org/drawingml/2006/main" id="7" idx="1"/>
          </p:cNvCxnSpPr>
          <p:nvPr/>
        </p:nvCxnSpPr>
        <p:spPr>
          <a:xfrm xmlns:a="http://schemas.openxmlformats.org/drawingml/2006/main">
            <a:off x="87344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EF7657AC-4F9A-4948-8B3E-474FF8D4E673}"/>
              </a:ext>
            </a:extLst>
          </p:cNvPr>
          <p:cNvCxnSpPr>
            <a:stCxn xmlns:a="http://schemas.openxmlformats.org/drawingml/2006/main" id="5" idx="3"/>
            <a:endCxn xmlns:a="http://schemas.openxmlformats.org/drawingml/2006/main" id="6" idx="1"/>
          </p:cNvCxnSpPr>
          <p:nvPr/>
        </p:nvCxnSpPr>
        <p:spPr>
          <a:xfrm xmlns:a="http://schemas.openxmlformats.org/drawingml/2006/main">
            <a:off x="58769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56914BDE-F98D-4716-AA40-9BE8926C0A07}"/>
              </a:ext>
            </a:extLst>
          </p:cNvPr>
          <p:cNvCxnSpPr>
            <a:stCxn xmlns:a="http://schemas.openxmlformats.org/drawingml/2006/main" id="4" idx="3"/>
            <a:endCxn xmlns:a="http://schemas.openxmlformats.org/drawingml/2006/main" id="5" idx="1"/>
          </p:cNvCxnSpPr>
          <p:nvPr/>
        </p:nvCxnSpPr>
        <p:spPr>
          <a:xfrm xmlns:a="http://schemas.openxmlformats.org/drawingml/2006/main">
            <a:off x="3019425" y="2843213"/>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20" name="Developer workflow before and after">
            <a:extLst xmlns:a="http://schemas.openxmlformats.org/drawingml/2006/main">
              <a:ext uri="{FF2B5EF4-FFF2-40B4-BE49-F238E27FC236}">
                <a16:creationId xmlns:a16="http://schemas.microsoft.com/office/drawing/2014/main" id="{5F304334-3E19-4921-848A-5A8B0F18A71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Developer workflow before and after</a:t>
            </a:r>
          </a:p>
        </p:txBody>
      </p:sp>
      <p:sp>
        <p:nvSpPr>
          <p:cNvPr id="2" name="08">
            <a:extLst xmlns:a="http://schemas.openxmlformats.org/drawingml/2006/main">
              <a:ext uri="{FF2B5EF4-FFF2-40B4-BE49-F238E27FC236}">
                <a16:creationId xmlns:a16="http://schemas.microsoft.com/office/drawing/2014/main" id="{3E0A7FE9-C2A5-4836-83E3-E366004F71C2}"/>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08</a:t>
            </a:r>
          </a:p>
        </p:txBody>
      </p:sp>
      <p:sp>
        <p:nvSpPr>
          <p:cNvPr id="3" name="Today">
            <a:extLst xmlns:a="http://schemas.openxmlformats.org/drawingml/2006/main">
              <a:ext uri="{FF2B5EF4-FFF2-40B4-BE49-F238E27FC236}">
                <a16:creationId xmlns:a16="http://schemas.microsoft.com/office/drawing/2014/main" id="{BBBED266-53CB-4FDA-8AF0-3B3774356F42}"/>
              </a:ext>
            </a:extLst>
          </p:cNvPr>
          <p:cNvSpPr>
            <a:spLocks xmlns:a="http://schemas.openxmlformats.org/drawingml/2006/main" noGrp="1"/>
          </p:cNvSpPr>
          <p:nvPr/>
        </p:nvSpPr>
        <p:spPr>
          <a:xfrm xmlns:a="http://schemas.openxmlformats.org/drawingml/2006/main">
            <a:off x="609600" y="1762125"/>
            <a:ext cx="1047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Today</a:t>
            </a:r>
          </a:p>
        </p:txBody>
      </p:sp>
      <p:sp>
        <p:nvSpPr>
          <p:cNvPr id="4" name="Launch a pane">
            <a:extLst xmlns:a="http://schemas.openxmlformats.org/drawingml/2006/main">
              <a:ext uri="{FF2B5EF4-FFF2-40B4-BE49-F238E27FC236}">
                <a16:creationId xmlns:a16="http://schemas.microsoft.com/office/drawing/2014/main" id="{83ABBBC4-2829-4424-9634-92F0FFCA1811}"/>
              </a:ext>
            </a:extLst>
          </p:cNvPr>
          <p:cNvSpPr>
            <a:spLocks xmlns:a="http://schemas.openxmlformats.org/drawingml/2006/main" noGrp="1"/>
          </p:cNvSpPr>
          <p:nvPr/>
        </p:nvSpPr>
        <p:spPr>
          <a:xfrm xmlns:a="http://schemas.openxmlformats.org/drawingml/2006/main">
            <a:off x="6096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Launch a pane</a:t>
            </a:r>
          </a:p>
        </p:txBody>
      </p:sp>
      <p:sp>
        <p:nvSpPr>
          <p:cNvPr id="5" name="Send prompts&#10;and inspect output">
            <a:extLst xmlns:a="http://schemas.openxmlformats.org/drawingml/2006/main">
              <a:ext uri="{FF2B5EF4-FFF2-40B4-BE49-F238E27FC236}">
                <a16:creationId xmlns:a16="http://schemas.microsoft.com/office/drawing/2014/main" id="{404740DF-3E31-48D8-9D00-619AADDB21B8}"/>
              </a:ext>
            </a:extLst>
          </p:cNvPr>
          <p:cNvSpPr>
            <a:spLocks xmlns:a="http://schemas.openxmlformats.org/drawingml/2006/main" noGrp="1"/>
          </p:cNvSpPr>
          <p:nvPr/>
        </p:nvSpPr>
        <p:spPr>
          <a:xfrm xmlns:a="http://schemas.openxmlformats.org/drawingml/2006/main">
            <a:off x="34671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Send prompts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inspect output</a:t>
            </a:r>
          </a:p>
        </p:txBody>
      </p:sp>
      <p:sp>
        <p:nvSpPr>
          <p:cNvPr id="6" name="Update several&#10;work records">
            <a:extLst xmlns:a="http://schemas.openxmlformats.org/drawingml/2006/main">
              <a:ext uri="{FF2B5EF4-FFF2-40B4-BE49-F238E27FC236}">
                <a16:creationId xmlns:a16="http://schemas.microsoft.com/office/drawing/2014/main" id="{B19EC7E2-CC05-4419-8B38-6C3FFBB49391}"/>
              </a:ext>
            </a:extLst>
          </p:cNvPr>
          <p:cNvSpPr>
            <a:spLocks xmlns:a="http://schemas.openxmlformats.org/drawingml/2006/main" noGrp="1"/>
          </p:cNvSpPr>
          <p:nvPr/>
        </p:nvSpPr>
        <p:spPr>
          <a:xfrm xmlns:a="http://schemas.openxmlformats.org/drawingml/2006/main">
            <a:off x="6324600" y="2419350"/>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Update several</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work records</a:t>
            </a:r>
          </a:p>
        </p:txBody>
      </p:sp>
      <p:sp>
        <p:nvSpPr>
          <p:cNvPr id="7" name="Review files&#10;and approvals">
            <a:extLst xmlns:a="http://schemas.openxmlformats.org/drawingml/2006/main">
              <a:ext uri="{FF2B5EF4-FFF2-40B4-BE49-F238E27FC236}">
                <a16:creationId xmlns:a16="http://schemas.microsoft.com/office/drawing/2014/main" id="{0CC2DF57-F751-43FF-8591-F6C318736417}"/>
              </a:ext>
            </a:extLst>
          </p:cNvPr>
          <p:cNvSpPr>
            <a:spLocks xmlns:a="http://schemas.openxmlformats.org/drawingml/2006/main" noGrp="1"/>
          </p:cNvSpPr>
          <p:nvPr/>
        </p:nvSpPr>
        <p:spPr>
          <a:xfrm xmlns:a="http://schemas.openxmlformats.org/drawingml/2006/main">
            <a:off x="9182100" y="2419350"/>
            <a:ext cx="2400300"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Review files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approvals</a:t>
            </a:r>
          </a:p>
        </p:txBody>
      </p:sp>
      <p:sp>
        <p:nvSpPr>
          <p:cNvPr id="11" name="Proposed">
            <a:extLst xmlns:a="http://schemas.openxmlformats.org/drawingml/2006/main">
              <a:ext uri="{FF2B5EF4-FFF2-40B4-BE49-F238E27FC236}">
                <a16:creationId xmlns:a16="http://schemas.microsoft.com/office/drawing/2014/main" id="{E50E52F9-E00C-479A-BF9D-7C8C0489850C}"/>
              </a:ext>
            </a:extLst>
          </p:cNvPr>
          <p:cNvSpPr>
            <a:spLocks xmlns:a="http://schemas.openxmlformats.org/drawingml/2006/main" noGrp="1"/>
          </p:cNvSpPr>
          <p:nvPr/>
        </p:nvSpPr>
        <p:spPr>
          <a:xfrm xmlns:a="http://schemas.openxmlformats.org/drawingml/2006/main">
            <a:off x="609600" y="3790950"/>
            <a:ext cx="219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Proposed</a:t>
            </a:r>
          </a:p>
        </p:txBody>
      </p:sp>
      <p:sp>
        <p:nvSpPr>
          <p:cNvPr id="12" name="Request work&#10;in a client">
            <a:extLst xmlns:a="http://schemas.openxmlformats.org/drawingml/2006/main">
              <a:ext uri="{FF2B5EF4-FFF2-40B4-BE49-F238E27FC236}">
                <a16:creationId xmlns:a16="http://schemas.microsoft.com/office/drawing/2014/main" id="{0BBDBF08-0AA6-4769-8118-C930A9515EB8}"/>
              </a:ext>
            </a:extLst>
          </p:cNvPr>
          <p:cNvSpPr>
            <a:spLocks xmlns:a="http://schemas.openxmlformats.org/drawingml/2006/main" noGrp="1"/>
          </p:cNvSpPr>
          <p:nvPr/>
        </p:nvSpPr>
        <p:spPr>
          <a:xfrm xmlns:a="http://schemas.openxmlformats.org/drawingml/2006/main">
            <a:off x="6096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Request work</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 a client</a:t>
            </a:r>
          </a:p>
        </p:txBody>
      </p:sp>
      <p:sp>
        <p:nvSpPr>
          <p:cNvPr id="13" name="Track plan&#10;and scoped attempts">
            <a:extLst xmlns:a="http://schemas.openxmlformats.org/drawingml/2006/main">
              <a:ext uri="{FF2B5EF4-FFF2-40B4-BE49-F238E27FC236}">
                <a16:creationId xmlns:a16="http://schemas.microsoft.com/office/drawing/2014/main" id="{6E4A8354-FB9A-4718-AC63-D91245DF6CC0}"/>
              </a:ext>
            </a:extLst>
          </p:cNvPr>
          <p:cNvSpPr>
            <a:spLocks xmlns:a="http://schemas.openxmlformats.org/drawingml/2006/main" noGrp="1"/>
          </p:cNvSpPr>
          <p:nvPr/>
        </p:nvSpPr>
        <p:spPr>
          <a:xfrm xmlns:a="http://schemas.openxmlformats.org/drawingml/2006/main">
            <a:off x="34671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Track plan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scoped attempts</a:t>
            </a:r>
          </a:p>
        </p:txBody>
      </p:sp>
      <p:sp>
        <p:nvSpPr>
          <p:cNvPr id="14" name="Inspect evidence&#10;and conversations">
            <a:extLst xmlns:a="http://schemas.openxmlformats.org/drawingml/2006/main">
              <a:ext uri="{FF2B5EF4-FFF2-40B4-BE49-F238E27FC236}">
                <a16:creationId xmlns:a16="http://schemas.microsoft.com/office/drawing/2014/main" id="{8F05448E-7673-45B3-B09B-29067013630D}"/>
              </a:ext>
            </a:extLst>
          </p:cNvPr>
          <p:cNvSpPr>
            <a:spLocks xmlns:a="http://schemas.openxmlformats.org/drawingml/2006/main" noGrp="1"/>
          </p:cNvSpPr>
          <p:nvPr/>
        </p:nvSpPr>
        <p:spPr>
          <a:xfrm xmlns:a="http://schemas.openxmlformats.org/drawingml/2006/main">
            <a:off x="6324600" y="4467225"/>
            <a:ext cx="2409825"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Inspect evidence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conversations</a:t>
            </a:r>
          </a:p>
        </p:txBody>
      </p:sp>
      <p:sp>
        <p:nvSpPr>
          <p:cNvPr id="15" name="Accept result&#10;at the origin">
            <a:extLst xmlns:a="http://schemas.openxmlformats.org/drawingml/2006/main">
              <a:ext uri="{FF2B5EF4-FFF2-40B4-BE49-F238E27FC236}">
                <a16:creationId xmlns:a16="http://schemas.microsoft.com/office/drawing/2014/main" id="{C77752EB-7BAD-4918-82B3-86BEC9072E06}"/>
              </a:ext>
            </a:extLst>
          </p:cNvPr>
          <p:cNvSpPr>
            <a:spLocks xmlns:a="http://schemas.openxmlformats.org/drawingml/2006/main" noGrp="1"/>
          </p:cNvSpPr>
          <p:nvPr/>
        </p:nvSpPr>
        <p:spPr>
          <a:xfrm xmlns:a="http://schemas.openxmlformats.org/drawingml/2006/main">
            <a:off x="9182100" y="4467225"/>
            <a:ext cx="2400300" cy="84772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 result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at the origin</a:t>
            </a:r>
          </a:p>
        </p:txBody>
      </p:sp>
      <p:sp>
        <p:nvSpPr>
          <p:cNvPr id="19" name="Client and dashboard connections may close while durable work continue">
            <a:extLst xmlns:a="http://schemas.openxmlformats.org/drawingml/2006/main">
              <a:ext uri="{FF2B5EF4-FFF2-40B4-BE49-F238E27FC236}">
                <a16:creationId xmlns:a16="http://schemas.microsoft.com/office/drawing/2014/main" id="{0760DCDF-7A95-4794-B9A4-8102C7C56B0A}"/>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Client and dashboard connections may close while durable work continues.</a:t>
            </a:r>
          </a:p>
        </p:txBody>
      </p:sp>
    </p:spTree>
    <p:extLst>
      <p:ext uri="{BB962C8B-B14F-4D97-AF65-F5344CB8AC3E}">
        <p14:creationId xmlns:p14="http://schemas.microsoft.com/office/powerpoint/2010/main" val="1032564389"/>
      </p:ext>
    </p:extLst>
  </p:cSld>
</p:sld>
</file>

<file path=ppt/slides/slide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2" name="">
            <a:extLst xmlns:a="http://schemas.openxmlformats.org/drawingml/2006/main">
              <a:ext uri="{FF2B5EF4-FFF2-40B4-BE49-F238E27FC236}">
                <a16:creationId xmlns:a16="http://schemas.microsoft.com/office/drawing/2014/main" id="{10AF9FF8-DD04-4FBB-A630-803CF47A924F}"/>
              </a:ext>
            </a:extLst>
          </p:cNvPr>
          <p:cNvCxnSpPr>
            <a:stCxn xmlns:a="http://schemas.openxmlformats.org/drawingml/2006/main" id="6" idx="3"/>
            <a:endCxn xmlns:a="http://schemas.openxmlformats.org/drawingml/2006/main" id="8" idx="1"/>
          </p:cNvCxnSpPr>
          <p:nvPr/>
        </p:nvCxnSpPr>
        <p:spPr>
          <a:xfrm xmlns:a="http://schemas.openxmlformats.org/drawingml/2006/main">
            <a:off x="7000875" y="4548188"/>
            <a:ext cx="1504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B4AFB090-A93C-414C-A917-CED631F5B3E2}"/>
              </a:ext>
            </a:extLst>
          </p:cNvPr>
          <p:cNvCxnSpPr>
            <a:stCxn xmlns:a="http://schemas.openxmlformats.org/drawingml/2006/main" id="4" idx="3"/>
            <a:endCxn xmlns:a="http://schemas.openxmlformats.org/drawingml/2006/main" id="6" idx="1"/>
          </p:cNvCxnSpPr>
          <p:nvPr/>
        </p:nvCxnSpPr>
        <p:spPr>
          <a:xfrm xmlns:a="http://schemas.openxmlformats.org/drawingml/2006/main">
            <a:off x="3086100" y="4548188"/>
            <a:ext cx="10572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4FE17F74-5D94-453D-B612-1215171CA26B}"/>
              </a:ext>
            </a:extLst>
          </p:cNvPr>
          <p:cNvCxnSpPr>
            <a:stCxn xmlns:a="http://schemas.openxmlformats.org/drawingml/2006/main" id="5" idx="3"/>
            <a:endCxn xmlns:a="http://schemas.openxmlformats.org/drawingml/2006/main" id="7" idx="1"/>
          </p:cNvCxnSpPr>
          <p:nvPr/>
        </p:nvCxnSpPr>
        <p:spPr>
          <a:xfrm xmlns:a="http://schemas.openxmlformats.org/drawingml/2006/main">
            <a:off x="7000875" y="2271713"/>
            <a:ext cx="1504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9" name="">
            <a:extLst xmlns:a="http://schemas.openxmlformats.org/drawingml/2006/main">
              <a:ext uri="{FF2B5EF4-FFF2-40B4-BE49-F238E27FC236}">
                <a16:creationId xmlns:a16="http://schemas.microsoft.com/office/drawing/2014/main" id="{811ADCC9-8110-452B-960A-8114147CAC93}"/>
              </a:ext>
            </a:extLst>
          </p:cNvPr>
          <p:cNvCxnSpPr>
            <a:stCxn xmlns:a="http://schemas.openxmlformats.org/drawingml/2006/main" id="3" idx="3"/>
            <a:endCxn xmlns:a="http://schemas.openxmlformats.org/drawingml/2006/main" id="5" idx="1"/>
          </p:cNvCxnSpPr>
          <p:nvPr/>
        </p:nvCxnSpPr>
        <p:spPr>
          <a:xfrm xmlns:a="http://schemas.openxmlformats.org/drawingml/2006/main">
            <a:off x="3086100" y="2271713"/>
            <a:ext cx="10572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Concurrent users and workspaces">
            <a:extLst xmlns:a="http://schemas.openxmlformats.org/drawingml/2006/main">
              <a:ext uri="{FF2B5EF4-FFF2-40B4-BE49-F238E27FC236}">
                <a16:creationId xmlns:a16="http://schemas.microsoft.com/office/drawing/2014/main" id="{64B28199-7632-4CF8-9006-4258632864C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Concurrent users and workspaces</a:t>
            </a:r>
          </a:p>
        </p:txBody>
      </p:sp>
      <p:sp>
        <p:nvSpPr>
          <p:cNvPr id="2" name="09">
            <a:extLst xmlns:a="http://schemas.openxmlformats.org/drawingml/2006/main">
              <a:ext uri="{FF2B5EF4-FFF2-40B4-BE49-F238E27FC236}">
                <a16:creationId xmlns:a16="http://schemas.microsoft.com/office/drawing/2014/main" id="{76832B50-A6C0-4187-A05C-7CEC1D4F477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09</a:t>
            </a:r>
          </a:p>
        </p:txBody>
      </p:sp>
      <p:sp>
        <p:nvSpPr>
          <p:cNvPr id="3" name="Developer A">
            <a:extLst xmlns:a="http://schemas.openxmlformats.org/drawingml/2006/main">
              <a:ext uri="{FF2B5EF4-FFF2-40B4-BE49-F238E27FC236}">
                <a16:creationId xmlns:a16="http://schemas.microsoft.com/office/drawing/2014/main" id="{A015B654-F0BE-4E78-A0B8-ADBA3E0351F8}"/>
              </a:ext>
            </a:extLst>
          </p:cNvPr>
          <p:cNvSpPr>
            <a:spLocks xmlns:a="http://schemas.openxmlformats.org/drawingml/2006/main" noGrp="1"/>
          </p:cNvSpPr>
          <p:nvPr/>
        </p:nvSpPr>
        <p:spPr>
          <a:xfrm xmlns:a="http://schemas.openxmlformats.org/drawingml/2006/main">
            <a:off x="609600" y="1781175"/>
            <a:ext cx="2476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Developer A</a:t>
            </a:r>
          </a:p>
        </p:txBody>
      </p:sp>
      <p:sp>
        <p:nvSpPr>
          <p:cNvPr id="4" name="Developer B">
            <a:extLst xmlns:a="http://schemas.openxmlformats.org/drawingml/2006/main">
              <a:ext uri="{FF2B5EF4-FFF2-40B4-BE49-F238E27FC236}">
                <a16:creationId xmlns:a16="http://schemas.microsoft.com/office/drawing/2014/main" id="{A3057A50-B2F2-41A9-B6B2-88D4E7F00EC1}"/>
              </a:ext>
            </a:extLst>
          </p:cNvPr>
          <p:cNvSpPr>
            <a:spLocks xmlns:a="http://schemas.openxmlformats.org/drawingml/2006/main" noGrp="1"/>
          </p:cNvSpPr>
          <p:nvPr/>
        </p:nvSpPr>
        <p:spPr>
          <a:xfrm xmlns:a="http://schemas.openxmlformats.org/drawingml/2006/main">
            <a:off x="609600" y="4057650"/>
            <a:ext cx="2476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Developer B</a:t>
            </a:r>
          </a:p>
        </p:txBody>
      </p:sp>
      <p:sp>
        <p:nvSpPr>
          <p:cNvPr id="5" name="Project A scope">
            <a:extLst xmlns:a="http://schemas.openxmlformats.org/drawingml/2006/main">
              <a:ext uri="{FF2B5EF4-FFF2-40B4-BE49-F238E27FC236}">
                <a16:creationId xmlns:a16="http://schemas.microsoft.com/office/drawing/2014/main" id="{684EF88B-58DF-44B7-B257-00B639D1662F}"/>
              </a:ext>
            </a:extLst>
          </p:cNvPr>
          <p:cNvSpPr>
            <a:spLocks xmlns:a="http://schemas.openxmlformats.org/drawingml/2006/main" noGrp="1"/>
          </p:cNvSpPr>
          <p:nvPr/>
        </p:nvSpPr>
        <p:spPr>
          <a:xfrm xmlns:a="http://schemas.openxmlformats.org/drawingml/2006/main">
            <a:off x="4143375" y="1781175"/>
            <a:ext cx="2857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Project A scope</a:t>
            </a:r>
          </a:p>
        </p:txBody>
      </p:sp>
      <p:sp>
        <p:nvSpPr>
          <p:cNvPr id="6" name="Project B scope">
            <a:extLst xmlns:a="http://schemas.openxmlformats.org/drawingml/2006/main">
              <a:ext uri="{FF2B5EF4-FFF2-40B4-BE49-F238E27FC236}">
                <a16:creationId xmlns:a16="http://schemas.microsoft.com/office/drawing/2014/main" id="{028C31D4-D23B-4BD7-A507-03D79061AA9D}"/>
              </a:ext>
            </a:extLst>
          </p:cNvPr>
          <p:cNvSpPr>
            <a:spLocks xmlns:a="http://schemas.openxmlformats.org/drawingml/2006/main" noGrp="1"/>
          </p:cNvSpPr>
          <p:nvPr/>
        </p:nvSpPr>
        <p:spPr>
          <a:xfrm xmlns:a="http://schemas.openxmlformats.org/drawingml/2006/main">
            <a:off x="4143375" y="4057650"/>
            <a:ext cx="28575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Project B scope</a:t>
            </a:r>
          </a:p>
        </p:txBody>
      </p:sp>
      <p:sp>
        <p:nvSpPr>
          <p:cNvPr id="7" name="Owned attempts&#10;and worktrees">
            <a:extLst xmlns:a="http://schemas.openxmlformats.org/drawingml/2006/main">
              <a:ext uri="{FF2B5EF4-FFF2-40B4-BE49-F238E27FC236}">
                <a16:creationId xmlns:a16="http://schemas.microsoft.com/office/drawing/2014/main" id="{CDACFB59-A23F-40AD-A450-A620C45160D6}"/>
              </a:ext>
            </a:extLst>
          </p:cNvPr>
          <p:cNvSpPr>
            <a:spLocks xmlns:a="http://schemas.openxmlformats.org/drawingml/2006/main" noGrp="1"/>
          </p:cNvSpPr>
          <p:nvPr/>
        </p:nvSpPr>
        <p:spPr>
          <a:xfrm xmlns:a="http://schemas.openxmlformats.org/drawingml/2006/main">
            <a:off x="8505825" y="1781175"/>
            <a:ext cx="3076575"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Owned attempts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8" name="Owned attempts&#10;and worktrees">
            <a:extLst xmlns:a="http://schemas.openxmlformats.org/drawingml/2006/main">
              <a:ext uri="{FF2B5EF4-FFF2-40B4-BE49-F238E27FC236}">
                <a16:creationId xmlns:a16="http://schemas.microsoft.com/office/drawing/2014/main" id="{AD1CB92A-4DA8-48F7-8C0B-4F93E954A965}"/>
              </a:ext>
            </a:extLst>
          </p:cNvPr>
          <p:cNvSpPr>
            <a:spLocks xmlns:a="http://schemas.openxmlformats.org/drawingml/2006/main" noGrp="1"/>
          </p:cNvSpPr>
          <p:nvPr/>
        </p:nvSpPr>
        <p:spPr>
          <a:xfrm xmlns:a="http://schemas.openxmlformats.org/drawingml/2006/main">
            <a:off x="8505825" y="4057650"/>
            <a:ext cx="3076575"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Owned attempts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worktrees</a:t>
            </a:r>
          </a:p>
        </p:txBody>
      </p:sp>
      <p:sp>
        <p:nvSpPr>
          <p:cNvPr id="13" name="Validated caller and grant on every operation">
            <a:extLst xmlns:a="http://schemas.openxmlformats.org/drawingml/2006/main">
              <a:ext uri="{FF2B5EF4-FFF2-40B4-BE49-F238E27FC236}">
                <a16:creationId xmlns:a16="http://schemas.microsoft.com/office/drawing/2014/main" id="{692E080C-EF1D-44DF-88E2-FA7B61E8F11B}"/>
              </a:ext>
            </a:extLst>
          </p:cNvPr>
          <p:cNvSpPr>
            <a:spLocks xmlns:a="http://schemas.openxmlformats.org/drawingml/2006/main" noGrp="1"/>
          </p:cNvSpPr>
          <p:nvPr/>
        </p:nvSpPr>
        <p:spPr>
          <a:xfrm xmlns:a="http://schemas.openxmlformats.org/drawingml/2006/main">
            <a:off x="3629025" y="3200400"/>
            <a:ext cx="790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Validated caller and grant on every operation</a:t>
            </a:r>
          </a:p>
        </p:txBody>
      </p:sp>
      <p:sp>
        <p:nvSpPr>
          <p:cNvPr id="14" name="P04 also qualifies worker OS/container/host separation for mutually un">
            <a:extLst xmlns:a="http://schemas.openxmlformats.org/drawingml/2006/main">
              <a:ext uri="{FF2B5EF4-FFF2-40B4-BE49-F238E27FC236}">
                <a16:creationId xmlns:a16="http://schemas.microsoft.com/office/drawing/2014/main" id="{4D547D3F-474F-44EC-B0DF-6D256945B48F}"/>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P04 also qualifies worker OS/container/host separation for mutually untrusted task code.</a:t>
            </a:r>
          </a:p>
        </p:txBody>
      </p:sp>
    </p:spTree>
    <p:extLst>
      <p:ext uri="{BB962C8B-B14F-4D97-AF65-F5344CB8AC3E}">
        <p14:creationId xmlns:p14="http://schemas.microsoft.com/office/powerpoint/2010/main" val="235135702"/>
      </p:ext>
    </p:extLst>
  </p:cSld>
</p:sld>
</file>

<file path=ppt/slides/slide1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E19ACFE6-7E21-4D01-A86E-8B2EEFF0441E}"/>
              </a:ext>
            </a:extLst>
          </p:cNvPr>
          <p:cNvCxnSpPr>
            <a:stCxn xmlns:a="http://schemas.openxmlformats.org/drawingml/2006/main" id="4" idx="2"/>
            <a:endCxn xmlns:a="http://schemas.openxmlformats.org/drawingml/2006/main" id="7" idx="0"/>
          </p:cNvCxnSpPr>
          <p:nvPr/>
        </p:nvCxnSpPr>
        <p:spPr>
          <a:xfrm xmlns:a="http://schemas.openxmlformats.org/drawingml/2006/main">
            <a:off x="9586913" y="3457575"/>
            <a:ext cx="0" cy="981075"/>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5" name="">
            <a:extLst xmlns:a="http://schemas.openxmlformats.org/drawingml/2006/main">
              <a:ext uri="{FF2B5EF4-FFF2-40B4-BE49-F238E27FC236}">
                <a16:creationId xmlns:a16="http://schemas.microsoft.com/office/drawing/2014/main" id="{427F6431-D9E2-4525-BA18-13C07E84995F}"/>
              </a:ext>
            </a:extLst>
          </p:cNvPr>
          <p:cNvCxnSpPr>
            <a:stCxn xmlns:a="http://schemas.openxmlformats.org/drawingml/2006/main" id="3" idx="3"/>
            <a:endCxn xmlns:a="http://schemas.openxmlformats.org/drawingml/2006/main" id="4" idx="1"/>
          </p:cNvCxnSpPr>
          <p:nvPr/>
        </p:nvCxnSpPr>
        <p:spPr>
          <a:xfrm xmlns:a="http://schemas.openxmlformats.org/drawingml/2006/main">
            <a:off x="4600575" y="2657475"/>
            <a:ext cx="29908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11" name="Federated ownership">
            <a:extLst xmlns:a="http://schemas.openxmlformats.org/drawingml/2006/main">
              <a:ext uri="{FF2B5EF4-FFF2-40B4-BE49-F238E27FC236}">
                <a16:creationId xmlns:a16="http://schemas.microsoft.com/office/drawing/2014/main" id="{A919A1A1-399D-4710-975C-CAC4EEF1C42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Federated ownership</a:t>
            </a:r>
          </a:p>
        </p:txBody>
      </p:sp>
      <p:sp>
        <p:nvSpPr>
          <p:cNvPr id="2" name="10">
            <a:extLst xmlns:a="http://schemas.openxmlformats.org/drawingml/2006/main">
              <a:ext uri="{FF2B5EF4-FFF2-40B4-BE49-F238E27FC236}">
                <a16:creationId xmlns:a16="http://schemas.microsoft.com/office/drawing/2014/main" id="{CDA116A7-8533-456A-9A9D-6CB8EB87F9AD}"/>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10</a:t>
            </a:r>
          </a:p>
        </p:txBody>
      </p:sp>
      <p:sp>
        <p:nvSpPr>
          <p:cNvPr id="3" name="Origin hub&#10;&#10;Task and acceptance owner">
            <a:extLst xmlns:a="http://schemas.openxmlformats.org/drawingml/2006/main">
              <a:ext uri="{FF2B5EF4-FFF2-40B4-BE49-F238E27FC236}">
                <a16:creationId xmlns:a16="http://schemas.microsoft.com/office/drawing/2014/main" id="{26AEBC9E-DC27-4625-AE29-1768666779E0}"/>
              </a:ext>
            </a:extLst>
          </p:cNvPr>
          <p:cNvSpPr>
            <a:spLocks xmlns:a="http://schemas.openxmlformats.org/drawingml/2006/main" noGrp="1"/>
          </p:cNvSpPr>
          <p:nvPr/>
        </p:nvSpPr>
        <p:spPr>
          <a:xfrm xmlns:a="http://schemas.openxmlformats.org/drawingml/2006/main">
            <a:off x="609600" y="1857375"/>
            <a:ext cx="3990975" cy="1600200"/>
          </a:xfrm>
          <a:prstGeom xmlns:a="http://schemas.openxmlformats.org/drawingml/2006/main" prst="rect">
            <a:avLst/>
          </a:prstGeom>
          <a:solidFill xmlns:a="http://schemas.openxmlformats.org/drawingml/2006/main">
            <a:srgbClr val="152E42"/>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75" b="0">
                <a:solidFill>
                  <a:srgbClr val="FFFFFF"/>
                </a:solidFill>
                <a:latin typeface="Arial"/>
                <a:ea typeface="Arial"/>
                <a:cs typeface="Arial"/>
              </a:defRPr>
            </a:defPPr>
          </a:lstStyle>
          <a:p xmlns:a="http://schemas.openxmlformats.org/drawingml/2006/main">
            <a:pPr algn="ctr">
              <a:buNone/>
              <a:defRPr sz="2175" b="0">
                <a:solidFill>
                  <a:srgbClr val="FFFFFF"/>
                </a:solidFill>
                <a:latin typeface="Arial"/>
                <a:ea typeface="Arial"/>
                <a:cs typeface="Arial"/>
              </a:defRPr>
            </a:pPr>
            <a:r>
              <a:rPr sz="2175" b="0">
                <a:solidFill>
                  <a:srgbClr val="FFFFFF"/>
                </a:solidFill>
                <a:latin typeface="Arial"/>
                <a:ea typeface="Arial"/>
                <a:cs typeface="Arial"/>
              </a:rPr>
              <a:t>Origin hub</a:t>
            </a:r>
          </a:p>
          <a:p xmlns:a="http://schemas.openxmlformats.org/drawingml/2006/main">
            <a:r>
              <a:t/>
            </a:r>
          </a:p>
          <a:p xmlns:a="http://schemas.openxmlformats.org/drawingml/2006/main">
            <a:pPr algn="ctr">
              <a:buNone/>
              <a:defRPr sz="2175" b="0">
                <a:solidFill>
                  <a:srgbClr val="FFFFFF"/>
                </a:solidFill>
                <a:latin typeface="Arial"/>
                <a:ea typeface="Arial"/>
                <a:cs typeface="Arial"/>
              </a:defRPr>
            </a:pPr>
            <a:r>
              <a:rPr sz="2175" b="0">
                <a:solidFill>
                  <a:srgbClr val="FFFFFF"/>
                </a:solidFill>
                <a:latin typeface="Arial"/>
                <a:ea typeface="Arial"/>
                <a:cs typeface="Arial"/>
              </a:rPr>
              <a:t>Task and acceptance owner</a:t>
            </a:r>
          </a:p>
        </p:txBody>
      </p:sp>
      <p:sp>
        <p:nvSpPr>
          <p:cNvPr id="4" name="Receiving hub&#10;&#10;Delegated execution owner">
            <a:extLst xmlns:a="http://schemas.openxmlformats.org/drawingml/2006/main">
              <a:ext uri="{FF2B5EF4-FFF2-40B4-BE49-F238E27FC236}">
                <a16:creationId xmlns:a16="http://schemas.microsoft.com/office/drawing/2014/main" id="{E3DFA2BB-DCB9-45E1-8AB7-3F71E7AFE802}"/>
              </a:ext>
            </a:extLst>
          </p:cNvPr>
          <p:cNvSpPr>
            <a:spLocks xmlns:a="http://schemas.openxmlformats.org/drawingml/2006/main" noGrp="1"/>
          </p:cNvSpPr>
          <p:nvPr/>
        </p:nvSpPr>
        <p:spPr>
          <a:xfrm xmlns:a="http://schemas.openxmlformats.org/drawingml/2006/main">
            <a:off x="7591425" y="1857375"/>
            <a:ext cx="3990975" cy="16002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175" b="0">
                <a:solidFill>
                  <a:srgbClr val="152E42"/>
                </a:solidFill>
                <a:latin typeface="Arial"/>
                <a:ea typeface="Arial"/>
                <a:cs typeface="Arial"/>
              </a:defRPr>
            </a:defPPr>
          </a:lstStyle>
          <a:p xmlns:a="http://schemas.openxmlformats.org/drawingml/2006/main">
            <a:pPr algn="ctr">
              <a:buNone/>
              <a:defRPr sz="2175" b="0">
                <a:solidFill>
                  <a:srgbClr val="152E42"/>
                </a:solidFill>
                <a:latin typeface="Arial"/>
                <a:ea typeface="Arial"/>
                <a:cs typeface="Arial"/>
              </a:defRPr>
            </a:pPr>
            <a:r>
              <a:rPr sz="2175" b="0">
                <a:solidFill>
                  <a:srgbClr val="152E42"/>
                </a:solidFill>
                <a:latin typeface="Arial"/>
                <a:ea typeface="Arial"/>
                <a:cs typeface="Arial"/>
              </a:rPr>
              <a:t>Receiving hub</a:t>
            </a:r>
          </a:p>
          <a:p xmlns:a="http://schemas.openxmlformats.org/drawingml/2006/main">
            <a:r>
              <a:t/>
            </a:r>
          </a:p>
          <a:p xmlns:a="http://schemas.openxmlformats.org/drawingml/2006/main">
            <a:pPr algn="ctr">
              <a:buNone/>
              <a:defRPr sz="2175" b="0">
                <a:solidFill>
                  <a:srgbClr val="152E42"/>
                </a:solidFill>
                <a:latin typeface="Arial"/>
                <a:ea typeface="Arial"/>
                <a:cs typeface="Arial"/>
              </a:defRPr>
            </a:pPr>
            <a:r>
              <a:rPr sz="2175" b="0">
                <a:solidFill>
                  <a:srgbClr val="152E42"/>
                </a:solidFill>
                <a:latin typeface="Arial"/>
                <a:ea typeface="Arial"/>
                <a:cs typeface="Arial"/>
              </a:rPr>
              <a:t>Delegated execution owner</a:t>
            </a:r>
          </a:p>
        </p:txBody>
      </p:sp>
      <p:sp>
        <p:nvSpPr>
          <p:cNvPr id="6" name="Scoped NATS link">
            <a:extLst xmlns:a="http://schemas.openxmlformats.org/drawingml/2006/main">
              <a:ext uri="{FF2B5EF4-FFF2-40B4-BE49-F238E27FC236}">
                <a16:creationId xmlns:a16="http://schemas.microsoft.com/office/drawing/2014/main" id="{9B975AB8-607C-49BE-98EE-473B69244F7B}"/>
              </a:ext>
            </a:extLst>
          </p:cNvPr>
          <p:cNvSpPr>
            <a:spLocks xmlns:a="http://schemas.openxmlformats.org/drawingml/2006/main" noGrp="1"/>
          </p:cNvSpPr>
          <p:nvPr/>
        </p:nvSpPr>
        <p:spPr>
          <a:xfrm xmlns:a="http://schemas.openxmlformats.org/drawingml/2006/main">
            <a:off x="4733925" y="2152650"/>
            <a:ext cx="2714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087E83"/>
                </a:solidFill>
                <a:latin typeface="Arial"/>
                <a:ea typeface="Arial"/>
                <a:cs typeface="Arial"/>
              </a:defRPr>
            </a:defPPr>
          </a:lstStyle>
          <a:p xmlns:a="http://schemas.openxmlformats.org/drawingml/2006/main">
            <a:pPr algn="ctr">
              <a:buNone/>
              <a:defRPr sz="1875" b="1">
                <a:solidFill>
                  <a:srgbClr val="087E83"/>
                </a:solidFill>
                <a:latin typeface="Arial"/>
                <a:ea typeface="Arial"/>
                <a:cs typeface="Arial"/>
              </a:defRPr>
            </a:pPr>
            <a:r>
              <a:rPr sz="1875" b="1">
                <a:solidFill>
                  <a:srgbClr val="087E83"/>
                </a:solidFill>
                <a:latin typeface="Arial"/>
                <a:ea typeface="Arial"/>
                <a:cs typeface="Arial"/>
              </a:rPr>
              <a:t>Scoped NATS link</a:t>
            </a:r>
          </a:p>
        </p:txBody>
      </p:sp>
      <p:sp>
        <p:nvSpPr>
          <p:cNvPr id="7" name="Local execution host&#10;with declared offline grants">
            <a:extLst xmlns:a="http://schemas.openxmlformats.org/drawingml/2006/main">
              <a:ext uri="{FF2B5EF4-FFF2-40B4-BE49-F238E27FC236}">
                <a16:creationId xmlns:a16="http://schemas.microsoft.com/office/drawing/2014/main" id="{0C1E813F-B914-4DC3-818E-45B786E233F0}"/>
              </a:ext>
            </a:extLst>
          </p:cNvPr>
          <p:cNvSpPr>
            <a:spLocks xmlns:a="http://schemas.openxmlformats.org/drawingml/2006/main" noGrp="1"/>
          </p:cNvSpPr>
          <p:nvPr/>
        </p:nvSpPr>
        <p:spPr>
          <a:xfrm xmlns:a="http://schemas.openxmlformats.org/drawingml/2006/main">
            <a:off x="7591425" y="4438650"/>
            <a:ext cx="39909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Local execution host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with declared offline grants</a:t>
            </a:r>
          </a:p>
        </p:txBody>
      </p:sp>
      <p:sp>
        <p:nvSpPr>
          <p:cNvPr id="9" name="Offer and grant&#10;Progress and evidence&#10;Origin acceptance">
            <a:extLst xmlns:a="http://schemas.openxmlformats.org/drawingml/2006/main">
              <a:ext uri="{FF2B5EF4-FFF2-40B4-BE49-F238E27FC236}">
                <a16:creationId xmlns:a16="http://schemas.microsoft.com/office/drawing/2014/main" id="{29CF6850-6ADF-43D1-A940-C3664AA3B839}"/>
              </a:ext>
            </a:extLst>
          </p:cNvPr>
          <p:cNvSpPr>
            <a:spLocks xmlns:a="http://schemas.openxmlformats.org/drawingml/2006/main" noGrp="1"/>
          </p:cNvSpPr>
          <p:nvPr/>
        </p:nvSpPr>
        <p:spPr>
          <a:xfrm xmlns:a="http://schemas.openxmlformats.org/drawingml/2006/main">
            <a:off x="609600" y="4229100"/>
            <a:ext cx="5095875"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Offer and grant</a:t>
            </a:r>
          </a:p>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Progress and evidence</a:t>
            </a:r>
          </a:p>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Origin acceptance</a:t>
            </a:r>
          </a:p>
        </p:txBody>
      </p:sp>
      <p:sp>
        <p:nvSpPr>
          <p:cNvPr id="10" name="A result submission preserves executor, task version, artifact digest ">
            <a:extLst xmlns:a="http://schemas.openxmlformats.org/drawingml/2006/main">
              <a:ext uri="{FF2B5EF4-FFF2-40B4-BE49-F238E27FC236}">
                <a16:creationId xmlns:a16="http://schemas.microsoft.com/office/drawing/2014/main" id="{30B77D96-89BF-4818-AA06-B299E89A1D89}"/>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A result submission preserves executor, task version, artifact digest and provenance.</a:t>
            </a:r>
          </a:p>
        </p:txBody>
      </p:sp>
    </p:spTree>
    <p:extLst>
      <p:ext uri="{BB962C8B-B14F-4D97-AF65-F5344CB8AC3E}">
        <p14:creationId xmlns:p14="http://schemas.microsoft.com/office/powerpoint/2010/main" val="1629210532"/>
      </p:ext>
    </p:extLst>
  </p:cSld>
</p:sld>
</file>

<file path=ppt/slides/slide1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59CD60EF-018D-48EA-8305-10110A1209B8}"/>
              </a:ext>
            </a:extLst>
          </p:cNvPr>
          <p:cNvCxnSpPr>
            <a:stCxn xmlns:a="http://schemas.openxmlformats.org/drawingml/2006/main" id="5" idx="2"/>
            <a:endCxn xmlns:a="http://schemas.openxmlformats.org/drawingml/2006/main" id="10" idx="0"/>
          </p:cNvCxnSpPr>
          <p:nvPr/>
        </p:nvCxnSpPr>
        <p:spPr>
          <a:xfrm xmlns:a="http://schemas.openxmlformats.org/drawingml/2006/main">
            <a:off x="10134600" y="2695575"/>
            <a:ext cx="0" cy="139065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6F9026B1-83C9-4E72-9E31-90D66B64C976}"/>
              </a:ext>
            </a:extLst>
          </p:cNvPr>
          <p:cNvCxnSpPr>
            <a:stCxn xmlns:a="http://schemas.openxmlformats.org/drawingml/2006/main" id="4" idx="2"/>
            <a:endCxn xmlns:a="http://schemas.openxmlformats.org/drawingml/2006/main" id="9" idx="0"/>
          </p:cNvCxnSpPr>
          <p:nvPr/>
        </p:nvCxnSpPr>
        <p:spPr>
          <a:xfrm xmlns:a="http://schemas.openxmlformats.org/drawingml/2006/main">
            <a:off x="5715000" y="2695575"/>
            <a:ext cx="0" cy="1390650"/>
          </a:xfrm>
          <a:prstGeom xmlns:a="http://schemas.openxmlformats.org/drawingml/2006/main" prst="straightConnector1">
            <a:avLst/>
          </a:prstGeom>
          <a:ln xmlns:a="http://schemas.openxmlformats.org/drawingml/2006/main" w="20955">
            <a:solidFill>
              <a:srgbClr val="9B582D"/>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583CEA9F-22FA-495D-BA2F-60DB76B6E3A4}"/>
              </a:ext>
            </a:extLst>
          </p:cNvPr>
          <p:cNvCxnSpPr>
            <a:stCxn xmlns:a="http://schemas.openxmlformats.org/drawingml/2006/main" id="3" idx="2"/>
            <a:endCxn xmlns:a="http://schemas.openxmlformats.org/drawingml/2006/main" id="8" idx="0"/>
          </p:cNvCxnSpPr>
          <p:nvPr/>
        </p:nvCxnSpPr>
        <p:spPr>
          <a:xfrm xmlns:a="http://schemas.openxmlformats.org/drawingml/2006/main">
            <a:off x="2038350" y="2695575"/>
            <a:ext cx="0" cy="1390650"/>
          </a:xfrm>
          <a:prstGeom xmlns:a="http://schemas.openxmlformats.org/drawingml/2006/main" prst="straightConnector1">
            <a:avLst/>
          </a:prstGeom>
          <a:ln xmlns:a="http://schemas.openxmlformats.org/drawingml/2006/main" w="20955">
            <a:solidFill>
              <a:srgbClr val="9B582D"/>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A96800CB-BD1E-4ED7-8010-A642E2A8106B}"/>
              </a:ext>
            </a:extLst>
          </p:cNvPr>
          <p:cNvCxnSpPr>
            <a:stCxn xmlns:a="http://schemas.openxmlformats.org/drawingml/2006/main" id="4" idx="3"/>
            <a:endCxn xmlns:a="http://schemas.openxmlformats.org/drawingml/2006/main" id="5" idx="1"/>
          </p:cNvCxnSpPr>
          <p:nvPr/>
        </p:nvCxnSpPr>
        <p:spPr>
          <a:xfrm xmlns:a="http://schemas.openxmlformats.org/drawingml/2006/main">
            <a:off x="7219950" y="2333625"/>
            <a:ext cx="14668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4A869D51-DB75-4908-BAFA-37947249E66A}"/>
              </a:ext>
            </a:extLst>
          </p:cNvPr>
          <p:cNvCxnSpPr>
            <a:stCxn xmlns:a="http://schemas.openxmlformats.org/drawingml/2006/main" id="3" idx="3"/>
            <a:endCxn xmlns:a="http://schemas.openxmlformats.org/drawingml/2006/main" id="4" idx="1"/>
          </p:cNvCxnSpPr>
          <p:nvPr/>
        </p:nvCxnSpPr>
        <p:spPr>
          <a:xfrm xmlns:a="http://schemas.openxmlformats.org/drawingml/2006/main">
            <a:off x="3467100" y="2333625"/>
            <a:ext cx="7429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6" name="Disconnected work stays reserved">
            <a:extLst xmlns:a="http://schemas.openxmlformats.org/drawingml/2006/main">
              <a:ext uri="{FF2B5EF4-FFF2-40B4-BE49-F238E27FC236}">
                <a16:creationId xmlns:a16="http://schemas.microsoft.com/office/drawing/2014/main" id="{55062FA5-2079-449C-9394-34F79ECBC41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Disconnected work stays reserved</a:t>
            </a:r>
          </a:p>
        </p:txBody>
      </p:sp>
      <p:sp>
        <p:nvSpPr>
          <p:cNvPr id="2" name="11">
            <a:extLst xmlns:a="http://schemas.openxmlformats.org/drawingml/2006/main">
              <a:ext uri="{FF2B5EF4-FFF2-40B4-BE49-F238E27FC236}">
                <a16:creationId xmlns:a16="http://schemas.microsoft.com/office/drawing/2014/main" id="{F14B8C51-2448-46F5-B34D-1740AEDDFC0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11</a:t>
            </a:r>
          </a:p>
        </p:txBody>
      </p:sp>
      <p:sp>
        <p:nvSpPr>
          <p:cNvPr id="3" name="Offer">
            <a:extLst xmlns:a="http://schemas.openxmlformats.org/drawingml/2006/main">
              <a:ext uri="{FF2B5EF4-FFF2-40B4-BE49-F238E27FC236}">
                <a16:creationId xmlns:a16="http://schemas.microsoft.com/office/drawing/2014/main" id="{017E1609-8751-4779-BA08-D2C21DB82F39}"/>
              </a:ext>
            </a:extLst>
          </p:cNvPr>
          <p:cNvSpPr>
            <a:spLocks xmlns:a="http://schemas.openxmlformats.org/drawingml/2006/main" noGrp="1"/>
          </p:cNvSpPr>
          <p:nvPr/>
        </p:nvSpPr>
        <p:spPr>
          <a:xfrm xmlns:a="http://schemas.openxmlformats.org/drawingml/2006/main">
            <a:off x="609600" y="1971675"/>
            <a:ext cx="28575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Offer</a:t>
            </a:r>
          </a:p>
        </p:txBody>
      </p:sp>
      <p:sp>
        <p:nvSpPr>
          <p:cNvPr id="4" name="Accepted&#10;and reserved">
            <a:extLst xmlns:a="http://schemas.openxmlformats.org/drawingml/2006/main">
              <a:ext uri="{FF2B5EF4-FFF2-40B4-BE49-F238E27FC236}">
                <a16:creationId xmlns:a16="http://schemas.microsoft.com/office/drawing/2014/main" id="{68C1B5C4-6252-4021-8BEB-4A3391AD8E51}"/>
              </a:ext>
            </a:extLst>
          </p:cNvPr>
          <p:cNvSpPr>
            <a:spLocks xmlns:a="http://schemas.openxmlformats.org/drawingml/2006/main" noGrp="1"/>
          </p:cNvSpPr>
          <p:nvPr/>
        </p:nvSpPr>
        <p:spPr>
          <a:xfrm xmlns:a="http://schemas.openxmlformats.org/drawingml/2006/main">
            <a:off x="4210050" y="1971675"/>
            <a:ext cx="30099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reserved</a:t>
            </a:r>
          </a:p>
        </p:txBody>
      </p:sp>
      <p:sp>
        <p:nvSpPr>
          <p:cNvPr id="5" name="Execution">
            <a:extLst xmlns:a="http://schemas.openxmlformats.org/drawingml/2006/main">
              <a:ext uri="{FF2B5EF4-FFF2-40B4-BE49-F238E27FC236}">
                <a16:creationId xmlns:a16="http://schemas.microsoft.com/office/drawing/2014/main" id="{781C321D-45AA-4629-BF56-7B11420B61A8}"/>
              </a:ext>
            </a:extLst>
          </p:cNvPr>
          <p:cNvSpPr>
            <a:spLocks xmlns:a="http://schemas.openxmlformats.org/drawingml/2006/main" noGrp="1"/>
          </p:cNvSpPr>
          <p:nvPr/>
        </p:nvSpPr>
        <p:spPr>
          <a:xfrm xmlns:a="http://schemas.openxmlformats.org/drawingml/2006/main">
            <a:off x="8686800" y="1971675"/>
            <a:ext cx="2895600" cy="7239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Execution</a:t>
            </a:r>
          </a:p>
        </p:txBody>
      </p:sp>
      <p:sp>
        <p:nvSpPr>
          <p:cNvPr id="8" name="Acceptance unknown&#10;Reply lost">
            <a:extLst xmlns:a="http://schemas.openxmlformats.org/drawingml/2006/main">
              <a:ext uri="{FF2B5EF4-FFF2-40B4-BE49-F238E27FC236}">
                <a16:creationId xmlns:a16="http://schemas.microsoft.com/office/drawing/2014/main" id="{B8E2DB12-5569-4B17-8DD6-E08B4C3079FD}"/>
              </a:ext>
            </a:extLst>
          </p:cNvPr>
          <p:cNvSpPr>
            <a:spLocks xmlns:a="http://schemas.openxmlformats.org/drawingml/2006/main" noGrp="1"/>
          </p:cNvSpPr>
          <p:nvPr/>
        </p:nvSpPr>
        <p:spPr>
          <a:xfrm xmlns:a="http://schemas.openxmlformats.org/drawingml/2006/main">
            <a:off x="609600" y="4086225"/>
            <a:ext cx="28575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9B582D"/>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Acceptance unknown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Reply lost</a:t>
            </a:r>
          </a:p>
        </p:txBody>
      </p:sp>
      <p:sp>
        <p:nvSpPr>
          <p:cNvPr id="9" name="Disconnected&#10;Reservation retained">
            <a:extLst xmlns:a="http://schemas.openxmlformats.org/drawingml/2006/main">
              <a:ext uri="{FF2B5EF4-FFF2-40B4-BE49-F238E27FC236}">
                <a16:creationId xmlns:a16="http://schemas.microsoft.com/office/drawing/2014/main" id="{45B63386-FF5B-4678-BFF4-378702F4137C}"/>
              </a:ext>
            </a:extLst>
          </p:cNvPr>
          <p:cNvSpPr>
            <a:spLocks xmlns:a="http://schemas.openxmlformats.org/drawingml/2006/main" noGrp="1"/>
          </p:cNvSpPr>
          <p:nvPr/>
        </p:nvSpPr>
        <p:spPr>
          <a:xfrm xmlns:a="http://schemas.openxmlformats.org/drawingml/2006/main">
            <a:off x="4210050" y="4086225"/>
            <a:ext cx="30099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9B582D"/>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Disconnected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Reservation retained</a:t>
            </a:r>
          </a:p>
        </p:txBody>
      </p:sp>
      <p:sp>
        <p:nvSpPr>
          <p:cNvPr id="10" name="Result submitted&#10;Origin reviews">
            <a:extLst xmlns:a="http://schemas.openxmlformats.org/drawingml/2006/main">
              <a:ext uri="{FF2B5EF4-FFF2-40B4-BE49-F238E27FC236}">
                <a16:creationId xmlns:a16="http://schemas.microsoft.com/office/drawing/2014/main" id="{E752B229-F52B-4C4D-B79D-BAB816508427}"/>
              </a:ext>
            </a:extLst>
          </p:cNvPr>
          <p:cNvSpPr>
            <a:spLocks xmlns:a="http://schemas.openxmlformats.org/drawingml/2006/main" noGrp="1"/>
          </p:cNvSpPr>
          <p:nvPr/>
        </p:nvSpPr>
        <p:spPr>
          <a:xfrm xmlns:a="http://schemas.openxmlformats.org/drawingml/2006/main">
            <a:off x="8686800" y="4086225"/>
            <a:ext cx="2895600" cy="9906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Result submitted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Origin reviews</a:t>
            </a:r>
          </a:p>
        </p:txBody>
      </p:sp>
      <p:sp>
        <p:nvSpPr>
          <p:cNvPr id="14" name="A connectivity timeout never authorizes reassignment.">
            <a:extLst xmlns:a="http://schemas.openxmlformats.org/drawingml/2006/main">
              <a:ext uri="{FF2B5EF4-FFF2-40B4-BE49-F238E27FC236}">
                <a16:creationId xmlns:a16="http://schemas.microsoft.com/office/drawing/2014/main" id="{EC92CA07-985B-437F-9821-F5C9AC90F609}"/>
              </a:ext>
            </a:extLst>
          </p:cNvPr>
          <p:cNvSpPr>
            <a:spLocks xmlns:a="http://schemas.openxmlformats.org/drawingml/2006/main" noGrp="1"/>
          </p:cNvSpPr>
          <p:nvPr/>
        </p:nvSpPr>
        <p:spPr>
          <a:xfrm xmlns:a="http://schemas.openxmlformats.org/drawingml/2006/main">
            <a:off x="609600" y="5305425"/>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E83"/>
                </a:solidFill>
                <a:latin typeface="Arial"/>
                <a:ea typeface="Arial"/>
                <a:cs typeface="Arial"/>
              </a:defRPr>
            </a:defPPr>
          </a:lstStyle>
          <a:p xmlns:a="http://schemas.openxmlformats.org/drawingml/2006/main">
            <a:pPr algn="l">
              <a:buNone/>
              <a:defRPr sz="1800" b="1">
                <a:solidFill>
                  <a:srgbClr val="087E83"/>
                </a:solidFill>
                <a:latin typeface="Arial"/>
                <a:ea typeface="Arial"/>
                <a:cs typeface="Arial"/>
              </a:defRPr>
            </a:pPr>
            <a:r>
              <a:rPr sz="1800" b="1">
                <a:solidFill>
                  <a:srgbClr val="087E83"/>
                </a:solidFill>
                <a:latin typeface="Arial"/>
                <a:ea typeface="Arial"/>
                <a:cs typeface="Arial"/>
              </a:rPr>
              <a:t>A connectivity timeout never authorizes reassignment.</a:t>
            </a:r>
          </a:p>
        </p:txBody>
      </p:sp>
      <p:sp>
        <p:nvSpPr>
          <p:cNvPr id="15" name="Receiver may continue within its grant and reconcile the same delegati">
            <a:extLst xmlns:a="http://schemas.openxmlformats.org/drawingml/2006/main">
              <a:ext uri="{FF2B5EF4-FFF2-40B4-BE49-F238E27FC236}">
                <a16:creationId xmlns:a16="http://schemas.microsoft.com/office/drawing/2014/main" id="{A61C45C4-57E9-4885-B6E3-8DD69ABCEFA2}"/>
              </a:ext>
            </a:extLst>
          </p:cNvPr>
          <p:cNvSpPr>
            <a:spLocks xmlns:a="http://schemas.openxmlformats.org/drawingml/2006/main" noGrp="1"/>
          </p:cNvSpPr>
          <p:nvPr/>
        </p:nvSpPr>
        <p:spPr>
          <a:xfrm xmlns:a="http://schemas.openxmlformats.org/drawingml/2006/main">
            <a:off x="609600" y="578167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Receiver may continue within its grant and reconcile the same delegation after reconnect.</a:t>
            </a:r>
          </a:p>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Expired grants block new effects. Historical results remain available.</a:t>
            </a:r>
          </a:p>
        </p:txBody>
      </p:sp>
    </p:spTree>
    <p:extLst>
      <p:ext uri="{BB962C8B-B14F-4D97-AF65-F5344CB8AC3E}">
        <p14:creationId xmlns:p14="http://schemas.microsoft.com/office/powerpoint/2010/main" val="472732134"/>
      </p:ext>
    </p:extLst>
  </p:cSld>
</p:sld>
</file>

<file path=ppt/slides/slide1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872FB2FF-913A-4E71-9952-2FF0575A4167}"/>
              </a:ext>
            </a:extLst>
          </p:cNvPr>
          <p:cNvCxnSpPr>
            <a:stCxn xmlns:a="http://schemas.openxmlformats.org/drawingml/2006/main" id="4" idx="3"/>
            <a:endCxn xmlns:a="http://schemas.openxmlformats.org/drawingml/2006/main" id="5" idx="1"/>
          </p:cNvCxnSpPr>
          <p:nvPr/>
        </p:nvCxnSpPr>
        <p:spPr>
          <a:xfrm xmlns:a="http://schemas.openxmlformats.org/drawingml/2006/main">
            <a:off x="6905625" y="2524125"/>
            <a:ext cx="10477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4B6226F9-5DCD-410D-8C67-4E7C36AF882F}"/>
              </a:ext>
            </a:extLst>
          </p:cNvPr>
          <p:cNvCxnSpPr>
            <a:stCxn xmlns:a="http://schemas.openxmlformats.org/drawingml/2006/main" id="3" idx="3"/>
            <a:endCxn xmlns:a="http://schemas.openxmlformats.org/drawingml/2006/main" id="4" idx="1"/>
          </p:cNvCxnSpPr>
          <p:nvPr/>
        </p:nvCxnSpPr>
        <p:spPr>
          <a:xfrm xmlns:a="http://schemas.openxmlformats.org/drawingml/2006/main">
            <a:off x="3028950" y="2524125"/>
            <a:ext cx="7334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Authorization at the work owner">
            <a:extLst xmlns:a="http://schemas.openxmlformats.org/drawingml/2006/main">
              <a:ext uri="{FF2B5EF4-FFF2-40B4-BE49-F238E27FC236}">
                <a16:creationId xmlns:a16="http://schemas.microsoft.com/office/drawing/2014/main" id="{4DF9E100-63FB-4807-B7AC-6C9C6D5716A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Authorization at the work owner</a:t>
            </a:r>
          </a:p>
        </p:txBody>
      </p:sp>
      <p:sp>
        <p:nvSpPr>
          <p:cNvPr id="2" name="12">
            <a:extLst xmlns:a="http://schemas.openxmlformats.org/drawingml/2006/main">
              <a:ext uri="{FF2B5EF4-FFF2-40B4-BE49-F238E27FC236}">
                <a16:creationId xmlns:a16="http://schemas.microsoft.com/office/drawing/2014/main" id="{E0A1BDDA-1E0C-440E-A911-0666349D0CF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12</a:t>
            </a:r>
          </a:p>
        </p:txBody>
      </p:sp>
      <p:sp>
        <p:nvSpPr>
          <p:cNvPr id="3" name="Validated caller">
            <a:extLst xmlns:a="http://schemas.openxmlformats.org/drawingml/2006/main">
              <a:ext uri="{FF2B5EF4-FFF2-40B4-BE49-F238E27FC236}">
                <a16:creationId xmlns:a16="http://schemas.microsoft.com/office/drawing/2014/main" id="{621A60C4-497E-48A3-95F8-8EDAB6A06480}"/>
              </a:ext>
            </a:extLst>
          </p:cNvPr>
          <p:cNvSpPr>
            <a:spLocks xmlns:a="http://schemas.openxmlformats.org/drawingml/2006/main" noGrp="1"/>
          </p:cNvSpPr>
          <p:nvPr/>
        </p:nvSpPr>
        <p:spPr>
          <a:xfrm xmlns:a="http://schemas.openxmlformats.org/drawingml/2006/main">
            <a:off x="609600" y="2038350"/>
            <a:ext cx="2419350"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Validated caller</a:t>
            </a:r>
          </a:p>
        </p:txBody>
      </p:sp>
      <p:sp>
        <p:nvSpPr>
          <p:cNvPr id="4" name="Broker subject&#10;permissions">
            <a:extLst xmlns:a="http://schemas.openxmlformats.org/drawingml/2006/main">
              <a:ext uri="{FF2B5EF4-FFF2-40B4-BE49-F238E27FC236}">
                <a16:creationId xmlns:a16="http://schemas.microsoft.com/office/drawing/2014/main" id="{A1E35EAB-5EC7-4DDA-A0E0-AA57F637D80A}"/>
              </a:ext>
            </a:extLst>
          </p:cNvPr>
          <p:cNvSpPr>
            <a:spLocks xmlns:a="http://schemas.openxmlformats.org/drawingml/2006/main" noGrp="1"/>
          </p:cNvSpPr>
          <p:nvPr/>
        </p:nvSpPr>
        <p:spPr>
          <a:xfrm xmlns:a="http://schemas.openxmlformats.org/drawingml/2006/main">
            <a:off x="3762375" y="2038350"/>
            <a:ext cx="3143250"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Broker subject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permissions</a:t>
            </a:r>
          </a:p>
        </p:txBody>
      </p:sp>
      <p:sp>
        <p:nvSpPr>
          <p:cNvPr id="5" name="Authoritative owner&#10;checks and transition">
            <a:extLst xmlns:a="http://schemas.openxmlformats.org/drawingml/2006/main">
              <a:ext uri="{FF2B5EF4-FFF2-40B4-BE49-F238E27FC236}">
                <a16:creationId xmlns:a16="http://schemas.microsoft.com/office/drawing/2014/main" id="{92C1B938-1F71-4459-8DBB-49F5B5367A25}"/>
              </a:ext>
            </a:extLst>
          </p:cNvPr>
          <p:cNvSpPr>
            <a:spLocks xmlns:a="http://schemas.openxmlformats.org/drawingml/2006/main" noGrp="1"/>
          </p:cNvSpPr>
          <p:nvPr/>
        </p:nvSpPr>
        <p:spPr>
          <a:xfrm xmlns:a="http://schemas.openxmlformats.org/drawingml/2006/main">
            <a:off x="7953375" y="2038350"/>
            <a:ext cx="3629025" cy="9715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Authoritative owner</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checks and transition</a:t>
            </a:r>
          </a:p>
        </p:txBody>
      </p:sp>
      <p:sp>
        <p:nvSpPr>
          <p:cNvPr id="8" name="Revalidation">
            <a:extLst xmlns:a="http://schemas.openxmlformats.org/drawingml/2006/main">
              <a:ext uri="{FF2B5EF4-FFF2-40B4-BE49-F238E27FC236}">
                <a16:creationId xmlns:a16="http://schemas.microsoft.com/office/drawing/2014/main" id="{0C73DDAF-7758-441C-82A0-5DB529B967AC}"/>
              </a:ext>
            </a:extLst>
          </p:cNvPr>
          <p:cNvSpPr>
            <a:spLocks xmlns:a="http://schemas.openxmlformats.org/drawingml/2006/main" noGrp="1"/>
          </p:cNvSpPr>
          <p:nvPr/>
        </p:nvSpPr>
        <p:spPr>
          <a:xfrm xmlns:a="http://schemas.openxmlformats.org/drawingml/2006/main">
            <a:off x="609600" y="36385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Revalidation</a:t>
            </a:r>
          </a:p>
        </p:txBody>
      </p:sp>
      <p:sp>
        <p:nvSpPr>
          <p:cNvPr id="9" name="Current grants, task version, approval and artifact identity">
            <a:extLst xmlns:a="http://schemas.openxmlformats.org/drawingml/2006/main">
              <a:ext uri="{FF2B5EF4-FFF2-40B4-BE49-F238E27FC236}">
                <a16:creationId xmlns:a16="http://schemas.microsoft.com/office/drawing/2014/main" id="{05628B5C-92AE-4AF9-82D2-3918A3B7750B}"/>
              </a:ext>
            </a:extLst>
          </p:cNvPr>
          <p:cNvSpPr>
            <a:spLocks xmlns:a="http://schemas.openxmlformats.org/drawingml/2006/main" noGrp="1"/>
          </p:cNvSpPr>
          <p:nvPr/>
        </p:nvSpPr>
        <p:spPr>
          <a:xfrm xmlns:a="http://schemas.openxmlformats.org/drawingml/2006/main">
            <a:off x="609600" y="401002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Current grants, task version, approval and artifact identity</a:t>
            </a:r>
          </a:p>
        </p:txBody>
      </p:sp>
      <p:sp>
        <p:nvSpPr>
          <p:cNvPr id="10" name="Policy outcomes">
            <a:extLst xmlns:a="http://schemas.openxmlformats.org/drawingml/2006/main">
              <a:ext uri="{FF2B5EF4-FFF2-40B4-BE49-F238E27FC236}">
                <a16:creationId xmlns:a16="http://schemas.microsoft.com/office/drawing/2014/main" id="{CCE42C26-08AA-434B-91CD-E02C0DCD788C}"/>
              </a:ext>
            </a:extLst>
          </p:cNvPr>
          <p:cNvSpPr>
            <a:spLocks xmlns:a="http://schemas.openxmlformats.org/drawingml/2006/main" noGrp="1"/>
          </p:cNvSpPr>
          <p:nvPr/>
        </p:nvSpPr>
        <p:spPr>
          <a:xfrm xmlns:a="http://schemas.openxmlformats.org/drawingml/2006/main">
            <a:off x="609600" y="457200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Policy outcomes</a:t>
            </a:r>
          </a:p>
        </p:txBody>
      </p:sp>
      <p:sp>
        <p:nvSpPr>
          <p:cNvPr id="11" name="Allow, hard deny or review required. Approval cannot override a hard d">
            <a:extLst xmlns:a="http://schemas.openxmlformats.org/drawingml/2006/main">
              <a:ext uri="{FF2B5EF4-FFF2-40B4-BE49-F238E27FC236}">
                <a16:creationId xmlns:a16="http://schemas.microsoft.com/office/drawing/2014/main" id="{BA0FA406-DED6-4D0A-926F-C23FC065C280}"/>
              </a:ext>
            </a:extLst>
          </p:cNvPr>
          <p:cNvSpPr>
            <a:spLocks xmlns:a="http://schemas.openxmlformats.org/drawingml/2006/main" noGrp="1"/>
          </p:cNvSpPr>
          <p:nvPr/>
        </p:nvSpPr>
        <p:spPr>
          <a:xfrm xmlns:a="http://schemas.openxmlformats.org/drawingml/2006/main">
            <a:off x="609600" y="4943475"/>
            <a:ext cx="10763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Allow, hard deny or review required. Approval cannot override a hard denial.</a:t>
            </a:r>
          </a:p>
        </p:txBody>
      </p:sp>
      <p:sp>
        <p:nvSpPr>
          <p:cNvPr id="12" name="Launch isolates worker code. P14 separately qualifies untrusted third-">
            <a:extLst xmlns:a="http://schemas.openxmlformats.org/drawingml/2006/main">
              <a:ext uri="{FF2B5EF4-FFF2-40B4-BE49-F238E27FC236}">
                <a16:creationId xmlns:a16="http://schemas.microsoft.com/office/drawing/2014/main" id="{462631AD-F16A-4CD2-BD94-965F08527BBC}"/>
              </a:ext>
            </a:extLst>
          </p:cNvPr>
          <p:cNvSpPr>
            <a:spLocks xmlns:a="http://schemas.openxmlformats.org/drawingml/2006/main" noGrp="1"/>
          </p:cNvSpPr>
          <p:nvPr/>
        </p:nvSpPr>
        <p:spPr>
          <a:xfrm xmlns:a="http://schemas.openxmlformats.org/drawingml/2006/main">
            <a:off x="609600" y="593407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Launch isolates worker code. P14 separately qualifies untrusted third-party plugins.</a:t>
            </a:r>
          </a:p>
        </p:txBody>
      </p:sp>
    </p:spTree>
    <p:extLst>
      <p:ext uri="{BB962C8B-B14F-4D97-AF65-F5344CB8AC3E}">
        <p14:creationId xmlns:p14="http://schemas.microsoft.com/office/powerpoint/2010/main" val="1734214708"/>
      </p:ext>
    </p:extLst>
  </p:cSld>
</p:sld>
</file>

<file path=ppt/slides/slide1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105B5D3-CE4B-49E8-A70A-92126D0B9A32}"/>
              </a:ext>
            </a:extLst>
          </p:cNvPr>
          <p:cNvCxnSpPr>
            <a:stCxn xmlns:a="http://schemas.openxmlformats.org/drawingml/2006/main" id="4" idx="3"/>
            <a:endCxn xmlns:a="http://schemas.openxmlformats.org/drawingml/2006/main" id="5" idx="1"/>
          </p:cNvCxnSpPr>
          <p:nvPr/>
        </p:nvCxnSpPr>
        <p:spPr>
          <a:xfrm xmlns:a="http://schemas.openxmlformats.org/drawingml/2006/main">
            <a:off x="7419975" y="2419350"/>
            <a:ext cx="9715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cxnSp>
        <p:nvCxnSpPr>
          <p:cNvPr id="6" name="">
            <a:extLst xmlns:a="http://schemas.openxmlformats.org/drawingml/2006/main">
              <a:ext uri="{FF2B5EF4-FFF2-40B4-BE49-F238E27FC236}">
                <a16:creationId xmlns:a16="http://schemas.microsoft.com/office/drawing/2014/main" id="{E94761DC-51C6-43D3-A9F8-607EA86CB5A9}"/>
              </a:ext>
            </a:extLst>
          </p:cNvPr>
          <p:cNvCxnSpPr>
            <a:stCxn xmlns:a="http://schemas.openxmlformats.org/drawingml/2006/main" id="3" idx="3"/>
            <a:endCxn xmlns:a="http://schemas.openxmlformats.org/drawingml/2006/main" id="4" idx="1"/>
          </p:cNvCxnSpPr>
          <p:nvPr/>
        </p:nvCxnSpPr>
        <p:spPr>
          <a:xfrm xmlns:a="http://schemas.openxmlformats.org/drawingml/2006/main">
            <a:off x="3343275" y="2419350"/>
            <a:ext cx="895350" cy="0"/>
          </a:xfrm>
          <a:prstGeom xmlns:a="http://schemas.openxmlformats.org/drawingml/2006/main" prst="straightConnector1">
            <a:avLst/>
          </a:prstGeom>
          <a:ln xmlns:a="http://schemas.openxmlformats.org/drawingml/2006/main" w="20955">
            <a:solidFill>
              <a:srgbClr val="087E83"/>
            </a:solidFill>
            <a:prstDash val="solid"/>
            <a:headEnd type="triangle" w="med" len="med"/>
            <a:tailEnd type="triangle" w="med" len="med"/>
          </a:ln>
        </p:spPr>
      </p:cxnSp>
      <p:sp>
        <p:nvSpPr>
          <p:cNvPr id="15" name="AG-UI dashboard projection">
            <a:extLst xmlns:a="http://schemas.openxmlformats.org/drawingml/2006/main">
              <a:ext uri="{FF2B5EF4-FFF2-40B4-BE49-F238E27FC236}">
                <a16:creationId xmlns:a16="http://schemas.microsoft.com/office/drawing/2014/main" id="{83DF16E0-89E7-46B3-9A3E-8F2E4194C030}"/>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AG-UI dashboard projection</a:t>
            </a:r>
          </a:p>
        </p:txBody>
      </p:sp>
      <p:sp>
        <p:nvSpPr>
          <p:cNvPr id="2" name="13">
            <a:extLst xmlns:a="http://schemas.openxmlformats.org/drawingml/2006/main">
              <a:ext uri="{FF2B5EF4-FFF2-40B4-BE49-F238E27FC236}">
                <a16:creationId xmlns:a16="http://schemas.microsoft.com/office/drawing/2014/main" id="{0172FE18-E8F8-4DF8-AF80-A9C1D6B07CD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13</a:t>
            </a:r>
          </a:p>
        </p:txBody>
      </p:sp>
      <p:sp>
        <p:nvSpPr>
          <p:cNvPr id="3" name="NATS records&#10;and events">
            <a:extLst xmlns:a="http://schemas.openxmlformats.org/drawingml/2006/main">
              <a:ext uri="{FF2B5EF4-FFF2-40B4-BE49-F238E27FC236}">
                <a16:creationId xmlns:a16="http://schemas.microsoft.com/office/drawing/2014/main" id="{49CC2B01-061E-4FE6-8C61-C9B0D7DC7B02}"/>
              </a:ext>
            </a:extLst>
          </p:cNvPr>
          <p:cNvSpPr>
            <a:spLocks xmlns:a="http://schemas.openxmlformats.org/drawingml/2006/main" noGrp="1"/>
          </p:cNvSpPr>
          <p:nvPr/>
        </p:nvSpPr>
        <p:spPr>
          <a:xfrm xmlns:a="http://schemas.openxmlformats.org/drawingml/2006/main">
            <a:off x="609600" y="1943100"/>
            <a:ext cx="2733675"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NATS records</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events</a:t>
            </a:r>
          </a:p>
        </p:txBody>
      </p:sp>
      <p:sp>
        <p:nvSpPr>
          <p:cNvPr id="4" name="Authorized&#10;interface plugin">
            <a:extLst xmlns:a="http://schemas.openxmlformats.org/drawingml/2006/main">
              <a:ext uri="{FF2B5EF4-FFF2-40B4-BE49-F238E27FC236}">
                <a16:creationId xmlns:a16="http://schemas.microsoft.com/office/drawing/2014/main" id="{485729CA-60E9-4EA5-B561-138FF81B849A}"/>
              </a:ext>
            </a:extLst>
          </p:cNvPr>
          <p:cNvSpPr>
            <a:spLocks xmlns:a="http://schemas.openxmlformats.org/drawingml/2006/main" noGrp="1"/>
          </p:cNvSpPr>
          <p:nvPr/>
        </p:nvSpPr>
        <p:spPr>
          <a:xfrm xmlns:a="http://schemas.openxmlformats.org/drawingml/2006/main">
            <a:off x="4238625" y="1943100"/>
            <a:ext cx="3181350"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interface plugin</a:t>
            </a:r>
          </a:p>
        </p:txBody>
      </p:sp>
      <p:sp>
        <p:nvSpPr>
          <p:cNvPr id="5" name="AG-UI&#10;CopilotKit dashboard">
            <a:extLst xmlns:a="http://schemas.openxmlformats.org/drawingml/2006/main">
              <a:ext uri="{FF2B5EF4-FFF2-40B4-BE49-F238E27FC236}">
                <a16:creationId xmlns:a16="http://schemas.microsoft.com/office/drawing/2014/main" id="{15247F5A-7333-4587-9DC9-186F3714F50D}"/>
              </a:ext>
            </a:extLst>
          </p:cNvPr>
          <p:cNvSpPr>
            <a:spLocks xmlns:a="http://schemas.openxmlformats.org/drawingml/2006/main" noGrp="1"/>
          </p:cNvSpPr>
          <p:nvPr/>
        </p:nvSpPr>
        <p:spPr>
          <a:xfrm xmlns:a="http://schemas.openxmlformats.org/drawingml/2006/main">
            <a:off x="8391525" y="1943100"/>
            <a:ext cx="3190875" cy="9525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AG-UI</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CopilotKit dashboard</a:t>
            </a:r>
          </a:p>
        </p:txBody>
      </p:sp>
      <p:sp>
        <p:nvSpPr>
          <p:cNvPr id="8" name="Plans and tasks">
            <a:extLst xmlns:a="http://schemas.openxmlformats.org/drawingml/2006/main">
              <a:ext uri="{FF2B5EF4-FFF2-40B4-BE49-F238E27FC236}">
                <a16:creationId xmlns:a16="http://schemas.microsoft.com/office/drawing/2014/main" id="{00F3C137-979F-417E-9759-9F5ADEDFAE8C}"/>
              </a:ext>
            </a:extLst>
          </p:cNvPr>
          <p:cNvSpPr>
            <a:spLocks xmlns:a="http://schemas.openxmlformats.org/drawingml/2006/main" noGrp="1"/>
          </p:cNvSpPr>
          <p:nvPr/>
        </p:nvSpPr>
        <p:spPr>
          <a:xfrm xmlns:a="http://schemas.openxmlformats.org/drawingml/2006/main">
            <a:off x="609600" y="38481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Plans and tasks</a:t>
            </a:r>
          </a:p>
        </p:txBody>
      </p:sp>
      <p:sp>
        <p:nvSpPr>
          <p:cNvPr id="9" name="Work, agents and evidence">
            <a:extLst xmlns:a="http://schemas.openxmlformats.org/drawingml/2006/main">
              <a:ext uri="{FF2B5EF4-FFF2-40B4-BE49-F238E27FC236}">
                <a16:creationId xmlns:a16="http://schemas.microsoft.com/office/drawing/2014/main" id="{5158C819-B034-4D53-9981-91C2845042D9}"/>
              </a:ext>
            </a:extLst>
          </p:cNvPr>
          <p:cNvSpPr>
            <a:spLocks xmlns:a="http://schemas.openxmlformats.org/drawingml/2006/main" noGrp="1"/>
          </p:cNvSpPr>
          <p:nvPr/>
        </p:nvSpPr>
        <p:spPr>
          <a:xfrm xmlns:a="http://schemas.openxmlformats.org/drawingml/2006/main">
            <a:off x="609600" y="4314825"/>
            <a:ext cx="5429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Work, agents and evidence</a:t>
            </a:r>
          </a:p>
        </p:txBody>
      </p:sp>
      <p:sp>
        <p:nvSpPr>
          <p:cNvPr id="10" name="Agent conversations">
            <a:extLst xmlns:a="http://schemas.openxmlformats.org/drawingml/2006/main">
              <a:ext uri="{FF2B5EF4-FFF2-40B4-BE49-F238E27FC236}">
                <a16:creationId xmlns:a16="http://schemas.microsoft.com/office/drawing/2014/main" id="{DC5AED1D-ACB0-4835-8250-CC38D5F8B49B}"/>
              </a:ext>
            </a:extLst>
          </p:cNvPr>
          <p:cNvSpPr>
            <a:spLocks xmlns:a="http://schemas.openxmlformats.org/drawingml/2006/main" noGrp="1"/>
          </p:cNvSpPr>
          <p:nvPr/>
        </p:nvSpPr>
        <p:spPr>
          <a:xfrm xmlns:a="http://schemas.openxmlformats.org/drawingml/2006/main">
            <a:off x="609600" y="4781550"/>
            <a:ext cx="5286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Agent conversations</a:t>
            </a:r>
          </a:p>
        </p:txBody>
      </p:sp>
      <p:sp>
        <p:nvSpPr>
          <p:cNvPr id="11" name="Snapshots and ordered updates">
            <a:extLst xmlns:a="http://schemas.openxmlformats.org/drawingml/2006/main">
              <a:ext uri="{FF2B5EF4-FFF2-40B4-BE49-F238E27FC236}">
                <a16:creationId xmlns:a16="http://schemas.microsoft.com/office/drawing/2014/main" id="{71204D2D-7EE8-4C27-8CF9-A8AE35B1F3D4}"/>
              </a:ext>
            </a:extLst>
          </p:cNvPr>
          <p:cNvSpPr>
            <a:spLocks xmlns:a="http://schemas.openxmlformats.org/drawingml/2006/main" noGrp="1"/>
          </p:cNvSpPr>
          <p:nvPr/>
        </p:nvSpPr>
        <p:spPr>
          <a:xfrm xmlns:a="http://schemas.openxmlformats.org/drawingml/2006/main">
            <a:off x="6400800" y="3848100"/>
            <a:ext cx="5181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Snapshots and ordered updates</a:t>
            </a:r>
          </a:p>
        </p:txBody>
      </p:sp>
      <p:sp>
        <p:nvSpPr>
          <p:cNvPr id="12" name="Reconnect and missing-history recovery">
            <a:extLst xmlns:a="http://schemas.openxmlformats.org/drawingml/2006/main">
              <a:ext uri="{FF2B5EF4-FFF2-40B4-BE49-F238E27FC236}">
                <a16:creationId xmlns:a16="http://schemas.microsoft.com/office/drawing/2014/main" id="{66154B2A-34D2-4A67-ADDA-6F6F28EFEA2C}"/>
              </a:ext>
            </a:extLst>
          </p:cNvPr>
          <p:cNvSpPr>
            <a:spLocks xmlns:a="http://schemas.openxmlformats.org/drawingml/2006/main" noGrp="1"/>
          </p:cNvSpPr>
          <p:nvPr/>
        </p:nvSpPr>
        <p:spPr>
          <a:xfrm xmlns:a="http://schemas.openxmlformats.org/drawingml/2006/main">
            <a:off x="6400800" y="4314825"/>
            <a:ext cx="5181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Reconnect and missing-history recovery</a:t>
            </a:r>
          </a:p>
        </p:txBody>
      </p:sp>
      <p:sp>
        <p:nvSpPr>
          <p:cNvPr id="13" name="Atoms, molecules, organisms, templates">
            <a:extLst xmlns:a="http://schemas.openxmlformats.org/drawingml/2006/main">
              <a:ext uri="{FF2B5EF4-FFF2-40B4-BE49-F238E27FC236}">
                <a16:creationId xmlns:a16="http://schemas.microsoft.com/office/drawing/2014/main" id="{12823547-2841-49D6-95BA-E419F82AFB39}"/>
              </a:ext>
            </a:extLst>
          </p:cNvPr>
          <p:cNvSpPr>
            <a:spLocks xmlns:a="http://schemas.openxmlformats.org/drawingml/2006/main" noGrp="1"/>
          </p:cNvSpPr>
          <p:nvPr/>
        </p:nvSpPr>
        <p:spPr>
          <a:xfrm xmlns:a="http://schemas.openxmlformats.org/drawingml/2006/main">
            <a:off x="6400800" y="5191125"/>
            <a:ext cx="5181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747"/>
                </a:solidFill>
                <a:latin typeface="Arial"/>
                <a:ea typeface="Arial"/>
                <a:cs typeface="Arial"/>
              </a:defRPr>
            </a:defPPr>
          </a:lstStyle>
          <a:p xmlns:a="http://schemas.openxmlformats.org/drawingml/2006/main">
            <a:pPr algn="l">
              <a:buNone/>
              <a:defRPr sz="1800" b="0">
                <a:solidFill>
                  <a:srgbClr val="203747"/>
                </a:solidFill>
                <a:latin typeface="Arial"/>
                <a:ea typeface="Arial"/>
                <a:cs typeface="Arial"/>
              </a:defRPr>
            </a:pPr>
            <a:r>
              <a:rPr sz="1800" b="0">
                <a:solidFill>
                  <a:srgbClr val="203747"/>
                </a:solidFill>
                <a:latin typeface="Arial"/>
                <a:ea typeface="Arial"/>
                <a:cs typeface="Arial"/>
              </a:rPr>
              <a:t>Atoms, molecules, organisms, templates</a:t>
            </a:r>
          </a:p>
        </p:txBody>
      </p:sp>
      <p:sp>
        <p:nvSpPr>
          <p:cNvPr id="14" name="Dashboard actions remain a P00 scope decision. Any enabled command ret">
            <a:extLst xmlns:a="http://schemas.openxmlformats.org/drawingml/2006/main">
              <a:ext uri="{FF2B5EF4-FFF2-40B4-BE49-F238E27FC236}">
                <a16:creationId xmlns:a16="http://schemas.microsoft.com/office/drawing/2014/main" id="{9F8F1F2B-242A-4CDF-88F6-07CD9B49A60C}"/>
              </a:ext>
            </a:extLst>
          </p:cNvPr>
          <p:cNvSpPr>
            <a:spLocks xmlns:a="http://schemas.openxmlformats.org/drawingml/2006/main" noGrp="1"/>
          </p:cNvSpPr>
          <p:nvPr/>
        </p:nvSpPr>
        <p:spPr>
          <a:xfrm xmlns:a="http://schemas.openxmlformats.org/drawingml/2006/main">
            <a:off x="609600" y="5991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Dashboard actions remain a P00 scope decision. Any enabled command returns to its owner.</a:t>
            </a:r>
          </a:p>
        </p:txBody>
      </p:sp>
    </p:spTree>
    <p:extLst>
      <p:ext uri="{BB962C8B-B14F-4D97-AF65-F5344CB8AC3E}">
        <p14:creationId xmlns:p14="http://schemas.microsoft.com/office/powerpoint/2010/main" val="794696615"/>
      </p:ext>
    </p:extLst>
  </p:cSld>
</p:sld>
</file>

<file path=ppt/slides/slide1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10BF92EC-E338-4498-ADE9-4B3222E10B84}"/>
              </a:ext>
            </a:extLst>
          </p:cNvPr>
          <p:cNvCxnSpPr>
            <a:stCxn xmlns:a="http://schemas.openxmlformats.org/drawingml/2006/main" id="9" idx="1"/>
            <a:endCxn xmlns:a="http://schemas.openxmlformats.org/drawingml/2006/main" id="10" idx="3"/>
          </p:cNvCxnSpPr>
          <p:nvPr/>
        </p:nvCxnSpPr>
        <p:spPr>
          <a:xfrm xmlns:a="http://schemas.openxmlformats.org/drawingml/2006/main" flipH="1">
            <a:off x="3609975" y="4705350"/>
            <a:ext cx="9715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BF938E0B-EA87-4624-8646-789184968319}"/>
              </a:ext>
            </a:extLst>
          </p:cNvPr>
          <p:cNvCxnSpPr>
            <a:stCxn xmlns:a="http://schemas.openxmlformats.org/drawingml/2006/main" id="8" idx="1"/>
            <a:endCxn xmlns:a="http://schemas.openxmlformats.org/drawingml/2006/main" id="9" idx="3"/>
          </p:cNvCxnSpPr>
          <p:nvPr/>
        </p:nvCxnSpPr>
        <p:spPr>
          <a:xfrm xmlns:a="http://schemas.openxmlformats.org/drawingml/2006/main" flipH="1">
            <a:off x="7581900" y="4705350"/>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1405EE07-C2FA-447A-86AC-7F795105A86D}"/>
              </a:ext>
            </a:extLst>
          </p:cNvPr>
          <p:cNvCxnSpPr>
            <a:stCxn xmlns:a="http://schemas.openxmlformats.org/drawingml/2006/main" id="5" idx="2"/>
            <a:endCxn xmlns:a="http://schemas.openxmlformats.org/drawingml/2006/main" id="8" idx="0"/>
          </p:cNvCxnSpPr>
          <p:nvPr/>
        </p:nvCxnSpPr>
        <p:spPr>
          <a:xfrm xmlns:a="http://schemas.openxmlformats.org/drawingml/2006/main">
            <a:off x="10082213" y="2838450"/>
            <a:ext cx="0" cy="134302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A76D0250-FE49-4062-B659-FE9D4925E61B}"/>
              </a:ext>
            </a:extLst>
          </p:cNvPr>
          <p:cNvCxnSpPr>
            <a:stCxn xmlns:a="http://schemas.openxmlformats.org/drawingml/2006/main" id="4" idx="3"/>
            <a:endCxn xmlns:a="http://schemas.openxmlformats.org/drawingml/2006/main" id="5" idx="1"/>
          </p:cNvCxnSpPr>
          <p:nvPr/>
        </p:nvCxnSpPr>
        <p:spPr>
          <a:xfrm xmlns:a="http://schemas.openxmlformats.org/drawingml/2006/main">
            <a:off x="7581900" y="2366963"/>
            <a:ext cx="100012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C50EC9B7-2179-4841-AA66-504B659D1587}"/>
              </a:ext>
            </a:extLst>
          </p:cNvPr>
          <p:cNvCxnSpPr>
            <a:stCxn xmlns:a="http://schemas.openxmlformats.org/drawingml/2006/main" id="3" idx="3"/>
            <a:endCxn xmlns:a="http://schemas.openxmlformats.org/drawingml/2006/main" id="4" idx="1"/>
          </p:cNvCxnSpPr>
          <p:nvPr/>
        </p:nvCxnSpPr>
        <p:spPr>
          <a:xfrm xmlns:a="http://schemas.openxmlformats.org/drawingml/2006/main">
            <a:off x="3609975" y="2366963"/>
            <a:ext cx="97155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Optional Jev decision pipeline">
            <a:extLst xmlns:a="http://schemas.openxmlformats.org/drawingml/2006/main">
              <a:ext uri="{FF2B5EF4-FFF2-40B4-BE49-F238E27FC236}">
                <a16:creationId xmlns:a16="http://schemas.microsoft.com/office/drawing/2014/main" id="{D399DEA9-FA06-4EC5-98AA-AF6B7247B4F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Optional Jev decision pipeline</a:t>
            </a:r>
          </a:p>
        </p:txBody>
      </p:sp>
      <p:sp>
        <p:nvSpPr>
          <p:cNvPr id="2" name="14">
            <a:extLst xmlns:a="http://schemas.openxmlformats.org/drawingml/2006/main">
              <a:ext uri="{FF2B5EF4-FFF2-40B4-BE49-F238E27FC236}">
                <a16:creationId xmlns:a16="http://schemas.microsoft.com/office/drawing/2014/main" id="{A9E2995A-18EB-4ABE-9ACD-AB365884DE36}"/>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14</a:t>
            </a:r>
          </a:p>
        </p:txBody>
      </p:sp>
      <p:sp>
        <p:nvSpPr>
          <p:cNvPr id="3" name="Exact eligibility&#10;and export policy">
            <a:extLst xmlns:a="http://schemas.openxmlformats.org/drawingml/2006/main">
              <a:ext uri="{FF2B5EF4-FFF2-40B4-BE49-F238E27FC236}">
                <a16:creationId xmlns:a16="http://schemas.microsoft.com/office/drawing/2014/main" id="{E8BAE7AA-AD68-428F-9763-7338F9F29C6D}"/>
              </a:ext>
            </a:extLst>
          </p:cNvPr>
          <p:cNvSpPr>
            <a:spLocks xmlns:a="http://schemas.openxmlformats.org/drawingml/2006/main" noGrp="1"/>
          </p:cNvSpPr>
          <p:nvPr/>
        </p:nvSpPr>
        <p:spPr>
          <a:xfrm xmlns:a="http://schemas.openxmlformats.org/drawingml/2006/main">
            <a:off x="609600"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Exact eligibility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export policy</a:t>
            </a:r>
          </a:p>
        </p:txBody>
      </p:sp>
      <p:sp>
        <p:nvSpPr>
          <p:cNvPr id="4" name="Bounded evidence&#10;and versioned question">
            <a:extLst xmlns:a="http://schemas.openxmlformats.org/drawingml/2006/main">
              <a:ext uri="{FF2B5EF4-FFF2-40B4-BE49-F238E27FC236}">
                <a16:creationId xmlns:a16="http://schemas.microsoft.com/office/drawing/2014/main" id="{256B4314-BB9A-490C-885B-7A2B3ECE1562}"/>
              </a:ext>
            </a:extLst>
          </p:cNvPr>
          <p:cNvSpPr>
            <a:spLocks xmlns:a="http://schemas.openxmlformats.org/drawingml/2006/main" noGrp="1"/>
          </p:cNvSpPr>
          <p:nvPr/>
        </p:nvSpPr>
        <p:spPr>
          <a:xfrm xmlns:a="http://schemas.openxmlformats.org/drawingml/2006/main">
            <a:off x="4581525"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Bounded evidence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versioned question</a:t>
            </a:r>
          </a:p>
        </p:txBody>
      </p:sp>
      <p:sp>
        <p:nvSpPr>
          <p:cNvPr id="5" name="Optional Jev&#10;decision">
            <a:extLst xmlns:a="http://schemas.openxmlformats.org/drawingml/2006/main">
              <a:ext uri="{FF2B5EF4-FFF2-40B4-BE49-F238E27FC236}">
                <a16:creationId xmlns:a16="http://schemas.microsoft.com/office/drawing/2014/main" id="{FA79AF79-7D97-44CF-BA29-D4E6FD2276F9}"/>
              </a:ext>
            </a:extLst>
          </p:cNvPr>
          <p:cNvSpPr>
            <a:spLocks xmlns:a="http://schemas.openxmlformats.org/drawingml/2006/main" noGrp="1"/>
          </p:cNvSpPr>
          <p:nvPr/>
        </p:nvSpPr>
        <p:spPr>
          <a:xfrm xmlns:a="http://schemas.openxmlformats.org/drawingml/2006/main">
            <a:off x="8582025" y="1895475"/>
            <a:ext cx="3000375" cy="9429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Optional Jev</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decision</a:t>
            </a:r>
          </a:p>
        </p:txBody>
      </p:sp>
      <p:sp>
        <p:nvSpPr>
          <p:cNvPr id="8" name="Deterministic policy&#10;and revalidation">
            <a:extLst xmlns:a="http://schemas.openxmlformats.org/drawingml/2006/main">
              <a:ext uri="{FF2B5EF4-FFF2-40B4-BE49-F238E27FC236}">
                <a16:creationId xmlns:a16="http://schemas.microsoft.com/office/drawing/2014/main" id="{95FC6B1E-3606-4B16-BA52-1920DEFD98DC}"/>
              </a:ext>
            </a:extLst>
          </p:cNvPr>
          <p:cNvSpPr>
            <a:spLocks xmlns:a="http://schemas.openxmlformats.org/drawingml/2006/main" noGrp="1"/>
          </p:cNvSpPr>
          <p:nvPr/>
        </p:nvSpPr>
        <p:spPr>
          <a:xfrm xmlns:a="http://schemas.openxmlformats.org/drawingml/2006/main">
            <a:off x="8582025"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Deterministic policy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revalidation</a:t>
            </a:r>
          </a:p>
        </p:txBody>
      </p:sp>
      <p:sp>
        <p:nvSpPr>
          <p:cNvPr id="9" name="Authorized owner&#10;executes or abstains">
            <a:extLst xmlns:a="http://schemas.openxmlformats.org/drawingml/2006/main">
              <a:ext uri="{FF2B5EF4-FFF2-40B4-BE49-F238E27FC236}">
                <a16:creationId xmlns:a16="http://schemas.microsoft.com/office/drawing/2014/main" id="{F4D4B405-ED27-4080-9CF1-6E7F8CAE8295}"/>
              </a:ext>
            </a:extLst>
          </p:cNvPr>
          <p:cNvSpPr>
            <a:spLocks xmlns:a="http://schemas.openxmlformats.org/drawingml/2006/main" noGrp="1"/>
          </p:cNvSpPr>
          <p:nvPr/>
        </p:nvSpPr>
        <p:spPr>
          <a:xfrm xmlns:a="http://schemas.openxmlformats.org/drawingml/2006/main">
            <a:off x="4581525"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Authorized owner</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executes or abstains</a:t>
            </a:r>
          </a:p>
        </p:txBody>
      </p:sp>
      <p:sp>
        <p:nvSpPr>
          <p:cNvPr id="10" name="Decision and&#10;outcome evidence">
            <a:extLst xmlns:a="http://schemas.openxmlformats.org/drawingml/2006/main">
              <a:ext uri="{FF2B5EF4-FFF2-40B4-BE49-F238E27FC236}">
                <a16:creationId xmlns:a16="http://schemas.microsoft.com/office/drawing/2014/main" id="{B75982C6-FBD6-4DC4-AE3A-C11843D57747}"/>
              </a:ext>
            </a:extLst>
          </p:cNvPr>
          <p:cNvSpPr>
            <a:spLocks xmlns:a="http://schemas.openxmlformats.org/drawingml/2006/main" noGrp="1"/>
          </p:cNvSpPr>
          <p:nvPr/>
        </p:nvSpPr>
        <p:spPr>
          <a:xfrm xmlns:a="http://schemas.openxmlformats.org/drawingml/2006/main">
            <a:off x="609600" y="4181475"/>
            <a:ext cx="3000375" cy="10477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Decision and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outcome evidence</a:t>
            </a:r>
          </a:p>
        </p:txBody>
      </p:sp>
      <p:sp>
        <p:nvSpPr>
          <p:cNvPr id="14" name="Jev advice cannot grant permissions, release reservations or accept a ">
            <a:extLst xmlns:a="http://schemas.openxmlformats.org/drawingml/2006/main">
              <a:ext uri="{FF2B5EF4-FFF2-40B4-BE49-F238E27FC236}">
                <a16:creationId xmlns:a16="http://schemas.microsoft.com/office/drawing/2014/main" id="{4D534502-132F-4879-970D-18F4467CA9B6}"/>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Jev advice cannot grant permissions, release reservations or accept a result.</a:t>
            </a:r>
          </a:p>
        </p:txBody>
      </p:sp>
    </p:spTree>
    <p:extLst>
      <p:ext uri="{BB962C8B-B14F-4D97-AF65-F5344CB8AC3E}">
        <p14:creationId xmlns:p14="http://schemas.microsoft.com/office/powerpoint/2010/main" val="1237033474"/>
      </p:ext>
    </p:extLst>
  </p:cSld>
</p:sld>
</file>

<file path=ppt/slides/slide1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7" name="Measuring token and cost savings">
            <a:extLst xmlns:a="http://schemas.openxmlformats.org/drawingml/2006/main">
              <a:ext uri="{FF2B5EF4-FFF2-40B4-BE49-F238E27FC236}">
                <a16:creationId xmlns:a16="http://schemas.microsoft.com/office/drawing/2014/main" id="{39D5C08E-51E7-4D46-B66B-69FC1072EFB7}"/>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Measuring token and cost savings</a:t>
            </a:r>
          </a:p>
        </p:txBody>
      </p:sp>
      <p:sp>
        <p:nvSpPr>
          <p:cNvPr id="2" name="15">
            <a:extLst xmlns:a="http://schemas.openxmlformats.org/drawingml/2006/main">
              <a:ext uri="{FF2B5EF4-FFF2-40B4-BE49-F238E27FC236}">
                <a16:creationId xmlns:a16="http://schemas.microsoft.com/office/drawing/2014/main" id="{73BB0433-FD2F-45FD-9E93-53B9196A3ED9}"/>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15</a:t>
            </a:r>
          </a:p>
        </p:txBody>
      </p:sp>
      <p:graphicFrame>
        <p:nvGraphicFramePr>
          <p:cNvPr id="3" name="">
            <a:extLst xmlns:a="http://schemas.openxmlformats.org/drawingml/2006/main">
              <a:ext uri="{FF2B5EF4-FFF2-40B4-BE49-F238E27FC236}">
                <a16:creationId xmlns:a16="http://schemas.microsoft.com/office/drawing/2014/main" id="{8FBC2E80-2EF0-4205-8D16-5F14AF913466}"/>
              </a:ext>
            </a:extLst>
          </p:cNvPr>
          <p:cNvGraphicFramePr/>
          <p:nvPr/>
        </p:nvGraphicFramePr>
        <p:xfrm>
          <a:off xmlns:a="http://schemas.openxmlformats.org/drawingml/2006/main" x="609600" y="1752600"/>
          <a:ext xmlns:a="http://schemas.openxmlformats.org/drawingml/2006/main" cx="10972800" cy="2581275"/>
        </p:xfrm>
        <a:graphic xmlns:a="http://schemas.openxmlformats.org/drawingml/2006/main">
          <a:graphicData uri="http://schemas.openxmlformats.org/drawingml/2006/table">
            <a:tbl>
              <a:tblPr/>
              <a:tblGrid>
                <a:gridCol w="3333750"/>
                <a:gridCol w="7639050"/>
              </a:tblGrid>
              <a:tr h="645319">
                <a:tc>
                  <a:txBody>
                    <a:bodyPr lIns="95250" tIns="95250" rIns="95250" bIns="95250"/>
                    <a:lstStyle/>
                    <a:p>
                      <a:r>
                        <a:rPr sz="1950" b="1">
                          <a:solidFill>
                            <a:srgbClr val="FFFFFF"/>
                          </a:solidFill>
                          <a:latin typeface="Arial"/>
                          <a:ea typeface="Arial"/>
                          <a:cs typeface="Arial"/>
                        </a:rPr>
                        <a:t>Comparison</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Measure on equivalent tasks</a:t>
                      </a:r>
                    </a:p>
                  </a:txBody>
                  <a:tcPr marL="91440" marR="91440" marT="45720" marB="45720" anchor="ctr">
                    <a:solidFill>
                      <a:srgbClr val="152E42"/>
                    </a:solidFill>
                  </a:tcPr>
                </a:tc>
              </a:tr>
              <a:tr h="645319">
                <a:tc>
                  <a:txBody>
                    <a:bodyPr lIns="95250" tIns="95250" rIns="95250" bIns="95250"/>
                    <a:lstStyle/>
                    <a:p>
                      <a:r>
                        <a:rPr sz="1950" b="0">
                          <a:solidFill>
                            <a:srgbClr val="203747"/>
                          </a:solidFill>
                          <a:latin typeface="Arial"/>
                          <a:ea typeface="Arial"/>
                          <a:cs typeface="Arial"/>
                        </a:rPr>
                        <a:t>Existing workflow</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Accepted outcomes, engineer time, tokens and total cost</a:t>
                      </a:r>
                    </a:p>
                  </a:txBody>
                  <a:tcPr marL="91440" marR="91440" marT="45720" marB="45720" anchor="ctr">
                    <a:solidFill>
                      <a:srgbClr val="F8F7F2"/>
                    </a:solidFill>
                  </a:tcPr>
                </a:tc>
              </a:tr>
              <a:tr h="645319">
                <a:tc>
                  <a:txBody>
                    <a:bodyPr lIns="95250" tIns="95250" rIns="95250" bIns="95250"/>
                    <a:lstStyle/>
                    <a:p>
                      <a:r>
                        <a:rPr sz="1950" b="0">
                          <a:solidFill>
                            <a:srgbClr val="203747"/>
                          </a:solidFill>
                          <a:latin typeface="Arial"/>
                          <a:ea typeface="Arial"/>
                          <a:cs typeface="Arial"/>
                        </a:rPr>
                        <a:t>Jev tools</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Add Jev cost, retries, failed calls and cache changes</a:t>
                      </a:r>
                    </a:p>
                  </a:txBody>
                  <a:tcPr marL="91440" marR="91440" marT="45720" marB="45720" anchor="ctr">
                    <a:solidFill>
                      <a:srgbClr val="EEF2EF"/>
                    </a:solidFill>
                  </a:tcPr>
                </a:tc>
              </a:tr>
              <a:tr h="645319">
                <a:tc>
                  <a:txBody>
                    <a:bodyPr lIns="95250" tIns="95250" rIns="95250" bIns="95250"/>
                    <a:lstStyle/>
                    <a:p>
                      <a:r>
                        <a:rPr sz="1950" b="0">
                          <a:solidFill>
                            <a:srgbClr val="203747"/>
                          </a:solidFill>
                          <a:latin typeface="Arial"/>
                          <a:ea typeface="Arial"/>
                          <a:cs typeface="Arial"/>
                        </a:rPr>
                        <a:t>Jev tools plus skills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Add trigger accuracy, evidence retention and rework</a:t>
                      </a:r>
                    </a:p>
                  </a:txBody>
                  <a:tcPr marL="91440" marR="91440" marT="45720" marB="45720" anchor="ctr">
                    <a:solidFill>
                      <a:srgbClr val="F8F7F2"/>
                    </a:solidFill>
                  </a:tcPr>
                </a:tc>
              </a:tr>
            </a:tbl>
          </a:graphicData>
        </a:graphic>
      </p:graphicFrame>
      <p:sp>
        <p:nvSpPr>
          <p:cNvPr id="4" name="Proposed activation threshold">
            <a:extLst xmlns:a="http://schemas.openxmlformats.org/drawingml/2006/main">
              <a:ext uri="{FF2B5EF4-FFF2-40B4-BE49-F238E27FC236}">
                <a16:creationId xmlns:a16="http://schemas.microsoft.com/office/drawing/2014/main" id="{773D82AB-E504-4F03-BD22-29DE3517A1F1}"/>
              </a:ext>
            </a:extLst>
          </p:cNvPr>
          <p:cNvSpPr>
            <a:spLocks xmlns:a="http://schemas.openxmlformats.org/drawingml/2006/main" noGrp="1"/>
          </p:cNvSpPr>
          <p:nvPr/>
        </p:nvSpPr>
        <p:spPr>
          <a:xfrm xmlns:a="http://schemas.openxmlformats.org/drawingml/2006/main">
            <a:off x="609600" y="46958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Proposed activation threshold</a:t>
            </a:r>
          </a:p>
        </p:txBody>
      </p:sp>
      <p:sp>
        <p:nvSpPr>
          <p:cNvPr id="5" name="At least 10% lower total cost per accepted outcome, with approved qual">
            <a:extLst xmlns:a="http://schemas.openxmlformats.org/drawingml/2006/main">
              <a:ext uri="{FF2B5EF4-FFF2-40B4-BE49-F238E27FC236}">
                <a16:creationId xmlns:a16="http://schemas.microsoft.com/office/drawing/2014/main" id="{F31BBA18-CA27-40F3-A8C6-A607E517836C}"/>
              </a:ext>
            </a:extLst>
          </p:cNvPr>
          <p:cNvSpPr>
            <a:spLocks xmlns:a="http://schemas.openxmlformats.org/drawingml/2006/main" noGrp="1"/>
          </p:cNvSpPr>
          <p:nvPr/>
        </p:nvSpPr>
        <p:spPr>
          <a:xfrm xmlns:a="http://schemas.openxmlformats.org/drawingml/2006/main">
            <a:off x="609600" y="51720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At least 10% lower total cost per accepted outcome, with approved quality limits</a:t>
            </a:r>
          </a:p>
        </p:txBody>
      </p:sp>
      <p:sp>
        <p:nvSpPr>
          <p:cNvPr id="6" name="Fewer downstream tokens can still cost more when prompt caching deteri">
            <a:extLst xmlns:a="http://schemas.openxmlformats.org/drawingml/2006/main">
              <a:ext uri="{FF2B5EF4-FFF2-40B4-BE49-F238E27FC236}">
                <a16:creationId xmlns:a16="http://schemas.microsoft.com/office/drawing/2014/main" id="{02B0FB73-7D69-43AE-A67F-1308ECD5226D}"/>
              </a:ext>
            </a:extLst>
          </p:cNvPr>
          <p:cNvSpPr>
            <a:spLocks xmlns:a="http://schemas.openxmlformats.org/drawingml/2006/main" noGrp="1"/>
          </p:cNvSpPr>
          <p:nvPr/>
        </p:nvSpPr>
        <p:spPr>
          <a:xfrm xmlns:a="http://schemas.openxmlformats.org/drawingml/2006/main">
            <a:off x="609600" y="600075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Fewer downstream tokens can still cost more when prompt caching deteriorates.</a:t>
            </a:r>
          </a:p>
        </p:txBody>
      </p:sp>
    </p:spTree>
    <p:extLst>
      <p:ext uri="{BB962C8B-B14F-4D97-AF65-F5344CB8AC3E}">
        <p14:creationId xmlns:p14="http://schemas.microsoft.com/office/powerpoint/2010/main" val="1954596387"/>
      </p:ext>
    </p:extLst>
  </p:cSld>
</p:sld>
</file>

<file path=ppt/slides/slide1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0" name="Portable Jev and Agentmux skills">
            <a:extLst xmlns:a="http://schemas.openxmlformats.org/drawingml/2006/main">
              <a:ext uri="{FF2B5EF4-FFF2-40B4-BE49-F238E27FC236}">
                <a16:creationId xmlns:a16="http://schemas.microsoft.com/office/drawing/2014/main" id="{3C67E8A2-1B12-4F42-96B6-4D2CAA2C845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Portable Jev and Agentmux skills</a:t>
            </a:r>
          </a:p>
        </p:txBody>
      </p:sp>
      <p:sp>
        <p:nvSpPr>
          <p:cNvPr id="2" name="16">
            <a:extLst xmlns:a="http://schemas.openxmlformats.org/drawingml/2006/main">
              <a:ext uri="{FF2B5EF4-FFF2-40B4-BE49-F238E27FC236}">
                <a16:creationId xmlns:a16="http://schemas.microsoft.com/office/drawing/2014/main" id="{BAB7F782-ADA2-4C0B-A959-CE4A73D3D4B6}"/>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16</a:t>
            </a:r>
          </a:p>
        </p:txBody>
      </p:sp>
      <p:sp>
        <p:nvSpPr>
          <p:cNvPr id="3" name="Portable jev plugin: 13 proposed skills">
            <a:extLst xmlns:a="http://schemas.openxmlformats.org/drawingml/2006/main">
              <a:ext uri="{FF2B5EF4-FFF2-40B4-BE49-F238E27FC236}">
                <a16:creationId xmlns:a16="http://schemas.microsoft.com/office/drawing/2014/main" id="{22EEB41D-2142-4D54-A13F-0FC28780867F}"/>
              </a:ext>
            </a:extLst>
          </p:cNvPr>
          <p:cNvSpPr>
            <a:spLocks xmlns:a="http://schemas.openxmlformats.org/drawingml/2006/main" noGrp="1"/>
          </p:cNvSpPr>
          <p:nvPr/>
        </p:nvSpPr>
        <p:spPr>
          <a:xfrm xmlns:a="http://schemas.openxmlformats.org/drawingml/2006/main">
            <a:off x="609600" y="17240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Portable jev plugin: 13 proposed skills</a:t>
            </a:r>
          </a:p>
        </p:txBody>
      </p:sp>
      <p:sp>
        <p:nvSpPr>
          <p:cNvPr id="4" name="Bounded classification, source inspection, evidence checks and context">
            <a:extLst xmlns:a="http://schemas.openxmlformats.org/drawingml/2006/main">
              <a:ext uri="{FF2B5EF4-FFF2-40B4-BE49-F238E27FC236}">
                <a16:creationId xmlns:a16="http://schemas.microsoft.com/office/drawing/2014/main" id="{3743BA56-A9D5-4149-A1AD-F5267F00BD04}"/>
              </a:ext>
            </a:extLst>
          </p:cNvPr>
          <p:cNvSpPr>
            <a:spLocks xmlns:a="http://schemas.openxmlformats.org/drawingml/2006/main" noGrp="1"/>
          </p:cNvSpPr>
          <p:nvPr/>
        </p:nvSpPr>
        <p:spPr>
          <a:xfrm xmlns:a="http://schemas.openxmlformats.org/drawingml/2006/main">
            <a:off x="609600" y="2095500"/>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Bounded classification, source inspection, evidence checks and context selection</a:t>
            </a:r>
          </a:p>
        </p:txBody>
      </p:sp>
      <p:sp>
        <p:nvSpPr>
          <p:cNvPr id="5" name="Agentmux integrations: 10 proposed skills">
            <a:extLst xmlns:a="http://schemas.openxmlformats.org/drawingml/2006/main">
              <a:ext uri="{FF2B5EF4-FFF2-40B4-BE49-F238E27FC236}">
                <a16:creationId xmlns:a16="http://schemas.microsoft.com/office/drawing/2014/main" id="{EC39C8FB-8F10-403F-949C-A52080B3B9A7}"/>
              </a:ext>
            </a:extLst>
          </p:cNvPr>
          <p:cNvSpPr>
            <a:spLocks xmlns:a="http://schemas.openxmlformats.org/drawingml/2006/main" noGrp="1"/>
          </p:cNvSpPr>
          <p:nvPr/>
        </p:nvSpPr>
        <p:spPr>
          <a:xfrm xmlns:a="http://schemas.openxmlformats.org/drawingml/2006/main">
            <a:off x="609600" y="293370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Agentmux integrations: 10 proposed skills</a:t>
            </a:r>
          </a:p>
        </p:txBody>
      </p:sp>
      <p:sp>
        <p:nvSpPr>
          <p:cNvPr id="6" name="Task and delegation advice using scoped hub contracts">
            <a:extLst xmlns:a="http://schemas.openxmlformats.org/drawingml/2006/main">
              <a:ext uri="{FF2B5EF4-FFF2-40B4-BE49-F238E27FC236}">
                <a16:creationId xmlns:a16="http://schemas.microsoft.com/office/drawing/2014/main" id="{C37CE7CF-B329-47BA-9BB5-1AE12F42B385}"/>
              </a:ext>
            </a:extLst>
          </p:cNvPr>
          <p:cNvSpPr>
            <a:spLocks xmlns:a="http://schemas.openxmlformats.org/drawingml/2006/main" noGrp="1"/>
          </p:cNvSpPr>
          <p:nvPr/>
        </p:nvSpPr>
        <p:spPr>
          <a:xfrm xmlns:a="http://schemas.openxmlformats.org/drawingml/2006/main">
            <a:off x="609600" y="3305175"/>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Task and delegation advice using scoped hub contracts</a:t>
            </a:r>
          </a:p>
        </p:txBody>
      </p:sp>
      <p:sp>
        <p:nvSpPr>
          <p:cNvPr id="7" name="Industrial packages: 3 proposed skills">
            <a:extLst xmlns:a="http://schemas.openxmlformats.org/drawingml/2006/main">
              <a:ext uri="{FF2B5EF4-FFF2-40B4-BE49-F238E27FC236}">
                <a16:creationId xmlns:a16="http://schemas.microsoft.com/office/drawing/2014/main" id="{645EF96B-FFCA-4ADF-842B-ABB5A01760C2}"/>
              </a:ext>
            </a:extLst>
          </p:cNvPr>
          <p:cNvSpPr>
            <a:spLocks xmlns:a="http://schemas.openxmlformats.org/drawingml/2006/main" noGrp="1"/>
          </p:cNvSpPr>
          <p:nvPr/>
        </p:nvSpPr>
        <p:spPr>
          <a:xfrm xmlns:a="http://schemas.openxmlformats.org/drawingml/2006/main">
            <a:off x="609600" y="41433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Industrial packages: 3 proposed skills</a:t>
            </a:r>
          </a:p>
        </p:txBody>
      </p:sp>
      <p:sp>
        <p:nvSpPr>
          <p:cNvPr id="8" name="Engineering evidence and diagnostics within declared domain permission">
            <a:extLst xmlns:a="http://schemas.openxmlformats.org/drawingml/2006/main">
              <a:ext uri="{FF2B5EF4-FFF2-40B4-BE49-F238E27FC236}">
                <a16:creationId xmlns:a16="http://schemas.microsoft.com/office/drawing/2014/main" id="{9BCEEB3E-0AB2-46C6-BBF9-A34DC1C9990C}"/>
              </a:ext>
            </a:extLst>
          </p:cNvPr>
          <p:cNvSpPr>
            <a:spLocks xmlns:a="http://schemas.openxmlformats.org/drawingml/2006/main" noGrp="1"/>
          </p:cNvSpPr>
          <p:nvPr/>
        </p:nvSpPr>
        <p:spPr>
          <a:xfrm xmlns:a="http://schemas.openxmlformats.org/drawingml/2006/main">
            <a:off x="609600" y="4514850"/>
            <a:ext cx="107442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Engineering evidence and diagnostics within declared domain permissions</a:t>
            </a:r>
          </a:p>
        </p:txBody>
      </p:sp>
      <p:sp>
        <p:nvSpPr>
          <p:cNvPr id="9" name="Shared runtime, distinct skill triggers, host-specific packaging and a">
            <a:extLst xmlns:a="http://schemas.openxmlformats.org/drawingml/2006/main">
              <a:ext uri="{FF2B5EF4-FFF2-40B4-BE49-F238E27FC236}">
                <a16:creationId xmlns:a16="http://schemas.microsoft.com/office/drawing/2014/main" id="{92331312-098D-4D97-B1A0-5F546B71C010}"/>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Shared runtime, distinct skill triggers, host-specific packaging and actual-host evaluation.</a:t>
            </a:r>
          </a:p>
        </p:txBody>
      </p:sp>
    </p:spTree>
    <p:extLst>
      <p:ext uri="{BB962C8B-B14F-4D97-AF65-F5344CB8AC3E}">
        <p14:creationId xmlns:p14="http://schemas.microsoft.com/office/powerpoint/2010/main" val="1548703088"/>
      </p:ext>
    </p:extLst>
  </p:cSld>
</p:sld>
</file>

<file path=ppt/slides/slide1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D3892D6B-649E-47A7-BCE7-B6DDC851FDDF}"/>
              </a:ext>
            </a:extLst>
          </p:cNvPr>
          <p:cNvCxnSpPr>
            <a:stCxn xmlns:a="http://schemas.openxmlformats.org/drawingml/2006/main" id="4" idx="3"/>
            <a:endCxn xmlns:a="http://schemas.openxmlformats.org/drawingml/2006/main" id="5" idx="1"/>
          </p:cNvCxnSpPr>
          <p:nvPr/>
        </p:nvCxnSpPr>
        <p:spPr>
          <a:xfrm xmlns:a="http://schemas.openxmlformats.org/drawingml/2006/main">
            <a:off x="5800725" y="3857625"/>
            <a:ext cx="1209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6" name="">
            <a:extLst xmlns:a="http://schemas.openxmlformats.org/drawingml/2006/main">
              <a:ext uri="{FF2B5EF4-FFF2-40B4-BE49-F238E27FC236}">
                <a16:creationId xmlns:a16="http://schemas.microsoft.com/office/drawing/2014/main" id="{59DA2871-F7D9-42DE-870A-29B2D0D760EC}"/>
              </a:ext>
            </a:extLst>
          </p:cNvPr>
          <p:cNvCxnSpPr>
            <a:stCxn xmlns:a="http://schemas.openxmlformats.org/drawingml/2006/main" id="3" idx="2"/>
            <a:endCxn xmlns:a="http://schemas.openxmlformats.org/drawingml/2006/main" id="4" idx="0"/>
          </p:cNvCxnSpPr>
          <p:nvPr/>
        </p:nvCxnSpPr>
        <p:spPr>
          <a:xfrm xmlns:a="http://schemas.openxmlformats.org/drawingml/2006/main" flipH="1">
            <a:off x="3205163" y="2419350"/>
            <a:ext cx="2890838" cy="866775"/>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0" name="Industrial extension packages">
            <a:extLst xmlns:a="http://schemas.openxmlformats.org/drawingml/2006/main">
              <a:ext uri="{FF2B5EF4-FFF2-40B4-BE49-F238E27FC236}">
                <a16:creationId xmlns:a16="http://schemas.microsoft.com/office/drawing/2014/main" id="{97DDE348-FE05-4353-8F2A-0AF70BBFAF66}"/>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Industrial extension packages</a:t>
            </a:r>
          </a:p>
        </p:txBody>
      </p:sp>
      <p:sp>
        <p:nvSpPr>
          <p:cNvPr id="2" name="17">
            <a:extLst xmlns:a="http://schemas.openxmlformats.org/drawingml/2006/main">
              <a:ext uri="{FF2B5EF4-FFF2-40B4-BE49-F238E27FC236}">
                <a16:creationId xmlns:a16="http://schemas.microsoft.com/office/drawing/2014/main" id="{3D148D36-980B-4484-A1CD-6335051ABC9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17</a:t>
            </a:r>
          </a:p>
        </p:txBody>
      </p:sp>
      <p:sp>
        <p:nvSpPr>
          <p:cNvPr id="3" name="General orchestration contracts">
            <a:extLst xmlns:a="http://schemas.openxmlformats.org/drawingml/2006/main">
              <a:ext uri="{FF2B5EF4-FFF2-40B4-BE49-F238E27FC236}">
                <a16:creationId xmlns:a16="http://schemas.microsoft.com/office/drawing/2014/main" id="{CA746018-7397-40FF-B4C0-FC25DE293AD6}"/>
              </a:ext>
            </a:extLst>
          </p:cNvPr>
          <p:cNvSpPr>
            <a:spLocks xmlns:a="http://schemas.openxmlformats.org/drawingml/2006/main" noGrp="1"/>
          </p:cNvSpPr>
          <p:nvPr/>
        </p:nvSpPr>
        <p:spPr>
          <a:xfrm xmlns:a="http://schemas.openxmlformats.org/drawingml/2006/main">
            <a:off x="609600" y="1724025"/>
            <a:ext cx="10972800" cy="695325"/>
          </a:xfrm>
          <a:prstGeom xmlns:a="http://schemas.openxmlformats.org/drawingml/2006/main" prst="rect">
            <a:avLst/>
          </a:prstGeom>
          <a:solidFill xmlns:a="http://schemas.openxmlformats.org/drawingml/2006/main">
            <a:srgbClr val="087E83"/>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2250" b="0">
                <a:solidFill>
                  <a:srgbClr val="FFFFFF"/>
                </a:solidFill>
                <a:latin typeface="Arial"/>
                <a:ea typeface="Arial"/>
                <a:cs typeface="Arial"/>
              </a:defRPr>
            </a:defPPr>
          </a:lstStyle>
          <a:p xmlns:a="http://schemas.openxmlformats.org/drawingml/2006/main">
            <a:pPr algn="ctr">
              <a:buNone/>
              <a:defRPr sz="2250" b="0">
                <a:solidFill>
                  <a:srgbClr val="FFFFFF"/>
                </a:solidFill>
                <a:latin typeface="Arial"/>
                <a:ea typeface="Arial"/>
                <a:cs typeface="Arial"/>
              </a:defRPr>
            </a:pPr>
            <a:r>
              <a:rPr sz="2250" b="0">
                <a:solidFill>
                  <a:srgbClr val="FFFFFF"/>
                </a:solidFill>
                <a:latin typeface="Arial"/>
                <a:ea typeface="Arial"/>
                <a:cs typeface="Arial"/>
              </a:rPr>
              <a:t>General orchestration contracts</a:t>
            </a:r>
          </a:p>
        </p:txBody>
      </p:sp>
      <p:sp>
        <p:nvSpPr>
          <p:cNvPr id="4" name="Industrial engineering package&#10;Guidance, workflows and evidence rules">
            <a:extLst xmlns:a="http://schemas.openxmlformats.org/drawingml/2006/main">
              <a:ext uri="{FF2B5EF4-FFF2-40B4-BE49-F238E27FC236}">
                <a16:creationId xmlns:a16="http://schemas.microsoft.com/office/drawing/2014/main" id="{3851BD67-3286-4A02-A310-5B1280A82638}"/>
              </a:ext>
            </a:extLst>
          </p:cNvPr>
          <p:cNvSpPr>
            <a:spLocks xmlns:a="http://schemas.openxmlformats.org/drawingml/2006/main" noGrp="1"/>
          </p:cNvSpPr>
          <p:nvPr/>
        </p:nvSpPr>
        <p:spPr>
          <a:xfrm xmlns:a="http://schemas.openxmlformats.org/drawingml/2006/main">
            <a:off x="609600" y="3286125"/>
            <a:ext cx="5191125" cy="1143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Industrial engineering package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Guidance, workflows and evidence rules</a:t>
            </a:r>
          </a:p>
        </p:txBody>
      </p:sp>
      <p:sp>
        <p:nvSpPr>
          <p:cNvPr id="5" name="Vendor and tool children&#10;CODESYS / Siemens / Rockwell">
            <a:extLst xmlns:a="http://schemas.openxmlformats.org/drawingml/2006/main">
              <a:ext uri="{FF2B5EF4-FFF2-40B4-BE49-F238E27FC236}">
                <a16:creationId xmlns:a16="http://schemas.microsoft.com/office/drawing/2014/main" id="{B224C762-E208-48AD-B1C5-647117C86B41}"/>
              </a:ext>
            </a:extLst>
          </p:cNvPr>
          <p:cNvSpPr>
            <a:spLocks xmlns:a="http://schemas.openxmlformats.org/drawingml/2006/main" noGrp="1"/>
          </p:cNvSpPr>
          <p:nvPr/>
        </p:nvSpPr>
        <p:spPr>
          <a:xfrm xmlns:a="http://schemas.openxmlformats.org/drawingml/2006/main">
            <a:off x="7010400" y="3286125"/>
            <a:ext cx="4572000" cy="114300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Vendor and tool children</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CODESYS / Siemens / Rockwell</a:t>
            </a:r>
          </a:p>
        </p:txBody>
      </p:sp>
      <p:sp>
        <p:nvSpPr>
          <p:cNvPr id="8" name="Declared execution host and tool versions">
            <a:extLst xmlns:a="http://schemas.openxmlformats.org/drawingml/2006/main">
              <a:ext uri="{FF2B5EF4-FFF2-40B4-BE49-F238E27FC236}">
                <a16:creationId xmlns:a16="http://schemas.microsoft.com/office/drawing/2014/main" id="{E90E9965-78E5-4C37-9433-14AAB8EF7279}"/>
              </a:ext>
            </a:extLst>
          </p:cNvPr>
          <p:cNvSpPr>
            <a:spLocks xmlns:a="http://schemas.openxmlformats.org/drawingml/2006/main" noGrp="1"/>
          </p:cNvSpPr>
          <p:nvPr/>
        </p:nvSpPr>
        <p:spPr>
          <a:xfrm xmlns:a="http://schemas.openxmlformats.org/drawingml/2006/main">
            <a:off x="609600" y="4991100"/>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Declared execution host and tool versions</a:t>
            </a:r>
          </a:p>
        </p:txBody>
      </p:sp>
      <p:sp>
        <p:nvSpPr>
          <p:cNvPr id="9" name="Read, validate and mutate operations have separate permissions and evi">
            <a:extLst xmlns:a="http://schemas.openxmlformats.org/drawingml/2006/main">
              <a:ext uri="{FF2B5EF4-FFF2-40B4-BE49-F238E27FC236}">
                <a16:creationId xmlns:a16="http://schemas.microsoft.com/office/drawing/2014/main" id="{79EC5732-FDD5-42CF-9417-B93AD2FFF598}"/>
              </a:ext>
            </a:extLst>
          </p:cNvPr>
          <p:cNvSpPr>
            <a:spLocks xmlns:a="http://schemas.openxmlformats.org/drawingml/2006/main" noGrp="1"/>
          </p:cNvSpPr>
          <p:nvPr/>
        </p:nvSpPr>
        <p:spPr>
          <a:xfrm xmlns:a="http://schemas.openxmlformats.org/drawingml/2006/main">
            <a:off x="609600" y="5467350"/>
            <a:ext cx="108013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Read, validate and mutate operations have separate permissions and evidence</a:t>
            </a:r>
          </a:p>
        </p:txBody>
      </p:sp>
    </p:spTree>
    <p:extLst>
      <p:ext uri="{BB962C8B-B14F-4D97-AF65-F5344CB8AC3E}">
        <p14:creationId xmlns:p14="http://schemas.microsoft.com/office/powerpoint/2010/main" val="2054007827"/>
      </p:ext>
    </p:extLst>
  </p:cSld>
</p:sld>
</file>

<file path=ppt/slides/slide1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FC1A00B1-BE7D-4E21-AAF5-A77215129B08}"/>
              </a:ext>
            </a:extLst>
          </p:cNvPr>
          <p:cNvCxnSpPr>
            <a:stCxn xmlns:a="http://schemas.openxmlformats.org/drawingml/2006/main" id="5" idx="3"/>
            <a:endCxn xmlns:a="http://schemas.openxmlformats.org/drawingml/2006/main" id="6" idx="1"/>
          </p:cNvCxnSpPr>
          <p:nvPr/>
        </p:nvCxnSpPr>
        <p:spPr>
          <a:xfrm xmlns:a="http://schemas.openxmlformats.org/drawingml/2006/main">
            <a:off x="87249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C21F2BFE-62FE-4957-975B-D71686632AE9}"/>
              </a:ext>
            </a:extLst>
          </p:cNvPr>
          <p:cNvCxnSpPr>
            <a:stCxn xmlns:a="http://schemas.openxmlformats.org/drawingml/2006/main" id="4" idx="3"/>
            <a:endCxn xmlns:a="http://schemas.openxmlformats.org/drawingml/2006/main" id="5" idx="1"/>
          </p:cNvCxnSpPr>
          <p:nvPr/>
        </p:nvCxnSpPr>
        <p:spPr>
          <a:xfrm xmlns:a="http://schemas.openxmlformats.org/drawingml/2006/main">
            <a:off x="58674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AC500550-39D6-4047-BEF0-45716896E828}"/>
              </a:ext>
            </a:extLst>
          </p:cNvPr>
          <p:cNvCxnSpPr>
            <a:stCxn xmlns:a="http://schemas.openxmlformats.org/drawingml/2006/main" id="3" idx="3"/>
            <a:endCxn xmlns:a="http://schemas.openxmlformats.org/drawingml/2006/main" id="4" idx="1"/>
          </p:cNvCxnSpPr>
          <p:nvPr/>
        </p:nvCxnSpPr>
        <p:spPr>
          <a:xfrm xmlns:a="http://schemas.openxmlformats.org/drawingml/2006/main">
            <a:off x="3009900" y="2443163"/>
            <a:ext cx="457200"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3" name="Migration with one authoritative writer">
            <a:extLst xmlns:a="http://schemas.openxmlformats.org/drawingml/2006/main">
              <a:ext uri="{FF2B5EF4-FFF2-40B4-BE49-F238E27FC236}">
                <a16:creationId xmlns:a16="http://schemas.microsoft.com/office/drawing/2014/main" id="{1D94AAD9-586F-40DE-A1BB-24EC0BBA4FAF}"/>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Migration with one authoritative writer</a:t>
            </a:r>
          </a:p>
        </p:txBody>
      </p:sp>
      <p:sp>
        <p:nvSpPr>
          <p:cNvPr id="2" name="18">
            <a:extLst xmlns:a="http://schemas.openxmlformats.org/drawingml/2006/main">
              <a:ext uri="{FF2B5EF4-FFF2-40B4-BE49-F238E27FC236}">
                <a16:creationId xmlns:a16="http://schemas.microsoft.com/office/drawing/2014/main" id="{20DF95D3-7212-4809-853E-52176BDC6E4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18</a:t>
            </a:r>
          </a:p>
        </p:txBody>
      </p:sp>
      <p:sp>
        <p:nvSpPr>
          <p:cNvPr id="3" name="Inventory&#10;and snapshot">
            <a:extLst xmlns:a="http://schemas.openxmlformats.org/drawingml/2006/main">
              <a:ext uri="{FF2B5EF4-FFF2-40B4-BE49-F238E27FC236}">
                <a16:creationId xmlns:a16="http://schemas.microsoft.com/office/drawing/2014/main" id="{A72C741E-83D8-4467-A50B-25B4F4CCABFA}"/>
              </a:ext>
            </a:extLst>
          </p:cNvPr>
          <p:cNvSpPr>
            <a:spLocks xmlns:a="http://schemas.openxmlformats.org/drawingml/2006/main" noGrp="1"/>
          </p:cNvSpPr>
          <p:nvPr/>
        </p:nvSpPr>
        <p:spPr>
          <a:xfrm xmlns:a="http://schemas.openxmlformats.org/drawingml/2006/main">
            <a:off x="6096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Inventory</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and snapshot</a:t>
            </a:r>
          </a:p>
        </p:txBody>
      </p:sp>
      <p:sp>
        <p:nvSpPr>
          <p:cNvPr id="4" name="Import and&#10;reconcile">
            <a:extLst xmlns:a="http://schemas.openxmlformats.org/drawingml/2006/main">
              <a:ext uri="{FF2B5EF4-FFF2-40B4-BE49-F238E27FC236}">
                <a16:creationId xmlns:a16="http://schemas.microsoft.com/office/drawing/2014/main" id="{A1BBBB6E-4CEC-4D85-A47A-566942508453}"/>
              </a:ext>
            </a:extLst>
          </p:cNvPr>
          <p:cNvSpPr>
            <a:spLocks xmlns:a="http://schemas.openxmlformats.org/drawingml/2006/main" noGrp="1"/>
          </p:cNvSpPr>
          <p:nvPr/>
        </p:nvSpPr>
        <p:spPr>
          <a:xfrm xmlns:a="http://schemas.openxmlformats.org/drawingml/2006/main">
            <a:off x="34671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Import and</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reconcile</a:t>
            </a:r>
          </a:p>
        </p:txBody>
      </p:sp>
      <p:sp>
        <p:nvSpPr>
          <p:cNvPr id="5" name="Compare&#10;read-only views">
            <a:extLst xmlns:a="http://schemas.openxmlformats.org/drawingml/2006/main">
              <a:ext uri="{FF2B5EF4-FFF2-40B4-BE49-F238E27FC236}">
                <a16:creationId xmlns:a16="http://schemas.microsoft.com/office/drawing/2014/main" id="{9915675C-7FFC-4A84-81DB-F71754BDF291}"/>
              </a:ext>
            </a:extLst>
          </p:cNvPr>
          <p:cNvSpPr>
            <a:spLocks xmlns:a="http://schemas.openxmlformats.org/drawingml/2006/main" noGrp="1"/>
          </p:cNvSpPr>
          <p:nvPr/>
        </p:nvSpPr>
        <p:spPr>
          <a:xfrm xmlns:a="http://schemas.openxmlformats.org/drawingml/2006/main">
            <a:off x="63246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Compare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read-only views</a:t>
            </a:r>
          </a:p>
        </p:txBody>
      </p:sp>
      <p:sp>
        <p:nvSpPr>
          <p:cNvPr id="6" name="Switch new&#10;operations">
            <a:extLst xmlns:a="http://schemas.openxmlformats.org/drawingml/2006/main">
              <a:ext uri="{FF2B5EF4-FFF2-40B4-BE49-F238E27FC236}">
                <a16:creationId xmlns:a16="http://schemas.microsoft.com/office/drawing/2014/main" id="{3C90423A-AB8F-4C54-891D-A72920D6D825}"/>
              </a:ext>
            </a:extLst>
          </p:cNvPr>
          <p:cNvSpPr>
            <a:spLocks xmlns:a="http://schemas.openxmlformats.org/drawingml/2006/main" noGrp="1"/>
          </p:cNvSpPr>
          <p:nvPr/>
        </p:nvSpPr>
        <p:spPr>
          <a:xfrm xmlns:a="http://schemas.openxmlformats.org/drawingml/2006/main">
            <a:off x="9182100" y="1952625"/>
            <a:ext cx="2400300" cy="981075"/>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Switch new</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operations</a:t>
            </a:r>
          </a:p>
        </p:txBody>
      </p:sp>
      <p:sp>
        <p:nvSpPr>
          <p:cNvPr id="10" name="Preserved evidence">
            <a:extLst xmlns:a="http://schemas.openxmlformats.org/drawingml/2006/main">
              <a:ext uri="{FF2B5EF4-FFF2-40B4-BE49-F238E27FC236}">
                <a16:creationId xmlns:a16="http://schemas.microsoft.com/office/drawing/2014/main" id="{5CE6A1A7-54E7-4E69-8D5D-8EAEB52EFF1B}"/>
              </a:ext>
            </a:extLst>
          </p:cNvPr>
          <p:cNvSpPr>
            <a:spLocks xmlns:a="http://schemas.openxmlformats.org/drawingml/2006/main" noGrp="1"/>
          </p:cNvSpPr>
          <p:nvPr/>
        </p:nvSpPr>
        <p:spPr>
          <a:xfrm xmlns:a="http://schemas.openxmlformats.org/drawingml/2006/main">
            <a:off x="609600" y="3886200"/>
            <a:ext cx="571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E83"/>
                </a:solidFill>
                <a:latin typeface="Arial"/>
                <a:ea typeface="Arial"/>
                <a:cs typeface="Arial"/>
              </a:defRPr>
            </a:defPPr>
          </a:lstStyle>
          <a:p xmlns:a="http://schemas.openxmlformats.org/drawingml/2006/main">
            <a:pPr algn="l">
              <a:buNone/>
              <a:defRPr sz="2250" b="1">
                <a:solidFill>
                  <a:srgbClr val="087E83"/>
                </a:solidFill>
                <a:latin typeface="Arial"/>
                <a:ea typeface="Arial"/>
                <a:cs typeface="Arial"/>
              </a:defRPr>
            </a:pPr>
            <a:r>
              <a:rPr sz="2250" b="1">
                <a:solidFill>
                  <a:srgbClr val="087E83"/>
                </a:solidFill>
                <a:latin typeface="Arial"/>
                <a:ea typeface="Arial"/>
                <a:cs typeface="Arial"/>
              </a:rPr>
              <a:t>Preserved evidence</a:t>
            </a:r>
          </a:p>
        </p:txBody>
      </p:sp>
      <p:sp>
        <p:nvSpPr>
          <p:cNvPr id="11" name="Task IDs, run history, approvals and artifacts&#10;Pending delivery and de">
            <a:extLst xmlns:a="http://schemas.openxmlformats.org/drawingml/2006/main">
              <a:ext uri="{FF2B5EF4-FFF2-40B4-BE49-F238E27FC236}">
                <a16:creationId xmlns:a16="http://schemas.microsoft.com/office/drawing/2014/main" id="{DCD471A1-29E5-4682-96EA-3069CCA717F9}"/>
              </a:ext>
            </a:extLst>
          </p:cNvPr>
          <p:cNvSpPr>
            <a:spLocks xmlns:a="http://schemas.openxmlformats.org/drawingml/2006/main" noGrp="1"/>
          </p:cNvSpPr>
          <p:nvPr/>
        </p:nvSpPr>
        <p:spPr>
          <a:xfrm xmlns:a="http://schemas.openxmlformats.org/drawingml/2006/main">
            <a:off x="609600" y="4486275"/>
            <a:ext cx="10620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Task IDs, run history, approvals and artifacts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Pending delivery and delegation state</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Dirty worktrees and unmerged branches</a:t>
            </a:r>
          </a:p>
        </p:txBody>
      </p:sp>
      <p:sp>
        <p:nvSpPr>
          <p:cNvPr id="12" name="Legacy retirement follows parity, migration rehearsal and an explicit ">
            <a:extLst xmlns:a="http://schemas.openxmlformats.org/drawingml/2006/main">
              <a:ext uri="{FF2B5EF4-FFF2-40B4-BE49-F238E27FC236}">
                <a16:creationId xmlns:a16="http://schemas.microsoft.com/office/drawing/2014/main" id="{EFEF77E5-739D-40C8-ADF0-AB91BC0F0896}"/>
              </a:ext>
            </a:extLst>
          </p:cNvPr>
          <p:cNvSpPr>
            <a:spLocks xmlns:a="http://schemas.openxmlformats.org/drawingml/2006/main" noGrp="1"/>
          </p:cNvSpPr>
          <p:nvPr/>
        </p:nvSpPr>
        <p:spPr>
          <a:xfrm xmlns:a="http://schemas.openxmlformats.org/drawingml/2006/main">
            <a:off x="609600" y="5991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Legacy retirement follows parity, migration rehearsal and an explicit recovery decision.</a:t>
            </a:r>
          </a:p>
        </p:txBody>
      </p:sp>
    </p:spTree>
    <p:extLst>
      <p:ext uri="{BB962C8B-B14F-4D97-AF65-F5344CB8AC3E}">
        <p14:creationId xmlns:p14="http://schemas.microsoft.com/office/powerpoint/2010/main" val="1129424842"/>
      </p:ext>
    </p:extLst>
  </p:cSld>
</p:sld>
</file>

<file path=ppt/slides/slide1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D52A425-5467-4F5E-B549-254E2102BEEA}"/>
              </a:ext>
            </a:extLst>
          </p:cNvPr>
          <p:cNvCxnSpPr>
            <a:stCxn xmlns:a="http://schemas.openxmlformats.org/drawingml/2006/main" id="5" idx="3"/>
            <a:endCxn xmlns:a="http://schemas.openxmlformats.org/drawingml/2006/main" id="6" idx="1"/>
          </p:cNvCxnSpPr>
          <p:nvPr/>
        </p:nvCxnSpPr>
        <p:spPr>
          <a:xfrm xmlns:a="http://schemas.openxmlformats.org/drawingml/2006/main">
            <a:off x="87344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8" name="">
            <a:extLst xmlns:a="http://schemas.openxmlformats.org/drawingml/2006/main">
              <a:ext uri="{FF2B5EF4-FFF2-40B4-BE49-F238E27FC236}">
                <a16:creationId xmlns:a16="http://schemas.microsoft.com/office/drawing/2014/main" id="{64656534-EF9D-48D4-AE9C-8E4249F34051}"/>
              </a:ext>
            </a:extLst>
          </p:cNvPr>
          <p:cNvCxnSpPr>
            <a:stCxn xmlns:a="http://schemas.openxmlformats.org/drawingml/2006/main" id="4" idx="3"/>
            <a:endCxn xmlns:a="http://schemas.openxmlformats.org/drawingml/2006/main" id="5" idx="1"/>
          </p:cNvCxnSpPr>
          <p:nvPr/>
        </p:nvCxnSpPr>
        <p:spPr>
          <a:xfrm xmlns:a="http://schemas.openxmlformats.org/drawingml/2006/main">
            <a:off x="58769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cxnSp>
        <p:nvCxnSpPr>
          <p:cNvPr id="7" name="">
            <a:extLst xmlns:a="http://schemas.openxmlformats.org/drawingml/2006/main">
              <a:ext uri="{FF2B5EF4-FFF2-40B4-BE49-F238E27FC236}">
                <a16:creationId xmlns:a16="http://schemas.microsoft.com/office/drawing/2014/main" id="{458B6D05-B5C1-43AE-8BED-0DA941D52ACA}"/>
              </a:ext>
            </a:extLst>
          </p:cNvPr>
          <p:cNvCxnSpPr>
            <a:stCxn xmlns:a="http://schemas.openxmlformats.org/drawingml/2006/main" id="3" idx="3"/>
            <a:endCxn xmlns:a="http://schemas.openxmlformats.org/drawingml/2006/main" id="4" idx="1"/>
          </p:cNvCxnSpPr>
          <p:nvPr/>
        </p:nvCxnSpPr>
        <p:spPr>
          <a:xfrm xmlns:a="http://schemas.openxmlformats.org/drawingml/2006/main">
            <a:off x="3019425" y="2457450"/>
            <a:ext cx="447675" cy="0"/>
          </a:xfrm>
          <a:prstGeom xmlns:a="http://schemas.openxmlformats.org/drawingml/2006/main" prst="straightConnector1">
            <a:avLst/>
          </a:prstGeom>
          <a:ln xmlns:a="http://schemas.openxmlformats.org/drawingml/2006/main" w="20955">
            <a:solidFill>
              <a:srgbClr val="087E83"/>
            </a:solidFill>
            <a:prstDash val="solid"/>
            <a:tailEnd type="triangle" w="med" len="med"/>
          </a:ln>
        </p:spPr>
      </p:cxnSp>
      <p:sp>
        <p:nvSpPr>
          <p:cNvPr id="15" name="Phase acceptance and evidence">
            <a:extLst xmlns:a="http://schemas.openxmlformats.org/drawingml/2006/main">
              <a:ext uri="{FF2B5EF4-FFF2-40B4-BE49-F238E27FC236}">
                <a16:creationId xmlns:a16="http://schemas.microsoft.com/office/drawing/2014/main" id="{025A72F1-CF2F-4F76-ACA6-BA9E36A8151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Phase acceptance and evidence</a:t>
            </a:r>
          </a:p>
        </p:txBody>
      </p:sp>
      <p:sp>
        <p:nvSpPr>
          <p:cNvPr id="2" name="19">
            <a:extLst xmlns:a="http://schemas.openxmlformats.org/drawingml/2006/main">
              <a:ext uri="{FF2B5EF4-FFF2-40B4-BE49-F238E27FC236}">
                <a16:creationId xmlns:a16="http://schemas.microsoft.com/office/drawing/2014/main" id="{A89085AE-F010-410F-B1AF-3B6E2FB9B1F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19</a:t>
            </a:r>
          </a:p>
        </p:txBody>
      </p:sp>
      <p:sp>
        <p:nvSpPr>
          <p:cNvPr id="3" name="Implement">
            <a:extLst xmlns:a="http://schemas.openxmlformats.org/drawingml/2006/main">
              <a:ext uri="{FF2B5EF4-FFF2-40B4-BE49-F238E27FC236}">
                <a16:creationId xmlns:a16="http://schemas.microsoft.com/office/drawing/2014/main" id="{F72EF9D7-4950-4631-A812-0D9BA86178B8}"/>
              </a:ext>
            </a:extLst>
          </p:cNvPr>
          <p:cNvSpPr>
            <a:spLocks xmlns:a="http://schemas.openxmlformats.org/drawingml/2006/main" noGrp="1"/>
          </p:cNvSpPr>
          <p:nvPr/>
        </p:nvSpPr>
        <p:spPr>
          <a:xfrm xmlns:a="http://schemas.openxmlformats.org/drawingml/2006/main">
            <a:off x="6096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Implement</a:t>
            </a:r>
          </a:p>
        </p:txBody>
      </p:sp>
      <p:sp>
        <p:nvSpPr>
          <p:cNvPr id="4" name="Verify criteria">
            <a:extLst xmlns:a="http://schemas.openxmlformats.org/drawingml/2006/main">
              <a:ext uri="{FF2B5EF4-FFF2-40B4-BE49-F238E27FC236}">
                <a16:creationId xmlns:a16="http://schemas.microsoft.com/office/drawing/2014/main" id="{D6DB914B-EACD-4B93-BA57-9122C8D46E11}"/>
              </a:ext>
            </a:extLst>
          </p:cNvPr>
          <p:cNvSpPr>
            <a:spLocks xmlns:a="http://schemas.openxmlformats.org/drawingml/2006/main" noGrp="1"/>
          </p:cNvSpPr>
          <p:nvPr/>
        </p:nvSpPr>
        <p:spPr>
          <a:xfrm xmlns:a="http://schemas.openxmlformats.org/drawingml/2006/main">
            <a:off x="34671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Verify criteria</a:t>
            </a:r>
          </a:p>
        </p:txBody>
      </p:sp>
      <p:sp>
        <p:nvSpPr>
          <p:cNvPr id="5" name="Independent&#10;review">
            <a:extLst xmlns:a="http://schemas.openxmlformats.org/drawingml/2006/main">
              <a:ext uri="{FF2B5EF4-FFF2-40B4-BE49-F238E27FC236}">
                <a16:creationId xmlns:a16="http://schemas.microsoft.com/office/drawing/2014/main" id="{5EE223B7-192E-49FF-8B7B-DEAB436A6BD6}"/>
              </a:ext>
            </a:extLst>
          </p:cNvPr>
          <p:cNvSpPr>
            <a:spLocks xmlns:a="http://schemas.openxmlformats.org/drawingml/2006/main" noGrp="1"/>
          </p:cNvSpPr>
          <p:nvPr/>
        </p:nvSpPr>
        <p:spPr>
          <a:xfrm xmlns:a="http://schemas.openxmlformats.org/drawingml/2006/main">
            <a:off x="6324600" y="2047875"/>
            <a:ext cx="2409825"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Independent</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review</a:t>
            </a:r>
          </a:p>
        </p:txBody>
      </p:sp>
      <p:sp>
        <p:nvSpPr>
          <p:cNvPr id="6" name="Authorize&#10;advancement">
            <a:extLst xmlns:a="http://schemas.openxmlformats.org/drawingml/2006/main">
              <a:ext uri="{FF2B5EF4-FFF2-40B4-BE49-F238E27FC236}">
                <a16:creationId xmlns:a16="http://schemas.microsoft.com/office/drawing/2014/main" id="{F2250BD0-83D4-405B-BA29-BA045295B88E}"/>
              </a:ext>
            </a:extLst>
          </p:cNvPr>
          <p:cNvSpPr>
            <a:spLocks xmlns:a="http://schemas.openxmlformats.org/drawingml/2006/main" noGrp="1"/>
          </p:cNvSpPr>
          <p:nvPr/>
        </p:nvSpPr>
        <p:spPr>
          <a:xfrm xmlns:a="http://schemas.openxmlformats.org/drawingml/2006/main">
            <a:off x="9182100" y="2047875"/>
            <a:ext cx="2400300" cy="819150"/>
          </a:xfrm>
          <a:prstGeom xmlns:a="http://schemas.openxmlformats.org/drawingml/2006/main" prst="rect">
            <a:avLst/>
          </a:prstGeom>
          <a:solidFill xmlns:a="http://schemas.openxmlformats.org/drawingml/2006/main">
            <a:srgbClr val="E3EFEC"/>
          </a:solidFill>
          <a:ln xmlns:a="http://schemas.openxmlformats.org/drawingml/2006/main" w="14288">
            <a:solidFill>
              <a:srgbClr val="087E83"/>
            </a:solidFill>
          </a:ln>
        </p:spPr>
        <p:txBody>
          <a:bodyPr xmlns:a="http://schemas.openxmlformats.org/drawingml/2006/main" wrap="square" lIns="95250" tIns="95250" rIns="95250" bIns="95250" anchor="ctr">
            <a:noAutofit/>
          </a:bodyPr>
          <a:lstStyle xmlns:a="http://schemas.openxmlformats.org/drawingml/2006/main">
            <a:defPPr algn="ctr">
              <a:defRPr sz="1875" b="0">
                <a:solidFill>
                  <a:srgbClr val="152E42"/>
                </a:solidFill>
                <a:latin typeface="Arial"/>
                <a:ea typeface="Arial"/>
                <a:cs typeface="Arial"/>
              </a:defRPr>
            </a:defPPr>
          </a:lstStyle>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Authorize</a:t>
            </a:r>
          </a:p>
          <a:p xmlns:a="http://schemas.openxmlformats.org/drawingml/2006/main">
            <a:pPr algn="ctr">
              <a:buNone/>
              <a:defRPr sz="1875" b="0">
                <a:solidFill>
                  <a:srgbClr val="152E42"/>
                </a:solidFill>
                <a:latin typeface="Arial"/>
                <a:ea typeface="Arial"/>
                <a:cs typeface="Arial"/>
              </a:defRPr>
            </a:pPr>
            <a:r>
              <a:rPr sz="1875" b="0">
                <a:solidFill>
                  <a:srgbClr val="152E42"/>
                </a:solidFill>
                <a:latin typeface="Arial"/>
                <a:ea typeface="Arial"/>
                <a:cs typeface="Arial"/>
              </a:rPr>
              <a:t>advancement</a:t>
            </a:r>
          </a:p>
        </p:txBody>
      </p:sp>
      <p:sp>
        <p:nvSpPr>
          <p:cNvPr id="10" name="Evidence belongs to an exact revision">
            <a:extLst xmlns:a="http://schemas.openxmlformats.org/drawingml/2006/main">
              <a:ext uri="{FF2B5EF4-FFF2-40B4-BE49-F238E27FC236}">
                <a16:creationId xmlns:a16="http://schemas.microsoft.com/office/drawing/2014/main" id="{F2940F01-D2B2-4007-B456-0D7F4587413B}"/>
              </a:ext>
            </a:extLst>
          </p:cNvPr>
          <p:cNvSpPr>
            <a:spLocks xmlns:a="http://schemas.openxmlformats.org/drawingml/2006/main" noGrp="1"/>
          </p:cNvSpPr>
          <p:nvPr/>
        </p:nvSpPr>
        <p:spPr>
          <a:xfrm xmlns:a="http://schemas.openxmlformats.org/drawingml/2006/main">
            <a:off x="609600" y="3695700"/>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Evidence belongs to an exact revision</a:t>
            </a:r>
          </a:p>
        </p:txBody>
      </p:sp>
      <p:sp>
        <p:nvSpPr>
          <p:cNvPr id="11" name="Source, contracts, environments, commands, results and rollback rehear">
            <a:extLst xmlns:a="http://schemas.openxmlformats.org/drawingml/2006/main">
              <a:ext uri="{FF2B5EF4-FFF2-40B4-BE49-F238E27FC236}">
                <a16:creationId xmlns:a16="http://schemas.microsoft.com/office/drawing/2014/main" id="{417EAA22-8C6D-499A-809E-2EABAAE23C7B}"/>
              </a:ext>
            </a:extLst>
          </p:cNvPr>
          <p:cNvSpPr>
            <a:spLocks xmlns:a="http://schemas.openxmlformats.org/drawingml/2006/main" noGrp="1"/>
          </p:cNvSpPr>
          <p:nvPr/>
        </p:nvSpPr>
        <p:spPr>
          <a:xfrm xmlns:a="http://schemas.openxmlformats.org/drawingml/2006/main">
            <a:off x="609600" y="4067175"/>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Source, contracts, environments, commands, results and rollback rehearsal</a:t>
            </a:r>
          </a:p>
        </p:txBody>
      </p:sp>
      <p:sp>
        <p:nvSpPr>
          <p:cNvPr id="12" name="Unverified stays visible">
            <a:extLst xmlns:a="http://schemas.openxmlformats.org/drawingml/2006/main">
              <a:ext uri="{FF2B5EF4-FFF2-40B4-BE49-F238E27FC236}">
                <a16:creationId xmlns:a16="http://schemas.microsoft.com/office/drawing/2014/main" id="{FD8681B6-1D41-4797-AE15-3CC02A170E71}"/>
              </a:ext>
            </a:extLst>
          </p:cNvPr>
          <p:cNvSpPr>
            <a:spLocks xmlns:a="http://schemas.openxmlformats.org/drawingml/2006/main" noGrp="1"/>
          </p:cNvSpPr>
          <p:nvPr/>
        </p:nvSpPr>
        <p:spPr>
          <a:xfrm xmlns:a="http://schemas.openxmlformats.org/drawingml/2006/main">
            <a:off x="609600" y="4752975"/>
            <a:ext cx="10572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Unverified stays visible</a:t>
            </a:r>
          </a:p>
        </p:txBody>
      </p:sp>
      <p:sp>
        <p:nvSpPr>
          <p:cNvPr id="13" name="A skipped environment or agent “done” message does not pass a gate">
            <a:extLst xmlns:a="http://schemas.openxmlformats.org/drawingml/2006/main">
              <a:ext uri="{FF2B5EF4-FFF2-40B4-BE49-F238E27FC236}">
                <a16:creationId xmlns:a16="http://schemas.microsoft.com/office/drawing/2014/main" id="{B78B8800-413C-442D-8549-5FEC7DAC37F4}"/>
              </a:ext>
            </a:extLst>
          </p:cNvPr>
          <p:cNvSpPr>
            <a:spLocks xmlns:a="http://schemas.openxmlformats.org/drawingml/2006/main" noGrp="1"/>
          </p:cNvSpPr>
          <p:nvPr/>
        </p:nvSpPr>
        <p:spPr>
          <a:xfrm xmlns:a="http://schemas.openxmlformats.org/drawingml/2006/main">
            <a:off x="609600" y="5124450"/>
            <a:ext cx="10572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A skipped environment or agent “done” message does not pass a gate</a:t>
            </a:r>
          </a:p>
        </p:txBody>
      </p:sp>
      <p:sp>
        <p:nvSpPr>
          <p:cNvPr id="14" name="Merge and release require the separate Ryan/Nick review and Ryan’s exp">
            <a:extLst xmlns:a="http://schemas.openxmlformats.org/drawingml/2006/main">
              <a:ext uri="{FF2B5EF4-FFF2-40B4-BE49-F238E27FC236}">
                <a16:creationId xmlns:a16="http://schemas.microsoft.com/office/drawing/2014/main" id="{8AC0B537-4D64-4BF8-9987-2A25AEFFC5DD}"/>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Merge and release require the separate Ryan/Nick review and Ryan’s explicit authorization.</a:t>
            </a:r>
          </a:p>
        </p:txBody>
      </p:sp>
    </p:spTree>
    <p:extLst>
      <p:ext uri="{BB962C8B-B14F-4D97-AF65-F5344CB8AC3E}">
        <p14:creationId xmlns:p14="http://schemas.microsoft.com/office/powerpoint/2010/main" val="894553880"/>
      </p:ext>
    </p:extLst>
  </p:cSld>
</p:sld>
</file>

<file path=ppt/slides/slide2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Proposed delivery sequence">
            <a:extLst xmlns:a="http://schemas.openxmlformats.org/drawingml/2006/main">
              <a:ext uri="{FF2B5EF4-FFF2-40B4-BE49-F238E27FC236}">
                <a16:creationId xmlns:a16="http://schemas.microsoft.com/office/drawing/2014/main" id="{ED0AA74A-91BC-4BDD-BC34-B17E0BEE7552}"/>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delivery sequence</a:t>
            </a:r>
          </a:p>
        </p:txBody>
      </p:sp>
      <p:sp>
        <p:nvSpPr>
          <p:cNvPr id="2" name="20">
            <a:extLst xmlns:a="http://schemas.openxmlformats.org/drawingml/2006/main">
              <a:ext uri="{FF2B5EF4-FFF2-40B4-BE49-F238E27FC236}">
                <a16:creationId xmlns:a16="http://schemas.microsoft.com/office/drawing/2014/main" id="{3FD2DAC5-D0BB-4EBF-9DD2-88367231DAE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20</a:t>
            </a:r>
          </a:p>
        </p:txBody>
      </p:sp>
      <p:graphicFrame>
        <p:nvGraphicFramePr>
          <p:cNvPr id="3" name="">
            <a:extLst xmlns:a="http://schemas.openxmlformats.org/drawingml/2006/main">
              <a:ext uri="{FF2B5EF4-FFF2-40B4-BE49-F238E27FC236}">
                <a16:creationId xmlns:a16="http://schemas.microsoft.com/office/drawing/2014/main" id="{4C80F5D5-BE7C-4233-BF37-A3869DDB9FD1}"/>
              </a:ext>
            </a:extLst>
          </p:cNvPr>
          <p:cNvGraphicFramePr/>
          <p:nvPr/>
        </p:nvGraphicFramePr>
        <p:xfrm>
          <a:off xmlns:a="http://schemas.openxmlformats.org/drawingml/2006/main" x="609600" y="1752600"/>
          <a:ext xmlns:a="http://schemas.openxmlformats.org/drawingml/2006/main" cx="10972800" cy="3819525"/>
        </p:xfrm>
        <a:graphic xmlns:a="http://schemas.openxmlformats.org/drawingml/2006/main">
          <a:graphicData uri="http://schemas.openxmlformats.org/drawingml/2006/table">
            <a:tbl>
              <a:tblPr/>
              <a:tblGrid>
                <a:gridCol w="2543175"/>
                <a:gridCol w="8429625"/>
              </a:tblGrid>
              <a:tr h="636588">
                <a:tc>
                  <a:txBody>
                    <a:bodyPr lIns="95250" tIns="95250" rIns="95250" bIns="95250"/>
                    <a:lstStyle/>
                    <a:p>
                      <a:r>
                        <a:rPr sz="1950" b="1">
                          <a:solidFill>
                            <a:srgbClr val="FFFFFF"/>
                          </a:solidFill>
                          <a:latin typeface="Arial"/>
                          <a:ea typeface="Arial"/>
                          <a:cs typeface="Arial"/>
                        </a:rPr>
                        <a:t>Phases</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Primary outcome</a:t>
                      </a:r>
                    </a:p>
                  </a:txBody>
                  <a:tcPr marL="91440" marR="91440" marT="45720" marB="45720" anchor="ctr">
                    <a:solidFill>
                      <a:srgbClr val="152E42"/>
                    </a:solidFill>
                  </a:tcPr>
                </a:tc>
              </a:tr>
              <a:tr h="636588">
                <a:tc>
                  <a:txBody>
                    <a:bodyPr lIns="95250" tIns="95250" rIns="95250" bIns="95250"/>
                    <a:lstStyle/>
                    <a:p>
                      <a:r>
                        <a:rPr sz="1950" b="0">
                          <a:solidFill>
                            <a:srgbClr val="203747"/>
                          </a:solidFill>
                          <a:latin typeface="Arial"/>
                          <a:ea typeface="Arial"/>
                          <a:cs typeface="Arial"/>
                        </a:rPr>
                        <a:t>P00–P04</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Decisions, contracts, boot, plugins and scoped ownership</a:t>
                      </a:r>
                    </a:p>
                  </a:txBody>
                  <a:tcPr marL="91440" marR="91440" marT="45720" marB="45720" anchor="ctr">
                    <a:solidFill>
                      <a:srgbClr val="F8F7F2"/>
                    </a:solidFill>
                  </a:tcPr>
                </a:tc>
              </a:tr>
              <a:tr h="636588">
                <a:tc>
                  <a:txBody>
                    <a:bodyPr lIns="95250" tIns="95250" rIns="95250" bIns="95250"/>
                    <a:lstStyle/>
                    <a:p>
                      <a:r>
                        <a:rPr sz="1950" b="0">
                          <a:solidFill>
                            <a:srgbClr val="203747"/>
                          </a:solidFill>
                          <a:latin typeface="Arial"/>
                          <a:ea typeface="Arial"/>
                          <a:cs typeface="Arial"/>
                        </a:rPr>
                        <a:t>P05–P07</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Local workflow, supported clients and dashboard</a:t>
                      </a:r>
                    </a:p>
                  </a:txBody>
                  <a:tcPr marL="91440" marR="91440" marT="45720" marB="45720" anchor="ctr">
                    <a:solidFill>
                      <a:srgbClr val="EEF2EF"/>
                    </a:solidFill>
                  </a:tcPr>
                </a:tc>
              </a:tr>
              <a:tr h="636588">
                <a:tc>
                  <a:txBody>
                    <a:bodyPr lIns="95250" tIns="95250" rIns="95250" bIns="95250"/>
                    <a:lstStyle/>
                    <a:p>
                      <a:r>
                        <a:rPr sz="1950" b="0">
                          <a:solidFill>
                            <a:srgbClr val="203747"/>
                          </a:solidFill>
                          <a:latin typeface="Arial"/>
                          <a:ea typeface="Arial"/>
                          <a:cs typeface="Arial"/>
                        </a:rPr>
                        <a:t>P08–P09</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Evaluated Jev services and portable skills</a:t>
                      </a:r>
                    </a:p>
                  </a:txBody>
                  <a:tcPr marL="91440" marR="91440" marT="45720" marB="45720" anchor="ctr">
                    <a:solidFill>
                      <a:srgbClr val="F8F7F2"/>
                    </a:solidFill>
                  </a:tcPr>
                </a:tc>
              </a:tr>
              <a:tr h="636588">
                <a:tc>
                  <a:txBody>
                    <a:bodyPr lIns="95250" tIns="95250" rIns="95250" bIns="95250"/>
                    <a:lstStyle/>
                    <a:p>
                      <a:r>
                        <a:rPr sz="1950" b="0">
                          <a:solidFill>
                            <a:srgbClr val="203747"/>
                          </a:solidFill>
                          <a:latin typeface="Arial"/>
                          <a:ea typeface="Arial"/>
                          <a:cs typeface="Arial"/>
                        </a:rPr>
                        <a:t>P10–P12</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Connected hubs, industrial packages and release evidence</a:t>
                      </a:r>
                    </a:p>
                  </a:txBody>
                  <a:tcPr marL="91440" marR="91440" marT="45720" marB="45720" anchor="ctr">
                    <a:solidFill>
                      <a:srgbClr val="EEF2EF"/>
                    </a:solidFill>
                  </a:tcPr>
                </a:tc>
              </a:tr>
              <a:tr h="636588">
                <a:tc>
                  <a:txBody>
                    <a:bodyPr lIns="95250" tIns="95250" rIns="95250" bIns="95250"/>
                    <a:lstStyle/>
                    <a:p>
                      <a:r>
                        <a:rPr sz="1950" b="0">
                          <a:solidFill>
                            <a:srgbClr val="203747"/>
                          </a:solidFill>
                          <a:latin typeface="Arial"/>
                          <a:ea typeface="Arial"/>
                          <a:cs typeface="Arial"/>
                        </a:rPr>
                        <a:t>P13–P14</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Remaining experiments and sandbox qualification</a:t>
                      </a:r>
                    </a:p>
                  </a:txBody>
                  <a:tcPr marL="91440" marR="91440" marT="45720" marB="45720" anchor="ctr">
                    <a:solidFill>
                      <a:srgbClr val="F8F7F2"/>
                    </a:solidFill>
                  </a:tcPr>
                </a:tc>
              </a:tr>
            </a:tbl>
          </a:graphicData>
        </a:graphic>
      </p:graphicFrame>
      <p:sp>
        <p:nvSpPr>
          <p:cNvPr id="4" name="Launch recommendation: P00–P12. No dates or staffing commitments are i">
            <a:extLst xmlns:a="http://schemas.openxmlformats.org/drawingml/2006/main">
              <a:ext uri="{FF2B5EF4-FFF2-40B4-BE49-F238E27FC236}">
                <a16:creationId xmlns:a16="http://schemas.microsoft.com/office/drawing/2014/main" id="{5391A9C9-5103-4828-AE16-ACA092DF447C}"/>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Launch recommendation: P00–P12. No dates or staffing commitments are implied.</a:t>
            </a:r>
          </a:p>
        </p:txBody>
      </p:sp>
    </p:spTree>
    <p:extLst>
      <p:ext uri="{BB962C8B-B14F-4D97-AF65-F5344CB8AC3E}">
        <p14:creationId xmlns:p14="http://schemas.microsoft.com/office/powerpoint/2010/main" val="1947904003"/>
      </p:ext>
    </p:extLst>
  </p:cSld>
</p:sld>
</file>

<file path=ppt/slides/slide2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0  Scope and baseline">
            <a:extLst xmlns:a="http://schemas.openxmlformats.org/drawingml/2006/main">
              <a:ext uri="{FF2B5EF4-FFF2-40B4-BE49-F238E27FC236}">
                <a16:creationId xmlns:a16="http://schemas.microsoft.com/office/drawing/2014/main" id="{B33C1E89-DBD0-4124-A445-5519A4C4825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P00  Scope and baseline</a:t>
            </a:r>
          </a:p>
        </p:txBody>
      </p:sp>
      <p:sp>
        <p:nvSpPr>
          <p:cNvPr id="2" name="21">
            <a:extLst xmlns:a="http://schemas.openxmlformats.org/drawingml/2006/main">
              <a:ext uri="{FF2B5EF4-FFF2-40B4-BE49-F238E27FC236}">
                <a16:creationId xmlns:a16="http://schemas.microsoft.com/office/drawing/2014/main" id="{F79B6D78-51E4-42FE-BFB0-E5A69B79993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21</a:t>
            </a:r>
          </a:p>
        </p:txBody>
      </p:sp>
      <p:sp>
        <p:nvSpPr>
          <p:cNvPr id="3" name="An approved implementation contract with no unresolved decision hidden">
            <a:extLst xmlns:a="http://schemas.openxmlformats.org/drawingml/2006/main">
              <a:ext uri="{FF2B5EF4-FFF2-40B4-BE49-F238E27FC236}">
                <a16:creationId xmlns:a16="http://schemas.microsoft.com/office/drawing/2014/main" id="{726EC300-42CC-46B1-908E-4A6C1D4C8434}"/>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An approved implementation contract with no unresolved decision hidden in code.</a:t>
            </a:r>
          </a:p>
        </p:txBody>
      </p:sp>
      <p:sp>
        <p:nvSpPr>
          <p:cNvPr id="4" name="">
            <a:extLst xmlns:a="http://schemas.openxmlformats.org/drawingml/2006/main">
              <a:ext uri="{FF2B5EF4-FFF2-40B4-BE49-F238E27FC236}">
                <a16:creationId xmlns:a16="http://schemas.microsoft.com/office/drawing/2014/main" id="{FE849DFC-B2BB-43D4-A97D-B1D0E32CF1F1}"/>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E906BEF-C944-47A4-9286-D0ED2AC5FEAE}"/>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Resolve workflow, stack, storage and support decisions.&#10;Inventory beha">
            <a:extLst xmlns:a="http://schemas.openxmlformats.org/drawingml/2006/main">
              <a:ext uri="{FF2B5EF4-FFF2-40B4-BE49-F238E27FC236}">
                <a16:creationId xmlns:a16="http://schemas.microsoft.com/office/drawing/2014/main" id="{378A2ED7-D725-41CD-9346-00BAC5209CC7}"/>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Resolve workflow, stack, storage and support decisions.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Inventory behavior and reproduce critical defects.</a:t>
            </a:r>
          </a:p>
        </p:txBody>
      </p:sp>
      <p:sp>
        <p:nvSpPr>
          <p:cNvPr id="7" name="Acceptance gate">
            <a:extLst xmlns:a="http://schemas.openxmlformats.org/drawingml/2006/main">
              <a:ext uri="{FF2B5EF4-FFF2-40B4-BE49-F238E27FC236}">
                <a16:creationId xmlns:a16="http://schemas.microsoft.com/office/drawing/2014/main" id="{9DA106CB-6298-4D64-8052-820D7D524662}"/>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Reviewed plan and traceability.&#10;Ryan authorizes implementation.">
            <a:extLst xmlns:a="http://schemas.openxmlformats.org/drawingml/2006/main">
              <a:ext uri="{FF2B5EF4-FFF2-40B4-BE49-F238E27FC236}">
                <a16:creationId xmlns:a16="http://schemas.microsoft.com/office/drawing/2014/main" id="{1A32A9BE-8CA6-4E44-B2A2-CCC8D8DA7DE9}"/>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Reviewed plan and traceability.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Ryan authorizes implementation.</a:t>
            </a:r>
          </a:p>
        </p:txBody>
      </p:sp>
      <p:sp>
        <p:nvSpPr>
          <p:cNvPr id="9" name="P00-AC01 through P00-AC04">
            <a:extLst xmlns:a="http://schemas.openxmlformats.org/drawingml/2006/main">
              <a:ext uri="{FF2B5EF4-FFF2-40B4-BE49-F238E27FC236}">
                <a16:creationId xmlns:a16="http://schemas.microsoft.com/office/drawing/2014/main" id="{5381D9B9-5165-402A-8BB1-A351B19F902D}"/>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P00-AC01 through P00-AC04</a:t>
            </a:r>
          </a:p>
        </p:txBody>
      </p:sp>
      <p:sp>
        <p:nvSpPr>
          <p:cNvPr id="10" name="Owner: Product + architecture">
            <a:extLst xmlns:a="http://schemas.openxmlformats.org/drawingml/2006/main">
              <a:ext uri="{FF2B5EF4-FFF2-40B4-BE49-F238E27FC236}">
                <a16:creationId xmlns:a16="http://schemas.microsoft.com/office/drawing/2014/main" id="{3461B56E-4ED9-4CEA-A6AF-9C1935DDA2B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Product + architecture</a:t>
            </a:r>
          </a:p>
        </p:txBody>
      </p:sp>
    </p:spTree>
    <p:extLst>
      <p:ext uri="{BB962C8B-B14F-4D97-AF65-F5344CB8AC3E}">
        <p14:creationId xmlns:p14="http://schemas.microsoft.com/office/powerpoint/2010/main" val="1403746341"/>
      </p:ext>
    </p:extLst>
  </p:cSld>
</p:sld>
</file>

<file path=ppt/slides/slide2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1  Contracts and verification">
            <a:extLst xmlns:a="http://schemas.openxmlformats.org/drawingml/2006/main">
              <a:ext uri="{FF2B5EF4-FFF2-40B4-BE49-F238E27FC236}">
                <a16:creationId xmlns:a16="http://schemas.microsoft.com/office/drawing/2014/main" id="{B5973D84-D4CB-40AB-835F-76008DE7DAF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P01  Contracts and verification</a:t>
            </a:r>
          </a:p>
        </p:txBody>
      </p:sp>
      <p:sp>
        <p:nvSpPr>
          <p:cNvPr id="2" name="22">
            <a:extLst xmlns:a="http://schemas.openxmlformats.org/drawingml/2006/main">
              <a:ext uri="{FF2B5EF4-FFF2-40B4-BE49-F238E27FC236}">
                <a16:creationId xmlns:a16="http://schemas.microsoft.com/office/drawing/2014/main" id="{C203C183-200B-41F7-B860-5864487CF3F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22</a:t>
            </a:r>
          </a:p>
        </p:txBody>
      </p:sp>
      <p:sp>
        <p:nvSpPr>
          <p:cNvPr id="3" name="Contracts and failure scenarios can be tested before business plugins ">
            <a:extLst xmlns:a="http://schemas.openxmlformats.org/drawingml/2006/main">
              <a:ext uri="{FF2B5EF4-FFF2-40B4-BE49-F238E27FC236}">
                <a16:creationId xmlns:a16="http://schemas.microsoft.com/office/drawing/2014/main" id="{D35D7B09-6AE0-48F8-ABF8-B9D1747B0578}"/>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Contracts and failure scenarios can be tested before business plugins grow.</a:t>
            </a:r>
          </a:p>
        </p:txBody>
      </p:sp>
      <p:sp>
        <p:nvSpPr>
          <p:cNvPr id="4" name="">
            <a:extLst xmlns:a="http://schemas.openxmlformats.org/drawingml/2006/main">
              <a:ext uri="{FF2B5EF4-FFF2-40B4-BE49-F238E27FC236}">
                <a16:creationId xmlns:a16="http://schemas.microsoft.com/office/drawing/2014/main" id="{22004DAE-DE34-4DDE-8454-00127660E87B}"/>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D40494DD-4C6A-4339-A8E6-BC6F79A3B77A}"/>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Version contracts and repair inherited correctness blockers.&#10;Build fau">
            <a:extLst xmlns:a="http://schemas.openxmlformats.org/drawingml/2006/main">
              <a:ext uri="{FF2B5EF4-FFF2-40B4-BE49-F238E27FC236}">
                <a16:creationId xmlns:a16="http://schemas.microsoft.com/office/drawing/2014/main" id="{5E37802E-2765-476E-8FD4-7574EC41887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Version contracts and repair inherited correctness blockers.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Build fault fixtures and spike two-hub reservations.</a:t>
            </a:r>
          </a:p>
        </p:txBody>
      </p:sp>
      <p:sp>
        <p:nvSpPr>
          <p:cNvPr id="7" name="Acceptance gate">
            <a:extLst xmlns:a="http://schemas.openxmlformats.org/drawingml/2006/main">
              <a:ext uri="{FF2B5EF4-FFF2-40B4-BE49-F238E27FC236}">
                <a16:creationId xmlns:a16="http://schemas.microsoft.com/office/drawing/2014/main" id="{C1A2DC0D-8448-4203-8F32-74F1679D06A9}"/>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Independent clients interoperate.&#10;Required regressions and governance ">
            <a:extLst xmlns:a="http://schemas.openxmlformats.org/drawingml/2006/main">
              <a:ext uri="{FF2B5EF4-FFF2-40B4-BE49-F238E27FC236}">
                <a16:creationId xmlns:a16="http://schemas.microsoft.com/office/drawing/2014/main" id="{A5E8B066-4025-4F0F-AA1D-1F24EBCC05EF}"/>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Independent clients interoperate.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Required regressions and governance checks pass.</a:t>
            </a:r>
          </a:p>
        </p:txBody>
      </p:sp>
      <p:sp>
        <p:nvSpPr>
          <p:cNvPr id="9" name="P01-AC01 through P01-AC04">
            <a:extLst xmlns:a="http://schemas.openxmlformats.org/drawingml/2006/main">
              <a:ext uri="{FF2B5EF4-FFF2-40B4-BE49-F238E27FC236}">
                <a16:creationId xmlns:a16="http://schemas.microsoft.com/office/drawing/2014/main" id="{E8996467-7BC5-40DC-BB84-0C8DFF1542D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P01-AC01 through P01-AC04</a:t>
            </a:r>
          </a:p>
        </p:txBody>
      </p:sp>
      <p:sp>
        <p:nvSpPr>
          <p:cNvPr id="10" name="Owner: Architecture + quality">
            <a:extLst xmlns:a="http://schemas.openxmlformats.org/drawingml/2006/main">
              <a:ext uri="{FF2B5EF4-FFF2-40B4-BE49-F238E27FC236}">
                <a16:creationId xmlns:a16="http://schemas.microsoft.com/office/drawing/2014/main" id="{3B3EEC8B-B485-45AB-9BE5-39DA6644474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Architecture + quality</a:t>
            </a:r>
          </a:p>
        </p:txBody>
      </p:sp>
    </p:spTree>
    <p:extLst>
      <p:ext uri="{BB962C8B-B14F-4D97-AF65-F5344CB8AC3E}">
        <p14:creationId xmlns:p14="http://schemas.microsoft.com/office/powerpoint/2010/main" val="1102681035"/>
      </p:ext>
    </p:extLst>
  </p:cSld>
</p:sld>
</file>

<file path=ppt/slides/slide2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2  Protected boot and NATS">
            <a:extLst xmlns:a="http://schemas.openxmlformats.org/drawingml/2006/main">
              <a:ext uri="{FF2B5EF4-FFF2-40B4-BE49-F238E27FC236}">
                <a16:creationId xmlns:a16="http://schemas.microsoft.com/office/drawing/2014/main" id="{8814241A-5401-4BD8-B63A-82AB2B07A7DA}"/>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P02  Protected boot and NATS</a:t>
            </a:r>
          </a:p>
        </p:txBody>
      </p:sp>
      <p:sp>
        <p:nvSpPr>
          <p:cNvPr id="2" name="23">
            <a:extLst xmlns:a="http://schemas.openxmlformats.org/drawingml/2006/main">
              <a:ext uri="{FF2B5EF4-FFF2-40B4-BE49-F238E27FC236}">
                <a16:creationId xmlns:a16="http://schemas.microsoft.com/office/drawing/2014/main" id="{CAC1FD12-80A2-4630-B5D7-1B45FAE45D9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23</a:t>
            </a:r>
          </a:p>
        </p:txBody>
      </p:sp>
      <p:sp>
        <p:nvSpPr>
          <p:cNvPr id="3" name="A local installation boots deterministically with protected kernel plu">
            <a:extLst xmlns:a="http://schemas.openxmlformats.org/drawingml/2006/main">
              <a:ext uri="{FF2B5EF4-FFF2-40B4-BE49-F238E27FC236}">
                <a16:creationId xmlns:a16="http://schemas.microsoft.com/office/drawing/2014/main" id="{370364A5-C98A-47E4-BA2A-EF0A009CFB7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local installation boots deterministically with protected kernel plugins.</a:t>
            </a:r>
          </a:p>
        </p:txBody>
      </p:sp>
      <p:sp>
        <p:nvSpPr>
          <p:cNvPr id="4" name="">
            <a:extLst xmlns:a="http://schemas.openxmlformats.org/drawingml/2006/main">
              <a:ext uri="{FF2B5EF4-FFF2-40B4-BE49-F238E27FC236}">
                <a16:creationId xmlns:a16="http://schemas.microsoft.com/office/drawing/2014/main" id="{AB818FDE-B669-4838-9218-68107021E802}"/>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090AD0EC-EC46-4CF6-B3D3-48B0511BE6E2}"/>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Bootstrap broker access and protected plugins.&#10;Publish status with bou">
            <a:extLst xmlns:a="http://schemas.openxmlformats.org/drawingml/2006/main">
              <a:ext uri="{FF2B5EF4-FFF2-40B4-BE49-F238E27FC236}">
                <a16:creationId xmlns:a16="http://schemas.microsoft.com/office/drawing/2014/main" id="{A6060F93-61C4-4912-98DB-105C3A5FD8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Bootstrap broker access and protected plugins.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Publish status with bounded recovery and diagnostics.</a:t>
            </a:r>
          </a:p>
        </p:txBody>
      </p:sp>
      <p:sp>
        <p:nvSpPr>
          <p:cNvPr id="7" name="Acceptance gate">
            <a:extLst xmlns:a="http://schemas.openxmlformats.org/drawingml/2006/main">
              <a:ext uri="{FF2B5EF4-FFF2-40B4-BE49-F238E27FC236}">
                <a16:creationId xmlns:a16="http://schemas.microsoft.com/office/drawing/2014/main" id="{7D9CFE95-9890-4C5B-B32A-63F98FE03E7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Boot without hosted inference.&#10;Outside plugins cannot write into the k">
            <a:extLst xmlns:a="http://schemas.openxmlformats.org/drawingml/2006/main">
              <a:ext uri="{FF2B5EF4-FFF2-40B4-BE49-F238E27FC236}">
                <a16:creationId xmlns:a16="http://schemas.microsoft.com/office/drawing/2014/main" id="{DA3B6310-7473-46C4-A787-ADF33FD595EB}"/>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Boot without hosted inference.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Outside plugins cannot write into the kernel.</a:t>
            </a:r>
          </a:p>
        </p:txBody>
      </p:sp>
      <p:sp>
        <p:nvSpPr>
          <p:cNvPr id="9" name="P02-AC01 through P02-AC04">
            <a:extLst xmlns:a="http://schemas.openxmlformats.org/drawingml/2006/main">
              <a:ext uri="{FF2B5EF4-FFF2-40B4-BE49-F238E27FC236}">
                <a16:creationId xmlns:a16="http://schemas.microsoft.com/office/drawing/2014/main" id="{01556A86-CB8C-4BF8-8A56-31676C27C46E}"/>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P02-AC01 through P02-AC04</a:t>
            </a:r>
          </a:p>
        </p:txBody>
      </p:sp>
      <p:sp>
        <p:nvSpPr>
          <p:cNvPr id="10" name="Owner: Runtime + messaging">
            <a:extLst xmlns:a="http://schemas.openxmlformats.org/drawingml/2006/main">
              <a:ext uri="{FF2B5EF4-FFF2-40B4-BE49-F238E27FC236}">
                <a16:creationId xmlns:a16="http://schemas.microsoft.com/office/drawing/2014/main" id="{7BCDF544-6DD1-40CE-9580-7F46A3CAF075}"/>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Runtime + messaging</a:t>
            </a:r>
          </a:p>
        </p:txBody>
      </p:sp>
    </p:spTree>
    <p:extLst>
      <p:ext uri="{BB962C8B-B14F-4D97-AF65-F5344CB8AC3E}">
        <p14:creationId xmlns:p14="http://schemas.microsoft.com/office/powerpoint/2010/main" val="528401178"/>
      </p:ext>
    </p:extLst>
  </p:cSld>
</p:sld>
</file>

<file path=ppt/slides/slide2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3  Plugin framework and context">
            <a:extLst xmlns:a="http://schemas.openxmlformats.org/drawingml/2006/main">
              <a:ext uri="{FF2B5EF4-FFF2-40B4-BE49-F238E27FC236}">
                <a16:creationId xmlns:a16="http://schemas.microsoft.com/office/drawing/2014/main" id="{8B8907C5-4769-47F3-BD92-4E3E9362BC39}"/>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P03  Plugin framework and context</a:t>
            </a:r>
          </a:p>
        </p:txBody>
      </p:sp>
      <p:sp>
        <p:nvSpPr>
          <p:cNvPr id="2" name="24">
            <a:extLst xmlns:a="http://schemas.openxmlformats.org/drawingml/2006/main">
              <a:ext uri="{FF2B5EF4-FFF2-40B4-BE49-F238E27FC236}">
                <a16:creationId xmlns:a16="http://schemas.microsoft.com/office/drawing/2014/main" id="{3FDBF3E5-5EBB-48A3-A2F5-66FCE090B0A8}"/>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24</a:t>
            </a:r>
          </a:p>
        </p:txBody>
      </p:sp>
      <p:sp>
        <p:nvSpPr>
          <p:cNvPr id="3" name="A third-party author can build a compatible trusted plugin without cha">
            <a:extLst xmlns:a="http://schemas.openxmlformats.org/drawingml/2006/main">
              <a:ext uri="{FF2B5EF4-FFF2-40B4-BE49-F238E27FC236}">
                <a16:creationId xmlns:a16="http://schemas.microsoft.com/office/drawing/2014/main" id="{2A9717F6-D738-4EC3-8501-377FD0E84495}"/>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third-party author can build a compatible trusted plugin without changing the kernel.</a:t>
            </a:r>
          </a:p>
        </p:txBody>
      </p:sp>
      <p:sp>
        <p:nvSpPr>
          <p:cNvPr id="4" name="">
            <a:extLst xmlns:a="http://schemas.openxmlformats.org/drawingml/2006/main">
              <a:ext uri="{FF2B5EF4-FFF2-40B4-BE49-F238E27FC236}">
                <a16:creationId xmlns:a16="http://schemas.microsoft.com/office/drawing/2014/main" id="{59E7AE1E-2B3B-495D-9A2D-A57D24552D8D}"/>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E531BB2F-BBC5-40A5-A177-D16B71FE3399}"/>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package lifecycle and both child modes.&#10;Supply scoped contex">
            <a:extLst xmlns:a="http://schemas.openxmlformats.org/drawingml/2006/main">
              <a:ext uri="{FF2B5EF4-FFF2-40B4-BE49-F238E27FC236}">
                <a16:creationId xmlns:a16="http://schemas.microsoft.com/office/drawing/2014/main" id="{5D2EE97A-94E9-42BC-8A52-FED7484C8A6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package lifecycle and both child modes.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Supply scoped contexts and interoperable SDKs.</a:t>
            </a:r>
          </a:p>
        </p:txBody>
      </p:sp>
      <p:sp>
        <p:nvSpPr>
          <p:cNvPr id="7" name="Acceptance gate">
            <a:extLst xmlns:a="http://schemas.openxmlformats.org/drawingml/2006/main">
              <a:ext uri="{FF2B5EF4-FFF2-40B4-BE49-F238E27FC236}">
                <a16:creationId xmlns:a16="http://schemas.microsoft.com/office/drawing/2014/main" id="{16A3996F-C4C4-45E0-B4E7-AAFFC6F9070A}"/>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hildren cannot widen authority.&#10;Two languages pass shared contracts.">
            <a:extLst xmlns:a="http://schemas.openxmlformats.org/drawingml/2006/main">
              <a:ext uri="{FF2B5EF4-FFF2-40B4-BE49-F238E27FC236}">
                <a16:creationId xmlns:a16="http://schemas.microsoft.com/office/drawing/2014/main" id="{5CDC4758-D3E7-40C7-A372-122BB7957C2D}"/>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Children cannot widen authority.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Two languages pass shared contracts.</a:t>
            </a:r>
          </a:p>
        </p:txBody>
      </p:sp>
      <p:sp>
        <p:nvSpPr>
          <p:cNvPr id="9" name="P03-AC01 through P03-AC05">
            <a:extLst xmlns:a="http://schemas.openxmlformats.org/drawingml/2006/main">
              <a:ext uri="{FF2B5EF4-FFF2-40B4-BE49-F238E27FC236}">
                <a16:creationId xmlns:a16="http://schemas.microsoft.com/office/drawing/2014/main" id="{44EEE436-CFD6-4462-A4A0-93B0EEFDE2AA}"/>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P03-AC01 through P03-AC05</a:t>
            </a:r>
          </a:p>
        </p:txBody>
      </p:sp>
      <p:sp>
        <p:nvSpPr>
          <p:cNvPr id="10" name="Owner: Plugin platform + SDK">
            <a:extLst xmlns:a="http://schemas.openxmlformats.org/drawingml/2006/main">
              <a:ext uri="{FF2B5EF4-FFF2-40B4-BE49-F238E27FC236}">
                <a16:creationId xmlns:a16="http://schemas.microsoft.com/office/drawing/2014/main" id="{4738A672-CE93-4C92-BE4F-0ED15A0D9787}"/>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Plugin platform + SDK</a:t>
            </a:r>
          </a:p>
        </p:txBody>
      </p:sp>
    </p:spTree>
    <p:extLst>
      <p:ext uri="{BB962C8B-B14F-4D97-AF65-F5344CB8AC3E}">
        <p14:creationId xmlns:p14="http://schemas.microsoft.com/office/powerpoint/2010/main" val="114506416"/>
      </p:ext>
    </p:extLst>
  </p:cSld>
</p:sld>
</file>

<file path=ppt/slides/slide2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4  Identity, state and workspaces">
            <a:extLst xmlns:a="http://schemas.openxmlformats.org/drawingml/2006/main">
              <a:ext uri="{FF2B5EF4-FFF2-40B4-BE49-F238E27FC236}">
                <a16:creationId xmlns:a16="http://schemas.microsoft.com/office/drawing/2014/main" id="{76BE3C23-5D9F-4824-A51A-B9D0100563F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P04  Identity, state and workspaces</a:t>
            </a:r>
          </a:p>
        </p:txBody>
      </p:sp>
      <p:sp>
        <p:nvSpPr>
          <p:cNvPr id="2" name="25">
            <a:extLst xmlns:a="http://schemas.openxmlformats.org/drawingml/2006/main">
              <a:ext uri="{FF2B5EF4-FFF2-40B4-BE49-F238E27FC236}">
                <a16:creationId xmlns:a16="http://schemas.microsoft.com/office/drawing/2014/main" id="{554D69A9-F711-43B3-B622-6FA062B75AC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25</a:t>
            </a:r>
          </a:p>
        </p:txBody>
      </p:sp>
      <p:sp>
        <p:nvSpPr>
          <p:cNvPr id="3" name="Multiple users and projects share a hub with explicit authority and du">
            <a:extLst xmlns:a="http://schemas.openxmlformats.org/drawingml/2006/main">
              <a:ext uri="{FF2B5EF4-FFF2-40B4-BE49-F238E27FC236}">
                <a16:creationId xmlns:a16="http://schemas.microsoft.com/office/drawing/2014/main" id="{E7679BC1-75DE-4926-9BAE-CFE001C614FC}"/>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Multiple users and projects share a hub with explicit authority and durable ownership.</a:t>
            </a:r>
          </a:p>
        </p:txBody>
      </p:sp>
      <p:sp>
        <p:nvSpPr>
          <p:cNvPr id="4" name="">
            <a:extLst xmlns:a="http://schemas.openxmlformats.org/drawingml/2006/main">
              <a:ext uri="{FF2B5EF4-FFF2-40B4-BE49-F238E27FC236}">
                <a16:creationId xmlns:a16="http://schemas.microsoft.com/office/drawing/2014/main" id="{5D967B9A-AD48-480A-9E88-217D4D3F3219}"/>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6858E756-4A3E-43C4-AE7C-E24EFBDF06D3}"/>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Enroll identities and persist scoped ownership.&#10;Qualify worker OS/cont">
            <a:extLst xmlns:a="http://schemas.openxmlformats.org/drawingml/2006/main">
              <a:ext uri="{FF2B5EF4-FFF2-40B4-BE49-F238E27FC236}">
                <a16:creationId xmlns:a16="http://schemas.microsoft.com/office/drawing/2014/main" id="{9179FF04-6DF8-4B9A-82C9-9302030C43F1}"/>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Enroll identities and persist scoped ownership.</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worker OS/container/host isolation and recovery.</a:t>
            </a:r>
          </a:p>
        </p:txBody>
      </p:sp>
      <p:sp>
        <p:nvSpPr>
          <p:cNvPr id="7" name="Acceptance gate">
            <a:extLst xmlns:a="http://schemas.openxmlformats.org/drawingml/2006/main">
              <a:ext uri="{FF2B5EF4-FFF2-40B4-BE49-F238E27FC236}">
                <a16:creationId xmlns:a16="http://schemas.microsoft.com/office/drawing/2014/main" id="{5814B772-E89E-4E2B-9AB0-A583E298495B}"/>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ross-scope access fails.&#10;Crashes, duplicate requests and restores pre">
            <a:extLst xmlns:a="http://schemas.openxmlformats.org/drawingml/2006/main">
              <a:ext uri="{FF2B5EF4-FFF2-40B4-BE49-F238E27FC236}">
                <a16:creationId xmlns:a16="http://schemas.microsoft.com/office/drawing/2014/main" id="{53E71B9C-0904-4E64-A720-ECB80358B860}"/>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Cross-scope access fails.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Crashes, duplicate requests and restores preserve ownership.</a:t>
            </a:r>
          </a:p>
        </p:txBody>
      </p:sp>
      <p:sp>
        <p:nvSpPr>
          <p:cNvPr id="9" name="P04-AC01 through P04-AC05">
            <a:extLst xmlns:a="http://schemas.openxmlformats.org/drawingml/2006/main">
              <a:ext uri="{FF2B5EF4-FFF2-40B4-BE49-F238E27FC236}">
                <a16:creationId xmlns:a16="http://schemas.microsoft.com/office/drawing/2014/main" id="{D826B6CD-663B-46E9-A79A-44CE1459D8FB}"/>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P04-AC01 through P04-AC05</a:t>
            </a:r>
          </a:p>
        </p:txBody>
      </p:sp>
      <p:sp>
        <p:nvSpPr>
          <p:cNvPr id="10" name="Owner: Security + data platform">
            <a:extLst xmlns:a="http://schemas.openxmlformats.org/drawingml/2006/main">
              <a:ext uri="{FF2B5EF4-FFF2-40B4-BE49-F238E27FC236}">
                <a16:creationId xmlns:a16="http://schemas.microsoft.com/office/drawing/2014/main" id="{C57F6346-AFAE-4D91-970B-EC1D9DFDF9A2}"/>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Security + data platform</a:t>
            </a:r>
          </a:p>
        </p:txBody>
      </p:sp>
    </p:spTree>
    <p:extLst>
      <p:ext uri="{BB962C8B-B14F-4D97-AF65-F5344CB8AC3E}">
        <p14:creationId xmlns:p14="http://schemas.microsoft.com/office/powerpoint/2010/main" val="1340918187"/>
      </p:ext>
    </p:extLst>
  </p:cSld>
</p:sld>
</file>

<file path=ppt/slides/slide2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5  Local orchestration">
            <a:extLst xmlns:a="http://schemas.openxmlformats.org/drawingml/2006/main">
              <a:ext uri="{FF2B5EF4-FFF2-40B4-BE49-F238E27FC236}">
                <a16:creationId xmlns:a16="http://schemas.microsoft.com/office/drawing/2014/main" id="{F95513EC-A1F7-4FBD-A973-B253E726FC2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P05  Local orchestration</a:t>
            </a:r>
          </a:p>
        </p:txBody>
      </p:sp>
      <p:sp>
        <p:nvSpPr>
          <p:cNvPr id="2" name="26">
            <a:extLst xmlns:a="http://schemas.openxmlformats.org/drawingml/2006/main">
              <a:ext uri="{FF2B5EF4-FFF2-40B4-BE49-F238E27FC236}">
                <a16:creationId xmlns:a16="http://schemas.microsoft.com/office/drawing/2014/main" id="{81879805-08E1-4085-8142-9AB1FD14D41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26</a:t>
            </a:r>
          </a:p>
        </p:txBody>
      </p:sp>
      <p:sp>
        <p:nvSpPr>
          <p:cNvPr id="3" name="A developer can finish a reviewable software task through durable coor">
            <a:extLst xmlns:a="http://schemas.openxmlformats.org/drawingml/2006/main">
              <a:ext uri="{FF2B5EF4-FFF2-40B4-BE49-F238E27FC236}">
                <a16:creationId xmlns:a16="http://schemas.microsoft.com/office/drawing/2014/main" id="{469AFD1B-48F8-4118-830F-BC29EF081A3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 developer can finish a reviewable software task through durable coordinated work.</a:t>
            </a:r>
          </a:p>
        </p:txBody>
      </p:sp>
      <p:sp>
        <p:nvSpPr>
          <p:cNvPr id="4" name="">
            <a:extLst xmlns:a="http://schemas.openxmlformats.org/drawingml/2006/main">
              <a:ext uri="{FF2B5EF4-FFF2-40B4-BE49-F238E27FC236}">
                <a16:creationId xmlns:a16="http://schemas.microsoft.com/office/drawing/2014/main" id="{785F585E-10F4-4F33-84C2-8E2E7B73FFEF}"/>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A5CB7A54-E72A-4F3E-8463-9E9933DA9C3C}"/>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plans, assignments and supervised attempts.&#10;Deliver software">
            <a:extLst xmlns:a="http://schemas.openxmlformats.org/drawingml/2006/main">
              <a:ext uri="{FF2B5EF4-FFF2-40B4-BE49-F238E27FC236}">
                <a16:creationId xmlns:a16="http://schemas.microsoft.com/office/drawing/2014/main" id="{40C91F2F-0624-4873-92B7-C6160A4C6AD2}"/>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plans, assignments and supervised attempts.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Deliver software changes with reviewable evidence.</a:t>
            </a:r>
          </a:p>
        </p:txBody>
      </p:sp>
      <p:sp>
        <p:nvSpPr>
          <p:cNvPr id="7" name="Acceptance gate">
            <a:extLst xmlns:a="http://schemas.openxmlformats.org/drawingml/2006/main">
              <a:ext uri="{FF2B5EF4-FFF2-40B4-BE49-F238E27FC236}">
                <a16:creationId xmlns:a16="http://schemas.microsoft.com/office/drawing/2014/main" id="{1D0EFAE3-A039-40F9-A353-FDE59CE60F8B}"/>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Complete reference workflow.&#10;Acceptance requires owner review, not ter">
            <a:extLst xmlns:a="http://schemas.openxmlformats.org/drawingml/2006/main">
              <a:ext uri="{FF2B5EF4-FFF2-40B4-BE49-F238E27FC236}">
                <a16:creationId xmlns:a16="http://schemas.microsoft.com/office/drawing/2014/main" id="{EB364363-55D5-4CE7-AB6B-32BFD1FAF05D}"/>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Complete reference workflow.</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Acceptance requires owner review, not terminal text.</a:t>
            </a:r>
          </a:p>
        </p:txBody>
      </p:sp>
      <p:sp>
        <p:nvSpPr>
          <p:cNvPr id="9" name="P05-AC01 through P05-AC05">
            <a:extLst xmlns:a="http://schemas.openxmlformats.org/drawingml/2006/main">
              <a:ext uri="{FF2B5EF4-FFF2-40B4-BE49-F238E27FC236}">
                <a16:creationId xmlns:a16="http://schemas.microsoft.com/office/drawing/2014/main" id="{B7D60607-AC5C-4061-8F4F-B8D8A0AD762A}"/>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P05-AC01 through P05-AC05</a:t>
            </a:r>
          </a:p>
        </p:txBody>
      </p:sp>
      <p:sp>
        <p:nvSpPr>
          <p:cNvPr id="10" name="Owner: Orchestration + developer workflow">
            <a:extLst xmlns:a="http://schemas.openxmlformats.org/drawingml/2006/main">
              <a:ext uri="{FF2B5EF4-FFF2-40B4-BE49-F238E27FC236}">
                <a16:creationId xmlns:a16="http://schemas.microsoft.com/office/drawing/2014/main" id="{313F9C5B-EC1B-4AC6-AD24-5D9022D5EF48}"/>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Orchestration + developer workflow</a:t>
            </a:r>
          </a:p>
        </p:txBody>
      </p:sp>
    </p:spTree>
    <p:extLst>
      <p:ext uri="{BB962C8B-B14F-4D97-AF65-F5344CB8AC3E}">
        <p14:creationId xmlns:p14="http://schemas.microsoft.com/office/powerpoint/2010/main" val="1698018135"/>
      </p:ext>
    </p:extLst>
  </p:cSld>
</p:sld>
</file>

<file path=ppt/slides/slide2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6  Supported client entry points">
            <a:extLst xmlns:a="http://schemas.openxmlformats.org/drawingml/2006/main">
              <a:ext uri="{FF2B5EF4-FFF2-40B4-BE49-F238E27FC236}">
                <a16:creationId xmlns:a16="http://schemas.microsoft.com/office/drawing/2014/main" id="{13C7C470-DF3F-4BCD-AC9C-1950BA46712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P06  Supported client entry points</a:t>
            </a:r>
          </a:p>
        </p:txBody>
      </p:sp>
      <p:sp>
        <p:nvSpPr>
          <p:cNvPr id="2" name="27">
            <a:extLst xmlns:a="http://schemas.openxmlformats.org/drawingml/2006/main">
              <a:ext uri="{FF2B5EF4-FFF2-40B4-BE49-F238E27FC236}">
                <a16:creationId xmlns:a16="http://schemas.microsoft.com/office/drawing/2014/main" id="{8461D089-D977-4060-A6E9-C61912E9AB2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27</a:t>
            </a:r>
          </a:p>
        </p:txBody>
      </p:sp>
      <p:sp>
        <p:nvSpPr>
          <p:cNvPr id="3" name="Developers use Agentmux from their preferred supported client.">
            <a:extLst xmlns:a="http://schemas.openxmlformats.org/drawingml/2006/main">
              <a:ext uri="{FF2B5EF4-FFF2-40B4-BE49-F238E27FC236}">
                <a16:creationId xmlns:a16="http://schemas.microsoft.com/office/drawing/2014/main" id="{5FD4624C-7929-46BB-BA2E-07BD545B16D2}"/>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Developers use Agentmux from their preferred supported client.</a:t>
            </a:r>
          </a:p>
        </p:txBody>
      </p:sp>
      <p:sp>
        <p:nvSpPr>
          <p:cNvPr id="4" name="">
            <a:extLst xmlns:a="http://schemas.openxmlformats.org/drawingml/2006/main">
              <a:ext uri="{FF2B5EF4-FFF2-40B4-BE49-F238E27FC236}">
                <a16:creationId xmlns:a16="http://schemas.microsoft.com/office/drawing/2014/main" id="{1FC235DD-3906-4160-BEFB-1D81BC8A5EDC}"/>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0F2D973-D8F2-46AC-9394-653ECAC61421}"/>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ackage CLI/MCP integrations for selected hosts.&#10;Declare control, even">
            <a:extLst xmlns:a="http://schemas.openxmlformats.org/drawingml/2006/main">
              <a:ext uri="{FF2B5EF4-FFF2-40B4-BE49-F238E27FC236}">
                <a16:creationId xmlns:a16="http://schemas.microsoft.com/office/drawing/2014/main" id="{CD50F09E-7987-496D-A1DB-915A83D8CF94}"/>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Package CLI/MCP integrations for selected hosts.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Declare control, event, resume and hook capabilities.</a:t>
            </a:r>
          </a:p>
        </p:txBody>
      </p:sp>
      <p:sp>
        <p:nvSpPr>
          <p:cNvPr id="7" name="Acceptance gate">
            <a:extLst xmlns:a="http://schemas.openxmlformats.org/drawingml/2006/main">
              <a:ext uri="{FF2B5EF4-FFF2-40B4-BE49-F238E27FC236}">
                <a16:creationId xmlns:a16="http://schemas.microsoft.com/office/drawing/2014/main" id="{01927425-904B-42AE-9C77-195E3A27B639}"/>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ctual-host reference workflows pass.&#10;Unsupported capabilities remain ">
            <a:extLst xmlns:a="http://schemas.openxmlformats.org/drawingml/2006/main">
              <a:ext uri="{FF2B5EF4-FFF2-40B4-BE49-F238E27FC236}">
                <a16:creationId xmlns:a16="http://schemas.microsoft.com/office/drawing/2014/main" id="{F33EA564-5932-467C-B719-05E010A71714}"/>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Actual-host reference workflows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Unsupported capabilities remain explicit.</a:t>
            </a:r>
          </a:p>
        </p:txBody>
      </p:sp>
      <p:sp>
        <p:nvSpPr>
          <p:cNvPr id="9" name="P06-AC01 through P06-AC04">
            <a:extLst xmlns:a="http://schemas.openxmlformats.org/drawingml/2006/main">
              <a:ext uri="{FF2B5EF4-FFF2-40B4-BE49-F238E27FC236}">
                <a16:creationId xmlns:a16="http://schemas.microsoft.com/office/drawing/2014/main" id="{41CF8293-749C-41E7-B41F-1EC63EE1904E}"/>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P06-AC01 through P06-AC04</a:t>
            </a:r>
          </a:p>
        </p:txBody>
      </p:sp>
      <p:sp>
        <p:nvSpPr>
          <p:cNvPr id="10" name="Owner: Integrations + developer experience">
            <a:extLst xmlns:a="http://schemas.openxmlformats.org/drawingml/2006/main">
              <a:ext uri="{FF2B5EF4-FFF2-40B4-BE49-F238E27FC236}">
                <a16:creationId xmlns:a16="http://schemas.microsoft.com/office/drawing/2014/main" id="{144C3C28-9C20-4C6A-8BAC-E1EE5E5D8CA6}"/>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Integrations + developer experience</a:t>
            </a:r>
          </a:p>
        </p:txBody>
      </p:sp>
    </p:spTree>
    <p:extLst>
      <p:ext uri="{BB962C8B-B14F-4D97-AF65-F5344CB8AC3E}">
        <p14:creationId xmlns:p14="http://schemas.microsoft.com/office/powerpoint/2010/main" val="2124718503"/>
      </p:ext>
    </p:extLst>
  </p:cSld>
</p:sld>
</file>

<file path=ppt/slides/slide2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7  AG-UI and Atomic Design">
            <a:extLst xmlns:a="http://schemas.openxmlformats.org/drawingml/2006/main">
              <a:ext uri="{FF2B5EF4-FFF2-40B4-BE49-F238E27FC236}">
                <a16:creationId xmlns:a16="http://schemas.microsoft.com/office/drawing/2014/main" id="{D6FF0085-82CE-4052-B01B-2BB2A13996D6}"/>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P07  AG-UI and Atomic Design</a:t>
            </a:r>
          </a:p>
        </p:txBody>
      </p:sp>
      <p:sp>
        <p:nvSpPr>
          <p:cNvPr id="2" name="28">
            <a:extLst xmlns:a="http://schemas.openxmlformats.org/drawingml/2006/main">
              <a:ext uri="{FF2B5EF4-FFF2-40B4-BE49-F238E27FC236}">
                <a16:creationId xmlns:a16="http://schemas.microsoft.com/office/drawing/2014/main" id="{E732562D-D823-4B54-A050-DA2D97FC4DA4}"/>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28</a:t>
            </a:r>
          </a:p>
        </p:txBody>
      </p:sp>
      <p:sp>
        <p:nvSpPr>
          <p:cNvPr id="3" name="Authorized users can understand work across agents, projects, and hubs">
            <a:extLst xmlns:a="http://schemas.openxmlformats.org/drawingml/2006/main">
              <a:ext uri="{FF2B5EF4-FFF2-40B4-BE49-F238E27FC236}">
                <a16:creationId xmlns:a16="http://schemas.microsoft.com/office/drawing/2014/main" id="{9F27772E-BFFA-44C4-98A7-F672405412F8}"/>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Authorized users can understand work across agents, projects, and hubs.</a:t>
            </a:r>
          </a:p>
        </p:txBody>
      </p:sp>
      <p:sp>
        <p:nvSpPr>
          <p:cNvPr id="4" name="">
            <a:extLst xmlns:a="http://schemas.openxmlformats.org/drawingml/2006/main">
              <a:ext uri="{FF2B5EF4-FFF2-40B4-BE49-F238E27FC236}">
                <a16:creationId xmlns:a16="http://schemas.microsoft.com/office/drawing/2014/main" id="{72B1E324-6DF3-4FDE-B1B5-445E00706D58}"/>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F735B90-2A1A-4D02-BA83-C385B23F9827}"/>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roject authorized NATS state into CopilotKit.&#10;Implement views, replay">
            <a:extLst xmlns:a="http://schemas.openxmlformats.org/drawingml/2006/main">
              <a:ext uri="{FF2B5EF4-FFF2-40B4-BE49-F238E27FC236}">
                <a16:creationId xmlns:a16="http://schemas.microsoft.com/office/drawing/2014/main" id="{86C6C390-55D1-4FBE-BB0C-2EF33216B3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Project authorized NATS state into CopilotKit.</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views, replay, domain slots and accessibility.</a:t>
            </a:r>
          </a:p>
        </p:txBody>
      </p:sp>
      <p:sp>
        <p:nvSpPr>
          <p:cNvPr id="7" name="Acceptance gate">
            <a:extLst xmlns:a="http://schemas.openxmlformats.org/drawingml/2006/main">
              <a:ext uri="{FF2B5EF4-FFF2-40B4-BE49-F238E27FC236}">
                <a16:creationId xmlns:a16="http://schemas.microsoft.com/office/drawing/2014/main" id="{5B398E83-2E33-4816-B9DB-EFC9C262A0CC}"/>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Viewers converge after reconnect.&#10;No cross-project leaks or duplicate ">
            <a:extLst xmlns:a="http://schemas.openxmlformats.org/drawingml/2006/main">
              <a:ext uri="{FF2B5EF4-FFF2-40B4-BE49-F238E27FC236}">
                <a16:creationId xmlns:a16="http://schemas.microsoft.com/office/drawing/2014/main" id="{9A96AEC6-3858-4003-83D4-8684E7FFF22E}"/>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Viewers converge after reconnect.</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No cross-project leaks or duplicate execution.</a:t>
            </a:r>
          </a:p>
        </p:txBody>
      </p:sp>
      <p:sp>
        <p:nvSpPr>
          <p:cNvPr id="9" name="P07-AC01 through P07-AC05">
            <a:extLst xmlns:a="http://schemas.openxmlformats.org/drawingml/2006/main">
              <a:ext uri="{FF2B5EF4-FFF2-40B4-BE49-F238E27FC236}">
                <a16:creationId xmlns:a16="http://schemas.microsoft.com/office/drawing/2014/main" id="{AEE9F7BD-9917-4012-9E2C-623A0E45567C}"/>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P07-AC01 through P07-AC05</a:t>
            </a:r>
          </a:p>
        </p:txBody>
      </p:sp>
      <p:sp>
        <p:nvSpPr>
          <p:cNvPr id="10" name="Owner: Frontend + interface platform">
            <a:extLst xmlns:a="http://schemas.openxmlformats.org/drawingml/2006/main">
              <a:ext uri="{FF2B5EF4-FFF2-40B4-BE49-F238E27FC236}">
                <a16:creationId xmlns:a16="http://schemas.microsoft.com/office/drawing/2014/main" id="{D1BF0665-E397-4DA2-B572-E081D9A0EC3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Frontend + interface platform</a:t>
            </a:r>
          </a:p>
        </p:txBody>
      </p:sp>
    </p:spTree>
    <p:extLst>
      <p:ext uri="{BB962C8B-B14F-4D97-AF65-F5344CB8AC3E}">
        <p14:creationId xmlns:p14="http://schemas.microsoft.com/office/powerpoint/2010/main" val="458958849"/>
      </p:ext>
    </p:extLst>
  </p:cSld>
</p:sld>
</file>

<file path=ppt/slides/slide29.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8  Jev decision services">
            <a:extLst xmlns:a="http://schemas.openxmlformats.org/drawingml/2006/main">
              <a:ext uri="{FF2B5EF4-FFF2-40B4-BE49-F238E27FC236}">
                <a16:creationId xmlns:a16="http://schemas.microsoft.com/office/drawing/2014/main" id="{A5BFA36F-6BD7-4F9A-AF60-24F1EF041BB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P08  Jev decision services</a:t>
            </a:r>
          </a:p>
        </p:txBody>
      </p:sp>
      <p:sp>
        <p:nvSpPr>
          <p:cNvPr id="2" name="29">
            <a:extLst xmlns:a="http://schemas.openxmlformats.org/drawingml/2006/main">
              <a:ext uri="{FF2B5EF4-FFF2-40B4-BE49-F238E27FC236}">
                <a16:creationId xmlns:a16="http://schemas.microsoft.com/office/drawing/2014/main" id="{B5539D8B-BCE1-47B1-BEA8-6A33382A347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29</a:t>
            </a:r>
          </a:p>
        </p:txBody>
      </p:sp>
      <p:sp>
        <p:nvSpPr>
          <p:cNvPr id="3" name="Plugins request bounded semantic advice with traceable evidence and sa">
            <a:extLst xmlns:a="http://schemas.openxmlformats.org/drawingml/2006/main">
              <a:ext uri="{FF2B5EF4-FFF2-40B4-BE49-F238E27FC236}">
                <a16:creationId xmlns:a16="http://schemas.microsoft.com/office/drawing/2014/main" id="{BDA78FAF-2B07-462B-961D-601DDDFDE4EE}"/>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Plugins request bounded semantic advice with traceable evidence and safe fallback.</a:t>
            </a:r>
          </a:p>
        </p:txBody>
      </p:sp>
      <p:sp>
        <p:nvSpPr>
          <p:cNvPr id="4" name="">
            <a:extLst xmlns:a="http://schemas.openxmlformats.org/drawingml/2006/main">
              <a:ext uri="{FF2B5EF4-FFF2-40B4-BE49-F238E27FC236}">
                <a16:creationId xmlns:a16="http://schemas.microsoft.com/office/drawing/2014/main" id="{E9C723E9-95FC-4FA8-B175-305FA2DB1498}"/>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62745351-6724-471E-8C11-802D7B797656}"/>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Implement scoped definitions, cache, budgets and fallback.&#10;Compare sem">
            <a:extLst xmlns:a="http://schemas.openxmlformats.org/drawingml/2006/main">
              <a:ext uri="{FF2B5EF4-FFF2-40B4-BE49-F238E27FC236}">
                <a16:creationId xmlns:a16="http://schemas.microsoft.com/office/drawing/2014/main" id="{0BFA443C-C476-4DA9-9736-631CAD31449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Implement scoped definitions, cache, budgets and fallback.</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Compare semantic quality and total workflow cost.</a:t>
            </a:r>
          </a:p>
        </p:txBody>
      </p:sp>
      <p:sp>
        <p:nvSpPr>
          <p:cNvPr id="7" name="Acceptance gate">
            <a:extLst xmlns:a="http://schemas.openxmlformats.org/drawingml/2006/main">
              <a:ext uri="{FF2B5EF4-FFF2-40B4-BE49-F238E27FC236}">
                <a16:creationId xmlns:a16="http://schemas.microsoft.com/office/drawing/2014/main" id="{87BF07BC-B98B-4A18-8F30-1D440A51ECD1}"/>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Jev cannot create authority.&#10;Holdout and cost gates pass per definitio">
            <a:extLst xmlns:a="http://schemas.openxmlformats.org/drawingml/2006/main">
              <a:ext uri="{FF2B5EF4-FFF2-40B4-BE49-F238E27FC236}">
                <a16:creationId xmlns:a16="http://schemas.microsoft.com/office/drawing/2014/main" id="{4E50D3CF-6BBE-48FB-B2B4-D211B90FB1EC}"/>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Jev cannot create authority.</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Holdout and cost gates pass per definition.</a:t>
            </a:r>
          </a:p>
        </p:txBody>
      </p:sp>
      <p:sp>
        <p:nvSpPr>
          <p:cNvPr id="9" name="P08-AC01 through P08-AC05">
            <a:extLst xmlns:a="http://schemas.openxmlformats.org/drawingml/2006/main">
              <a:ext uri="{FF2B5EF4-FFF2-40B4-BE49-F238E27FC236}">
                <a16:creationId xmlns:a16="http://schemas.microsoft.com/office/drawing/2014/main" id="{6B34CAFB-E74E-4A08-9F76-A1461EF49D3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P08-AC01 through P08-AC05</a:t>
            </a:r>
          </a:p>
        </p:txBody>
      </p:sp>
      <p:sp>
        <p:nvSpPr>
          <p:cNvPr id="10" name="Owner: Decision platform + evaluation">
            <a:extLst xmlns:a="http://schemas.openxmlformats.org/drawingml/2006/main">
              <a:ext uri="{FF2B5EF4-FFF2-40B4-BE49-F238E27FC236}">
                <a16:creationId xmlns:a16="http://schemas.microsoft.com/office/drawing/2014/main" id="{B965C327-2EEE-4FEC-A9C3-EEFAB3F825B0}"/>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Decision platform + evaluation</a:t>
            </a:r>
          </a:p>
        </p:txBody>
      </p:sp>
    </p:spTree>
    <p:extLst>
      <p:ext uri="{BB962C8B-B14F-4D97-AF65-F5344CB8AC3E}">
        <p14:creationId xmlns:p14="http://schemas.microsoft.com/office/powerpoint/2010/main" val="1185133382"/>
      </p:ext>
    </p:extLst>
  </p:cSld>
</p:sld>
</file>

<file path=ppt/slides/slide30.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09  Portable Jev and first skills">
            <a:extLst xmlns:a="http://schemas.openxmlformats.org/drawingml/2006/main">
              <a:ext uri="{FF2B5EF4-FFF2-40B4-BE49-F238E27FC236}">
                <a16:creationId xmlns:a16="http://schemas.microsoft.com/office/drawing/2014/main" id="{189F8CBC-D63B-4FC8-A66B-6BF22EDC38F4}"/>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P09  Portable Jev and first skills</a:t>
            </a:r>
          </a:p>
        </p:txBody>
      </p:sp>
      <p:sp>
        <p:nvSpPr>
          <p:cNvPr id="2" name="30">
            <a:extLst xmlns:a="http://schemas.openxmlformats.org/drawingml/2006/main">
              <a:ext uri="{FF2B5EF4-FFF2-40B4-BE49-F238E27FC236}">
                <a16:creationId xmlns:a16="http://schemas.microsoft.com/office/drawing/2014/main" id="{C4870250-7336-4788-AF46-9E6866CD784A}"/>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30</a:t>
            </a:r>
          </a:p>
        </p:txBody>
      </p:sp>
      <p:sp>
        <p:nvSpPr>
          <p:cNvPr id="3" name="The same Jev capabilities improve supported clients with host-specific">
            <a:extLst xmlns:a="http://schemas.openxmlformats.org/drawingml/2006/main">
              <a:ext uri="{FF2B5EF4-FFF2-40B4-BE49-F238E27FC236}">
                <a16:creationId xmlns:a16="http://schemas.microsoft.com/office/drawing/2014/main" id="{BA44E2E5-A6A5-485B-9BC5-3F47755B4ED4}"/>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The same Jev capabilities improve supported clients with host-specific packaging.</a:t>
            </a:r>
          </a:p>
        </p:txBody>
      </p:sp>
      <p:sp>
        <p:nvSpPr>
          <p:cNvPr id="4" name="">
            <a:extLst xmlns:a="http://schemas.openxmlformats.org/drawingml/2006/main">
              <a:ext uri="{FF2B5EF4-FFF2-40B4-BE49-F238E27FC236}">
                <a16:creationId xmlns:a16="http://schemas.microsoft.com/office/drawing/2014/main" id="{0865AD41-AA5D-4D75-9AEE-298F45A32C0B}"/>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ADF93E27-0924-4C67-8361-762BE01B7C68}"/>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ackage tools and evaluate triggers and obligations.&#10;Qualify local mod">
            <a:extLst xmlns:a="http://schemas.openxmlformats.org/drawingml/2006/main">
              <a:ext uri="{FF2B5EF4-FFF2-40B4-BE49-F238E27FC236}">
                <a16:creationId xmlns:a16="http://schemas.microsoft.com/office/drawing/2014/main" id="{8AF9E431-51DA-470B-91D9-34348F0F8B76}"/>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Package tools and evaluate triggers and obligations.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local modes. Remote modes wait for P10.</a:t>
            </a:r>
          </a:p>
        </p:txBody>
      </p:sp>
      <p:sp>
        <p:nvSpPr>
          <p:cNvPr id="7" name="Acceptance gate">
            <a:extLst xmlns:a="http://schemas.openxmlformats.org/drawingml/2006/main">
              <a:ext uri="{FF2B5EF4-FFF2-40B4-BE49-F238E27FC236}">
                <a16:creationId xmlns:a16="http://schemas.microsoft.com/office/drawing/2014/main" id="{0A1ABA53-3C6A-4749-8C84-0B3121003D73}"/>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Whole-suite near misses pass.&#10;Actual-host, semantic and cost evidence ">
            <a:extLst xmlns:a="http://schemas.openxmlformats.org/drawingml/2006/main">
              <a:ext uri="{FF2B5EF4-FFF2-40B4-BE49-F238E27FC236}">
                <a16:creationId xmlns:a16="http://schemas.microsoft.com/office/drawing/2014/main" id="{E5C3BEA1-342F-46F8-88D1-0A83F66A74BA}"/>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Whole-suite near misses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Actual-host, semantic and cost evidence support defaults.</a:t>
            </a:r>
          </a:p>
        </p:txBody>
      </p:sp>
      <p:sp>
        <p:nvSpPr>
          <p:cNvPr id="9" name="P09-AC01 through P09-AC05">
            <a:extLst xmlns:a="http://schemas.openxmlformats.org/drawingml/2006/main">
              <a:ext uri="{FF2B5EF4-FFF2-40B4-BE49-F238E27FC236}">
                <a16:creationId xmlns:a16="http://schemas.microsoft.com/office/drawing/2014/main" id="{D5DE0884-B28D-4629-9FBE-419F85360EF8}"/>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P09-AC01 through P09-AC05</a:t>
            </a:r>
          </a:p>
        </p:txBody>
      </p:sp>
      <p:sp>
        <p:nvSpPr>
          <p:cNvPr id="10" name="Owner: Skills + client integrations">
            <a:extLst xmlns:a="http://schemas.openxmlformats.org/drawingml/2006/main">
              <a:ext uri="{FF2B5EF4-FFF2-40B4-BE49-F238E27FC236}">
                <a16:creationId xmlns:a16="http://schemas.microsoft.com/office/drawing/2014/main" id="{099DE971-704F-4775-B502-8E6BDB36206E}"/>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Skills + client integrations</a:t>
            </a:r>
          </a:p>
        </p:txBody>
      </p:sp>
    </p:spTree>
    <p:extLst>
      <p:ext uri="{BB962C8B-B14F-4D97-AF65-F5344CB8AC3E}">
        <p14:creationId xmlns:p14="http://schemas.microsoft.com/office/powerpoint/2010/main" val="2138338884"/>
      </p:ext>
    </p:extLst>
  </p:cSld>
</p:sld>
</file>

<file path=ppt/slides/slide31.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0  Connected hubs and leaf nodes">
            <a:extLst xmlns:a="http://schemas.openxmlformats.org/drawingml/2006/main">
              <a:ext uri="{FF2B5EF4-FFF2-40B4-BE49-F238E27FC236}">
                <a16:creationId xmlns:a16="http://schemas.microsoft.com/office/drawing/2014/main" id="{0AFF34AF-19F9-454C-A4C0-4287513EDC6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P10  Connected hubs and leaf nodes</a:t>
            </a:r>
          </a:p>
        </p:txBody>
      </p:sp>
      <p:sp>
        <p:nvSpPr>
          <p:cNvPr id="2" name="31">
            <a:extLst xmlns:a="http://schemas.openxmlformats.org/drawingml/2006/main">
              <a:ext uri="{FF2B5EF4-FFF2-40B4-BE49-F238E27FC236}">
                <a16:creationId xmlns:a16="http://schemas.microsoft.com/office/drawing/2014/main" id="{7A3D7860-5B96-4790-89ED-FD8307F1DC6E}"/>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31</a:t>
            </a:r>
          </a:p>
        </p:txBody>
      </p:sp>
      <p:sp>
        <p:nvSpPr>
          <p:cNvPr id="3" name="Independent teams share authorized work while retaining their own auth">
            <a:extLst xmlns:a="http://schemas.openxmlformats.org/drawingml/2006/main">
              <a:ext uri="{FF2B5EF4-FFF2-40B4-BE49-F238E27FC236}">
                <a16:creationId xmlns:a16="http://schemas.microsoft.com/office/drawing/2014/main" id="{70EF5D78-E339-411C-873B-E46814781E5F}"/>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Independent teams share authorized work while retaining their own authority.</a:t>
            </a:r>
          </a:p>
        </p:txBody>
      </p:sp>
      <p:sp>
        <p:nvSpPr>
          <p:cNvPr id="4" name="">
            <a:extLst xmlns:a="http://schemas.openxmlformats.org/drawingml/2006/main">
              <a:ext uri="{FF2B5EF4-FFF2-40B4-BE49-F238E27FC236}">
                <a16:creationId xmlns:a16="http://schemas.microsoft.com/office/drawing/2014/main" id="{84A47164-3270-46F9-BE35-7BC05E91D52F}"/>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A8E76C3-4126-42EC-B912-58EB50236314}"/>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Delegate across organizations and qualify remote skills.&#10;Test partitio">
            <a:extLst xmlns:a="http://schemas.openxmlformats.org/drawingml/2006/main">
              <a:ext uri="{FF2B5EF4-FFF2-40B4-BE49-F238E27FC236}">
                <a16:creationId xmlns:a16="http://schemas.microsoft.com/office/drawing/2014/main" id="{1A49223D-4C08-4DED-8FC9-CED711F877A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Delegate across organizations and qualify remote skills.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Test partitions, stale restores and retention gaps.</a:t>
            </a:r>
          </a:p>
        </p:txBody>
      </p:sp>
      <p:sp>
        <p:nvSpPr>
          <p:cNvPr id="7" name="Acceptance gate">
            <a:extLst xmlns:a="http://schemas.openxmlformats.org/drawingml/2006/main">
              <a:ext uri="{FF2B5EF4-FFF2-40B4-BE49-F238E27FC236}">
                <a16:creationId xmlns:a16="http://schemas.microsoft.com/office/drawing/2014/main" id="{B338CEBD-C40C-4884-B1D8-2686760FF05E}"/>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Origin owns acceptance.&#10;Lost acceptance replies and outages never caus">
            <a:extLst xmlns:a="http://schemas.openxmlformats.org/drawingml/2006/main">
              <a:ext uri="{FF2B5EF4-FFF2-40B4-BE49-F238E27FC236}">
                <a16:creationId xmlns:a16="http://schemas.microsoft.com/office/drawing/2014/main" id="{D3A6BADE-1BB7-451D-AA5E-58D07AA40E42}"/>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Origin owns acceptance.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Lost acceptance replies and outages never cause blind redispatch.</a:t>
            </a:r>
          </a:p>
        </p:txBody>
      </p:sp>
      <p:sp>
        <p:nvSpPr>
          <p:cNvPr id="9" name="P10-AC01 through P10-AC06">
            <a:extLst xmlns:a="http://schemas.openxmlformats.org/drawingml/2006/main">
              <a:ext uri="{FF2B5EF4-FFF2-40B4-BE49-F238E27FC236}">
                <a16:creationId xmlns:a16="http://schemas.microsoft.com/office/drawing/2014/main" id="{2EEDB706-9879-4C50-998F-509E5976DDE7}"/>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P10-AC01 through P10-AC06</a:t>
            </a:r>
          </a:p>
        </p:txBody>
      </p:sp>
      <p:sp>
        <p:nvSpPr>
          <p:cNvPr id="10" name="Owner: Federation + security + reliability">
            <a:extLst xmlns:a="http://schemas.openxmlformats.org/drawingml/2006/main">
              <a:ext uri="{FF2B5EF4-FFF2-40B4-BE49-F238E27FC236}">
                <a16:creationId xmlns:a16="http://schemas.microsoft.com/office/drawing/2014/main" id="{F6C99BB8-B8BB-4E40-AC65-51D8CFCF72C9}"/>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Federation + security + reliability</a:t>
            </a:r>
          </a:p>
        </p:txBody>
      </p:sp>
    </p:spTree>
    <p:extLst>
      <p:ext uri="{BB962C8B-B14F-4D97-AF65-F5344CB8AC3E}">
        <p14:creationId xmlns:p14="http://schemas.microsoft.com/office/powerpoint/2010/main" val="684581153"/>
      </p:ext>
    </p:extLst>
  </p:cSld>
</p:sld>
</file>

<file path=ppt/slides/slide32.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1  Industrial packages">
            <a:extLst xmlns:a="http://schemas.openxmlformats.org/drawingml/2006/main">
              <a:ext uri="{FF2B5EF4-FFF2-40B4-BE49-F238E27FC236}">
                <a16:creationId xmlns:a16="http://schemas.microsoft.com/office/drawing/2014/main" id="{9622F755-B758-4751-9704-F7BE4B55A2C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P11  Industrial packages</a:t>
            </a:r>
          </a:p>
        </p:txBody>
      </p:sp>
      <p:sp>
        <p:nvSpPr>
          <p:cNvPr id="2" name="32">
            <a:extLst xmlns:a="http://schemas.openxmlformats.org/drawingml/2006/main">
              <a:ext uri="{FF2B5EF4-FFF2-40B4-BE49-F238E27FC236}">
                <a16:creationId xmlns:a16="http://schemas.microsoft.com/office/drawing/2014/main" id="{16020DD8-A044-4AB8-96FA-11593A76961B}"/>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32</a:t>
            </a:r>
          </a:p>
        </p:txBody>
      </p:sp>
      <p:sp>
        <p:nvSpPr>
          <p:cNvPr id="3" name="Industrial workflows extend Agentmux through the same contracts as oth">
            <a:extLst xmlns:a="http://schemas.openxmlformats.org/drawingml/2006/main">
              <a:ext uri="{FF2B5EF4-FFF2-40B4-BE49-F238E27FC236}">
                <a16:creationId xmlns:a16="http://schemas.microsoft.com/office/drawing/2014/main" id="{9DD08E85-9150-4628-A646-E85DCF4BCF67}"/>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Industrial workflows extend Agentmux through the same contracts as other domains.</a:t>
            </a:r>
          </a:p>
        </p:txBody>
      </p:sp>
      <p:sp>
        <p:nvSpPr>
          <p:cNvPr id="4" name="">
            <a:extLst xmlns:a="http://schemas.openxmlformats.org/drawingml/2006/main">
              <a:ext uri="{FF2B5EF4-FFF2-40B4-BE49-F238E27FC236}">
                <a16:creationId xmlns:a16="http://schemas.microsoft.com/office/drawing/2014/main" id="{B868ABF5-527B-49E2-A89A-BB625656B75E}"/>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FF9E31ED-66FD-4F4A-9F4D-D73EAE357F8A}"/>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Port domain and vendor behavior through plugin contracts.&#10;Declare host">
            <a:extLst xmlns:a="http://schemas.openxmlformats.org/drawingml/2006/main">
              <a:ext uri="{FF2B5EF4-FFF2-40B4-BE49-F238E27FC236}">
                <a16:creationId xmlns:a16="http://schemas.microsoft.com/office/drawing/2014/main" id="{498E4496-573C-4610-8E8F-D66A80CA2866}"/>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Port domain and vendor behavior through plugin contracts.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Declare host/tool support and mutation safeguards.</a:t>
            </a:r>
          </a:p>
        </p:txBody>
      </p:sp>
      <p:sp>
        <p:nvSpPr>
          <p:cNvPr id="7" name="Acceptance gate">
            <a:extLst xmlns:a="http://schemas.openxmlformats.org/drawingml/2006/main">
              <a:ext uri="{FF2B5EF4-FFF2-40B4-BE49-F238E27FC236}">
                <a16:creationId xmlns:a16="http://schemas.microsoft.com/office/drawing/2014/main" id="{77718D75-F8E5-4845-9E85-FBA9BD919607}"/>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Selected reference workflow passes.&#10;Simulator claims stay separate fro">
            <a:extLst xmlns:a="http://schemas.openxmlformats.org/drawingml/2006/main">
              <a:ext uri="{FF2B5EF4-FFF2-40B4-BE49-F238E27FC236}">
                <a16:creationId xmlns:a16="http://schemas.microsoft.com/office/drawing/2014/main" id="{33806289-370E-4D8E-8FCA-C731D79D56C0}"/>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Selected reference workflow passes.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Simulator claims stay separate from hardware qualification.</a:t>
            </a:r>
          </a:p>
        </p:txBody>
      </p:sp>
      <p:sp>
        <p:nvSpPr>
          <p:cNvPr id="9" name="P11-AC01 through P11-AC05">
            <a:extLst xmlns:a="http://schemas.openxmlformats.org/drawingml/2006/main">
              <a:ext uri="{FF2B5EF4-FFF2-40B4-BE49-F238E27FC236}">
                <a16:creationId xmlns:a16="http://schemas.microsoft.com/office/drawing/2014/main" id="{077F0228-9585-491E-BA96-CC7F4CDCE553}"/>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P11-AC01 through P11-AC05</a:t>
            </a:r>
          </a:p>
        </p:txBody>
      </p:sp>
      <p:sp>
        <p:nvSpPr>
          <p:cNvPr id="10" name="Owner: Domain engineering + plugin SDK">
            <a:extLst xmlns:a="http://schemas.openxmlformats.org/drawingml/2006/main">
              <a:ext uri="{FF2B5EF4-FFF2-40B4-BE49-F238E27FC236}">
                <a16:creationId xmlns:a16="http://schemas.microsoft.com/office/drawing/2014/main" id="{D8B8EF92-5A25-4DD2-9ED2-038366ED543E}"/>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Domain engineering + plugin SDK</a:t>
            </a:r>
          </a:p>
        </p:txBody>
      </p:sp>
    </p:spTree>
    <p:extLst>
      <p:ext uri="{BB962C8B-B14F-4D97-AF65-F5344CB8AC3E}">
        <p14:creationId xmlns:p14="http://schemas.microsoft.com/office/powerpoint/2010/main" val="944879583"/>
      </p:ext>
    </p:extLst>
  </p:cSld>
</p:sld>
</file>

<file path=ppt/slides/slide33.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2  Production qualification">
            <a:extLst xmlns:a="http://schemas.openxmlformats.org/drawingml/2006/main">
              <a:ext uri="{FF2B5EF4-FFF2-40B4-BE49-F238E27FC236}">
                <a16:creationId xmlns:a16="http://schemas.microsoft.com/office/drawing/2014/main" id="{D70F411C-F7D7-4DC1-9D4E-2CF4FC621741}"/>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P12  Production qualification</a:t>
            </a:r>
          </a:p>
        </p:txBody>
      </p:sp>
      <p:sp>
        <p:nvSpPr>
          <p:cNvPr id="2" name="33">
            <a:extLst xmlns:a="http://schemas.openxmlformats.org/drawingml/2006/main">
              <a:ext uri="{FF2B5EF4-FFF2-40B4-BE49-F238E27FC236}">
                <a16:creationId xmlns:a16="http://schemas.microsoft.com/office/drawing/2014/main" id="{D1A20E96-DAF9-47C4-8D92-F964A2AB0F43}"/>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33</a:t>
            </a:r>
          </a:p>
        </p:txBody>
      </p:sp>
      <p:sp>
        <p:nvSpPr>
          <p:cNvPr id="3" name="Customers can install, operate, recover, and support the complete laun">
            <a:extLst xmlns:a="http://schemas.openxmlformats.org/drawingml/2006/main">
              <a:ext uri="{FF2B5EF4-FFF2-40B4-BE49-F238E27FC236}">
                <a16:creationId xmlns:a16="http://schemas.microsoft.com/office/drawing/2014/main" id="{CF1339D6-1C6B-4A27-9917-2EC743BECAC6}"/>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Customers can install, operate, recover, and support the complete launch product.</a:t>
            </a:r>
          </a:p>
        </p:txBody>
      </p:sp>
      <p:sp>
        <p:nvSpPr>
          <p:cNvPr id="4" name="">
            <a:extLst xmlns:a="http://schemas.openxmlformats.org/drawingml/2006/main">
              <a:ext uri="{FF2B5EF4-FFF2-40B4-BE49-F238E27FC236}">
                <a16:creationId xmlns:a16="http://schemas.microsoft.com/office/drawing/2014/main" id="{C960CD0C-8C4E-4B3B-9136-B40F93B42389}"/>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80966873-0F37-4F9F-B4A1-18DE0DBAF05C}"/>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Qualify install, upgrades, support and recovery.&#10;Prove capacity, two-o">
            <a:extLst xmlns:a="http://schemas.openxmlformats.org/drawingml/2006/main">
              <a:ext uri="{FF2B5EF4-FFF2-40B4-BE49-F238E27FC236}">
                <a16:creationId xmlns:a16="http://schemas.microsoft.com/office/drawing/2014/main" id="{3B84F998-1211-4509-B694-DB2D06919A80}"/>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install, upgrades, support and recovery.</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Prove capacity, two-organization work and release coverage.</a:t>
            </a:r>
          </a:p>
        </p:txBody>
      </p:sp>
      <p:sp>
        <p:nvSpPr>
          <p:cNvPr id="7" name="Acceptance gate">
            <a:extLst xmlns:a="http://schemas.openxmlformats.org/drawingml/2006/main">
              <a:ext uri="{FF2B5EF4-FFF2-40B4-BE49-F238E27FC236}">
                <a16:creationId xmlns:a16="http://schemas.microsoft.com/office/drawing/2014/main" id="{35401680-5EA9-46DC-86FD-B2208D23A2E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ll launch evidence matches the candidate.&#10;Ryan authorizes merge/relea">
            <a:extLst xmlns:a="http://schemas.openxmlformats.org/drawingml/2006/main">
              <a:ext uri="{FF2B5EF4-FFF2-40B4-BE49-F238E27FC236}">
                <a16:creationId xmlns:a16="http://schemas.microsoft.com/office/drawing/2014/main" id="{4BD2903D-B2DB-430A-9B6B-15E81D943D55}"/>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All launch evidence matches the candidate.</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Ryan authorizes merge/release after review with Nick.</a:t>
            </a:r>
          </a:p>
        </p:txBody>
      </p:sp>
      <p:sp>
        <p:nvSpPr>
          <p:cNvPr id="9" name="P12-AC01 through P12-AC05">
            <a:extLst xmlns:a="http://schemas.openxmlformats.org/drawingml/2006/main">
              <a:ext uri="{FF2B5EF4-FFF2-40B4-BE49-F238E27FC236}">
                <a16:creationId xmlns:a16="http://schemas.microsoft.com/office/drawing/2014/main" id="{7C0B24EB-46A3-44DD-A3C2-F020AEFB9281}"/>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P12-AC01 through P12-AC05</a:t>
            </a:r>
          </a:p>
        </p:txBody>
      </p:sp>
      <p:sp>
        <p:nvSpPr>
          <p:cNvPr id="10" name="Owner: Release + operations + product">
            <a:extLst xmlns:a="http://schemas.openxmlformats.org/drawingml/2006/main">
              <a:ext uri="{FF2B5EF4-FFF2-40B4-BE49-F238E27FC236}">
                <a16:creationId xmlns:a16="http://schemas.microsoft.com/office/drawing/2014/main" id="{A04991CA-EAA9-43C8-B557-D7930230672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Release + operations + product</a:t>
            </a:r>
          </a:p>
        </p:txBody>
      </p:sp>
    </p:spTree>
    <p:extLst>
      <p:ext uri="{BB962C8B-B14F-4D97-AF65-F5344CB8AC3E}">
        <p14:creationId xmlns:p14="http://schemas.microsoft.com/office/powerpoint/2010/main" val="1438520457"/>
      </p:ext>
    </p:extLst>
  </p:cSld>
</p:sld>
</file>

<file path=ppt/slides/slide34.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3  Remaining Jev and skills">
            <a:extLst xmlns:a="http://schemas.openxmlformats.org/drawingml/2006/main">
              <a:ext uri="{FF2B5EF4-FFF2-40B4-BE49-F238E27FC236}">
                <a16:creationId xmlns:a16="http://schemas.microsoft.com/office/drawing/2014/main" id="{6143E25F-24D0-4047-AC91-5EA36A1721CC}"/>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P13  Remaining Jev and skills</a:t>
            </a:r>
          </a:p>
        </p:txBody>
      </p:sp>
      <p:sp>
        <p:nvSpPr>
          <p:cNvPr id="2" name="34">
            <a:extLst xmlns:a="http://schemas.openxmlformats.org/drawingml/2006/main">
              <a:ext uri="{FF2B5EF4-FFF2-40B4-BE49-F238E27FC236}">
                <a16:creationId xmlns:a16="http://schemas.microsoft.com/office/drawing/2014/main" id="{6CFED313-9C7D-4BED-A42B-A78D3AEC01E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34</a:t>
            </a:r>
          </a:p>
        </p:txBody>
      </p:sp>
      <p:sp>
        <p:nvSpPr>
          <p:cNvPr id="3" name="Every remaining research proposal receives a measured implementation d">
            <a:extLst xmlns:a="http://schemas.openxmlformats.org/drawingml/2006/main">
              <a:ext uri="{FF2B5EF4-FFF2-40B4-BE49-F238E27FC236}">
                <a16:creationId xmlns:a16="http://schemas.microsoft.com/office/drawing/2014/main" id="{75D65A11-E834-4DE6-B1FA-6724DC394F4A}"/>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Every remaining research proposal receives a measured implementation decision.</a:t>
            </a:r>
          </a:p>
        </p:txBody>
      </p:sp>
      <p:sp>
        <p:nvSpPr>
          <p:cNvPr id="4" name="">
            <a:extLst xmlns:a="http://schemas.openxmlformats.org/drawingml/2006/main">
              <a:ext uri="{FF2B5EF4-FFF2-40B4-BE49-F238E27FC236}">
                <a16:creationId xmlns:a16="http://schemas.microsoft.com/office/drawing/2014/main" id="{D15F9608-23E6-4FF9-9631-4F38F49BFA23}"/>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197FEBB6-AB0A-4719-9BF9-7BADD0D54340}"/>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Evaluate remaining catalog ideas in bounded batches.&#10;Qualify advanced ">
            <a:extLst xmlns:a="http://schemas.openxmlformats.org/drawingml/2006/main">
              <a:ext uri="{FF2B5EF4-FFF2-40B4-BE49-F238E27FC236}">
                <a16:creationId xmlns:a16="http://schemas.microsoft.com/office/drawing/2014/main" id="{D7B9C27B-572A-45C2-87EA-CA63C1148C6D}"/>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Evaluate remaining catalog ideas in bounded batches.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Qualify advanced context and supported compaction controls.</a:t>
            </a:r>
          </a:p>
        </p:txBody>
      </p:sp>
      <p:sp>
        <p:nvSpPr>
          <p:cNvPr id="7" name="Acceptance gate">
            <a:extLst xmlns:a="http://schemas.openxmlformats.org/drawingml/2006/main">
              <a:ext uri="{FF2B5EF4-FFF2-40B4-BE49-F238E27FC236}">
                <a16:creationId xmlns:a16="http://schemas.microsoft.com/office/drawing/2014/main" id="{57A420C8-4221-4EC5-AE26-FF4A6F60ADB0}"/>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Every proposal retains a disposition.&#10;Quality and full economics suppo">
            <a:extLst xmlns:a="http://schemas.openxmlformats.org/drawingml/2006/main">
              <a:ext uri="{FF2B5EF4-FFF2-40B4-BE49-F238E27FC236}">
                <a16:creationId xmlns:a16="http://schemas.microsoft.com/office/drawing/2014/main" id="{6C91B374-C509-4A5B-82CD-5928E983B092}"/>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Every proposal retains a disposition.</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Quality and full economics support each activation.</a:t>
            </a:r>
          </a:p>
        </p:txBody>
      </p:sp>
      <p:sp>
        <p:nvSpPr>
          <p:cNvPr id="9" name="P13-AC01 through P13-AC04">
            <a:extLst xmlns:a="http://schemas.openxmlformats.org/drawingml/2006/main">
              <a:ext uri="{FF2B5EF4-FFF2-40B4-BE49-F238E27FC236}">
                <a16:creationId xmlns:a16="http://schemas.microsoft.com/office/drawing/2014/main" id="{860D92C7-B325-4DDF-987C-289F56EC2E20}"/>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P13-AC01 through P13-AC04</a:t>
            </a:r>
          </a:p>
        </p:txBody>
      </p:sp>
      <p:sp>
        <p:nvSpPr>
          <p:cNvPr id="10" name="Owner: Decision platform + domain owners">
            <a:extLst xmlns:a="http://schemas.openxmlformats.org/drawingml/2006/main">
              <a:ext uri="{FF2B5EF4-FFF2-40B4-BE49-F238E27FC236}">
                <a16:creationId xmlns:a16="http://schemas.microsoft.com/office/drawing/2014/main" id="{89C585D5-901D-48B7-BD5C-E8CB8C88A218}"/>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Decision platform + domain owners</a:t>
            </a:r>
          </a:p>
        </p:txBody>
      </p:sp>
    </p:spTree>
    <p:extLst>
      <p:ext uri="{BB962C8B-B14F-4D97-AF65-F5344CB8AC3E}">
        <p14:creationId xmlns:p14="http://schemas.microsoft.com/office/powerpoint/2010/main" val="875379635"/>
      </p:ext>
    </p:extLst>
  </p:cSld>
</p:sld>
</file>

<file path=ppt/slides/slide35.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P14  Sandboxed plugins">
            <a:extLst xmlns:a="http://schemas.openxmlformats.org/drawingml/2006/main">
              <a:ext uri="{FF2B5EF4-FFF2-40B4-BE49-F238E27FC236}">
                <a16:creationId xmlns:a16="http://schemas.microsoft.com/office/drawing/2014/main" id="{C9F7C2B0-CF89-4B94-9031-AE68B99109A8}"/>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P14  Sandboxed plugins</a:t>
            </a:r>
          </a:p>
        </p:txBody>
      </p:sp>
      <p:sp>
        <p:nvSpPr>
          <p:cNvPr id="2" name="35">
            <a:extLst xmlns:a="http://schemas.openxmlformats.org/drawingml/2006/main">
              <a:ext uri="{FF2B5EF4-FFF2-40B4-BE49-F238E27FC236}">
                <a16:creationId xmlns:a16="http://schemas.microsoft.com/office/drawing/2014/main" id="{084FE64E-BF2A-4E1E-941F-BEB896178C3D}"/>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35</a:t>
            </a:r>
          </a:p>
        </p:txBody>
      </p:sp>
      <p:sp>
        <p:nvSpPr>
          <p:cNvPr id="3" name="Untrusted third-party plugins gain a tested containment option.">
            <a:extLst xmlns:a="http://schemas.openxmlformats.org/drawingml/2006/main">
              <a:ext uri="{FF2B5EF4-FFF2-40B4-BE49-F238E27FC236}">
                <a16:creationId xmlns:a16="http://schemas.microsoft.com/office/drawing/2014/main" id="{AF216B23-0F53-4FCE-9F14-F990E7F20833}"/>
              </a:ext>
            </a:extLst>
          </p:cNvPr>
          <p:cNvSpPr>
            <a:spLocks xmlns:a="http://schemas.openxmlformats.org/drawingml/2006/main" noGrp="1"/>
          </p:cNvSpPr>
          <p:nvPr/>
        </p:nvSpPr>
        <p:spPr>
          <a:xfrm xmlns:a="http://schemas.openxmlformats.org/drawingml/2006/main">
            <a:off x="609600" y="1676400"/>
            <a:ext cx="1090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03747"/>
                </a:solidFill>
                <a:latin typeface="Arial"/>
                <a:ea typeface="Arial"/>
                <a:cs typeface="Arial"/>
              </a:defRPr>
            </a:defPPr>
          </a:lstStyle>
          <a:p xmlns:a="http://schemas.openxmlformats.org/drawingml/2006/main">
            <a:pPr algn="l">
              <a:buNone/>
              <a:defRPr sz="2175" b="0">
                <a:solidFill>
                  <a:srgbClr val="203747"/>
                </a:solidFill>
                <a:latin typeface="Arial"/>
                <a:ea typeface="Arial"/>
                <a:cs typeface="Arial"/>
              </a:defRPr>
            </a:pPr>
            <a:r>
              <a:rPr sz="2175" b="0">
                <a:solidFill>
                  <a:srgbClr val="203747"/>
                </a:solidFill>
                <a:latin typeface="Arial"/>
                <a:ea typeface="Arial"/>
                <a:cs typeface="Arial"/>
              </a:rPr>
              <a:t>Untrusted third-party plugins gain a tested containment option.</a:t>
            </a:r>
          </a:p>
        </p:txBody>
      </p:sp>
      <p:sp>
        <p:nvSpPr>
          <p:cNvPr id="4" name="">
            <a:extLst xmlns:a="http://schemas.openxmlformats.org/drawingml/2006/main">
              <a:ext uri="{FF2B5EF4-FFF2-40B4-BE49-F238E27FC236}">
                <a16:creationId xmlns:a16="http://schemas.microsoft.com/office/drawing/2014/main" id="{D7D1077B-6C3E-4F64-A54B-FF3F578F7C1D}"/>
              </a:ext>
            </a:extLst>
          </p:cNvPr>
          <p:cNvSpPr>
            <a:spLocks xmlns:a="http://schemas.openxmlformats.org/drawingml/2006/main" noGrp="1"/>
          </p:cNvSpPr>
          <p:nvPr/>
        </p:nvSpPr>
        <p:spPr>
          <a:xfrm xmlns:a="http://schemas.openxmlformats.org/drawingml/2006/main">
            <a:off x="609600" y="2752725"/>
            <a:ext cx="10972800" cy="0"/>
          </a:xfrm>
          <a:prstGeom xmlns:a="http://schemas.openxmlformats.org/drawingml/2006/main" prst="line">
            <a:avLst/>
          </a:prstGeom>
          <a:ln xmlns:a="http://schemas.openxmlformats.org/drawingml/2006/main" w="9525">
            <a:solidFill>
              <a:srgbClr val="B8C7C9"/>
            </a:solidFill>
          </a:ln>
        </p:spPr>
      </p:sp>
      <p:sp>
        <p:nvSpPr>
          <p:cNvPr id="5" name="Work">
            <a:extLst xmlns:a="http://schemas.openxmlformats.org/drawingml/2006/main">
              <a:ext uri="{FF2B5EF4-FFF2-40B4-BE49-F238E27FC236}">
                <a16:creationId xmlns:a16="http://schemas.microsoft.com/office/drawing/2014/main" id="{840053B9-04F5-4EC6-B9A2-78E5D2A48DEE}"/>
              </a:ext>
            </a:extLst>
          </p:cNvPr>
          <p:cNvSpPr>
            <a:spLocks xmlns:a="http://schemas.openxmlformats.org/drawingml/2006/main" noGrp="1"/>
          </p:cNvSpPr>
          <p:nvPr/>
        </p:nvSpPr>
        <p:spPr>
          <a:xfrm xmlns:a="http://schemas.openxmlformats.org/drawingml/2006/main">
            <a:off x="609600" y="3086100"/>
            <a:ext cx="60674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Work</a:t>
            </a:r>
          </a:p>
        </p:txBody>
      </p:sp>
      <p:sp>
        <p:nvSpPr>
          <p:cNvPr id="6" name="Define and enforce per-platform containment profiles.&#10;Retain compatibl">
            <a:extLst xmlns:a="http://schemas.openxmlformats.org/drawingml/2006/main">
              <a:ext uri="{FF2B5EF4-FFF2-40B4-BE49-F238E27FC236}">
                <a16:creationId xmlns:a16="http://schemas.microsoft.com/office/drawing/2014/main" id="{115FF65D-B543-4818-841F-5619EEF2D6B3}"/>
              </a:ext>
            </a:extLst>
          </p:cNvPr>
          <p:cNvSpPr>
            <a:spLocks xmlns:a="http://schemas.openxmlformats.org/drawingml/2006/main" noGrp="1"/>
          </p:cNvSpPr>
          <p:nvPr/>
        </p:nvSpPr>
        <p:spPr>
          <a:xfrm xmlns:a="http://schemas.openxmlformats.org/drawingml/2006/main">
            <a:off x="609600" y="3609975"/>
            <a:ext cx="61722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03747"/>
                </a:solidFill>
                <a:latin typeface="Arial"/>
                <a:ea typeface="Arial"/>
                <a:cs typeface="Arial"/>
              </a:defRPr>
            </a:defPPr>
          </a:lstStyle>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Define and enforce per-platform containment profiles.</a:t>
            </a:r>
          </a:p>
          <a:p xmlns:a="http://schemas.openxmlformats.org/drawingml/2006/main">
            <a:pPr algn="l">
              <a:buNone/>
              <a:defRPr sz="2100" b="0">
                <a:solidFill>
                  <a:srgbClr val="203747"/>
                </a:solidFill>
                <a:latin typeface="Arial"/>
                <a:ea typeface="Arial"/>
                <a:cs typeface="Arial"/>
              </a:defRPr>
            </a:pPr>
            <a:r>
              <a:rPr sz="2100" b="0">
                <a:solidFill>
                  <a:srgbClr val="203747"/>
                </a:solidFill>
                <a:latin typeface="Arial"/>
                <a:ea typeface="Arial"/>
                <a:cs typeface="Arial"/>
              </a:rPr>
              <a:t>Retain compatible contracts and explicit trusted exceptions.</a:t>
            </a:r>
          </a:p>
        </p:txBody>
      </p:sp>
      <p:sp>
        <p:nvSpPr>
          <p:cNvPr id="7" name="Acceptance gate">
            <a:extLst xmlns:a="http://schemas.openxmlformats.org/drawingml/2006/main">
              <a:ext uri="{FF2B5EF4-FFF2-40B4-BE49-F238E27FC236}">
                <a16:creationId xmlns:a16="http://schemas.microsoft.com/office/drawing/2014/main" id="{9E025217-C9ED-408C-BBAD-E1D3F9D3FBB4}"/>
              </a:ext>
            </a:extLst>
          </p:cNvPr>
          <p:cNvSpPr>
            <a:spLocks xmlns:a="http://schemas.openxmlformats.org/drawingml/2006/main" noGrp="1"/>
          </p:cNvSpPr>
          <p:nvPr/>
        </p:nvSpPr>
        <p:spPr>
          <a:xfrm xmlns:a="http://schemas.openxmlformats.org/drawingml/2006/main">
            <a:off x="7610475" y="3086100"/>
            <a:ext cx="3971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Acceptance gate</a:t>
            </a:r>
          </a:p>
        </p:txBody>
      </p:sp>
      <p:sp>
        <p:nvSpPr>
          <p:cNvPr id="8" name="Adversarial escape tests pass.&#10;Only qualified profiles claim untrusted">
            <a:extLst xmlns:a="http://schemas.openxmlformats.org/drawingml/2006/main">
              <a:ext uri="{FF2B5EF4-FFF2-40B4-BE49-F238E27FC236}">
                <a16:creationId xmlns:a16="http://schemas.microsoft.com/office/drawing/2014/main" id="{9EC67C59-FEC5-4A70-BF9E-6C8F8B7009E8}"/>
              </a:ext>
            </a:extLst>
          </p:cNvPr>
          <p:cNvSpPr>
            <a:spLocks xmlns:a="http://schemas.openxmlformats.org/drawingml/2006/main" noGrp="1"/>
          </p:cNvSpPr>
          <p:nvPr/>
        </p:nvSpPr>
        <p:spPr>
          <a:xfrm xmlns:a="http://schemas.openxmlformats.org/drawingml/2006/main">
            <a:off x="7610475" y="3609975"/>
            <a:ext cx="3971925" cy="1924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03747"/>
                </a:solidFill>
                <a:latin typeface="Arial"/>
                <a:ea typeface="Arial"/>
                <a:cs typeface="Arial"/>
              </a:defRPr>
            </a:defPPr>
          </a:lstStyle>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Adversarial escape tests pass.</a:t>
            </a:r>
          </a:p>
          <a:p xmlns:a="http://schemas.openxmlformats.org/drawingml/2006/main">
            <a:pPr algn="l">
              <a:buNone/>
              <a:defRPr sz="2025" b="0">
                <a:solidFill>
                  <a:srgbClr val="203747"/>
                </a:solidFill>
                <a:latin typeface="Arial"/>
                <a:ea typeface="Arial"/>
                <a:cs typeface="Arial"/>
              </a:defRPr>
            </a:pPr>
            <a:r>
              <a:rPr sz="2025" b="0">
                <a:solidFill>
                  <a:srgbClr val="203747"/>
                </a:solidFill>
                <a:latin typeface="Arial"/>
                <a:ea typeface="Arial"/>
                <a:cs typeface="Arial"/>
              </a:rPr>
              <a:t>Only qualified profiles claim untrusted-plugin support.</a:t>
            </a:r>
          </a:p>
        </p:txBody>
      </p:sp>
      <p:sp>
        <p:nvSpPr>
          <p:cNvPr id="9" name="P14-AC01 through P14-AC04">
            <a:extLst xmlns:a="http://schemas.openxmlformats.org/drawingml/2006/main">
              <a:ext uri="{FF2B5EF4-FFF2-40B4-BE49-F238E27FC236}">
                <a16:creationId xmlns:a16="http://schemas.microsoft.com/office/drawing/2014/main" id="{FC74D2D6-35C3-4358-A946-C60B4F249D01}"/>
              </a:ext>
            </a:extLst>
          </p:cNvPr>
          <p:cNvSpPr>
            <a:spLocks xmlns:a="http://schemas.openxmlformats.org/drawingml/2006/main" noGrp="1"/>
          </p:cNvSpPr>
          <p:nvPr/>
        </p:nvSpPr>
        <p:spPr>
          <a:xfrm xmlns:a="http://schemas.openxmlformats.org/drawingml/2006/main">
            <a:off x="609600" y="5886450"/>
            <a:ext cx="7019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774"/>
                </a:solidFill>
                <a:latin typeface="Arial"/>
                <a:ea typeface="Arial"/>
                <a:cs typeface="Arial"/>
              </a:defRPr>
            </a:defPPr>
          </a:lstStyle>
          <a:p xmlns:a="http://schemas.openxmlformats.org/drawingml/2006/main">
            <a:pPr algn="l">
              <a:buNone/>
              <a:defRPr sz="1575" b="0">
                <a:solidFill>
                  <a:srgbClr val="526774"/>
                </a:solidFill>
                <a:latin typeface="Arial"/>
                <a:ea typeface="Arial"/>
                <a:cs typeface="Arial"/>
              </a:defRPr>
            </a:pPr>
            <a:r>
              <a:rPr sz="1575" b="0">
                <a:solidFill>
                  <a:srgbClr val="526774"/>
                </a:solidFill>
                <a:latin typeface="Arial"/>
                <a:ea typeface="Arial"/>
                <a:cs typeface="Arial"/>
              </a:rPr>
              <a:t>P14-AC01 through P14-AC04</a:t>
            </a:r>
          </a:p>
        </p:txBody>
      </p:sp>
      <p:sp>
        <p:nvSpPr>
          <p:cNvPr id="10" name="Owner: Security + plugin platform">
            <a:extLst xmlns:a="http://schemas.openxmlformats.org/drawingml/2006/main">
              <a:ext uri="{FF2B5EF4-FFF2-40B4-BE49-F238E27FC236}">
                <a16:creationId xmlns:a16="http://schemas.microsoft.com/office/drawing/2014/main" id="{A8C395CC-B67F-4428-A15A-69EAD999E5FF}"/>
              </a:ext>
            </a:extLst>
          </p:cNvPr>
          <p:cNvSpPr>
            <a:spLocks xmlns:a="http://schemas.openxmlformats.org/drawingml/2006/main" noGrp="1"/>
          </p:cNvSpPr>
          <p:nvPr/>
        </p:nvSpPr>
        <p:spPr>
          <a:xfrm xmlns:a="http://schemas.openxmlformats.org/drawingml/2006/main">
            <a:off x="609600" y="6229350"/>
            <a:ext cx="10191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774"/>
                </a:solidFill>
                <a:latin typeface="Arial"/>
                <a:ea typeface="Arial"/>
                <a:cs typeface="Arial"/>
              </a:defRPr>
            </a:defPPr>
          </a:lstStyle>
          <a:p xmlns:a="http://schemas.openxmlformats.org/drawingml/2006/main">
            <a:pPr algn="l">
              <a:buNone/>
              <a:defRPr sz="1350" b="0">
                <a:solidFill>
                  <a:srgbClr val="526774"/>
                </a:solidFill>
                <a:latin typeface="Arial"/>
                <a:ea typeface="Arial"/>
                <a:cs typeface="Arial"/>
              </a:defRPr>
            </a:pPr>
            <a:r>
              <a:rPr sz="1350" b="0">
                <a:solidFill>
                  <a:srgbClr val="526774"/>
                </a:solidFill>
                <a:latin typeface="Arial"/>
                <a:ea typeface="Arial"/>
                <a:cs typeface="Arial"/>
              </a:rPr>
              <a:t>Owner: Security + plugin platform</a:t>
            </a:r>
          </a:p>
        </p:txBody>
      </p:sp>
    </p:spTree>
    <p:extLst>
      <p:ext uri="{BB962C8B-B14F-4D97-AF65-F5344CB8AC3E}">
        <p14:creationId xmlns:p14="http://schemas.microsoft.com/office/powerpoint/2010/main" val="355550185"/>
      </p:ext>
    </p:extLst>
  </p:cSld>
</p:sld>
</file>

<file path=ppt/slides/slide36.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6" name="Proposed capacity and responsiveness">
            <a:extLst xmlns:a="http://schemas.openxmlformats.org/drawingml/2006/main">
              <a:ext uri="{FF2B5EF4-FFF2-40B4-BE49-F238E27FC236}">
                <a16:creationId xmlns:a16="http://schemas.microsoft.com/office/drawing/2014/main" id="{E3A18B5C-DA5A-48CF-B3B6-9BD2C03AA40E}"/>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Proposed capacity and responsiveness</a:t>
            </a:r>
          </a:p>
        </p:txBody>
      </p:sp>
      <p:sp>
        <p:nvSpPr>
          <p:cNvPr id="2" name="36">
            <a:extLst xmlns:a="http://schemas.openxmlformats.org/drawingml/2006/main">
              <a:ext uri="{FF2B5EF4-FFF2-40B4-BE49-F238E27FC236}">
                <a16:creationId xmlns:a16="http://schemas.microsoft.com/office/drawing/2014/main" id="{62B1D485-D080-4AEC-A885-F8A6E13C503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36</a:t>
            </a:r>
          </a:p>
        </p:txBody>
      </p:sp>
      <p:graphicFrame>
        <p:nvGraphicFramePr>
          <p:cNvPr id="3" name="">
            <a:extLst xmlns:a="http://schemas.openxmlformats.org/drawingml/2006/main">
              <a:ext uri="{FF2B5EF4-FFF2-40B4-BE49-F238E27FC236}">
                <a16:creationId xmlns:a16="http://schemas.microsoft.com/office/drawing/2014/main" id="{937850FB-11E7-4F1A-96DF-F4E20EBEFCCC}"/>
              </a:ext>
            </a:extLst>
          </p:cNvPr>
          <p:cNvGraphicFramePr/>
          <p:nvPr/>
        </p:nvGraphicFramePr>
        <p:xfrm>
          <a:off xmlns:a="http://schemas.openxmlformats.org/drawingml/2006/main" x="609600" y="1752600"/>
          <a:ext xmlns:a="http://schemas.openxmlformats.org/drawingml/2006/main" cx="10972800" cy="3067050"/>
        </p:xfrm>
        <a:graphic xmlns:a="http://schemas.openxmlformats.org/drawingml/2006/main">
          <a:graphicData uri="http://schemas.openxmlformats.org/drawingml/2006/table">
            <a:tbl>
              <a:tblPr/>
              <a:tblGrid>
                <a:gridCol w="2476500"/>
                <a:gridCol w="4876800"/>
                <a:gridCol w="3619500"/>
              </a:tblGrid>
              <a:tr h="613410">
                <a:tc>
                  <a:txBody>
                    <a:bodyPr lIns="95250" tIns="95250" rIns="95250" bIns="95250"/>
                    <a:lstStyle/>
                    <a:p>
                      <a:r>
                        <a:rPr sz="1875" b="1">
                          <a:solidFill>
                            <a:srgbClr val="FFFFFF"/>
                          </a:solidFill>
                          <a:latin typeface="Arial"/>
                          <a:ea typeface="Arial"/>
                          <a:cs typeface="Arial"/>
                        </a:rPr>
                        <a:t>Profile</a:t>
                      </a:r>
                    </a:p>
                  </a:txBody>
                  <a:tcPr marL="91440" marR="91440" marT="45720" marB="45720" anchor="ctr">
                    <a:solidFill>
                      <a:srgbClr val="152E42"/>
                    </a:solidFill>
                  </a:tcPr>
                </a:tc>
                <a:tc>
                  <a:txBody>
                    <a:bodyPr lIns="95250" tIns="95250" rIns="95250" bIns="95250"/>
                    <a:lstStyle/>
                    <a:p>
                      <a:r>
                        <a:rPr sz="1875" b="1">
                          <a:solidFill>
                            <a:srgbClr val="FFFFFF"/>
                          </a:solidFill>
                          <a:latin typeface="Arial"/>
                          <a:ea typeface="Arial"/>
                          <a:cs typeface="Arial"/>
                        </a:rPr>
                        <a:t>Proposed workload</a:t>
                      </a:r>
                    </a:p>
                  </a:txBody>
                  <a:tcPr marL="91440" marR="91440" marT="45720" marB="45720" anchor="ctr">
                    <a:solidFill>
                      <a:srgbClr val="152E42"/>
                    </a:solidFill>
                  </a:tcPr>
                </a:tc>
                <a:tc>
                  <a:txBody>
                    <a:bodyPr lIns="95250" tIns="95250" rIns="95250" bIns="95250"/>
                    <a:lstStyle/>
                    <a:p>
                      <a:r>
                        <a:rPr sz="1875" b="1">
                          <a:solidFill>
                            <a:srgbClr val="FFFFFF"/>
                          </a:solidFill>
                          <a:latin typeface="Arial"/>
                          <a:ea typeface="Arial"/>
                          <a:cs typeface="Arial"/>
                        </a:rPr>
                        <a:t>Purpose</a:t>
                      </a:r>
                    </a:p>
                  </a:txBody>
                  <a:tcPr marL="91440" marR="91440" marT="45720" marB="45720" anchor="ctr">
                    <a:solidFill>
                      <a:srgbClr val="152E42"/>
                    </a:solidFill>
                  </a:tcPr>
                </a:tc>
              </a:tr>
              <a:tr h="613410">
                <a:tc>
                  <a:txBody>
                    <a:bodyPr lIns="95250" tIns="95250" rIns="95250" bIns="95250"/>
                    <a:lstStyle/>
                    <a:p>
                      <a:r>
                        <a:rPr sz="1875" b="0">
                          <a:solidFill>
                            <a:srgbClr val="203747"/>
                          </a:solidFill>
                          <a:latin typeface="Arial"/>
                          <a:ea typeface="Arial"/>
                          <a:cs typeface="Arial"/>
                        </a:rPr>
                        <a:t>Solo</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1 user, 2 projects, 4 attempts</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Local overhead</a:t>
                      </a:r>
                    </a:p>
                  </a:txBody>
                  <a:tcPr marL="91440" marR="91440" marT="45720" marB="45720" anchor="ctr">
                    <a:solidFill>
                      <a:srgbClr val="F8F7F2"/>
                    </a:solidFill>
                  </a:tcPr>
                </a:tc>
              </a:tr>
              <a:tr h="613410">
                <a:tc>
                  <a:txBody>
                    <a:bodyPr lIns="95250" tIns="95250" rIns="95250" bIns="95250"/>
                    <a:lstStyle/>
                    <a:p>
                      <a:r>
                        <a:rPr sz="1875" b="0">
                          <a:solidFill>
                            <a:srgbClr val="203747"/>
                          </a:solidFill>
                          <a:latin typeface="Arial"/>
                          <a:ea typeface="Arial"/>
                          <a:cs typeface="Arial"/>
                        </a:rPr>
                        <a:t>Team</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20 users, 10 projects, 40 attempts</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Isolation and contention</a:t>
                      </a:r>
                    </a:p>
                  </a:txBody>
                  <a:tcPr marL="91440" marR="91440" marT="45720" marB="45720" anchor="ctr">
                    <a:solidFill>
                      <a:srgbClr val="EEF2EF"/>
                    </a:solidFill>
                  </a:tcPr>
                </a:tc>
              </a:tr>
              <a:tr h="613410">
                <a:tc>
                  <a:txBody>
                    <a:bodyPr lIns="95250" tIns="95250" rIns="95250" bIns="95250"/>
                    <a:lstStyle/>
                    <a:p>
                      <a:r>
                        <a:rPr sz="1875" b="0">
                          <a:solidFill>
                            <a:srgbClr val="203747"/>
                          </a:solidFill>
                          <a:latin typeface="Arial"/>
                          <a:ea typeface="Arial"/>
                          <a:cs typeface="Arial"/>
                        </a:rPr>
                        <a:t>Federation</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3 hubs, 2 organizations</a:t>
                      </a:r>
                    </a:p>
                  </a:txBody>
                  <a:tcPr marL="91440" marR="91440" marT="45720" marB="45720" anchor="ctr">
                    <a:solidFill>
                      <a:srgbClr val="F8F7F2"/>
                    </a:solidFill>
                  </a:tcPr>
                </a:tc>
                <a:tc>
                  <a:txBody>
                    <a:bodyPr lIns="95250" tIns="95250" rIns="95250" bIns="95250"/>
                    <a:lstStyle/>
                    <a:p>
                      <a:r>
                        <a:rPr sz="1875" b="0">
                          <a:solidFill>
                            <a:srgbClr val="203747"/>
                          </a:solidFill>
                          <a:latin typeface="Arial"/>
                          <a:ea typeface="Arial"/>
                          <a:cs typeface="Arial"/>
                        </a:rPr>
                        <a:t>Partition recovery</a:t>
                      </a:r>
                    </a:p>
                  </a:txBody>
                  <a:tcPr marL="91440" marR="91440" marT="45720" marB="45720" anchor="ctr">
                    <a:solidFill>
                      <a:srgbClr val="F8F7F2"/>
                    </a:solidFill>
                  </a:tcPr>
                </a:tc>
              </a:tr>
              <a:tr h="613410">
                <a:tc>
                  <a:txBody>
                    <a:bodyPr lIns="95250" tIns="95250" rIns="95250" bIns="95250"/>
                    <a:lstStyle/>
                    <a:p>
                      <a:r>
                        <a:rPr sz="1875" b="0">
                          <a:solidFill>
                            <a:srgbClr val="203747"/>
                          </a:solidFill>
                          <a:latin typeface="Arial"/>
                          <a:ea typeface="Arial"/>
                          <a:cs typeface="Arial"/>
                        </a:rPr>
                        <a:t>Growth benchmark</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200 users, 10 hubs, 400 attempts</a:t>
                      </a:r>
                    </a:p>
                  </a:txBody>
                  <a:tcPr marL="91440" marR="91440" marT="45720" marB="45720" anchor="ctr">
                    <a:solidFill>
                      <a:srgbClr val="EEF2EF"/>
                    </a:solidFill>
                  </a:tcPr>
                </a:tc>
                <a:tc>
                  <a:txBody>
                    <a:bodyPr lIns="95250" tIns="95250" rIns="95250" bIns="95250"/>
                    <a:lstStyle/>
                    <a:p>
                      <a:r>
                        <a:rPr sz="1875" b="0">
                          <a:solidFill>
                            <a:srgbClr val="203747"/>
                          </a:solidFill>
                          <a:latin typeface="Arial"/>
                          <a:ea typeface="Arial"/>
                          <a:cs typeface="Arial"/>
                        </a:rPr>
                        <a:t>Find later bottlenecks</a:t>
                      </a:r>
                    </a:p>
                  </a:txBody>
                  <a:tcPr marL="91440" marR="91440" marT="45720" marB="45720" anchor="ctr">
                    <a:solidFill>
                      <a:srgbClr val="EEF2EF"/>
                    </a:solidFill>
                  </a:tcPr>
                </a:tc>
              </a:tr>
            </a:tbl>
          </a:graphicData>
        </a:graphic>
      </p:graphicFrame>
      <p:sp>
        <p:nvSpPr>
          <p:cNvPr id="4" name="Starting targets for review">
            <a:extLst xmlns:a="http://schemas.openxmlformats.org/drawingml/2006/main">
              <a:ext uri="{FF2B5EF4-FFF2-40B4-BE49-F238E27FC236}">
                <a16:creationId xmlns:a16="http://schemas.microsoft.com/office/drawing/2014/main" id="{EEE0E41A-E2A8-4ECF-9461-B9CE1D8829E4}"/>
              </a:ext>
            </a:extLst>
          </p:cNvPr>
          <p:cNvSpPr>
            <a:spLocks xmlns:a="http://schemas.openxmlformats.org/drawingml/2006/main" noGrp="1"/>
          </p:cNvSpPr>
          <p:nvPr/>
        </p:nvSpPr>
        <p:spPr>
          <a:xfrm xmlns:a="http://schemas.openxmlformats.org/drawingml/2006/main">
            <a:off x="609600" y="512445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Starting targets for review</a:t>
            </a:r>
          </a:p>
        </p:txBody>
      </p:sp>
      <p:sp>
        <p:nvSpPr>
          <p:cNvPr id="5" name="Metadata p95 &lt;250 ms    Dashboard update ≤2 s    10,000-event replay ≤">
            <a:extLst xmlns:a="http://schemas.openxmlformats.org/drawingml/2006/main">
              <a:ext uri="{FF2B5EF4-FFF2-40B4-BE49-F238E27FC236}">
                <a16:creationId xmlns:a16="http://schemas.microsoft.com/office/drawing/2014/main" id="{98370ADD-6F92-49EE-B1B2-C83F15C10734}"/>
              </a:ext>
            </a:extLst>
          </p:cNvPr>
          <p:cNvSpPr>
            <a:spLocks xmlns:a="http://schemas.openxmlformats.org/drawingml/2006/main" noGrp="1"/>
          </p:cNvSpPr>
          <p:nvPr/>
        </p:nvSpPr>
        <p:spPr>
          <a:xfrm xmlns:a="http://schemas.openxmlformats.org/drawingml/2006/main">
            <a:off x="609600" y="5610225"/>
            <a:ext cx="10858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03747"/>
                </a:solidFill>
                <a:latin typeface="Arial"/>
                <a:ea typeface="Arial"/>
                <a:cs typeface="Arial"/>
              </a:defRPr>
            </a:defPPr>
          </a:lstStyle>
          <a:p xmlns:a="http://schemas.openxmlformats.org/drawingml/2006/main">
            <a:pPr algn="l">
              <a:buNone/>
              <a:defRPr sz="1800" b="0">
                <a:solidFill>
                  <a:srgbClr val="203747"/>
                </a:solidFill>
                <a:latin typeface="Arial"/>
                <a:ea typeface="Arial"/>
                <a:cs typeface="Arial"/>
              </a:defRPr>
            </a:pPr>
            <a:r>
              <a:rPr sz="1800" b="0">
                <a:solidFill>
                  <a:srgbClr val="203747"/>
                </a:solidFill>
                <a:latin typeface="Arial"/>
                <a:ea typeface="Arial"/>
                <a:cs typeface="Arial"/>
              </a:rPr>
              <a:t>Metadata p95 &lt;250 ms    Dashboard update ≤2 s    10,000-event replay ≤5 s</a:t>
            </a:r>
          </a:p>
        </p:txBody>
      </p:sp>
    </p:spTree>
    <p:extLst>
      <p:ext uri="{BB962C8B-B14F-4D97-AF65-F5344CB8AC3E}">
        <p14:creationId xmlns:p14="http://schemas.microsoft.com/office/powerpoint/2010/main" val="1211492049"/>
      </p:ext>
    </p:extLst>
  </p:cSld>
</p:sld>
</file>

<file path=ppt/slides/slide37.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11" name="Verification across real failure boundaries">
            <a:extLst xmlns:a="http://schemas.openxmlformats.org/drawingml/2006/main">
              <a:ext uri="{FF2B5EF4-FFF2-40B4-BE49-F238E27FC236}">
                <a16:creationId xmlns:a16="http://schemas.microsoft.com/office/drawing/2014/main" id="{EDCA2F90-004E-4E43-BFA7-A0BB129F47C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Verification across real failure boundaries</a:t>
            </a:r>
          </a:p>
        </p:txBody>
      </p:sp>
      <p:sp>
        <p:nvSpPr>
          <p:cNvPr id="2" name="37">
            <a:extLst xmlns:a="http://schemas.openxmlformats.org/drawingml/2006/main">
              <a:ext uri="{FF2B5EF4-FFF2-40B4-BE49-F238E27FC236}">
                <a16:creationId xmlns:a16="http://schemas.microsoft.com/office/drawing/2014/main" id="{B2E63B88-25D3-45FD-BC85-D1823BC4FA6C}"/>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37</a:t>
            </a:r>
          </a:p>
        </p:txBody>
      </p:sp>
      <p:sp>
        <p:nvSpPr>
          <p:cNvPr id="3" name="Mechanics">
            <a:extLst xmlns:a="http://schemas.openxmlformats.org/drawingml/2006/main">
              <a:ext uri="{FF2B5EF4-FFF2-40B4-BE49-F238E27FC236}">
                <a16:creationId xmlns:a16="http://schemas.microsoft.com/office/drawing/2014/main" id="{0216A242-29D9-4E77-A246-AD0504CAC1D0}"/>
              </a:ext>
            </a:extLst>
          </p:cNvPr>
          <p:cNvSpPr>
            <a:spLocks xmlns:a="http://schemas.openxmlformats.org/drawingml/2006/main" noGrp="1"/>
          </p:cNvSpPr>
          <p:nvPr/>
        </p:nvSpPr>
        <p:spPr>
          <a:xfrm xmlns:a="http://schemas.openxmlformats.org/drawingml/2006/main">
            <a:off x="609600" y="16668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Mechanics</a:t>
            </a:r>
          </a:p>
        </p:txBody>
      </p:sp>
      <p:sp>
        <p:nvSpPr>
          <p:cNvPr id="4" name="Schema, identity, replay, transaction boundaries and idempotency">
            <a:extLst xmlns:a="http://schemas.openxmlformats.org/drawingml/2006/main">
              <a:ext uri="{FF2B5EF4-FFF2-40B4-BE49-F238E27FC236}">
                <a16:creationId xmlns:a16="http://schemas.microsoft.com/office/drawing/2014/main" id="{64CC5ECB-29CC-48C7-B4D4-E9015231ADD6}"/>
              </a:ext>
            </a:extLst>
          </p:cNvPr>
          <p:cNvSpPr>
            <a:spLocks xmlns:a="http://schemas.openxmlformats.org/drawingml/2006/main" noGrp="1"/>
          </p:cNvSpPr>
          <p:nvPr/>
        </p:nvSpPr>
        <p:spPr>
          <a:xfrm xmlns:a="http://schemas.openxmlformats.org/drawingml/2006/main">
            <a:off x="609600" y="20383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Schema, identity, replay, transaction boundaries and idempotency</a:t>
            </a:r>
          </a:p>
        </p:txBody>
      </p:sp>
      <p:sp>
        <p:nvSpPr>
          <p:cNvPr id="5" name="Actual environments">
            <a:extLst xmlns:a="http://schemas.openxmlformats.org/drawingml/2006/main">
              <a:ext uri="{FF2B5EF4-FFF2-40B4-BE49-F238E27FC236}">
                <a16:creationId xmlns:a16="http://schemas.microsoft.com/office/drawing/2014/main" id="{04FADB23-344D-4B6C-870A-33EAA7F0B3A5}"/>
              </a:ext>
            </a:extLst>
          </p:cNvPr>
          <p:cNvSpPr>
            <a:spLocks xmlns:a="http://schemas.openxmlformats.org/drawingml/2006/main" noGrp="1"/>
          </p:cNvSpPr>
          <p:nvPr/>
        </p:nvSpPr>
        <p:spPr>
          <a:xfrm xmlns:a="http://schemas.openxmlformats.org/drawingml/2006/main">
            <a:off x="609600" y="26574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Actual environments</a:t>
            </a:r>
          </a:p>
        </p:txBody>
      </p:sp>
      <p:sp>
        <p:nvSpPr>
          <p:cNvPr id="6" name="Pinned client versions, macOS/Linux/WSL, real NATS and browser recover">
            <a:extLst xmlns:a="http://schemas.openxmlformats.org/drawingml/2006/main">
              <a:ext uri="{FF2B5EF4-FFF2-40B4-BE49-F238E27FC236}">
                <a16:creationId xmlns:a16="http://schemas.microsoft.com/office/drawing/2014/main" id="{BFE1D165-14A4-4701-B2C8-22939A52E999}"/>
              </a:ext>
            </a:extLst>
          </p:cNvPr>
          <p:cNvSpPr>
            <a:spLocks xmlns:a="http://schemas.openxmlformats.org/drawingml/2006/main" noGrp="1"/>
          </p:cNvSpPr>
          <p:nvPr/>
        </p:nvSpPr>
        <p:spPr>
          <a:xfrm xmlns:a="http://schemas.openxmlformats.org/drawingml/2006/main">
            <a:off x="609600" y="30289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Pinned client versions, macOS/Linux/WSL, real NATS and browser recovery</a:t>
            </a:r>
          </a:p>
        </p:txBody>
      </p:sp>
      <p:sp>
        <p:nvSpPr>
          <p:cNvPr id="7" name="Semantic outcomes">
            <a:extLst xmlns:a="http://schemas.openxmlformats.org/drawingml/2006/main">
              <a:ext uri="{FF2B5EF4-FFF2-40B4-BE49-F238E27FC236}">
                <a16:creationId xmlns:a16="http://schemas.microsoft.com/office/drawing/2014/main" id="{35B8D370-2C15-4B67-999A-3A0A30BA1609}"/>
              </a:ext>
            </a:extLst>
          </p:cNvPr>
          <p:cNvSpPr>
            <a:spLocks xmlns:a="http://schemas.openxmlformats.org/drawingml/2006/main" noGrp="1"/>
          </p:cNvSpPr>
          <p:nvPr/>
        </p:nvSpPr>
        <p:spPr>
          <a:xfrm xmlns:a="http://schemas.openxmlformats.org/drawingml/2006/main">
            <a:off x="609600" y="36480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Semantic outcomes</a:t>
            </a:r>
          </a:p>
        </p:txBody>
      </p:sp>
      <p:sp>
        <p:nvSpPr>
          <p:cNvPr id="8" name="Untouched task cases, independent labels, complete cost and rework">
            <a:extLst xmlns:a="http://schemas.openxmlformats.org/drawingml/2006/main">
              <a:ext uri="{FF2B5EF4-FFF2-40B4-BE49-F238E27FC236}">
                <a16:creationId xmlns:a16="http://schemas.microsoft.com/office/drawing/2014/main" id="{4264EF17-15A9-47A1-9872-D3F2FA1D267E}"/>
              </a:ext>
            </a:extLst>
          </p:cNvPr>
          <p:cNvSpPr>
            <a:spLocks xmlns:a="http://schemas.openxmlformats.org/drawingml/2006/main" noGrp="1"/>
          </p:cNvSpPr>
          <p:nvPr/>
        </p:nvSpPr>
        <p:spPr>
          <a:xfrm xmlns:a="http://schemas.openxmlformats.org/drawingml/2006/main">
            <a:off x="609600" y="40195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Untouched task cases, independent labels, complete cost and rework</a:t>
            </a:r>
          </a:p>
        </p:txBody>
      </p:sp>
      <p:sp>
        <p:nvSpPr>
          <p:cNvPr id="9" name="Operations">
            <a:extLst xmlns:a="http://schemas.openxmlformats.org/drawingml/2006/main">
              <a:ext uri="{FF2B5EF4-FFF2-40B4-BE49-F238E27FC236}">
                <a16:creationId xmlns:a16="http://schemas.microsoft.com/office/drawing/2014/main" id="{3762EEEF-CFD3-4B3A-98D6-F002F7E0D7E1}"/>
              </a:ext>
            </a:extLst>
          </p:cNvPr>
          <p:cNvSpPr>
            <a:spLocks xmlns:a="http://schemas.openxmlformats.org/drawingml/2006/main" noGrp="1"/>
          </p:cNvSpPr>
          <p:nvPr/>
        </p:nvSpPr>
        <p:spPr>
          <a:xfrm xmlns:a="http://schemas.openxmlformats.org/drawingml/2006/main">
            <a:off x="609600" y="46386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E83"/>
                </a:solidFill>
                <a:latin typeface="Arial"/>
                <a:ea typeface="Arial"/>
                <a:cs typeface="Arial"/>
              </a:defRPr>
            </a:defPPr>
          </a:lstStyle>
          <a:p xmlns:a="http://schemas.openxmlformats.org/drawingml/2006/main">
            <a:pPr algn="l">
              <a:buNone/>
              <a:defRPr sz="2100" b="1">
                <a:solidFill>
                  <a:srgbClr val="087E83"/>
                </a:solidFill>
                <a:latin typeface="Arial"/>
                <a:ea typeface="Arial"/>
                <a:cs typeface="Arial"/>
              </a:defRPr>
            </a:pPr>
            <a:r>
              <a:rPr sz="2100" b="1">
                <a:solidFill>
                  <a:srgbClr val="087E83"/>
                </a:solidFill>
                <a:latin typeface="Arial"/>
                <a:ea typeface="Arial"/>
                <a:cs typeface="Arial"/>
              </a:rPr>
              <a:t>Operations</a:t>
            </a:r>
          </a:p>
        </p:txBody>
      </p:sp>
      <p:sp>
        <p:nvSpPr>
          <p:cNvPr id="10" name="Partition, revocation, disk pressure, backup restore and migration rol">
            <a:extLst xmlns:a="http://schemas.openxmlformats.org/drawingml/2006/main">
              <a:ext uri="{FF2B5EF4-FFF2-40B4-BE49-F238E27FC236}">
                <a16:creationId xmlns:a16="http://schemas.microsoft.com/office/drawing/2014/main" id="{A6BDC80E-6DBB-4272-9747-ACE9C132F839}"/>
              </a:ext>
            </a:extLst>
          </p:cNvPr>
          <p:cNvSpPr>
            <a:spLocks xmlns:a="http://schemas.openxmlformats.org/drawingml/2006/main" noGrp="1"/>
          </p:cNvSpPr>
          <p:nvPr/>
        </p:nvSpPr>
        <p:spPr>
          <a:xfrm xmlns:a="http://schemas.openxmlformats.org/drawingml/2006/main">
            <a:off x="609600" y="5010150"/>
            <a:ext cx="10668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03747"/>
                </a:solidFill>
                <a:latin typeface="Arial"/>
                <a:ea typeface="Arial"/>
                <a:cs typeface="Arial"/>
              </a:defRPr>
            </a:defPPr>
          </a:lstStyle>
          <a:p xmlns:a="http://schemas.openxmlformats.org/drawingml/2006/main">
            <a:pPr algn="l">
              <a:buNone/>
              <a:defRPr sz="1950" b="0">
                <a:solidFill>
                  <a:srgbClr val="203747"/>
                </a:solidFill>
                <a:latin typeface="Arial"/>
                <a:ea typeface="Arial"/>
                <a:cs typeface="Arial"/>
              </a:defRPr>
            </a:pPr>
            <a:r>
              <a:rPr sz="1950" b="0">
                <a:solidFill>
                  <a:srgbClr val="203747"/>
                </a:solidFill>
                <a:latin typeface="Arial"/>
                <a:ea typeface="Arial"/>
                <a:cs typeface="Arial"/>
              </a:rPr>
              <a:t>Partition, revocation, disk pressure, backup restore and migration rollback</a:t>
            </a:r>
          </a:p>
        </p:txBody>
      </p:sp>
    </p:spTree>
    <p:extLst>
      <p:ext uri="{BB962C8B-B14F-4D97-AF65-F5344CB8AC3E}">
        <p14:creationId xmlns:p14="http://schemas.microsoft.com/office/powerpoint/2010/main" val="94023601"/>
      </p:ext>
    </p:extLst>
  </p:cSld>
</p:sld>
</file>

<file path=ppt/slides/slide38.xml><?xml version="1.0" encoding="utf-8"?>
<p:sld xmlns:p="http://schemas.openxmlformats.org/presentationml/2006/main">
  <p:cSld>
    <p:bg>
      <p:bgPr>
        <a:solidFill xmlns:a="http://schemas.openxmlformats.org/drawingml/2006/main">
          <a:srgbClr val="F8F7F2"/>
        </a:solidFill>
      </p:bgPr>
    </p:bg>
    <p:spTree>
      <p:nvGrpSpPr>
        <p:cNvPr id="1" name=""/>
        <p:cNvGrpSpPr/>
        <p:nvPr/>
      </p:nvGrpSpPr>
      <p:grpSpPr>
        <a:xfrm xmlns:a="http://schemas.openxmlformats.org/drawingml/2006/main"/>
      </p:grpSpPr>
      <p:sp>
        <p:nvSpPr>
          <p:cNvPr id="5" name="Open decisions and delivery risks">
            <a:extLst xmlns:a="http://schemas.openxmlformats.org/drawingml/2006/main">
              <a:ext uri="{FF2B5EF4-FFF2-40B4-BE49-F238E27FC236}">
                <a16:creationId xmlns:a16="http://schemas.microsoft.com/office/drawing/2014/main" id="{F192C577-E237-4266-BD65-C45CFAB14AD5}"/>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E42"/>
                </a:solidFill>
                <a:latin typeface="Arial"/>
                <a:ea typeface="Arial"/>
                <a:cs typeface="Arial"/>
              </a:defRPr>
            </a:defPPr>
          </a:lstStyle>
          <a:p xmlns:a="http://schemas.openxmlformats.org/drawingml/2006/main">
            <a:pPr algn="l">
              <a:buNone/>
              <a:defRPr sz="3300" b="1">
                <a:solidFill>
                  <a:srgbClr val="152E42"/>
                </a:solidFill>
                <a:latin typeface="Arial"/>
                <a:ea typeface="Arial"/>
                <a:cs typeface="Arial"/>
              </a:defRPr>
            </a:pPr>
            <a:r>
              <a:rPr sz="3300" b="1">
                <a:solidFill>
                  <a:srgbClr val="152E42"/>
                </a:solidFill>
                <a:latin typeface="Arial"/>
                <a:ea typeface="Arial"/>
                <a:cs typeface="Arial"/>
              </a:rPr>
              <a:t>Open decisions and delivery risks</a:t>
            </a:r>
          </a:p>
        </p:txBody>
      </p:sp>
      <p:sp>
        <p:nvSpPr>
          <p:cNvPr id="2" name="38">
            <a:extLst xmlns:a="http://schemas.openxmlformats.org/drawingml/2006/main">
              <a:ext uri="{FF2B5EF4-FFF2-40B4-BE49-F238E27FC236}">
                <a16:creationId xmlns:a16="http://schemas.microsoft.com/office/drawing/2014/main" id="{8922ADEB-A4A9-4088-90BD-39DF6C896D85}"/>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526774"/>
                </a:solidFill>
                <a:latin typeface="Arial"/>
                <a:ea typeface="Arial"/>
                <a:cs typeface="Arial"/>
              </a:defRPr>
            </a:defPPr>
          </a:lstStyle>
          <a:p xmlns:a="http://schemas.openxmlformats.org/drawingml/2006/main">
            <a:pPr algn="r">
              <a:buNone/>
              <a:defRPr sz="1275" b="0">
                <a:solidFill>
                  <a:srgbClr val="526774"/>
                </a:solidFill>
                <a:latin typeface="Arial"/>
                <a:ea typeface="Arial"/>
                <a:cs typeface="Arial"/>
              </a:defRPr>
            </a:pPr>
            <a:r>
              <a:rPr sz="1275" b="0">
                <a:solidFill>
                  <a:srgbClr val="526774"/>
                </a:solidFill>
                <a:latin typeface="Arial"/>
                <a:ea typeface="Arial"/>
                <a:cs typeface="Arial"/>
              </a:rPr>
              <a:t>38</a:t>
            </a:r>
          </a:p>
        </p:txBody>
      </p:sp>
      <p:graphicFrame>
        <p:nvGraphicFramePr>
          <p:cNvPr id="3" name="">
            <a:extLst xmlns:a="http://schemas.openxmlformats.org/drawingml/2006/main">
              <a:ext uri="{FF2B5EF4-FFF2-40B4-BE49-F238E27FC236}">
                <a16:creationId xmlns:a16="http://schemas.microsoft.com/office/drawing/2014/main" id="{58074FF4-822C-4322-A3AB-3EBE283DBDF2}"/>
              </a:ext>
            </a:extLst>
          </p:cNvPr>
          <p:cNvGraphicFramePr/>
          <p:nvPr/>
        </p:nvGraphicFramePr>
        <p:xfrm>
          <a:off xmlns:a="http://schemas.openxmlformats.org/drawingml/2006/main" x="609600" y="1752600"/>
          <a:ext xmlns:a="http://schemas.openxmlformats.org/drawingml/2006/main" cx="10972800" cy="3838575"/>
        </p:xfrm>
        <a:graphic xmlns:a="http://schemas.openxmlformats.org/drawingml/2006/main">
          <a:graphicData uri="http://schemas.openxmlformats.org/drawingml/2006/table">
            <a:tbl>
              <a:tblPr/>
              <a:tblGrid>
                <a:gridCol w="7267575"/>
                <a:gridCol w="3705225"/>
              </a:tblGrid>
              <a:tr h="639763">
                <a:tc>
                  <a:txBody>
                    <a:bodyPr lIns="95250" tIns="95250" rIns="95250" bIns="95250"/>
                    <a:lstStyle/>
                    <a:p>
                      <a:r>
                        <a:rPr sz="1950" b="1">
                          <a:solidFill>
                            <a:srgbClr val="FFFFFF"/>
                          </a:solidFill>
                          <a:latin typeface="Arial"/>
                          <a:ea typeface="Arial"/>
                          <a:cs typeface="Arial"/>
                        </a:rPr>
                        <a:t>Decision</a:t>
                      </a:r>
                    </a:p>
                  </a:txBody>
                  <a:tcPr marL="91440" marR="91440" marT="45720" marB="45720" anchor="ctr">
                    <a:solidFill>
                      <a:srgbClr val="152E42"/>
                    </a:solidFill>
                  </a:tcPr>
                </a:tc>
                <a:tc>
                  <a:txBody>
                    <a:bodyPr lIns="95250" tIns="95250" rIns="95250" bIns="95250"/>
                    <a:lstStyle/>
                    <a:p>
                      <a:r>
                        <a:rPr sz="1950" b="1">
                          <a:solidFill>
                            <a:srgbClr val="FFFFFF"/>
                          </a:solidFill>
                          <a:latin typeface="Arial"/>
                          <a:ea typeface="Arial"/>
                          <a:cs typeface="Arial"/>
                        </a:rPr>
                        <a:t>Review needed before</a:t>
                      </a:r>
                    </a:p>
                  </a:txBody>
                  <a:tcPr marL="91440" marR="91440" marT="45720" marB="45720" anchor="ctr">
                    <a:solidFill>
                      <a:srgbClr val="152E42"/>
                    </a:solidFill>
                  </a:tcPr>
                </a:tc>
              </a:tr>
              <a:tr h="639763">
                <a:tc>
                  <a:txBody>
                    <a:bodyPr lIns="95250" tIns="95250" rIns="95250" bIns="95250"/>
                    <a:lstStyle/>
                    <a:p>
                      <a:r>
                        <a:rPr sz="1950" b="0">
                          <a:solidFill>
                            <a:srgbClr val="203747"/>
                          </a:solidFill>
                          <a:latin typeface="Arial"/>
                          <a:ea typeface="Arial"/>
                          <a:cs typeface="Arial"/>
                        </a:rPr>
                        <a:t>Proof workflow and dashboard commands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P00 exit</a:t>
                      </a:r>
                    </a:p>
                  </a:txBody>
                  <a:tcPr marL="91440" marR="91440" marT="45720" marB="45720" anchor="ctr">
                    <a:solidFill>
                      <a:srgbClr val="F8F7F2"/>
                    </a:solidFill>
                  </a:tcPr>
                </a:tc>
              </a:tr>
              <a:tr h="639763">
                <a:tc>
                  <a:txBody>
                    <a:bodyPr lIns="95250" tIns="95250" rIns="95250" bIns="95250"/>
                    <a:lstStyle/>
                    <a:p>
                      <a:r>
                        <a:rPr sz="1950" b="0">
                          <a:solidFill>
                            <a:srgbClr val="203747"/>
                          </a:solidFill>
                          <a:latin typeface="Arial"/>
                          <a:ea typeface="Arial"/>
                          <a:cs typeface="Arial"/>
                        </a:rPr>
                        <a:t>Runtime, SDKs, storage and account layout</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P01–P04 implementation</a:t>
                      </a:r>
                    </a:p>
                  </a:txBody>
                  <a:tcPr marL="91440" marR="91440" marT="45720" marB="45720" anchor="ctr">
                    <a:solidFill>
                      <a:srgbClr val="EEF2EF"/>
                    </a:solidFill>
                  </a:tcPr>
                </a:tc>
              </a:tr>
              <a:tr h="639763">
                <a:tc>
                  <a:txBody>
                    <a:bodyPr lIns="95250" tIns="95250" rIns="95250" bIns="95250"/>
                    <a:lstStyle/>
                    <a:p>
                      <a:r>
                        <a:rPr sz="1950" b="0">
                          <a:solidFill>
                            <a:srgbClr val="203747"/>
                          </a:solidFill>
                          <a:latin typeface="Arial"/>
                          <a:ea typeface="Arial"/>
                          <a:cs typeface="Arial"/>
                        </a:rPr>
                        <a:t>Client/vendor versions and commercial terms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Supported integration claims</a:t>
                      </a:r>
                    </a:p>
                  </a:txBody>
                  <a:tcPr marL="91440" marR="91440" marT="45720" marB="45720" anchor="ctr">
                    <a:solidFill>
                      <a:srgbClr val="F8F7F2"/>
                    </a:solidFill>
                  </a:tcPr>
                </a:tc>
              </a:tr>
              <a:tr h="639763">
                <a:tc>
                  <a:txBody>
                    <a:bodyPr lIns="95250" tIns="95250" rIns="95250" bIns="95250"/>
                    <a:lstStyle/>
                    <a:p>
                      <a:r>
                        <a:rPr sz="1950" b="0">
                          <a:solidFill>
                            <a:srgbClr val="203747"/>
                          </a:solidFill>
                          <a:latin typeface="Arial"/>
                          <a:ea typeface="Arial"/>
                          <a:cs typeface="Arial"/>
                        </a:rPr>
                        <a:t>Capacity, recovery, staffing and dates</a:t>
                      </a:r>
                    </a:p>
                  </a:txBody>
                  <a:tcPr marL="91440" marR="91440" marT="45720" marB="45720" anchor="ctr">
                    <a:solidFill>
                      <a:srgbClr val="EEF2EF"/>
                    </a:solidFill>
                  </a:tcPr>
                </a:tc>
                <a:tc>
                  <a:txBody>
                    <a:bodyPr lIns="95250" tIns="95250" rIns="95250" bIns="95250"/>
                    <a:lstStyle/>
                    <a:p>
                      <a:r>
                        <a:rPr sz="1950" b="0">
                          <a:solidFill>
                            <a:srgbClr val="203747"/>
                          </a:solidFill>
                          <a:latin typeface="Arial"/>
                          <a:ea typeface="Arial"/>
                          <a:cs typeface="Arial"/>
                        </a:rPr>
                        <a:t>Release promises</a:t>
                      </a:r>
                    </a:p>
                  </a:txBody>
                  <a:tcPr marL="91440" marR="91440" marT="45720" marB="45720" anchor="ctr">
                    <a:solidFill>
                      <a:srgbClr val="EEF2EF"/>
                    </a:solidFill>
                  </a:tcPr>
                </a:tc>
              </a:tr>
              <a:tr h="639763">
                <a:tc>
                  <a:txBody>
                    <a:bodyPr lIns="95250" tIns="95250" rIns="95250" bIns="95250"/>
                    <a:lstStyle/>
                    <a:p>
                      <a:r>
                        <a:rPr sz="1950" b="0">
                          <a:solidFill>
                            <a:srgbClr val="203747"/>
                          </a:solidFill>
                          <a:latin typeface="Arial"/>
                          <a:ea typeface="Arial"/>
                          <a:cs typeface="Arial"/>
                        </a:rPr>
                        <a:t>Jev data policy, budgets and thresholds</a:t>
                      </a:r>
                    </a:p>
                  </a:txBody>
                  <a:tcPr marL="91440" marR="91440" marT="45720" marB="45720" anchor="ctr">
                    <a:solidFill>
                      <a:srgbClr val="F8F7F2"/>
                    </a:solidFill>
                  </a:tcPr>
                </a:tc>
                <a:tc>
                  <a:txBody>
                    <a:bodyPr lIns="95250" tIns="95250" rIns="95250" bIns="95250"/>
                    <a:lstStyle/>
                    <a:p>
                      <a:r>
                        <a:rPr sz="1950" b="0">
                          <a:solidFill>
                            <a:srgbClr val="203747"/>
                          </a:solidFill>
                          <a:latin typeface="Arial"/>
                          <a:ea typeface="Arial"/>
                          <a:cs typeface="Arial"/>
                        </a:rPr>
                        <a:t>Capped live evaluation</a:t>
                      </a:r>
                    </a:p>
                  </a:txBody>
                  <a:tcPr marL="91440" marR="91440" marT="45720" marB="45720" anchor="ctr">
                    <a:solidFill>
                      <a:srgbClr val="F8F7F2"/>
                    </a:solidFill>
                  </a:tcPr>
                </a:tc>
              </a:tr>
            </a:tbl>
          </a:graphicData>
        </a:graphic>
      </p:graphicFrame>
      <p:sp>
        <p:nvSpPr>
          <p:cNvPr id="4" name="Risks concentrate in bootstrap, distributed authority, client coverage">
            <a:extLst xmlns:a="http://schemas.openxmlformats.org/drawingml/2006/main">
              <a:ext uri="{FF2B5EF4-FFF2-40B4-BE49-F238E27FC236}">
                <a16:creationId xmlns:a16="http://schemas.microsoft.com/office/drawing/2014/main" id="{4B68F318-3D13-405F-969E-E500B740B714}"/>
              </a:ext>
            </a:extLst>
          </p:cNvPr>
          <p:cNvSpPr>
            <a:spLocks xmlns:a="http://schemas.openxmlformats.org/drawingml/2006/main" noGrp="1"/>
          </p:cNvSpPr>
          <p:nvPr/>
        </p:nvSpPr>
        <p:spPr>
          <a:xfrm xmlns:a="http://schemas.openxmlformats.org/drawingml/2006/main">
            <a:off x="609600" y="58388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774"/>
                </a:solidFill>
                <a:latin typeface="Arial"/>
                <a:ea typeface="Arial"/>
                <a:cs typeface="Arial"/>
              </a:defRPr>
            </a:defPPr>
          </a:lstStyle>
          <a:p xmlns:a="http://schemas.openxmlformats.org/drawingml/2006/main">
            <a:pPr algn="l">
              <a:buNone/>
              <a:defRPr sz="1725" b="0">
                <a:solidFill>
                  <a:srgbClr val="526774"/>
                </a:solidFill>
                <a:latin typeface="Arial"/>
                <a:ea typeface="Arial"/>
                <a:cs typeface="Arial"/>
              </a:defRPr>
            </a:pPr>
            <a:r>
              <a:rPr sz="1725" b="0">
                <a:solidFill>
                  <a:srgbClr val="526774"/>
                </a:solidFill>
                <a:latin typeface="Arial"/>
                <a:ea typeface="Arial"/>
                <a:cs typeface="Arial"/>
              </a:rPr>
              <a:t>Risks concentrate in bootstrap, distributed authority, client coverage and active-work migration.</a:t>
            </a:r>
          </a:p>
        </p:txBody>
      </p:sp>
    </p:spTree>
    <p:extLst>
      <p:ext uri="{BB962C8B-B14F-4D97-AF65-F5344CB8AC3E}">
        <p14:creationId xmlns:p14="http://schemas.microsoft.com/office/powerpoint/2010/main" val="1466162484"/>
      </p:ext>
    </p:extLst>
  </p:cSld>
</p:sld>
</file>

<file path=ppt/slides/slide39.xml><?xml version="1.0" encoding="utf-8"?>
<p:sld xmlns:p="http://schemas.openxmlformats.org/presentationml/2006/main">
  <p:cSld>
    <p:bg>
      <p:bgPr>
        <a:solidFill xmlns:a="http://schemas.openxmlformats.org/drawingml/2006/main">
          <a:srgbClr val="152E42"/>
        </a:solidFill>
      </p:bgPr>
    </p:bg>
    <p:spTree>
      <p:nvGrpSpPr>
        <p:cNvPr id="1" name=""/>
        <p:cNvGrpSpPr/>
        <p:nvPr/>
      </p:nvGrpSpPr>
      <p:grpSpPr>
        <a:xfrm xmlns:a="http://schemas.openxmlformats.org/drawingml/2006/main"/>
      </p:grpSpPr>
      <p:sp>
        <p:nvSpPr>
          <p:cNvPr id="8" name="Review and authorization">
            <a:extLst xmlns:a="http://schemas.openxmlformats.org/drawingml/2006/main">
              <a:ext uri="{FF2B5EF4-FFF2-40B4-BE49-F238E27FC236}">
                <a16:creationId xmlns:a16="http://schemas.microsoft.com/office/drawing/2014/main" id="{FBC71CA6-C4A3-4ABF-AE18-2A86529CD3BD}"/>
              </a:ext>
            </a:extLst>
          </p:cNvPr>
          <p:cNvSpPr>
            <a:spLocks xmlns:a="http://schemas.openxmlformats.org/drawingml/2006/main" noGrp="1"/>
          </p:cNvSpPr>
          <p:nvPr/>
        </p:nvSpPr>
        <p:spPr>
          <a:xfrm xmlns:a="http://schemas.openxmlformats.org/drawingml/2006/main">
            <a:off x="609600" y="49530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buNone/>
              <a:defRPr sz="3300" b="1">
                <a:solidFill>
                  <a:srgbClr val="FFFFFF"/>
                </a:solidFill>
                <a:latin typeface="Arial"/>
                <a:ea typeface="Arial"/>
                <a:cs typeface="Arial"/>
              </a:defRPr>
            </a:pPr>
            <a:r>
              <a:rPr sz="3300" b="1">
                <a:solidFill>
                  <a:srgbClr val="FFFFFF"/>
                </a:solidFill>
                <a:latin typeface="Arial"/>
                <a:ea typeface="Arial"/>
                <a:cs typeface="Arial"/>
              </a:rPr>
              <a:t>Review and authorization</a:t>
            </a:r>
          </a:p>
        </p:txBody>
      </p:sp>
      <p:sp>
        <p:nvSpPr>
          <p:cNvPr id="2" name="39">
            <a:extLst xmlns:a="http://schemas.openxmlformats.org/drawingml/2006/main">
              <a:ext uri="{FF2B5EF4-FFF2-40B4-BE49-F238E27FC236}">
                <a16:creationId xmlns:a16="http://schemas.microsoft.com/office/drawing/2014/main" id="{D92AA3E1-C37D-4DE0-B8A0-662D1AE3C40F}"/>
              </a:ext>
            </a:extLst>
          </p:cNvPr>
          <p:cNvSpPr>
            <a:spLocks xmlns:a="http://schemas.openxmlformats.org/drawingml/2006/main" noGrp="1"/>
          </p:cNvSpPr>
          <p:nvPr/>
        </p:nvSpPr>
        <p:spPr>
          <a:xfrm xmlns:a="http://schemas.openxmlformats.org/drawingml/2006/main">
            <a:off x="11125200" y="6362700"/>
            <a:ext cx="457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275" b="0">
                <a:solidFill>
                  <a:srgbClr val="B8D7D8"/>
                </a:solidFill>
                <a:latin typeface="Arial"/>
                <a:ea typeface="Arial"/>
                <a:cs typeface="Arial"/>
              </a:defRPr>
            </a:defPPr>
          </a:lstStyle>
          <a:p xmlns:a="http://schemas.openxmlformats.org/drawingml/2006/main">
            <a:pPr algn="r">
              <a:buNone/>
              <a:defRPr sz="1275" b="0">
                <a:solidFill>
                  <a:srgbClr val="B8D7D8"/>
                </a:solidFill>
                <a:latin typeface="Arial"/>
                <a:ea typeface="Arial"/>
                <a:cs typeface="Arial"/>
              </a:defRPr>
            </a:pPr>
            <a:r>
              <a:rPr sz="1275" b="0">
                <a:solidFill>
                  <a:srgbClr val="B8D7D8"/>
                </a:solidFill>
                <a:latin typeface="Arial"/>
                <a:ea typeface="Arial"/>
                <a:cs typeface="Arial"/>
              </a:rPr>
              <a:t>39</a:t>
            </a:r>
          </a:p>
        </p:txBody>
      </p:sp>
      <p:sp>
        <p:nvSpPr>
          <p:cNvPr id="3" name="Resolve P00 choices">
            <a:extLst xmlns:a="http://schemas.openxmlformats.org/drawingml/2006/main">
              <a:ext uri="{FF2B5EF4-FFF2-40B4-BE49-F238E27FC236}">
                <a16:creationId xmlns:a16="http://schemas.microsoft.com/office/drawing/2014/main" id="{FC586F57-775C-424E-A7DB-BEF9140CCB13}"/>
              </a:ext>
            </a:extLst>
          </p:cNvPr>
          <p:cNvSpPr>
            <a:spLocks xmlns:a="http://schemas.openxmlformats.org/drawingml/2006/main" noGrp="1"/>
          </p:cNvSpPr>
          <p:nvPr/>
        </p:nvSpPr>
        <p:spPr>
          <a:xfrm xmlns:a="http://schemas.openxmlformats.org/drawingml/2006/main">
            <a:off x="609600" y="1914525"/>
            <a:ext cx="105727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FFFFFF"/>
                </a:solidFill>
                <a:latin typeface="Arial"/>
                <a:ea typeface="Arial"/>
                <a:cs typeface="Arial"/>
              </a:defRPr>
            </a:defPPr>
          </a:lstStyle>
          <a:p xmlns:a="http://schemas.openxmlformats.org/drawingml/2006/main">
            <a:pPr algn="l">
              <a:buNone/>
              <a:defRPr sz="2700" b="1">
                <a:solidFill>
                  <a:srgbClr val="FFFFFF"/>
                </a:solidFill>
                <a:latin typeface="Arial"/>
                <a:ea typeface="Arial"/>
                <a:cs typeface="Arial"/>
              </a:defRPr>
            </a:pPr>
            <a:r>
              <a:rPr sz="2700" b="1">
                <a:solidFill>
                  <a:srgbClr val="FFFFFF"/>
                </a:solidFill>
                <a:latin typeface="Arial"/>
                <a:ea typeface="Arial"/>
                <a:cs typeface="Arial"/>
              </a:rPr>
              <a:t>Resolve P00 choices</a:t>
            </a:r>
          </a:p>
        </p:txBody>
      </p:sp>
      <p:sp>
        <p:nvSpPr>
          <p:cNvPr id="4" name="Approve or revise the phase sequence and proposed targets">
            <a:extLst xmlns:a="http://schemas.openxmlformats.org/drawingml/2006/main">
              <a:ext uri="{FF2B5EF4-FFF2-40B4-BE49-F238E27FC236}">
                <a16:creationId xmlns:a16="http://schemas.microsoft.com/office/drawing/2014/main" id="{D8D3C48F-F332-4481-8E70-67D129A8904A}"/>
              </a:ext>
            </a:extLst>
          </p:cNvPr>
          <p:cNvSpPr>
            <a:spLocks xmlns:a="http://schemas.openxmlformats.org/drawingml/2006/main" noGrp="1"/>
          </p:cNvSpPr>
          <p:nvPr/>
        </p:nvSpPr>
        <p:spPr>
          <a:xfrm xmlns:a="http://schemas.openxmlformats.org/drawingml/2006/main">
            <a:off x="609600" y="2771775"/>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4DFDF"/>
                </a:solidFill>
                <a:latin typeface="Arial"/>
                <a:ea typeface="Arial"/>
                <a:cs typeface="Arial"/>
              </a:defRPr>
            </a:defPPr>
          </a:lstStyle>
          <a:p xmlns:a="http://schemas.openxmlformats.org/drawingml/2006/main">
            <a:pPr algn="l">
              <a:buNone/>
              <a:defRPr sz="2325" b="0">
                <a:solidFill>
                  <a:srgbClr val="C4DFDF"/>
                </a:solidFill>
                <a:latin typeface="Arial"/>
                <a:ea typeface="Arial"/>
                <a:cs typeface="Arial"/>
              </a:defRPr>
            </a:pPr>
            <a:r>
              <a:rPr sz="2325" b="0">
                <a:solidFill>
                  <a:srgbClr val="C4DFDF"/>
                </a:solidFill>
                <a:latin typeface="Arial"/>
                <a:ea typeface="Arial"/>
                <a:cs typeface="Arial"/>
              </a:rPr>
              <a:t>Approve or revise the phase sequence and proposed targets</a:t>
            </a:r>
          </a:p>
        </p:txBody>
      </p:sp>
      <p:sp>
        <p:nvSpPr>
          <p:cNvPr id="5" name="Name gate reviewers and record the accepted plan revision">
            <a:extLst xmlns:a="http://schemas.openxmlformats.org/drawingml/2006/main">
              <a:ext uri="{FF2B5EF4-FFF2-40B4-BE49-F238E27FC236}">
                <a16:creationId xmlns:a16="http://schemas.microsoft.com/office/drawing/2014/main" id="{64D9822B-2A45-44C2-BF1E-7F73B25ED3B1}"/>
              </a:ext>
            </a:extLst>
          </p:cNvPr>
          <p:cNvSpPr>
            <a:spLocks xmlns:a="http://schemas.openxmlformats.org/drawingml/2006/main" noGrp="1"/>
          </p:cNvSpPr>
          <p:nvPr/>
        </p:nvSpPr>
        <p:spPr>
          <a:xfrm xmlns:a="http://schemas.openxmlformats.org/drawingml/2006/main">
            <a:off x="609600" y="381000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C4DFDF"/>
                </a:solidFill>
                <a:latin typeface="Arial"/>
                <a:ea typeface="Arial"/>
                <a:cs typeface="Arial"/>
              </a:defRPr>
            </a:defPPr>
          </a:lstStyle>
          <a:p xmlns:a="http://schemas.openxmlformats.org/drawingml/2006/main">
            <a:pPr algn="l">
              <a:buNone/>
              <a:defRPr sz="2325" b="0">
                <a:solidFill>
                  <a:srgbClr val="C4DFDF"/>
                </a:solidFill>
                <a:latin typeface="Arial"/>
                <a:ea typeface="Arial"/>
                <a:cs typeface="Arial"/>
              </a:defRPr>
            </a:pPr>
            <a:r>
              <a:rPr sz="2325" b="0">
                <a:solidFill>
                  <a:srgbClr val="C4DFDF"/>
                </a:solidFill>
                <a:latin typeface="Arial"/>
                <a:ea typeface="Arial"/>
                <a:cs typeface="Arial"/>
              </a:rPr>
              <a:t>Name gate reviewers and record the accepted plan revision</a:t>
            </a:r>
          </a:p>
        </p:txBody>
      </p:sp>
      <p:sp>
        <p:nvSpPr>
          <p:cNvPr id="6" name="Implementation starts only after Ryan’s explicit authorization">
            <a:extLst xmlns:a="http://schemas.openxmlformats.org/drawingml/2006/main">
              <a:ext uri="{FF2B5EF4-FFF2-40B4-BE49-F238E27FC236}">
                <a16:creationId xmlns:a16="http://schemas.microsoft.com/office/drawing/2014/main" id="{4F3EC163-364C-40FB-94D0-7440CB59CB38}"/>
              </a:ext>
            </a:extLst>
          </p:cNvPr>
          <p:cNvSpPr>
            <a:spLocks xmlns:a="http://schemas.openxmlformats.org/drawingml/2006/main" noGrp="1"/>
          </p:cNvSpPr>
          <p:nvPr/>
        </p:nvSpPr>
        <p:spPr>
          <a:xfrm xmlns:a="http://schemas.openxmlformats.org/drawingml/2006/main">
            <a:off x="609600" y="4886325"/>
            <a:ext cx="1047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FFFFFF"/>
                </a:solidFill>
                <a:latin typeface="Arial"/>
                <a:ea typeface="Arial"/>
                <a:cs typeface="Arial"/>
              </a:defRPr>
            </a:defPPr>
          </a:lstStyle>
          <a:p xmlns:a="http://schemas.openxmlformats.org/drawingml/2006/main">
            <a:pPr algn="l">
              <a:buNone/>
              <a:defRPr sz="2325" b="1">
                <a:solidFill>
                  <a:srgbClr val="FFFFFF"/>
                </a:solidFill>
                <a:latin typeface="Arial"/>
                <a:ea typeface="Arial"/>
                <a:cs typeface="Arial"/>
              </a:defRPr>
            </a:pPr>
            <a:r>
              <a:rPr sz="2325" b="1">
                <a:solidFill>
                  <a:srgbClr val="FFFFFF"/>
                </a:solidFill>
                <a:latin typeface="Arial"/>
                <a:ea typeface="Arial"/>
                <a:cs typeface="Arial"/>
              </a:rPr>
              <a:t>Implementation starts only after Ryan’s explicit authorization</a:t>
            </a:r>
          </a:p>
        </p:txBody>
      </p:sp>
      <p:sp>
        <p:nvSpPr>
          <p:cNvPr id="7" name="Planning is ready for review. Repository governance remains blocked&#10;un">
            <a:extLst xmlns:a="http://schemas.openxmlformats.org/drawingml/2006/main">
              <a:ext uri="{FF2B5EF4-FFF2-40B4-BE49-F238E27FC236}">
                <a16:creationId xmlns:a16="http://schemas.microsoft.com/office/drawing/2014/main" id="{F75D2BA4-A920-4ABA-9245-A25686E2F606}"/>
              </a:ext>
            </a:extLst>
          </p:cNvPr>
          <p:cNvSpPr>
            <a:spLocks xmlns:a="http://schemas.openxmlformats.org/drawingml/2006/main" noGrp="1"/>
          </p:cNvSpPr>
          <p:nvPr/>
        </p:nvSpPr>
        <p:spPr>
          <a:xfrm xmlns:a="http://schemas.openxmlformats.org/drawingml/2006/main">
            <a:off x="609600" y="5876925"/>
            <a:ext cx="104775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C4DFDF"/>
                </a:solidFill>
                <a:latin typeface="Arial"/>
                <a:ea typeface="Arial"/>
                <a:cs typeface="Arial"/>
              </a:defRPr>
            </a:defPPr>
          </a:lstStyle>
          <a:p xmlns:a="http://schemas.openxmlformats.org/drawingml/2006/main">
            <a:pPr algn="l">
              <a:buNone/>
              <a:defRPr sz="1650" b="0">
                <a:solidFill>
                  <a:srgbClr val="C4DFDF"/>
                </a:solidFill>
                <a:latin typeface="Arial"/>
                <a:ea typeface="Arial"/>
                <a:cs typeface="Arial"/>
              </a:defRPr>
            </a:pPr>
            <a:r>
              <a:rPr sz="1650" b="0">
                <a:solidFill>
                  <a:srgbClr val="C4DFDF"/>
                </a:solidFill>
                <a:latin typeface="Arial"/>
                <a:ea typeface="Arial"/>
                <a:cs typeface="Arial"/>
              </a:rPr>
              <a:t>Planning is ready for review. Repository governance remains blocked</a:t>
            </a:r>
          </a:p>
          <a:p xmlns:a="http://schemas.openxmlformats.org/drawingml/2006/main">
            <a:pPr algn="l">
              <a:buNone/>
              <a:defRPr sz="1650" b="0">
                <a:solidFill>
                  <a:srgbClr val="C4DFDF"/>
                </a:solidFill>
                <a:latin typeface="Arial"/>
                <a:ea typeface="Arial"/>
                <a:cs typeface="Arial"/>
              </a:defRPr>
            </a:pPr>
            <a:r>
              <a:rPr sz="1650" b="0">
                <a:solidFill>
                  <a:srgbClr val="C4DFDF"/>
                </a:solidFill>
                <a:latin typeface="Arial"/>
                <a:ea typeface="Arial"/>
                <a:cs typeface="Arial"/>
              </a:rPr>
              <a:t>until approved P01 correctness repairs pass.</a:t>
            </a:r>
          </a:p>
        </p:txBody>
      </p:sp>
    </p:spTree>
    <p:extLst>
      <p:ext uri="{BB962C8B-B14F-4D97-AF65-F5344CB8AC3E}">
        <p14:creationId xmlns:p14="http://schemas.microsoft.com/office/powerpoint/2010/main" val="7294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2026-10-09T07:38:28.1030000Z</dcterms:created>
  <dcterms:modified xsi:type="dcterms:W3CDTF">2026-10-09T07:38:28.1030000Z</dcterms:modified>
</coreProperties>
</file>