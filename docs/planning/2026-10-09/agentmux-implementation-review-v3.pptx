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dc391b82b648ea" /><Relationship Type="http://schemas.openxmlformats.org/officeDocument/2006/relationships/extended-properties" Target="/docProps/app.xml" Id="Rb0c147e119bc4030" /><Relationship Type="http://schemas.openxmlformats.org/officeDocument/2006/relationships/officeDocument" Target="/ppt/presentation.xml" Id="R59d8f337579146b6" /></Relationships>
</file>

<file path=ppt/presentation.xml><?xml version="1.0" encoding="utf-8"?>
<p:presentation xmlns:p="http://schemas.openxmlformats.org/presentationml/2006/main">
  <p:sldMasterIdLst>
    <p:sldMasterId xmlns:r="http://schemas.openxmlformats.org/officeDocument/2006/relationships" id="2147483648" r:id="R245034178ed240f4"/>
  </p:sldMasterIdLst>
  <p:notesMasterIdLst>
    <p:notesMasterId xmlns:r="http://schemas.openxmlformats.org/officeDocument/2006/relationships" r:id="R5939a5b4c7c343aa"/>
  </p:notesMasterIdLst>
  <p:sldIdLst>
    <p:sldId xmlns:r="http://schemas.openxmlformats.org/officeDocument/2006/relationships" id="256" r:id="R04162829bf314b24"/>
    <p:sldId xmlns:r="http://schemas.openxmlformats.org/officeDocument/2006/relationships" id="257" r:id="R31b827526fa049d8"/>
    <p:sldId xmlns:r="http://schemas.openxmlformats.org/officeDocument/2006/relationships" id="258" r:id="Rce140bdfd36d4a39"/>
    <p:sldId xmlns:r="http://schemas.openxmlformats.org/officeDocument/2006/relationships" id="259" r:id="R962f59c74fbe4648"/>
    <p:sldId xmlns:r="http://schemas.openxmlformats.org/officeDocument/2006/relationships" id="260" r:id="R7443a779b8be4195"/>
    <p:sldId xmlns:r="http://schemas.openxmlformats.org/officeDocument/2006/relationships" id="261" r:id="Rcaaa7752d18c4f36"/>
    <p:sldId xmlns:r="http://schemas.openxmlformats.org/officeDocument/2006/relationships" id="262" r:id="R48d071f6fb7b4afa"/>
    <p:sldId xmlns:r="http://schemas.openxmlformats.org/officeDocument/2006/relationships" id="263" r:id="Rc14de48ed9534715"/>
    <p:sldId xmlns:r="http://schemas.openxmlformats.org/officeDocument/2006/relationships" id="264" r:id="R86814f5abd2e4d75"/>
    <p:sldId xmlns:r="http://schemas.openxmlformats.org/officeDocument/2006/relationships" id="265" r:id="R8ff8c2e7207d4cde"/>
    <p:sldId xmlns:r="http://schemas.openxmlformats.org/officeDocument/2006/relationships" id="266" r:id="R8ab9c1b8cddb4145"/>
    <p:sldId xmlns:r="http://schemas.openxmlformats.org/officeDocument/2006/relationships" id="267" r:id="Rd16de2843c854e2e"/>
    <p:sldId xmlns:r="http://schemas.openxmlformats.org/officeDocument/2006/relationships" id="268" r:id="R527348d1919c4036"/>
    <p:sldId xmlns:r="http://schemas.openxmlformats.org/officeDocument/2006/relationships" id="269" r:id="R0e48082a37f047c8"/>
    <p:sldId xmlns:r="http://schemas.openxmlformats.org/officeDocument/2006/relationships" id="270" r:id="R056b846d818c43ab"/>
    <p:sldId xmlns:r="http://schemas.openxmlformats.org/officeDocument/2006/relationships" id="271" r:id="R752fe325fc594fbf"/>
    <p:sldId xmlns:r="http://schemas.openxmlformats.org/officeDocument/2006/relationships" id="272" r:id="Rbc1bf29e39c245b2"/>
    <p:sldId xmlns:r="http://schemas.openxmlformats.org/officeDocument/2006/relationships" id="273" r:id="Rf87ae72626da462e"/>
    <p:sldId xmlns:r="http://schemas.openxmlformats.org/officeDocument/2006/relationships" id="274" r:id="R09f531399e0f4f9f"/>
    <p:sldId xmlns:r="http://schemas.openxmlformats.org/officeDocument/2006/relationships" id="275" r:id="Ra2968e576a394146"/>
    <p:sldId xmlns:r="http://schemas.openxmlformats.org/officeDocument/2006/relationships" id="276" r:id="Rc5ddd513f65947a6"/>
    <p:sldId xmlns:r="http://schemas.openxmlformats.org/officeDocument/2006/relationships" id="277" r:id="Rfc5a53f688d345a4"/>
    <p:sldId xmlns:r="http://schemas.openxmlformats.org/officeDocument/2006/relationships" id="278" r:id="R754d5aff8eb74558"/>
    <p:sldId xmlns:r="http://schemas.openxmlformats.org/officeDocument/2006/relationships" id="279" r:id="R55a071c21e304499"/>
    <p:sldId xmlns:r="http://schemas.openxmlformats.org/officeDocument/2006/relationships" id="280" r:id="Rd079b98e9e864a0d"/>
    <p:sldId xmlns:r="http://schemas.openxmlformats.org/officeDocument/2006/relationships" id="281" r:id="R4c644cae56724baa"/>
    <p:sldId xmlns:r="http://schemas.openxmlformats.org/officeDocument/2006/relationships" id="282" r:id="Re675961ff46f4c7e"/>
    <p:sldId xmlns:r="http://schemas.openxmlformats.org/officeDocument/2006/relationships" id="283" r:id="R566c7812cffa4902"/>
    <p:sldId xmlns:r="http://schemas.openxmlformats.org/officeDocument/2006/relationships" id="284" r:id="R471cb7cc5b3f478c"/>
    <p:sldId xmlns:r="http://schemas.openxmlformats.org/officeDocument/2006/relationships" id="285" r:id="R8b9470539e7e4fc4"/>
    <p:sldId xmlns:r="http://schemas.openxmlformats.org/officeDocument/2006/relationships" id="286" r:id="Ra4004c2836334c78"/>
    <p:sldId xmlns:r="http://schemas.openxmlformats.org/officeDocument/2006/relationships" id="287" r:id="R31a5a8e487b24c08"/>
    <p:sldId xmlns:r="http://schemas.openxmlformats.org/officeDocument/2006/relationships" id="288" r:id="Recb5d0d90b2245cb"/>
    <p:sldId xmlns:r="http://schemas.openxmlformats.org/officeDocument/2006/relationships" id="289" r:id="R964e78a4a17f4314"/>
    <p:sldId xmlns:r="http://schemas.openxmlformats.org/officeDocument/2006/relationships" id="290" r:id="R37176be750e54817"/>
    <p:sldId xmlns:r="http://schemas.openxmlformats.org/officeDocument/2006/relationships" id="291" r:id="R00d74f7806f34c04"/>
    <p:sldId xmlns:r="http://schemas.openxmlformats.org/officeDocument/2006/relationships" id="292" r:id="Rb58dd43db282437f"/>
    <p:sldId xmlns:r="http://schemas.openxmlformats.org/officeDocument/2006/relationships" id="293" r:id="Ra74c3372e58745c1"/>
    <p:sldId xmlns:r="http://schemas.openxmlformats.org/officeDocument/2006/relationships" id="294" r:id="R9d996344b1dc4aff"/>
    <p:sldId xmlns:r="http://schemas.openxmlformats.org/officeDocument/2006/relationships" id="295" r:id="R84eef2e54aee40c5"/>
    <p:sldId xmlns:r="http://schemas.openxmlformats.org/officeDocument/2006/relationships" id="296" r:id="R1008f818d2a0438a"/>
    <p:sldId xmlns:r="http://schemas.openxmlformats.org/officeDocument/2006/relationships" id="297" r:id="R6cf6ea103f3b41cf"/>
    <p:sldId xmlns:r="http://schemas.openxmlformats.org/officeDocument/2006/relationships" id="298" r:id="Rdb10adb872564597"/>
    <p:sldId xmlns:r="http://schemas.openxmlformats.org/officeDocument/2006/relationships" id="299" r:id="R96545024746c4656"/>
    <p:sldId xmlns:r="http://schemas.openxmlformats.org/officeDocument/2006/relationships" id="300" r:id="Rb217ed2663074091"/>
    <p:sldId xmlns:r="http://schemas.openxmlformats.org/officeDocument/2006/relationships" id="301" r:id="Rad7fe1149d1a4ab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e17a3e304541c5" /><Relationship Type="http://schemas.openxmlformats.org/officeDocument/2006/relationships/slideMaster" Target="/ppt/slideMasters/slideMaster1.xml" Id="R245034178ed240f4" /><Relationship Type="http://schemas.openxmlformats.org/officeDocument/2006/relationships/notesMaster" Target="/ppt/notesMasters/notesMaster1.xml" Id="R5939a5b4c7c343aa" /><Relationship Type="http://schemas.openxmlformats.org/officeDocument/2006/relationships/presProps" Target="/ppt/presProps.xml" Id="R18e5bb69bead46b4" /><Relationship Type="http://schemas.openxmlformats.org/officeDocument/2006/relationships/tableStyles" Target="/ppt/tableStyles.xml" Id="R4bc12e2db2d547ce" /><Relationship Type="http://schemas.openxmlformats.org/officeDocument/2006/relationships/slide" Target="/ppt/slides/slide1.xml" Id="R04162829bf314b24" /><Relationship Type="http://schemas.openxmlformats.org/officeDocument/2006/relationships/slide" Target="/ppt/slides/slide2.xml" Id="R31b827526fa049d8" /><Relationship Type="http://schemas.openxmlformats.org/officeDocument/2006/relationships/slide" Target="/ppt/slides/slide3.xml" Id="Rce140bdfd36d4a39" /><Relationship Type="http://schemas.openxmlformats.org/officeDocument/2006/relationships/slide" Target="/ppt/slides/slide4.xml" Id="R962f59c74fbe4648" /><Relationship Type="http://schemas.openxmlformats.org/officeDocument/2006/relationships/slide" Target="/ppt/slides/slide5.xml" Id="R7443a779b8be4195" /><Relationship Type="http://schemas.openxmlformats.org/officeDocument/2006/relationships/slide" Target="/ppt/slides/slide6.xml" Id="Rcaaa7752d18c4f36" /><Relationship Type="http://schemas.openxmlformats.org/officeDocument/2006/relationships/slide" Target="/ppt/slides/slide7.xml" Id="R48d071f6fb7b4afa" /><Relationship Type="http://schemas.openxmlformats.org/officeDocument/2006/relationships/slide" Target="/ppt/slides/slide8.xml" Id="Rc14de48ed9534715" /><Relationship Type="http://schemas.openxmlformats.org/officeDocument/2006/relationships/slide" Target="/ppt/slides/slide9.xml" Id="R86814f5abd2e4d75" /><Relationship Type="http://schemas.openxmlformats.org/officeDocument/2006/relationships/slide" Target="/ppt/slides/slide10.xml" Id="R8ff8c2e7207d4cde" /><Relationship Type="http://schemas.openxmlformats.org/officeDocument/2006/relationships/slide" Target="/ppt/slides/slide11.xml" Id="R8ab9c1b8cddb4145" /><Relationship Type="http://schemas.openxmlformats.org/officeDocument/2006/relationships/slide" Target="/ppt/slides/slide12.xml" Id="Rd16de2843c854e2e" /><Relationship Type="http://schemas.openxmlformats.org/officeDocument/2006/relationships/slide" Target="/ppt/slides/slide13.xml" Id="R527348d1919c4036" /><Relationship Type="http://schemas.openxmlformats.org/officeDocument/2006/relationships/slide" Target="/ppt/slides/slide14.xml" Id="R0e48082a37f047c8" /><Relationship Type="http://schemas.openxmlformats.org/officeDocument/2006/relationships/slide" Target="/ppt/slides/slide15.xml" Id="R056b846d818c43ab" /><Relationship Type="http://schemas.openxmlformats.org/officeDocument/2006/relationships/slide" Target="/ppt/slides/slide16.xml" Id="R752fe325fc594fbf" /><Relationship Type="http://schemas.openxmlformats.org/officeDocument/2006/relationships/slide" Target="/ppt/slides/slide17.xml" Id="Rbc1bf29e39c245b2" /><Relationship Type="http://schemas.openxmlformats.org/officeDocument/2006/relationships/slide" Target="/ppt/slides/slide18.xml" Id="Rf87ae72626da462e" /><Relationship Type="http://schemas.openxmlformats.org/officeDocument/2006/relationships/slide" Target="/ppt/slides/slide19.xml" Id="R09f531399e0f4f9f" /><Relationship Type="http://schemas.openxmlformats.org/officeDocument/2006/relationships/slide" Target="/ppt/slides/slide20.xml" Id="Ra2968e576a394146" /><Relationship Type="http://schemas.openxmlformats.org/officeDocument/2006/relationships/slide" Target="/ppt/slides/slide21.xml" Id="Rc5ddd513f65947a6" /><Relationship Type="http://schemas.openxmlformats.org/officeDocument/2006/relationships/slide" Target="/ppt/slides/slide22.xml" Id="Rfc5a53f688d345a4" /><Relationship Type="http://schemas.openxmlformats.org/officeDocument/2006/relationships/slide" Target="/ppt/slides/slide23.xml" Id="R754d5aff8eb74558" /><Relationship Type="http://schemas.openxmlformats.org/officeDocument/2006/relationships/slide" Target="/ppt/slides/slide24.xml" Id="R55a071c21e304499" /><Relationship Type="http://schemas.openxmlformats.org/officeDocument/2006/relationships/slide" Target="/ppt/slides/slide25.xml" Id="Rd079b98e9e864a0d" /><Relationship Type="http://schemas.openxmlformats.org/officeDocument/2006/relationships/slide" Target="/ppt/slides/slide26.xml" Id="R4c644cae56724baa" /><Relationship Type="http://schemas.openxmlformats.org/officeDocument/2006/relationships/slide" Target="/ppt/slides/slide27.xml" Id="Re675961ff46f4c7e" /><Relationship Type="http://schemas.openxmlformats.org/officeDocument/2006/relationships/slide" Target="/ppt/slides/slide28.xml" Id="R566c7812cffa4902" /><Relationship Type="http://schemas.openxmlformats.org/officeDocument/2006/relationships/slide" Target="/ppt/slides/slide29.xml" Id="R471cb7cc5b3f478c" /><Relationship Type="http://schemas.openxmlformats.org/officeDocument/2006/relationships/slide" Target="/ppt/slides/slide30.xml" Id="R8b9470539e7e4fc4" /><Relationship Type="http://schemas.openxmlformats.org/officeDocument/2006/relationships/slide" Target="/ppt/slides/slide31.xml" Id="Ra4004c2836334c78" /><Relationship Type="http://schemas.openxmlformats.org/officeDocument/2006/relationships/slide" Target="/ppt/slides/slide32.xml" Id="R31a5a8e487b24c08" /><Relationship Type="http://schemas.openxmlformats.org/officeDocument/2006/relationships/slide" Target="/ppt/slides/slide33.xml" Id="Recb5d0d90b2245cb" /><Relationship Type="http://schemas.openxmlformats.org/officeDocument/2006/relationships/slide" Target="/ppt/slides/slide34.xml" Id="R964e78a4a17f4314" /><Relationship Type="http://schemas.openxmlformats.org/officeDocument/2006/relationships/slide" Target="/ppt/slides/slide35.xml" Id="R37176be750e54817" /><Relationship Type="http://schemas.openxmlformats.org/officeDocument/2006/relationships/slide" Target="/ppt/slides/slide36.xml" Id="R00d74f7806f34c04" /><Relationship Type="http://schemas.openxmlformats.org/officeDocument/2006/relationships/slide" Target="/ppt/slides/slide37.xml" Id="Rb58dd43db282437f" /><Relationship Type="http://schemas.openxmlformats.org/officeDocument/2006/relationships/slide" Target="/ppt/slides/slide38.xml" Id="Ra74c3372e58745c1" /><Relationship Type="http://schemas.openxmlformats.org/officeDocument/2006/relationships/slide" Target="/ppt/slides/slide39.xml" Id="R9d996344b1dc4aff" /><Relationship Type="http://schemas.openxmlformats.org/officeDocument/2006/relationships/slide" Target="/ppt/slides/slide40.xml" Id="R84eef2e54aee40c5" /><Relationship Type="http://schemas.openxmlformats.org/officeDocument/2006/relationships/slide" Target="/ppt/slides/slide41.xml" Id="R1008f818d2a0438a" /><Relationship Type="http://schemas.openxmlformats.org/officeDocument/2006/relationships/slide" Target="/ppt/slides/slide42.xml" Id="R6cf6ea103f3b41cf" /><Relationship Type="http://schemas.openxmlformats.org/officeDocument/2006/relationships/slide" Target="/ppt/slides/slide43.xml" Id="Rdb10adb872564597" /><Relationship Type="http://schemas.openxmlformats.org/officeDocument/2006/relationships/slide" Target="/ppt/slides/slide44.xml" Id="R96545024746c4656" /><Relationship Type="http://schemas.openxmlformats.org/officeDocument/2006/relationships/slide" Target="/ppt/slides/slide45.xml" Id="Rb217ed2663074091" /><Relationship Type="http://schemas.openxmlformats.org/officeDocument/2006/relationships/slide" Target="/ppt/slides/slide46.xml" Id="Rad7fe1149d1a4a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95f0dec55a42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e60df06fba4d93" /><Relationship Type="http://schemas.openxmlformats.org/officeDocument/2006/relationships/notesMaster" Target="/ppt/notesMasters/notesMaster1.xml" Id="R62704b43be374e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7a35dad0624362" /><Relationship Type="http://schemas.openxmlformats.org/officeDocument/2006/relationships/notesMaster" Target="/ppt/notesMasters/notesMaster1.xml" Id="R2730e63a4f794a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e940ebb1d84284" /><Relationship Type="http://schemas.openxmlformats.org/officeDocument/2006/relationships/notesMaster" Target="/ppt/notesMasters/notesMaster1.xml" Id="Rf019bf81e8d24b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fbcac4978441c7" /><Relationship Type="http://schemas.openxmlformats.org/officeDocument/2006/relationships/notesMaster" Target="/ppt/notesMasters/notesMaster1.xml" Id="R01277fc3c1f246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60acdc8c484eb3" /><Relationship Type="http://schemas.openxmlformats.org/officeDocument/2006/relationships/notesMaster" Target="/ppt/notesMasters/notesMaster1.xml" Id="R2ddb3c74f1b346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fc076eb6664383" /><Relationship Type="http://schemas.openxmlformats.org/officeDocument/2006/relationships/notesMaster" Target="/ppt/notesMasters/notesMaster1.xml" Id="Rad4fc6e5fab44ffb"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aec94bc47149d0" /><Relationship Type="http://schemas.openxmlformats.org/officeDocument/2006/relationships/notesMaster" Target="/ppt/notesMasters/notesMaster1.xml" Id="R39922873c9954e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c1ab65b04045d6" /><Relationship Type="http://schemas.openxmlformats.org/officeDocument/2006/relationships/notesMaster" Target="/ppt/notesMasters/notesMaster1.xml" Id="Raba500f3f0ce4243"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bb69fc42af4b1c" /><Relationship Type="http://schemas.openxmlformats.org/officeDocument/2006/relationships/notesMaster" Target="/ppt/notesMasters/notesMaster1.xml" Id="Rea67fc013c5c45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64dd04f37f49a5" /><Relationship Type="http://schemas.openxmlformats.org/officeDocument/2006/relationships/notesMaster" Target="/ppt/notesMasters/notesMaster1.xml" Id="R56f4b54bf1ec4d4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84de645730345ec" /><Relationship Type="http://schemas.openxmlformats.org/officeDocument/2006/relationships/notesMaster" Target="/ppt/notesMasters/notesMaster1.xml" Id="Rb5df0091382d428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a9b3a9cd7bf4b5e" /><Relationship Type="http://schemas.openxmlformats.org/officeDocument/2006/relationships/notesMaster" Target="/ppt/notesMasters/notesMaster1.xml" Id="Rbe7236f2aecd48a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6fc6a77ea1543cf" /><Relationship Type="http://schemas.openxmlformats.org/officeDocument/2006/relationships/notesMaster" Target="/ppt/notesMasters/notesMaster1.xml" Id="R5eff649407484e3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d18b555e3234be7" /><Relationship Type="http://schemas.openxmlformats.org/officeDocument/2006/relationships/notesMaster" Target="/ppt/notesMasters/notesMaster1.xml" Id="R9a644e1c18f74c0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0c85a71f2c54b03" /><Relationship Type="http://schemas.openxmlformats.org/officeDocument/2006/relationships/notesMaster" Target="/ppt/notesMasters/notesMaster1.xml" Id="R2939f0d629214d2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1d27f849de5488d" /><Relationship Type="http://schemas.openxmlformats.org/officeDocument/2006/relationships/notesMaster" Target="/ppt/notesMasters/notesMaster1.xml" Id="R18bb320f986c46e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fa7e500e05e443d" /><Relationship Type="http://schemas.openxmlformats.org/officeDocument/2006/relationships/notesMaster" Target="/ppt/notesMasters/notesMaster1.xml" Id="R3de70067e6234f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bb04d501e1040a7" /><Relationship Type="http://schemas.openxmlformats.org/officeDocument/2006/relationships/notesMaster" Target="/ppt/notesMasters/notesMaster1.xml" Id="Rdb71850e8890412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4440bad0d304b12" /><Relationship Type="http://schemas.openxmlformats.org/officeDocument/2006/relationships/notesMaster" Target="/ppt/notesMasters/notesMaster1.xml" Id="Rbc493e6e65624d1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4a0bf5d2a0b45f1" /><Relationship Type="http://schemas.openxmlformats.org/officeDocument/2006/relationships/notesMaster" Target="/ppt/notesMasters/notesMaster1.xml" Id="R31f600fddf27485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35035e968c14fa1" /><Relationship Type="http://schemas.openxmlformats.org/officeDocument/2006/relationships/notesMaster" Target="/ppt/notesMasters/notesMaster1.xml" Id="R82ff8b02a35c47d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2e93b02a813480d" /><Relationship Type="http://schemas.openxmlformats.org/officeDocument/2006/relationships/notesMaster" Target="/ppt/notesMasters/notesMaster1.xml" Id="R76a3ae87d7c74d4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23ca35f41f8424b" /><Relationship Type="http://schemas.openxmlformats.org/officeDocument/2006/relationships/notesMaster" Target="/ppt/notesMasters/notesMaster1.xml" Id="Rbe83fcdabe584e3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0bad8581b784927" /><Relationship Type="http://schemas.openxmlformats.org/officeDocument/2006/relationships/notesMaster" Target="/ppt/notesMasters/notesMaster1.xml" Id="R8a4298e612124cb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3366baead804427" /><Relationship Type="http://schemas.openxmlformats.org/officeDocument/2006/relationships/notesMaster" Target="/ppt/notesMasters/notesMaster1.xml" Id="Rcdfb1bdd14ae4f9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5b7f13bc4114479" /><Relationship Type="http://schemas.openxmlformats.org/officeDocument/2006/relationships/notesMaster" Target="/ppt/notesMasters/notesMaster1.xml" Id="R95ebe2a102954d9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3925f01dfca4d19" /><Relationship Type="http://schemas.openxmlformats.org/officeDocument/2006/relationships/notesMaster" Target="/ppt/notesMasters/notesMaster1.xml" Id="Re773f0a252df459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e0d9d9c3fc044c6" /><Relationship Type="http://schemas.openxmlformats.org/officeDocument/2006/relationships/notesMaster" Target="/ppt/notesMasters/notesMaster1.xml" Id="R74f858882089461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f82b5cc471b4e4f" /><Relationship Type="http://schemas.openxmlformats.org/officeDocument/2006/relationships/notesMaster" Target="/ppt/notesMasters/notesMaster1.xml" Id="Rfcf4ea8e2e90419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cc623999bff48fb" /><Relationship Type="http://schemas.openxmlformats.org/officeDocument/2006/relationships/notesMaster" Target="/ppt/notesMasters/notesMaster1.xml" Id="Rda350c6aad2c41d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d687b3f38aa4870" /><Relationship Type="http://schemas.openxmlformats.org/officeDocument/2006/relationships/notesMaster" Target="/ppt/notesMasters/notesMaster1.xml" Id="Rbf4c23172ef9425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a285ba5abdc459c" /><Relationship Type="http://schemas.openxmlformats.org/officeDocument/2006/relationships/notesMaster" Target="/ppt/notesMasters/notesMaster1.xml" Id="Rb184245558894cf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415ba90d70f4326" /><Relationship Type="http://schemas.openxmlformats.org/officeDocument/2006/relationships/notesMaster" Target="/ppt/notesMasters/notesMaster1.xml" Id="R805f023ed4604c8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32a67d095314d9e" /><Relationship Type="http://schemas.openxmlformats.org/officeDocument/2006/relationships/notesMaster" Target="/ppt/notesMasters/notesMaster1.xml" Id="R9a95a30a69e4468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4b6559f0a6244d7" /><Relationship Type="http://schemas.openxmlformats.org/officeDocument/2006/relationships/notesMaster" Target="/ppt/notesMasters/notesMaster1.xml" Id="R8db1994ddaf44f1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5d1a15f5b6940ec" /><Relationship Type="http://schemas.openxmlformats.org/officeDocument/2006/relationships/notesMaster" Target="/ppt/notesMasters/notesMaster1.xml" Id="Rbcc0e52808bc46f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a4e05c3c6d94dde" /><Relationship Type="http://schemas.openxmlformats.org/officeDocument/2006/relationships/notesMaster" Target="/ppt/notesMasters/notesMaster1.xml" Id="Ra59febcf654b44e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27d83a3039443a0" /><Relationship Type="http://schemas.openxmlformats.org/officeDocument/2006/relationships/notesMaster" Target="/ppt/notesMasters/notesMaster1.xml" Id="R5a01626df9794e1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2a86250f2ea4e58" /><Relationship Type="http://schemas.openxmlformats.org/officeDocument/2006/relationships/notesMaster" Target="/ppt/notesMasters/notesMaster1.xml" Id="Ra6ecff4a7ab74c8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93864fc9e054832" /><Relationship Type="http://schemas.openxmlformats.org/officeDocument/2006/relationships/notesMaster" Target="/ppt/notesMasters/notesMaster1.xml" Id="R9226b32208c44d2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2210162922643d5" /><Relationship Type="http://schemas.openxmlformats.org/officeDocument/2006/relationships/notesMaster" Target="/ppt/notesMasters/notesMaster1.xml" Id="R0f76f8601da14c7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e164ecbe9b24696" /><Relationship Type="http://schemas.openxmlformats.org/officeDocument/2006/relationships/notesMaster" Target="/ppt/notesMasters/notesMaster1.xml" Id="R882b29722eea4be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1746e36ad424ec8" /><Relationship Type="http://schemas.openxmlformats.org/officeDocument/2006/relationships/notesMaster" Target="/ppt/notesMasters/notesMaster1.xml" Id="R089d86ec1641483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74891e1ae304b51" /><Relationship Type="http://schemas.openxmlformats.org/officeDocument/2006/relationships/notesMaster" Target="/ppt/notesMasters/notesMaster1.xml" Id="Rccd974b45f98405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73b5c6a7f2a4281" /><Relationship Type="http://schemas.openxmlformats.org/officeDocument/2006/relationships/notesMaster" Target="/ppt/notesMasters/notesMaster1.xml" Id="R91c741c2a34748d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9817a597fe74ace" /><Relationship Type="http://schemas.openxmlformats.org/officeDocument/2006/relationships/notesMaster" Target="/ppt/notesMasters/notesMaster1.xml" Id="R65a72742e64343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Planning and presentation only. No future product functionality or acceptance test is claimed complete. Baseline df46e94570fadf78ef67a75a692dd48b968a10f7, Agentmux 0.32.0. All rearchitecture work belongs on feat/agentmux-platform-rearchitecture. Ryan reviews with Nick and explicitly authorizes merge.</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Accepted direction: a plugin foundation, protected minimal kernel, all internal component communication through NATS, and NATS as preferred shared persistence with optional rebuildable SQL views. Native Windows runtime, hosted service, runtime language, SDK languages and dashboard command scope have not been committed. Detailed stream design, versions, durability and recovery profiles require qualification.</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C:/Users/RyanHelms/.codex/visualizations/2026/10/09/01a11e6d-8b51-7ec1-962b-bac33576c294/agentmux-product-architecture-working-brief.md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baseline. Multiple local stores and transport paths coexist. NATS federation is present, but local component communication is not universally NATS. Current federation uses direct broker clients and in-process Python extensions.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C:/Users/RyanHelms/.codex/visualizations/2026/10/09/01a11e6d-8b51-7ec1-962b-bac33576c294/implementation-baseline-review.md</a:t>
            </a:r>
          </a:p>
          <a:p xmlns:a="http://schemas.openxmlformats.org/drawingml/2006/main">
            <a:r>
              <a:t>C:/Users/RyanHelms/GitHub/agentmux/agentmux.sh</a:t>
            </a:r>
          </a:p>
          <a:p xmlns:a="http://schemas.openxmlformats.org/drawingml/2006/main">
            <a:r>
              <a:t>C:/Users/RyanHelms/GitHub/agentmux/hub/server.py</a:t>
            </a:r>
          </a:p>
          <a:p xmlns:a="http://schemas.openxmlformats.org/drawingml/2006/main">
            <a:r>
              <a:t>C:/Users/RyanHelms/GitHub/agentmux/hub/fed/runtime.py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Approved NATS persistence direction within the proposed product architecture. Ordinary domain plugins own their validated state changes and scoped write contracts. NATS and the operating system are bootstrap infrastructure. JetStream stores authoritative domain change records, KV serves explicitly authoritative configuration/registry plus derived summaries and TTL presence, and Object Store holds immutable-by-policy artifacts where suitable. Optional SQL is a rebuildable read model or cache. No unrestricted direct-storage consumers and no surrounding plugin write into the protected kernel. External tools remain owner implementation details, AG-UI terminates at the interface plugin.</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https://docs.nats.io/learn/key-value/history-and-revisions</a:t>
            </a:r>
          </a:p>
          <a:p xmlns:a="http://schemas.openxmlformats.org/drawingml/2006/main">
            <a:r>
              <a:t>https://docs.nats.io/learn/object-store/</a:t>
            </a:r>
          </a:p>
          <a:p xmlns:a="http://schemas.openxmlformats.org/drawingml/2006/main">
            <a:r>
              <a:t>https://docs.ag-ui.com/introduction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Accepted minimal kernel: boot, lifecycle of protected plugins, internal communication and status publication. Outside plugins have only permitted subscriptions to published kernel information. No general inbound kernel write interface is approved. Surrounding supervisor owns ordinary plugin lifecycle. Deterministic boot does not depend on an LLM, Jev or identity-provider availability.</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C:/Users/RyanHelms/.codex/visualizations/2026/10/09/01a11e6d-8b51-7ec1-962b-bac33576c294/agentmux-product-architecture-working-brief.md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Package relationship, runtime instance ownership and placement are separate declarations. PluginContext carries stable package/instance identity and scoped services. OperationContext carries validated caller/project/task/attempt/grant and deadline. Children inherit allowed defaults, not unlimited authority or a raw service container. Initial trusted native plugins are not hostile-code confinement.</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Approved NATS-first persistence direction. Ordinary domain owners define command validation and state transition rules. JetStream history has its own retention policy, separate from workqueue delivery. KV authoritative config/registry must be distinguished from derived summaries and TTL presence. Object Store does not inherently promise immutable version history; Agentmux must enforce immutable identifiers, digests and access. Core timeout or lost persistence reply may leave an unknown outcome, requiring owner reconciliation. Leaf links do not provide automatic offline persistence or replica freshness.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https://docs.nats.io/learn/jetstream/advanced-publishing</a:t>
            </a:r>
          </a:p>
          <a:p xmlns:a="http://schemas.openxmlformats.org/drawingml/2006/main">
            <a:r>
              <a:t>https://nats.io/blog/nats-server-2.12-release/</a:t>
            </a:r>
          </a:p>
          <a:p xmlns:a="http://schemas.openxmlformats.org/drawingml/2006/main">
            <a:r>
              <a:t>https://docs.nats.io/learn/key-value/history-and-revisions</a:t>
            </a:r>
          </a:p>
          <a:p xmlns:a="http://schemas.openxmlformats.org/drawingml/2006/main">
            <a:r>
              <a:t>https://docs.nats.io/learn/object-store/</a:t>
            </a:r>
          </a:p>
          <a:p xmlns:a="http://schemas.openxmlformats.org/drawingml/2006/main">
            <a:r>
              <a:t>https://docs.nats.io/learn/jetstream/retention-policies</a:t>
            </a:r>
          </a:p>
          <a:p xmlns:a="http://schemas.openxmlformats.org/drawingml/2006/main">
            <a:r>
              <a:t>https://docs.nats.io/learn/topologies/leaf-nodes</a:t>
            </a:r>
          </a:p>
          <a:p xmlns:a="http://schemas.openxmlformats.org/drawingml/2006/main">
            <a:r>
              <a:t>https://docs.nats.io/learn/jetstream/publishing</a:t>
            </a:r>
          </a:p>
          <a:p xmlns:a="http://schemas.openxmlformats.org/drawingml/2006/main">
            <a:r>
              <a:t>https://docs.nats.io/learn/jetstream/mirrors-and-sources</a:t>
            </a:r>
          </a:p>
          <a:p xmlns:a="http://schemas.openxmlformats.org/drawingml/2006/main">
            <a:r>
              <a:t>https://docs.nats.io/learn/jetstream/get-direct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Approved data-placement direction, implementation remains paused. JetStream is the preferred shared persistence for validated domain change records. KV can be authoritative for configuration/registry if its scoped owner specifies revision/CAS, history and durability behavior; task summaries and presence are derived. TTL is freshness information, not execution or reassignment authority. Object Store stores artifact payloads when suitable, while immutable identifiers/digest checks and access are Agentmux policies because the store API supports mutable objects and deletion. SQL indexes and caches are optional projections rebuildable from retained authoritative evidence, not an independent state writer. A projection can only rebuild within the retained history/snapshot recovery contract.</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https://docs.nats.io/learn/key-value/history-and-revisions</a:t>
            </a:r>
          </a:p>
          <a:p xmlns:a="http://schemas.openxmlformats.org/drawingml/2006/main">
            <a:r>
              <a:t>https://docs.nats.io/learn/object-store/</a:t>
            </a:r>
          </a:p>
          <a:p xmlns:a="http://schemas.openxmlformats.org/drawingml/2006/main">
            <a:r>
              <a:t>https://docs.nats.io/learn/jetstream/retention-policies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Approved persistence direction, detailed implementation remains proposed. Commands enter via scoped NATS owner contracts with durable operation identity, canonical payload hash and expected record version. The ordinary domain owner checks caller, current authority, grant and a conditional write before granting execution. Reusing an identity with a different payload is a conflict. Prefer one complete transition record including provenance and recoverable effect intent. Atomic batch publish was introduced in NATS Server 2.12: within one stream messages are staged and all consistency checks must pass before the batch commits. Pin and prove server/SDK behavior, stream configuration, limits, retries and crash boundaries. Fast-ingest batching is distinct and cannot substitute for atomic batching. This is not a transaction across streams, KV buckets, hubs, object uploads, read-model updates or external tools. Lost commit acknowledgement is an unknown outcome reconciled by the same operation identity and owner state before retrying effects. Persist duplicate outcomes and unresolved reservations beyond the agreed reconnect/restore horizon and broker deduplication window. History replay only rebuilds views and cannot replay external actions. Read models carry revision/freshness and cannot authorize execution. Commit and consumer acknowledgement are separate from domain acceptance.</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https://docs.nats.io/learn/jetstream/advanced-publishing</a:t>
            </a:r>
          </a:p>
          <a:p xmlns:a="http://schemas.openxmlformats.org/drawingml/2006/main">
            <a:r>
              <a:t>https://nats.io/blog/nats-server-2.12-release/</a:t>
            </a:r>
          </a:p>
          <a:p xmlns:a="http://schemas.openxmlformats.org/drawingml/2006/main">
            <a:r>
              <a:t>https://docs.nats.io/learn/jetstream/publishing</a:t>
            </a:r>
          </a:p>
          <a:p xmlns:a="http://schemas.openxmlformats.org/drawingml/2006/main">
            <a:r>
              <a:t>https://docs.nats.io/learn/key-value/history-and-revisions</a:t>
            </a:r>
          </a:p>
          <a:p xmlns:a="http://schemas.openxmlformats.org/drawingml/2006/main">
            <a:r>
              <a:t>https://docs.nats.io/learn/jetstream/get-direct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offline-capable hub needs its own independently persistent JetStream domain, explicit subject access and deliberate mirror/source or application reconciliation contracts. A leaf link alone is not a storage replication or freshness guarantee. Origin owns task acceptance and receiver owns execution. An accepted or acceptance-unknown reservation remains reserved across disconnect; no blind timeout redispatch. Receiver may continue within its grant and reconcile the same delegation on reconnect. Expiry blocks new effects but preserves authenticated historical evidence. Domain history must survive separate workqueue acknowledgement/removal rules. Snapshot manifests bind schema versions, record/artifact identities and stream cursors. Missing ranges, invalid digests and corrupt checkpoints cause explicit repair/readiness failure, never an apparently empty project. Recovery tests include lost commit ack, stale read models, retention gaps, quorum/disk failure, backup restore, object digest verification and SQL/KV projection rebuild. Mirrors and backups require a pinned-version operational test profile and do not establish global multi-writer task authority. No shared transaction is promised between domains or external tool effects.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https://docs.nats.io/learn/topologies/leaf-nodes</a:t>
            </a:r>
          </a:p>
          <a:p xmlns:a="http://schemas.openxmlformats.org/drawingml/2006/main">
            <a:r>
              <a:t>https://docs.nats.io/learn/jetstream/retention-policies</a:t>
            </a:r>
          </a:p>
          <a:p xmlns:a="http://schemas.openxmlformats.org/drawingml/2006/main">
            <a:r>
              <a:t>https://docs.nats.io/learn/jetstream/publishing</a:t>
            </a:r>
          </a:p>
          <a:p xmlns:a="http://schemas.openxmlformats.org/drawingml/2006/main">
            <a:r>
              <a:t>https://docs.nats.io/learn/jetstream/mirrors-and-sources</a:t>
            </a:r>
          </a:p>
          <a:p xmlns:a="http://schemas.openxmlformats.org/drawingml/2006/main">
            <a:r>
              <a:t>https://docs.nats.io/learn/jetstream/get-direct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workflow is a summary of existing separate harness/task/run steps. After is the proposed complete reference workflow. Existing external client sessions and Agentmux-owned workers are different resources. Publishing and merging require explicit authority.</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C:/Users/RyanHelms/.codex/visualizations/2026/10/09/01a11e6d-8b51-7ec1-962b-bac33576c294/implementation-baseline-review.md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identity/workspace model. Isolation must apply to reads, subscriptions, artifact access, secret resolution and commands. Worktree isolation separates Git state but does not by itself provide process security. Shared work requires explicit coordination and ownership.</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 owns task and final result acceptance. Receiver owns delegated execution. The proposed launch includes independently administered organizations. A scoped NATS link permits only explicitly exported services/data. Transitive connectivity provides no implicit access. Local and team persistence/failure behavior must be tested.</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a:p xmlns:a="http://schemas.openxmlformats.org/drawingml/2006/main">
            <a:r>
              <a:t>https://docs.nats.io/learn/topologies/leafnodes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automatic timeout edge from accepted or acceptance-unknown delegation to execution on another hub. Lost acceptance reply can hide a successful acceptance. Receiver may continue within its offline grant. Reassignment is explicit, records prior attempt and cannot guarantee reversal of external effects. Revocation cannot instantly stop an isolated machine.</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two-layer enforcement. Broker permissions limit message/API reach. Authoritative service validates actor, operation scope, policy, task version, approval and state. NATS possession or an agent claim alone cannot grant domain authority. Trusted plugins initially can still abuse OS privileges, so scope claims must match that trust assumption.</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existing dashboard has ten views and active operator controls. Migrate in slices to AG-UI/CopilotKit and Atomic Design; preserve terminal streams, preferences, editor conflict checks and domain integrations. A new UI stack does not approve feature removal. Test existing and candidate views against the same fixtures and actual supported browser environments.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C:/Users/RyanHelms/GitHub/agentmux/docs/planning/2026-10-09/component-preservation.md</a:t>
            </a:r>
          </a:p>
          <a:p xmlns:a="http://schemas.openxmlformats.org/drawingml/2006/main">
            <a:r>
              <a:t>C:/Users/RyanHelms/GitHub/agentmux/docs/planning/2026-10-09/component-inventory.json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optional semantic service. Exact eligibility and data export checks occur before hosted inference. Jev supports bounded decisions; it is not used to generate arbitrary summaries or code. Policies revalidate current state and grants before any command. Abstention, unavailable provider, invalid output, stale source and uncertain billing remain explicit. Boot and ordinary orchestration work without Jev.</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a:p xmlns:a="http://schemas.openxmlformats.org/drawingml/2006/main">
            <a:r>
              <a:t>C:/Users/RyanHelms/.codex/visualizations/2026/10/09/01a11e6d-8b51-7ec1-962b-bac33576c294/agentmux-jev-integration-report.md</a:t>
            </a:r>
          </a:p>
          <a:p xmlns:a="http://schemas.openxmlformats.org/drawingml/2006/main">
            <a:r>
              <a:t>https://docs.typesafe.ai/introduction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measured Agentmux product savings are claimed. Earlier offline scenario math uses illustrative LLM prices/volumes and shows a cache-loss counterexample. P08 proposes independent comparisons of baseline, Jev tools and tools+skills, with final untouched cases. Proposed default-activation target is &gt;=10% lower total cost per accepted outcome and &lt;=2 percentage-point accepted-outcome degradation, with uncertainty reported. These values need approval and adequate sample sizes. Classifier thresholds are definition/risk-specific. Pilot productivity comparisons use matched baseline tasks and report time to first accepted change, engineer active minutes, elapsed time, review iterations, reopened work, escaped defects, recovery effort and cost per accepted outcome, with sample size and task mix.</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C:/Users/RyanHelms/.codex/visualizations/2026/10/09/01a11e6d-8b51-7ec1-962b-bac33576c294/jev-efficiency-scenarios.mjs</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skill-suite proposal contains 13 general, 10 Agentmux-specific and 3 industrial skill proposals, totaling 26. Names, triggers and defaults remain for discussion and evaluation. They are not 26 installed skills. General skills are useful independently of Agentmux; Agentmux skills bind to authorized hub contracts; domain skills ship in industrial packages. CLI/MCP runtime portability does not imply identical hooks, compaction or event capture on each host.</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C:/Users/RyanHelms/.codex/visualizations/2026/10/09/01a11e6d-8b51-7ec1-962b-bac33576c294/jev-plugin-skill-suite-proposal.md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Industrial controls is an optional domain layer, not a specialization of the general kernel. Preserve current operational modules and explicitly select supported vendor/tool/host versions. CODESYS, Siemens and Rockwell are vendor families to scope, not claims of complete current automation. Simulated transport tests do not qualify device writes. Unknown external outcome prevents blind retries.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C:/Users/RyanHelms/.codex/visualizations/2026/10/09/01a11e6d-8b51-7ec1-962b-bac33576c294/implementation-baseline-review.md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cutover: inventory source state and semantics, versioned export/import, read-only comparisons, writer cutover, recovery proof then explicit retirement. Preserve stable IDs and evidence, pending messages, dirty worktrees and unmerged branches. Never replay historical completed commands or assume external side effects reverse with local rollback.</a:t>
            </a:r>
          </a:p>
          <a:p xmlns:a="http://schemas.openxmlformats.org/drawingml/2006/main">
            <a:r>
              <a:t>Approved persistence direction: migrate each domain to one authoritative NATS-backed writer. Preserve historical IDs, versions, approvals, reservations and evidence, then rebuild derived KV/SQL views. Test catch-up and rollback against the frozen snapshot and active-work ownership. Never permit uncontrolled dual writers.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C:/Users/RyanHelms/.codex/visualizations/2026/10/09/01a11e6d-8b51-7ec1-962b-bac33576c294/implementation-baseline-review.md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file inventory records exact baseline Git blob identities, current additional instruction ownership, and component IDs. It does not inventory ignored secrets or external installations and is not a vendor line-by-line security audit. P00/P01 must close behavior and environment gaps. The source surface index provides mechanically extracted declarations and HTTP path literals for maintainer review.</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C:/Users/RyanHelms/GitHub/agentmux/docs/planning/2026-10-09/component-preservation.md</a:t>
            </a:r>
          </a:p>
          <a:p xmlns:a="http://schemas.openxmlformats.org/drawingml/2006/main">
            <a:r>
              <a:t>C:/Users/RyanHelms/GitHub/agentmux/docs/planning/2026-10-09/component-inventory.json</a:t>
            </a:r>
          </a:p>
          <a:p xmlns:a="http://schemas.openxmlformats.org/drawingml/2006/main">
            <a:r>
              <a:t>C:/Users/RyanHelms/GitHub/agentmux/docs/planning/2026-10-09/source-surface-index.json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existing capability is retired by this planning revision. Replacing code requires justified alternatives, preservation tests, data/contract migration and recovery evidence. Correct known defects through explicit intended-behavior changes and regression tests. Keep original evidence and approved pattern history.</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C:/Users/RyanHelms/GitHub/agentmux/docs/planning/2026-10-09/component-preservation.md</a:t>
            </a:r>
          </a:p>
          <a:p xmlns:a="http://schemas.openxmlformats.org/drawingml/2006/main">
            <a:r>
              <a:t>C:/Users/RyanHelms/GitHub/agentmux/docs/planning/2026-10-09/component-inventory.json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gains are proposed implementation outcomes, not completed product features. Current behavior is detailed in each component record. Existing knowledge FTS/capture/notifications, terminal safeguards, credential handling, controller actions and test isolation are among the smaller behaviors now explicitly covered. Existing unsupported environments remain explicit; any new support claim requires qualification.</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C:/Users/RyanHelms/GitHub/agentmux/docs/planning/2026-10-09/component-preservation.md</a:t>
            </a:r>
          </a:p>
          <a:p xmlns:a="http://schemas.openxmlformats.org/drawingml/2006/main">
            <a:r>
              <a:t>C:/Users/RyanHelms/GitHub/agentmux/docs/planning/2026-10-09/component-inventory.json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phase record: inventory revision; changed source and entry points; affected component IDs; retained assertion mappings; baseline and candidate code/environment/command/evidence; intended differences; added capability evidence; migration and recovery results; unresolved gaps; explicit Ryan approval and Nick review for any capability reduction. Isolated old/new comparisons cannot dual-write live records. The coverage validator checks completeness of records and references, not runtime correctness.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C:/Users/RyanHelms/GitHub/agentmux/docs/planning/2026-10-09/component-preservation.md</a:t>
            </a:r>
          </a:p>
          <a:p xmlns:a="http://schemas.openxmlformats.org/drawingml/2006/main">
            <a:r>
              <a:t>C:/Users/RyanHelms/GitHub/agentmux/docs/planning/2026-10-09/component-inventory.json</a:t>
            </a:r>
          </a:p>
          <a:p xmlns:a="http://schemas.openxmlformats.org/drawingml/2006/main">
            <a:r>
              <a:t>C:/Users/RyanHelms/GitHub/agentmux/docs/planning/2026-10-09/gate-record.template.json</a:t>
            </a:r>
          </a:p>
          <a:p xmlns:a="http://schemas.openxmlformats.org/drawingml/2006/main">
            <a:r>
              <a:t>C:/Users/RyanHelms/GitHub/agentmux/docs/planning/2026-10-09/verify-component-coverage.py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gate record includes phase/revision, commit, dependency/config/schema versions, criterion IDs, environment/dataset, commands/exit codes, artifacts, fault tests, limitations, rollback rehearsal, independent reviewer and authorized advancement. Each phase depends on accepted predecessor. Skips and mock-only substitutes are gaps. Material changes invalidate affected evidence. Waivers cannot change accepted authority/security/kernel/reservation/merge invariants.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P00-P12 is the proposed first-release sequence, including initial-release cross-organization federation. P13 preserves remaining evaluated Jev/skill proposals, and P14 qualifies sandboxing later. This release split is proposed, not an approved scope reduction. All phases promote sequentially. Independent preparation may overlap only within approved contracts. Relative sizes are not dates.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No runtime comparison or acceptance criterion is claimed passed. ADD-01 applies to all affected callers and components, including those owned by another phase. Implementation remains paused.</a:t>
            </a:r>
          </a:p>
          <a:p xmlns:a="http://schemas.openxmlformats.org/drawingml/2006/main">
            <a:r>
              <a:t/>
            </a:r>
          </a:p>
          <a:p xmlns:a="http://schemas.openxmlformats.org/drawingml/2006/main">
            <a:r>
              <a:t>P00: Scope, baseline, and architecture decisions</a:t>
            </a:r>
          </a:p>
          <a:p xmlns:a="http://schemas.openxmlformats.org/drawingml/2006/main">
            <a:r>
              <a:t>Outcome: An approved implementation contract with no unresolved decision hidden in code.</a:t>
            </a:r>
          </a:p>
          <a:p xmlns:a="http://schemas.openxmlformats.org/drawingml/2006/main">
            <a:r>
              <a:t/>
            </a:r>
          </a:p>
          <a:p xmlns:a="http://schemas.openxmlformats.org/drawingml/2006/main">
            <a:r>
              <a:t>Work</a:t>
            </a:r>
          </a:p>
          <a:p xmlns:a="http://schemas.openxmlformats.org/drawingml/2006/main">
            <a:r>
              <a:t>Freeze df46e94570fadf78ef67a75a692dd48b968a10f7 as the behavioral comparison baseline and inventory every CLI verb, dashboard view, protocol, state store, integration, and evaluation.</a:t>
            </a:r>
          </a:p>
          <a:p xmlns:a="http://schemas.openxmlformats.org/drawingml/2006/main">
            <a:r>
              <a:t>Resolve launch workflow, dashboard controls, language/runtime and initial SDKs, storage topology, NATS account/domain layout, supported OS/tool versions, initial scale, identity enrollment, and provider/data policy.</a:t>
            </a:r>
          </a:p>
          <a:p xmlns:a="http://schemas.openxmlformats.org/drawingml/2006/main">
            <a:r>
              <a:t>Reproduce or explicitly scope the previously reported federation correctness defects. Turn each into a regression case owned by the replacing phase.</a:t>
            </a:r>
          </a:p>
          <a:p xmlns:a="http://schemas.openxmlformats.org/drawingml/2006/main">
            <a:r>
              <a:t>Approve versioned state machines, authority boundaries, plugin manifest/context schemas, migration ownership, and the requirement-to-phase matrix.</a:t>
            </a:r>
          </a:p>
          <a:p xmlns:a="http://schemas.openxmlformats.org/drawingml/2006/main">
            <a:r>
              <a:t>Record approved storage direction STATE-01. Select JetStream authority boundaries, retention/checkpoint policy, replication/sync profiles, broker/API access scopes and supported SDK versions. Keep any proposed authoritative SQL exception visible for review.</a:t>
            </a:r>
          </a:p>
          <a:p xmlns:a="http://schemas.openxmlformats.org/drawingml/2006/main">
            <a:r>
              <a:t>Apply ADD-01 and the component preservation matrix to every changed source file and affected caller. Record reuse, intentional behavior changes, migration needs and the specific added functionality before editing implementation.</a:t>
            </a:r>
          </a:p>
          <a:p xmlns:a="http://schemas.openxmlformats.org/drawingml/2006/main">
            <a:r>
              <a:t/>
            </a:r>
          </a:p>
          <a:p xmlns:a="http://schemas.openxmlformats.org/drawingml/2006/main">
            <a:r>
              <a:t>Acceptance criteria</a:t>
            </a:r>
          </a:p>
          <a:p xmlns:a="http://schemas.openxmlformats.org/drawingml/2006/main">
            <a:r>
              <a:t>P00-AC01: Every accepted user decision and all existing functional groups have a named owner phase and verification scenario.</a:t>
            </a:r>
          </a:p>
          <a:p xmlns:a="http://schemas.openxmlformats.org/drawingml/2006/main">
            <a:r>
              <a:t>P00-AC02: Ryan and Nick review the plan and decision log. Ryan explicitly authorizes implementation before P01 starts.</a:t>
            </a:r>
          </a:p>
          <a:p xmlns:a="http://schemas.openxmlformats.org/drawingml/2006/main">
            <a:r>
              <a:t>P00-AC03: All P01–P04 blocking choices have recorded alternatives, rationale, and consequences. Later choices have a deadline before their owning phase.</a:t>
            </a:r>
          </a:p>
          <a:p xmlns:a="http://schemas.openxmlformats.org/drawingml/2006/main">
            <a:r>
              <a:t>P00-AC04: Baseline checks identify passes, failures, missing environments, and historic-only claims separately.</a:t>
            </a:r>
          </a:p>
          <a:p xmlns:a="http://schemas.openxmlformats.org/drawingml/2006/main">
            <a:r>
              <a:t>P00-AC05: The complete source inventory, component reuse decisions and behavior checks are reviewed. Every baseline file and additional governed source file has an owner; unmapped entry points or uncertain behavior are recorded as blocking gaps. No retirement is implied by a launch-scope choice.</a:t>
            </a:r>
          </a:p>
          <a:p xmlns:a="http://schemas.openxmlformats.org/drawingml/2006/main">
            <a:r>
              <a:t/>
            </a:r>
          </a:p>
          <a:p xmlns:a="http://schemas.openxmlformats.org/drawingml/2006/main">
            <a:r>
              <a:t>Verification</a:t>
            </a:r>
          </a:p>
          <a:p xmlns:a="http://schemas.openxmlformats.org/drawingml/2006/main">
            <a:r>
              <a:t>Review the traceability matrix and inspect contracts together.</a:t>
            </a:r>
          </a:p>
          <a:p xmlns:a="http://schemas.openxmlformats.org/drawingml/2006/main">
            <a:r>
              <a:t>Run existing relevant suites on supported environments and reproduce the four reported crash/dispatch defects with isolated fixtures.</a:t>
            </a:r>
          </a:p>
          <a:p xmlns:a="http://schemas.openxmlformats.org/drawingml/2006/main">
            <a:r>
              <a:t>Record the exact commit, tools, fixtures, and results. Review missing environments as gaps, not passes.</a:t>
            </a:r>
          </a:p>
          <a:p xmlns:a="http://schemas.openxmlformats.org/drawingml/2006/main">
            <a:r>
              <a:t>Run the component coverage validator, review newly added or changed entry points, and attach the owning component checks to the phase gate. Compare existing and candidate behavior in isolated environments; do not run old and new writers against the same live records.</a:t>
            </a:r>
          </a:p>
          <a:p xmlns:a="http://schemas.openxmlformats.org/drawingml/2006/main">
            <a:r>
              <a:t/>
            </a:r>
          </a:p>
          <a:p xmlns:a="http://schemas.openxmlformats.org/drawingml/2006/main">
            <a:r>
              <a:t>Evidence</a:t>
            </a:r>
          </a:p>
          <a:p xmlns:a="http://schemas.openxmlformats.org/drawingml/2006/main">
            <a:r>
              <a:t>Approved plan revision and decision log</a:t>
            </a:r>
          </a:p>
          <a:p xmlns:a="http://schemas.openxmlformats.org/drawingml/2006/main">
            <a:r>
              <a:t>Baseline behavior inventory and defect fixtures</a:t>
            </a:r>
          </a:p>
          <a:p xmlns:a="http://schemas.openxmlformats.org/drawingml/2006/main">
            <a:r>
              <a:t>Compatibility and capacity profiles</a:t>
            </a:r>
          </a:p>
          <a:p xmlns:a="http://schemas.openxmlformats.org/drawingml/2006/main">
            <a:r>
              <a:t>Component reuse decisions, baseline/candidate results, gain evidence and approved exceptions for ADD-01</a:t>
            </a:r>
          </a:p>
          <a:p xmlns:a="http://schemas.openxmlformats.org/drawingml/2006/main">
            <a:r>
              <a:t>Rollback: Planning only. Preserve current checkout behavior and the existing review history.</a:t>
            </a:r>
          </a:p>
          <a:p xmlns:a="http://schemas.openxmlformats.org/drawingml/2006/main">
            <a:r>
              <a:t/>
            </a:r>
          </a:p>
          <a:p xmlns:a="http://schemas.openxmlformats.org/drawingml/2006/main">
            <a:r>
              <a:t>Owned existing components</a:t>
            </a:r>
          </a:p>
          <a:p xmlns:a="http://schemas.openxmlformats.org/drawingml/2006/main">
            <a:r>
              <a:t>DASH-36: Historical dashboard build specifications; retain-evidence; checks DASH-36-C01, DASH-36-C02</a:t>
            </a:r>
          </a:p>
          <a:p xmlns:a="http://schemas.openxmlformats.org/drawingml/2006/main">
            <a:r>
              <a:t>REPO-01: Repository instructions and writing rules; extend; checks REPO-01-C01</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C:/Users/RyanHelms/GitHub/agentmux/docs/planning/2026-10-09/component-preservation.md</a:t>
            </a:r>
          </a:p>
          <a:p xmlns:a="http://schemas.openxmlformats.org/drawingml/2006/main">
            <a:r>
              <a:t>C:/Users/RyanHelms/GitHub/agentmux/docs/planning/2026-10-09/component-inventory.json</a:t>
            </a:r>
          </a:p>
          <a:p xmlns:a="http://schemas.openxmlformats.org/drawingml/2006/main">
            <a:r>
              <a:t>C:/Users/RyanHelms/GitHub/agentmux/docs/planning/2026-10-09/phases.json</a:t>
            </a:r>
          </a:p>
          <a:p xmlns:a="http://schemas.openxmlformats.org/drawingml/2006/main">
            <a:r>
              <a:t>C:/Users/RyanHelms/GitHub/agentmux/docs/planning/2026-10-09/gate-record.template.json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No runtime comparison or acceptance criterion is claimed passed. ADD-01 applies to all affected callers and components, including those owned by another phase. Implementation remains paused.</a:t>
            </a:r>
          </a:p>
          <a:p xmlns:a="http://schemas.openxmlformats.org/drawingml/2006/main">
            <a:r>
              <a:t/>
            </a:r>
          </a:p>
          <a:p xmlns:a="http://schemas.openxmlformats.org/drawingml/2006/main">
            <a:r>
              <a:t>P01: Executable contracts, baseline repairs, and verification</a:t>
            </a:r>
          </a:p>
          <a:p xmlns:a="http://schemas.openxmlformats.org/drawingml/2006/main">
            <a:r>
              <a:t>Outcome: Contracts and failure scenarios can be tested before business plugins grow.</a:t>
            </a:r>
          </a:p>
          <a:p xmlns:a="http://schemas.openxmlformats.org/drawingml/2006/main">
            <a:r>
              <a:t/>
            </a:r>
          </a:p>
          <a:p xmlns:a="http://schemas.openxmlformats.org/drawingml/2006/main">
            <a:r>
              <a:t>Work</a:t>
            </a:r>
          </a:p>
          <a:p xmlns:a="http://schemas.openxmlformats.org/drawingml/2006/main">
            <a:r>
              <a:t>Publish language-neutral command/event schemas and compatibility rules with organization, project, task, delegation, attempt, operation, schema version, and trace identifiers.</a:t>
            </a:r>
          </a:p>
          <a:p xmlns:a="http://schemas.openxmlformats.org/drawingml/2006/main">
            <a:r>
              <a:t>Create reusable contract fixtures and controllable fake workers/providers plus real NATS integration environments for CI.</a:t>
            </a:r>
          </a:p>
          <a:p xmlns:a="http://schemas.openxmlformats.org/drawingml/2006/main">
            <a:r>
              <a:t>Specify lifecycle, delivery acknowledgment, idempotency, deadline, cancellation, approval, and unavailable/unknown result semantics.</a:t>
            </a:r>
          </a:p>
          <a:p xmlns:a="http://schemas.openxmlformats.org/drawingml/2006/main">
            <a:r>
              <a:t>Establish per-phase evidence records, dependency gates, migration fixtures, and security/quality regression jobs.</a:t>
            </a:r>
          </a:p>
          <a:p xmlns:a="http://schemas.openxmlformats.org/drawingml/2006/main">
            <a:r>
              <a:t>Build an early two-hub contract spike with separate broker accounts and a leaf link. Exercise lost acceptance acknowledgment and reservation reconciliation before the later production federation phase.</a:t>
            </a:r>
          </a:p>
          <a:p xmlns:a="http://schemas.openxmlformats.org/drawingml/2006/main">
            <a:r>
              <a:t>Repair the six known baseline blockers after implementation approval, with focused regressions and truthful governance evidence. This prevents existing violations from blocking every later phase while waiting for the new federation layer.</a:t>
            </a:r>
          </a:p>
          <a:p xmlns:a="http://schemas.openxmlformats.org/drawingml/2006/main">
            <a:r>
              <a:t>Build a bounded NATS persistence spike before production storage code: one owning task record, persistent operation identity, conditional competing writes, complete provenance/effect intent, lost acknowledgments and replay. Exercise single-record commits and any required atomic batch inside one stream.</a:t>
            </a:r>
          </a:p>
          <a:p xmlns:a="http://schemas.openxmlformats.org/drawingml/2006/main">
            <a:r>
              <a:t>Apply ADD-01 and the component preservation matrix to every changed source file and affected caller. Record reuse, intentional behavior changes, migration needs and the specific added functionality before editing implementation.</a:t>
            </a:r>
          </a:p>
          <a:p xmlns:a="http://schemas.openxmlformats.org/drawingml/2006/main">
            <a:r>
              <a:t/>
            </a:r>
          </a:p>
          <a:p xmlns:a="http://schemas.openxmlformats.org/drawingml/2006/main">
            <a:r>
              <a:t>Acceptance criteria</a:t>
            </a:r>
          </a:p>
          <a:p xmlns:a="http://schemas.openxmlformats.org/drawingml/2006/main">
            <a:r>
              <a:t>P01-AC01: Two independently implemented test clients exchange valid requests and reject incompatible or malformed envelopes.</a:t>
            </a:r>
          </a:p>
          <a:p xmlns:a="http://schemas.openxmlformats.org/drawingml/2006/main">
            <a:r>
              <a:t>P01-AC02: Fixtures cover duplicate, delayed, out-of-order, unauthorized, canceled, timed-out, and replayed messages without conflating execution with delivery.</a:t>
            </a:r>
          </a:p>
          <a:p xmlns:a="http://schemas.openxmlformats.org/drawingml/2006/main">
            <a:r>
              <a:t>P01-AC03: A failing predecessor gate prevents promotion. Waivers cannot bypass accepted ownership or security invariants.</a:t>
            </a:r>
          </a:p>
          <a:p xmlns:a="http://schemas.openxmlformats.org/drawingml/2006/main">
            <a:r>
              <a:t>P01-AC04: CI captures exact versions and logs without recording credentials or private model reasoning. Known baseline blockers are repaired or disproved with evidence, and the required repository governance gate passes before P02 progression.</a:t>
            </a:r>
          </a:p>
          <a:p xmlns:a="http://schemas.openxmlformats.org/drawingml/2006/main">
            <a:r>
              <a:t>P01-AC05: Two language clients pass the NATS storage fixtures on pinned server/client versions: competing revisions admit one transition, partial atomic batches leave no partial record set, and lost acknowledgments reconcile the same operation. Unsupported cross-stream or external-effect transactions are rejected or handled by an explicit recovery contract.</a:t>
            </a:r>
          </a:p>
          <a:p xmlns:a="http://schemas.openxmlformats.org/drawingml/2006/main">
            <a:r>
              <a:t>P01-AC06: The existing regression assertions are retained or mapped to equivalent assertions. Characterization fixtures capture each affected behavior before refactoring; a deliberately removed assertion, missing component, or unapproved retirement prevents progression.</a:t>
            </a:r>
          </a:p>
          <a:p xmlns:a="http://schemas.openxmlformats.org/drawingml/2006/main">
            <a:r>
              <a:t/>
            </a:r>
          </a:p>
          <a:p xmlns:a="http://schemas.openxmlformats.org/drawingml/2006/main">
            <a:r>
              <a:t>Verification</a:t>
            </a:r>
          </a:p>
          <a:p xmlns:a="http://schemas.openxmlformats.org/drawingml/2006/main">
            <a:r>
              <a:t>Run schema/contract suites in macOS, Linux, and WSL test jobs.</a:t>
            </a:r>
          </a:p>
          <a:p xmlns:a="http://schemas.openxmlformats.org/drawingml/2006/main">
            <a:r>
              <a:t>Break one contract fixture and one phase gate deliberately and confirm the pipeline refuses promotion.</a:t>
            </a:r>
          </a:p>
          <a:p xmlns:a="http://schemas.openxmlformats.org/drawingml/2006/main">
            <a:r>
              <a:t>Exercise a real broker restart and reconnect in the harness.</a:t>
            </a:r>
          </a:p>
          <a:p xmlns:a="http://schemas.openxmlformats.org/drawingml/2006/main">
            <a:r>
              <a:t>Run FAIL-42, FAIL-43 and FAIL-47 with real JetStream. Record which server/API/SDK capabilities provide each guarantee, including batch behavior and authoritative read freshness.</a:t>
            </a:r>
          </a:p>
          <a:p xmlns:a="http://schemas.openxmlformats.org/drawingml/2006/main">
            <a:r>
              <a:t>Run the component coverage validator, review newly added or changed entry points, and attach the owning component checks to the phase gate. Compare existing and candidate behavior in isolated environments; do not run old and new writers against the same live records.</a:t>
            </a:r>
          </a:p>
          <a:p xmlns:a="http://schemas.openxmlformats.org/drawingml/2006/main">
            <a:r>
              <a:t/>
            </a:r>
          </a:p>
          <a:p xmlns:a="http://schemas.openxmlformats.org/drawingml/2006/main">
            <a:r>
              <a:t>Evidence</a:t>
            </a:r>
          </a:p>
          <a:p xmlns:a="http://schemas.openxmlformats.org/drawingml/2006/main">
            <a:r>
              <a:t>Contract version 1 fixtures</a:t>
            </a:r>
          </a:p>
          <a:p xmlns:a="http://schemas.openxmlformats.org/drawingml/2006/main">
            <a:r>
              <a:t>Failure injection harness</a:t>
            </a:r>
          </a:p>
          <a:p xmlns:a="http://schemas.openxmlformats.org/drawingml/2006/main">
            <a:r>
              <a:t>CI gate and compatibility reports</a:t>
            </a:r>
          </a:p>
          <a:p xmlns:a="http://schemas.openxmlformats.org/drawingml/2006/main">
            <a:r>
              <a:t>NATS storage capability report and transaction-boundary fixtures for STATE-01</a:t>
            </a:r>
          </a:p>
          <a:p xmlns:a="http://schemas.openxmlformats.org/drawingml/2006/main">
            <a:r>
              <a:t>Component reuse decisions, baseline/candidate results, gain evidence and approved exceptions for ADD-01</a:t>
            </a:r>
          </a:p>
          <a:p xmlns:a="http://schemas.openxmlformats.org/drawingml/2006/main">
            <a:r>
              <a:t>Rollback: Keep the new test path isolated from the legacy runtime. If a baseline repair is reverted, reopen its finding and invalidate the affected regression and phase-gate evidence.</a:t>
            </a:r>
          </a:p>
          <a:p xmlns:a="http://schemas.openxmlformats.org/drawingml/2006/main">
            <a:r>
              <a:t/>
            </a:r>
          </a:p>
          <a:p xmlns:a="http://schemas.openxmlformats.org/drawingml/2006/main">
            <a:r>
              <a:t>Owned existing components</a:t>
            </a:r>
          </a:p>
          <a:p xmlns:a="http://schemas.openxmlformats.org/drawingml/2006/main">
            <a:r>
              <a:t>HAR-17: Recovered Bedrock reference artifact; retain-evidence; checks HAR-17-C01, HAR-17-C02</a:t>
            </a:r>
          </a:p>
          <a:p xmlns:a="http://schemas.openxmlformats.org/drawingml/2006/main">
            <a:r>
              <a:t>HAR-18: Small orchestration acceptance workloads and their tests; retain; checks HAR-18-C01, HAR-18-C02</a:t>
            </a:r>
          </a:p>
          <a:p xmlns:a="http://schemas.openxmlformats.org/drawingml/2006/main">
            <a:r>
              <a:t>HAR-19: Historical communication extraction tools; retain-evidence; checks HAR-19-C01, HAR-19-C02</a:t>
            </a:r>
          </a:p>
          <a:p xmlns:a="http://schemas.openxmlformats.org/drawingml/2006/main">
            <a:r>
              <a:t>HAR-20: Communication correlation, spot checks and determinism history; retain-evidence; checks HAR-20-C01, HAR-20-C02</a:t>
            </a:r>
          </a:p>
          <a:p xmlns:a="http://schemas.openxmlformats.org/drawingml/2006/main">
            <a:r>
              <a:t>HAR-21: Recorded orchestration demonstration results; retain-evidence; checks HAR-21-C01, HAR-21-C02</a:t>
            </a:r>
          </a:p>
          <a:p xmlns:a="http://schemas.openxmlformats.org/drawingml/2006/main">
            <a:r>
              <a:t>HAR-22: Historical test-gate isolation evidence; retain-evidence; checks HAR-22-C01, HAR-22-C02</a:t>
            </a:r>
          </a:p>
          <a:p xmlns:a="http://schemas.openxmlformats.org/drawingml/2006/main">
            <a:r>
              <a:t>HUB-01: Protocol names and local addresses; retain; checks HUB-01-C01, HUB-01-C02</a:t>
            </a:r>
          </a:p>
          <a:p xmlns:a="http://schemas.openxmlformats.org/drawingml/2006/main">
            <a:r>
              <a:t>HUB-11: Federation configuration, trust and repository identity; extend; checks HUB-11-C01, HUB-11-C02</a:t>
            </a:r>
          </a:p>
          <a:p xmlns:a="http://schemas.openxmlformats.org/drawingml/2006/main">
            <a:r>
              <a:t>HUB-24: Local live demo, sample repositories and scoring; retain-evidence; checks HUB-24-C01, HUB-24-C02, HUB-24-C03</a:t>
            </a:r>
          </a:p>
          <a:p xmlns:a="http://schemas.openxmlformats.org/drawingml/2006/main">
            <a:r>
              <a:t>HUB-26: Hub regression suites and federation test harness; retain; checks HUB-26-C01, HUB-26-C02, HUB-26-C03</a:t>
            </a:r>
          </a:p>
          <a:p xmlns:a="http://schemas.openxmlformats.org/drawingml/2006/main">
            <a:r>
              <a:t>DASH-29: Isolated dashboard test runner and residue checks; retain; checks DASH-29-C01, DASH-29-C02</a:t>
            </a:r>
          </a:p>
          <a:p xmlns:a="http://schemas.openxmlformats.org/drawingml/2006/main">
            <a:r>
              <a:t>DASH-31: Harness, coordination, lifecycle and plugin regressions located under dashboard; retain-evidence; checks DASH-31-C01, DASH-31-C02</a:t>
            </a:r>
          </a:p>
          <a:p xmlns:a="http://schemas.openxmlformats.org/drawingml/2006/main">
            <a:r>
              <a:t>REPO-02: Design-pattern governance and recorded history; extend; checks REPO-02-C01</a:t>
            </a:r>
          </a:p>
          <a:p xmlns:a="http://schemas.openxmlformats.org/drawingml/2006/main">
            <a:r>
              <a:t>REPO-03: Continuous integration workflows; extend; checks REPO-03-C01</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C:/Users/RyanHelms/GitHub/agentmux/docs/planning/2026-10-09/component-preservation.md</a:t>
            </a:r>
          </a:p>
          <a:p xmlns:a="http://schemas.openxmlformats.org/drawingml/2006/main">
            <a:r>
              <a:t>C:/Users/RyanHelms/GitHub/agentmux/docs/planning/2026-10-09/component-inventory.json</a:t>
            </a:r>
          </a:p>
          <a:p xmlns:a="http://schemas.openxmlformats.org/drawingml/2006/main">
            <a:r>
              <a:t>C:/Users/RyanHelms/GitHub/agentmux/docs/planning/2026-10-09/phases.json</a:t>
            </a:r>
          </a:p>
          <a:p xmlns:a="http://schemas.openxmlformats.org/drawingml/2006/main">
            <a:r>
              <a:t>C:/Users/RyanHelms/GitHub/agentmux/docs/planning/2026-10-09/gate-record.template.json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No runtime comparison or acceptance criterion is claimed passed. ADD-01 applies to all affected callers and components, including those owned by another phase. Implementation remains paused.</a:t>
            </a:r>
          </a:p>
          <a:p xmlns:a="http://schemas.openxmlformats.org/drawingml/2006/main">
            <a:r>
              <a:t/>
            </a:r>
          </a:p>
          <a:p xmlns:a="http://schemas.openxmlformats.org/drawingml/2006/main">
            <a:r>
              <a:t>P02: Protected boot and the NATS foundation</a:t>
            </a:r>
          </a:p>
          <a:p xmlns:a="http://schemas.openxmlformats.org/drawingml/2006/main">
            <a:r>
              <a:t>Outcome: A local installation boots deterministically with protected kernel plugins.</a:t>
            </a:r>
          </a:p>
          <a:p xmlns:a="http://schemas.openxmlformats.org/drawingml/2006/main">
            <a:r>
              <a:t/>
            </a:r>
          </a:p>
          <a:p xmlns:a="http://schemas.openxmlformats.org/drawingml/2006/main">
            <a:r>
              <a:t>Work</a:t>
            </a:r>
          </a:p>
          <a:p xmlns:a="http://schemas.openxmlformats.org/drawingml/2006/main">
            <a:r>
              <a:t>Implement a minimal launcher that establishes the configured NATS substrate and loads the fixed protected boot assembly.</a:t>
            </a:r>
          </a:p>
          <a:p xmlns:a="http://schemas.openxmlformats.org/drawingml/2006/main">
            <a:r>
              <a:t>Implement boot, protected-plugin lifecycle, protected internal communication, and deliberate publication of kernel status.</a:t>
            </a:r>
          </a:p>
          <a:p xmlns:a="http://schemas.openxmlformats.org/drawingml/2006/main">
            <a:r>
              <a:t>Separate protected internal subjects/accounts from exported information and surrounding application services.</a:t>
            </a:r>
          </a:p>
          <a:p xmlns:a="http://schemas.openxmlformats.org/drawingml/2006/main">
            <a:r>
              <a:t>Provide readiness snapshots, bounded startup/shutdown, broker recovery, basic installer/doctor skeleton, and local bootstrap diagnostics.</a:t>
            </a:r>
          </a:p>
          <a:p xmlns:a="http://schemas.openxmlformats.org/drawingml/2006/main">
            <a:r>
              <a:t>Provision the approved local file-backed JetStream profile and team connection profile with explicit storage paths, limits, health and domain settings. Business state ownership stays in surrounding plugins.</a:t>
            </a:r>
          </a:p>
          <a:p xmlns:a="http://schemas.openxmlformats.org/drawingml/2006/main">
            <a:r>
              <a:t>Apply ADD-01 and the component preservation matrix to every changed source file and affected caller. Record reuse, intentional behavior changes, migration needs and the specific added functionality before editing implementation.</a:t>
            </a:r>
          </a:p>
          <a:p xmlns:a="http://schemas.openxmlformats.org/drawingml/2006/main">
            <a:r>
              <a:t/>
            </a:r>
          </a:p>
          <a:p xmlns:a="http://schemas.openxmlformats.org/drawingml/2006/main">
            <a:r>
              <a:t>Acceptance criteria</a:t>
            </a:r>
          </a:p>
          <a:p xmlns:a="http://schemas.openxmlformats.org/drawingml/2006/main">
            <a:r>
              <a:t>P02-AC01: macOS, Linux, and WSL installations boot without an LLM or hosted Jev connection.</a:t>
            </a:r>
          </a:p>
          <a:p xmlns:a="http://schemas.openxmlformats.org/drawingml/2006/main">
            <a:r>
              <a:t>P02-AC02: An outside plugin can subscribe only to permitted kernel information and cannot publish commands or writes into the kernel.</a:t>
            </a:r>
          </a:p>
          <a:p xmlns:a="http://schemas.openxmlformats.org/drawingml/2006/main">
            <a:r>
              <a:t>P02-AC03: Bad configuration, occupied ports, unavailable broker, and failed protected plugin produce actionable bounded failures.</a:t>
            </a:r>
          </a:p>
          <a:p xmlns:a="http://schemas.openxmlformats.org/drawingml/2006/main">
            <a:r>
              <a:t>P02-AC04: Surrounding plugin failure does not corrupt boot state. Ordinary runtime communication uses NATS after bootstrap.</a:t>
            </a:r>
          </a:p>
          <a:p xmlns:a="http://schemas.openxmlformats.org/drawingml/2006/main">
            <a:r>
              <a:t>P02-AC05: The existing launcher, environment selection and failure diagnostics remain available while the new boot path is opt-in. Both paths pass their defined startup and shutdown comparisons without sharing ownership of a live task.</a:t>
            </a:r>
          </a:p>
          <a:p xmlns:a="http://schemas.openxmlformats.org/drawingml/2006/main">
            <a:r>
              <a:t/>
            </a:r>
          </a:p>
          <a:p xmlns:a="http://schemas.openxmlformats.org/drawingml/2006/main">
            <a:r>
              <a:t>Verification</a:t>
            </a:r>
          </a:p>
          <a:p xmlns:a="http://schemas.openxmlformats.org/drawingml/2006/main">
            <a:r>
              <a:t>Capture broker traffic and audit permissions while running normal and unauthorized clients.</a:t>
            </a:r>
          </a:p>
          <a:p xmlns:a="http://schemas.openxmlformats.org/drawingml/2006/main">
            <a:r>
              <a:t>Cold-start and restart each platform. Kill NATS and one protected plugin at controlled points.</a:t>
            </a:r>
          </a:p>
          <a:p xmlns:a="http://schemas.openxmlformats.org/drawingml/2006/main">
            <a:r>
              <a:t>Verify late subscribers receive a consistent readiness snapshot and updates.</a:t>
            </a:r>
          </a:p>
          <a:p xmlns:a="http://schemas.openxmlformats.org/drawingml/2006/main">
            <a:r>
              <a:t>Run the component coverage validator, review newly added or changed entry points, and attach the owning component checks to the phase gate. Compare existing and candidate behavior in isolated environments; do not run old and new writers against the same live records.</a:t>
            </a:r>
          </a:p>
          <a:p xmlns:a="http://schemas.openxmlformats.org/drawingml/2006/main">
            <a:r>
              <a:t/>
            </a:r>
          </a:p>
          <a:p xmlns:a="http://schemas.openxmlformats.org/drawingml/2006/main">
            <a:r>
              <a:t>Evidence</a:t>
            </a:r>
          </a:p>
          <a:p xmlns:a="http://schemas.openxmlformats.org/drawingml/2006/main">
            <a:r>
              <a:t>Boot and shutdown matrix</a:t>
            </a:r>
          </a:p>
          <a:p xmlns:a="http://schemas.openxmlformats.org/drawingml/2006/main">
            <a:r>
              <a:t>Kernel publication contract and permission tests</a:t>
            </a:r>
          </a:p>
          <a:p xmlns:a="http://schemas.openxmlformats.org/drawingml/2006/main">
            <a:r>
              <a:t>Bootstrap recovery guide</a:t>
            </a:r>
          </a:p>
          <a:p xmlns:a="http://schemas.openxmlformats.org/drawingml/2006/main">
            <a:r>
              <a:t>Component reuse decisions, baseline/candidate results, gain evidence and approved exceptions for ADD-01</a:t>
            </a:r>
          </a:p>
          <a:p xmlns:a="http://schemas.openxmlformats.org/drawingml/2006/main">
            <a:r>
              <a:t>Rollback: Disable the new runtime entrypoint and retain the old launcher. No legacy data conversion yet.</a:t>
            </a:r>
          </a:p>
          <a:p xmlns:a="http://schemas.openxmlformats.org/drawingml/2006/main">
            <a:r>
              <a:t/>
            </a:r>
          </a:p>
          <a:p xmlns:a="http://schemas.openxmlformats.org/drawingml/2006/main">
            <a:r>
              <a:t>Owned existing components</a:t>
            </a:r>
          </a:p>
          <a:p xmlns:a="http://schemas.openxmlformats.org/drawingml/2006/main">
            <a:r>
              <a:t>HUB-15: NATS connection, storage layout and administration API; extend; checks HUB-15-C01, HUB-15-C02</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C:/Users/RyanHelms/GitHub/agentmux/docs/planning/2026-10-09/component-preservation.md</a:t>
            </a:r>
          </a:p>
          <a:p xmlns:a="http://schemas.openxmlformats.org/drawingml/2006/main">
            <a:r>
              <a:t>C:/Users/RyanHelms/GitHub/agentmux/docs/planning/2026-10-09/component-inventory.json</a:t>
            </a:r>
          </a:p>
          <a:p xmlns:a="http://schemas.openxmlformats.org/drawingml/2006/main">
            <a:r>
              <a:t>C:/Users/RyanHelms/GitHub/agentmux/docs/planning/2026-10-09/phases.json</a:t>
            </a:r>
          </a:p>
          <a:p xmlns:a="http://schemas.openxmlformats.org/drawingml/2006/main">
            <a:r>
              <a:t>C:/Users/RyanHelms/GitHub/agentmux/docs/planning/2026-10-09/gate-record.template.json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No runtime comparison or acceptance criterion is claimed passed. ADD-01 applies to all affected callers and components, including those owned by another phase. Implementation remains paused.</a:t>
            </a:r>
          </a:p>
          <a:p xmlns:a="http://schemas.openxmlformats.org/drawingml/2006/main">
            <a:r>
              <a:t/>
            </a:r>
          </a:p>
          <a:p xmlns:a="http://schemas.openxmlformats.org/drawingml/2006/main">
            <a:r>
              <a:t>P03: Plugin framework, nested packages, and inherited context</a:t>
            </a:r>
          </a:p>
          <a:p xmlns:a="http://schemas.openxmlformats.org/drawingml/2006/main">
            <a:r>
              <a:t>Outcome: A third-party author can build a compatible trusted plugin without changing the kernel.</a:t>
            </a:r>
          </a:p>
          <a:p xmlns:a="http://schemas.openxmlformats.org/drawingml/2006/main">
            <a:r>
              <a:t/>
            </a:r>
          </a:p>
          <a:p xmlns:a="http://schemas.openxmlformats.org/drawingml/2006/main">
            <a:r>
              <a:t>Work</a:t>
            </a:r>
          </a:p>
          <a:p xmlns:a="http://schemas.openxmlformats.org/drawingml/2006/main">
            <a:r>
              <a:t>Start with hub/fed/plugin.py, runtime context, command registry and the five installed plugins. Extract or wrap proven behavior before writing replacement framework code; document language/security boundaries that require a different implementation.</a:t>
            </a:r>
          </a:p>
          <a:p xmlns:a="http://schemas.openxmlformats.org/drawingml/2006/main">
            <a:r>
              <a:t>Implement manifest validation, dependency/version resolution, lifecycle supervision, package provenance, configuration schemas, and contribution registration.</a:t>
            </a:r>
          </a:p>
          <a:p xmlns:a="http://schemas.openxmlformats.org/drawingml/2006/main">
            <a:r>
              <a:t>Support independently reusable and parent-owned child packages, separately declaring runtime instance ownership and placement.</a:t>
            </a:r>
          </a:p>
          <a:p xmlns:a="http://schemas.openxmlformats.org/drawingml/2006/main">
            <a:r>
              <a:t>Inject PluginContext and per-call OperationContext. Supply identity, scoped logger, tracing/metrics, config, lifecycle, clock, and approved NATS service clients.</a:t>
            </a:r>
          </a:p>
          <a:p xmlns:a="http://schemas.openxmlformats.org/drawingml/2006/main">
            <a:r>
              <a:t>Add declared storage, artifacts, secrets, workspace, process, policy, and decision handles without sharing raw service implementations or an unrestricted container.</a:t>
            </a:r>
          </a:p>
          <a:p xmlns:a="http://schemas.openxmlformats.org/drawingml/2006/main">
            <a:r>
              <a:t>Build starter SDKs and conformance tooling in at least two selected languages. Provide install/upgrade/disable/uninstall and drain behavior.</a:t>
            </a:r>
          </a:p>
          <a:p xmlns:a="http://schemas.openxmlformats.org/drawingml/2006/main">
            <a:r>
              <a:t>Apply ADD-01 and the component preservation matrix to every changed source file and affected caller. Record reuse, intentional behavior changes, migration needs and the specific added functionality before editing implementation.</a:t>
            </a:r>
          </a:p>
          <a:p xmlns:a="http://schemas.openxmlformats.org/drawingml/2006/main">
            <a:r>
              <a:t/>
            </a:r>
          </a:p>
          <a:p xmlns:a="http://schemas.openxmlformats.org/drawingml/2006/main">
            <a:r>
              <a:t>Acceptance criteria</a:t>
            </a:r>
          </a:p>
          <a:p xmlns:a="http://schemas.openxmlformats.org/drawingml/2006/main">
            <a:r>
              <a:t>P03-AC01: Both child package modes install and activate correctly. Removing one parent retains independent children used elsewhere.</a:t>
            </a:r>
          </a:p>
          <a:p xmlns:a="http://schemas.openxmlformats.org/drawingml/2006/main">
            <a:r>
              <a:t>P03-AC02: Two concurrent users cannot overwrite an ambient current-user/current-project value. A child cannot widen its grant or forge logger identity.</a:t>
            </a:r>
          </a:p>
          <a:p xmlns:a="http://schemas.openxmlformats.org/drawingml/2006/main">
            <a:r>
              <a:t>P03-AC03: Dependency cycles, missing versions, partial initialization, and stale handles fail deterministically and clean up resources.</a:t>
            </a:r>
          </a:p>
          <a:p xmlns:a="http://schemas.openxmlformats.org/drawingml/2006/main">
            <a:r>
              <a:t>P03-AC04: A plugin in each selected language passes the same contract fixtures and interacts with another plugin over NATS.</a:t>
            </a:r>
          </a:p>
          <a:p xmlns:a="http://schemas.openxmlformats.org/drawingml/2006/main">
            <a:r>
              <a:t>P03-AC05: The protected kernel has no replacement option in package management. Trusted native code is accurately documented as unsandboxed.</a:t>
            </a:r>
          </a:p>
          <a:p xmlns:a="http://schemas.openxmlformats.org/drawingml/2006/main">
            <a:r>
              <a:t>P03-AC06: Existing federation plugin lifecycle, command registry, contributions and context each have a documented reuse or justified replacement decision. Existing bundled plugins pass compatibility fixtures before their old runtime path is disabled.</a:t>
            </a:r>
          </a:p>
          <a:p xmlns:a="http://schemas.openxmlformats.org/drawingml/2006/main">
            <a:r>
              <a:t/>
            </a:r>
          </a:p>
          <a:p xmlns:a="http://schemas.openxmlformats.org/drawingml/2006/main">
            <a:r>
              <a:t>Verification</a:t>
            </a:r>
          </a:p>
          <a:p xmlns:a="http://schemas.openxmlformats.org/drawingml/2006/main">
            <a:r>
              <a:t>Run an independent author exercise using only published SDK/docs.</a:t>
            </a:r>
          </a:p>
          <a:p xmlns:a="http://schemas.openxmlformats.org/drawingml/2006/main">
            <a:r>
              <a:t>Test lifecycle/resource leaks, dependency failure, configuration precedence, version skew, and upgrades with active operations.</a:t>
            </a:r>
          </a:p>
          <a:p xmlns:a="http://schemas.openxmlformats.org/drawingml/2006/main">
            <a:r>
              <a:t>Inspect NATS traces and execute negative tests at remote resource owners.</a:t>
            </a:r>
          </a:p>
          <a:p xmlns:a="http://schemas.openxmlformats.org/drawingml/2006/main">
            <a:r>
              <a:t>Run the component coverage validator, review newly added or changed entry points, and attach the owning component checks to the phase gate. Compare existing and candidate behavior in isolated environments; do not run old and new writers against the same live records.</a:t>
            </a:r>
          </a:p>
          <a:p xmlns:a="http://schemas.openxmlformats.org/drawingml/2006/main">
            <a:r>
              <a:t/>
            </a:r>
          </a:p>
          <a:p xmlns:a="http://schemas.openxmlformats.org/drawingml/2006/main">
            <a:r>
              <a:t>Evidence</a:t>
            </a:r>
          </a:p>
          <a:p xmlns:a="http://schemas.openxmlformats.org/drawingml/2006/main">
            <a:r>
              <a:t>Plugin manifest and SDK reference</a:t>
            </a:r>
          </a:p>
          <a:p xmlns:a="http://schemas.openxmlformats.org/drawingml/2006/main">
            <a:r>
              <a:t>Conformance matrix and author tutorial</a:t>
            </a:r>
          </a:p>
          <a:p xmlns:a="http://schemas.openxmlformats.org/drawingml/2006/main">
            <a:r>
              <a:t>Nested-package/lifecycle test report</a:t>
            </a:r>
          </a:p>
          <a:p xmlns:a="http://schemas.openxmlformats.org/drawingml/2006/main">
            <a:r>
              <a:t>Component reuse decisions, baseline/candidate results, gain evidence and approved exceptions for ADD-01</a:t>
            </a:r>
          </a:p>
          <a:p xmlns:a="http://schemas.openxmlformats.org/drawingml/2006/main">
            <a:r>
              <a:t>Rollback: Pin the last working package set, drain active work, and restore compatible configuration. Never silently downgrade incompatible storage.</a:t>
            </a:r>
          </a:p>
          <a:p xmlns:a="http://schemas.openxmlformats.org/drawingml/2006/main">
            <a:r>
              <a:t/>
            </a:r>
          </a:p>
          <a:p xmlns:a="http://schemas.openxmlformats.org/drawingml/2006/main">
            <a:r>
              <a:t>Owned existing components</a:t>
            </a:r>
          </a:p>
          <a:p xmlns:a="http://schemas.openxmlformats.org/drawingml/2006/main">
            <a:r>
              <a:t>HAR-07: Agent definition parsing and roster selection; extract; checks HAR-07-C01, HAR-07-C02</a:t>
            </a:r>
          </a:p>
          <a:p xmlns:a="http://schemas.openxmlformats.org/drawingml/2006/main">
            <a:r>
              <a:t>HAR-08: Bundled personas and workflow instructions; retain; checks HAR-08-C01, HAR-08-C02</a:t>
            </a:r>
          </a:p>
          <a:p xmlns:a="http://schemas.openxmlformats.org/drawingml/2006/main">
            <a:r>
              <a:t>HUB-09: Existing federation plugin contract and package structure; extend; checks HUB-09-C01, HUB-09-C02</a:t>
            </a:r>
          </a:p>
          <a:p xmlns:a="http://schemas.openxmlformats.org/drawingml/2006/main">
            <a:r>
              <a:t>DASH-05: Agent definition registry and editor; extract; checks DASH-05-C01, DASH-05-C02</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C:/Users/RyanHelms/GitHub/agentmux/docs/planning/2026-10-09/component-preservation.md</a:t>
            </a:r>
          </a:p>
          <a:p xmlns:a="http://schemas.openxmlformats.org/drawingml/2006/main">
            <a:r>
              <a:t>C:/Users/RyanHelms/GitHub/agentmux/docs/planning/2026-10-09/component-inventory.json</a:t>
            </a:r>
          </a:p>
          <a:p xmlns:a="http://schemas.openxmlformats.org/drawingml/2006/main">
            <a:r>
              <a:t>C:/Users/RyanHelms/GitHub/agentmux/docs/planning/2026-10-09/phases.json</a:t>
            </a:r>
          </a:p>
          <a:p xmlns:a="http://schemas.openxmlformats.org/drawingml/2006/main">
            <a:r>
              <a:t>C:/Users/RyanHelms/GitHub/agentmux/docs/planning/2026-10-09/gate-record.template.json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No runtime comparison or acceptance criterion is claimed passed. ADD-01 applies to all affected callers and components, including those owned by another phase. Implementation remains paused.</a:t>
            </a:r>
          </a:p>
          <a:p xmlns:a="http://schemas.openxmlformats.org/drawingml/2006/main">
            <a:r>
              <a:t/>
            </a:r>
          </a:p>
          <a:p xmlns:a="http://schemas.openxmlformats.org/drawingml/2006/main">
            <a:r>
              <a:t>P04: Identity, projects, durable state, and workspaces</a:t>
            </a:r>
          </a:p>
          <a:p xmlns:a="http://schemas.openxmlformats.org/drawingml/2006/main">
            <a:r>
              <a:t>Outcome: Multiple users and projects share a hub with explicit authority and durable ownership.</a:t>
            </a:r>
          </a:p>
          <a:p xmlns:a="http://schemas.openxmlformats.org/drawingml/2006/main">
            <a:r>
              <a:t/>
            </a:r>
          </a:p>
          <a:p xmlns:a="http://schemas.openxmlformats.org/drawingml/2006/main">
            <a:r>
              <a:t>Work</a:t>
            </a:r>
          </a:p>
          <a:p xmlns:a="http://schemas.openxmlformats.org/drawingml/2006/main">
            <a:r>
              <a:t>Implement human, device, service, and plugin identities, enrollment/revocation, organization/project membership, permissions, approvals, and audit outside the kernel. Distinguish allowed, denied, and review-required actions; ordinary approval cannot override a hard denial.</a:t>
            </a:r>
          </a:p>
          <a:p xmlns:a="http://schemas.openxmlformats.org/drawingml/2006/main">
            <a:r>
              <a:t>Implement NATS-backed persistence through ordinary domain-owner plugins. Commit validated state changes, provenance, operation outcomes and recoverable outgoing intent together in the owning JetStream record or qualified same-stream batch. Provide KV configuration/current views, Object Store evidence references, scoped access, retention and backup/restore.</a:t>
            </a:r>
          </a:p>
          <a:p xmlns:a="http://schemas.openxmlformats.org/drawingml/2006/main">
            <a:r>
              <a:t>Provide scoped workspace/Git/worktree management, configuration, connection/secret references, quotas, and resource reservations.</a:t>
            </a:r>
          </a:p>
          <a:p xmlns:a="http://schemas.openxmlformats.org/drawingml/2006/main">
            <a:r>
              <a:t>Provide local single-user defaults and self-hosted identity configuration using the same contracts.</a:t>
            </a:r>
          </a:p>
          <a:p xmlns:a="http://schemas.openxmlformats.org/drawingml/2006/main">
            <a:r>
              <a:t>Implement the approved worker execution profile so mutually untrusted task code cannot share unrestricted access to another user's files or credentials. Qualify OS/container/host separation independently of the later third-party-plugin sandbox.</a:t>
            </a:r>
          </a:p>
          <a:p xmlns:a="http://schemas.openxmlformats.org/drawingml/2006/main">
            <a:r>
              <a:t>Build optional SQLite/SQL query indexes and caches from committed records and versioned checkpoints. Record consumed sequence and schema version, expose freshness, rebuild without commands or side effects, and prevent projections from granting execution or approval.</a:t>
            </a:r>
          </a:p>
          <a:p xmlns:a="http://schemas.openxmlformats.org/drawingml/2006/main">
            <a:r>
              <a:t>Apply ADD-01 and the component preservation matrix to every changed source file and affected caller. Record reuse, intentional behavior changes, migration needs and the specific added functionality before editing implementation.</a:t>
            </a:r>
          </a:p>
          <a:p xmlns:a="http://schemas.openxmlformats.org/drawingml/2006/main">
            <a:r>
              <a:t/>
            </a:r>
          </a:p>
          <a:p xmlns:a="http://schemas.openxmlformats.org/drawingml/2006/main">
            <a:r>
              <a:t>Acceptance criteria</a:t>
            </a:r>
          </a:p>
          <a:p xmlns:a="http://schemas.openxmlformats.org/drawingml/2006/main">
            <a:r>
              <a:t>P04-AC01: Cross-user/project/organization negative tests deny unauthorized commands, subscriptions, files, artifacts, and secret resolution.</a:t>
            </a:r>
          </a:p>
          <a:p xmlns:a="http://schemas.openxmlformats.org/drawingml/2006/main">
            <a:r>
              <a:t>P04-AC02: A committed NATS record or qualified same-stream batch preserves the state change, provenance and recoverable outgoing intent. Crashes before or after commit, publication or acknowledgment converge to the recorded operation without a second business effect.</a:t>
            </a:r>
          </a:p>
          <a:p xmlns:a="http://schemas.openxmlformats.org/drawingml/2006/main">
            <a:r>
              <a:t>P04-AC03: Duplicate delivery with the same operation ID and payload hash returns the existing outcome without allocating a second workspace or task. Reusing an operation ID with a different payload is rejected as a conflict.</a:t>
            </a:r>
          </a:p>
          <a:p xmlns:a="http://schemas.openxmlformats.org/drawingml/2006/main">
            <a:r>
              <a:t>P04-AC04: Backup/restore preserves ownership and result provenance. Migration fences the former writer, preserves stable IDs, dirty worktrees and unmerged branches, and verifies imported records before admitting new writes.</a:t>
            </a:r>
          </a:p>
          <a:p xmlns:a="http://schemas.openxmlformats.org/drawingml/2006/main">
            <a:r>
              <a:t>P04-AC05: Node revocation and secret rotation have tested online behavior and explicit offline limits.</a:t>
            </a:r>
          </a:p>
          <a:p xmlns:a="http://schemas.openxmlformats.org/drawingml/2006/main">
            <a:r>
              <a:t>P04-AC06: Deleting or corrupting an optional SQL index or derived KV view is recoverable from retained authoritative records and validated checkpoints. Rebuild preserves authorized results and cursors, detects missing history, and cannot launch work or replay external effects.</a:t>
            </a:r>
          </a:p>
          <a:p xmlns:a="http://schemas.openxmlformats.org/drawingml/2006/main">
            <a:r>
              <a:t>P04-AC07: Task history and reservations survive work-queue acknowledgment and presence expiry. Storage/API permissions prevent unauthorized reads and raw writes. Stale views expose their revision and cannot authorize a claim, approval or reassignment.</a:t>
            </a:r>
          </a:p>
          <a:p xmlns:a="http://schemas.openxmlformats.org/drawingml/2006/main">
            <a:r>
              <a:t>P04-AC08: Every affected existing component retains its documented behavior through reused code or a justified replacement. Its baseline and candidate checks, migration checks, and added capability evidence are reviewed before advancement. Missing environments remain open; removal or reduced capability requires Ryan's explicit approval after review with Nick.</a:t>
            </a:r>
          </a:p>
          <a:p xmlns:a="http://schemas.openxmlformats.org/drawingml/2006/main">
            <a:r>
              <a:t/>
            </a:r>
          </a:p>
          <a:p xmlns:a="http://schemas.openxmlformats.org/drawingml/2006/main">
            <a:r>
              <a:t>Verification</a:t>
            </a:r>
          </a:p>
          <a:p xmlns:a="http://schemas.openxmlformats.org/drawingml/2006/main">
            <a:r>
              <a:t>Run the permission matrix against application owners and real broker accounts. Run an adversarial worker that attempts cross-project file, process, network, and credential access under the supported execution profile.</a:t>
            </a:r>
          </a:p>
          <a:p xmlns:a="http://schemas.openxmlformats.org/drawingml/2006/main">
            <a:r>
              <a:t>Inject failures before/after commit and publish acknowledgment, exhaust disk/quota, and restore from backup.</a:t>
            </a:r>
          </a:p>
          <a:p xmlns:a="http://schemas.openxmlformats.org/drawingml/2006/main">
            <a:r>
              <a:t>Run concurrency tests against every supported storage provider. Reject a provider that lacks required guarantees.</a:t>
            </a:r>
          </a:p>
          <a:p xmlns:a="http://schemas.openxmlformats.org/drawingml/2006/main">
            <a:r>
              <a:t>Run FAIL-42 through FAIL-48, delete projections, corrupt a checkpoint, simulate lagging views and test direct broker APIs. Verify snapshots and retained history form a complete recovery chain.</a:t>
            </a:r>
          </a:p>
          <a:p xmlns:a="http://schemas.openxmlformats.org/drawingml/2006/main">
            <a:r>
              <a:t>Run the component coverage validator, review newly added or changed entry points, and attach the owning component checks to the phase gate. Compare existing and candidate behavior in isolated environments; do not run old and new writers against the same live records.</a:t>
            </a:r>
          </a:p>
          <a:p xmlns:a="http://schemas.openxmlformats.org/drawingml/2006/main">
            <a:r>
              <a:t/>
            </a:r>
          </a:p>
          <a:p xmlns:a="http://schemas.openxmlformats.org/drawingml/2006/main">
            <a:r>
              <a:t>Evidence</a:t>
            </a:r>
          </a:p>
          <a:p xmlns:a="http://schemas.openxmlformats.org/drawingml/2006/main">
            <a:r>
              <a:t>Threat model and permission matrix</a:t>
            </a:r>
          </a:p>
          <a:p xmlns:a="http://schemas.openxmlformats.org/drawingml/2006/main">
            <a:r>
              <a:t>Storage capability and migration contracts</a:t>
            </a:r>
          </a:p>
          <a:p xmlns:a="http://schemas.openxmlformats.org/drawingml/2006/main">
            <a:r>
              <a:t>Recovery and isolation reports</a:t>
            </a:r>
          </a:p>
          <a:p xmlns:a="http://schemas.openxmlformats.org/drawingml/2006/main">
            <a:r>
              <a:t>Authoritative record, KV and object inventory with retention, checkpoint and projection rebuild evidence</a:t>
            </a:r>
          </a:p>
          <a:p xmlns:a="http://schemas.openxmlformats.org/drawingml/2006/main">
            <a:r>
              <a:t>Component reuse decisions, baseline/candidate results, gain evidence and approved exceptions for ADD-01</a:t>
            </a:r>
          </a:p>
          <a:p xmlns:a="http://schemas.openxmlformats.org/drawingml/2006/main">
            <a:r>
              <a:t>Rollback: Quiesce and fence writers, retain verified backups and record the authority-switch revision. A return to SQLite authority requires an explicit compatible reverse migration and reconciliation of all NATS-era writes; reverting binaries or restoring an old database alone cannot reopen admission.</a:t>
            </a:r>
          </a:p>
          <a:p xmlns:a="http://schemas.openxmlformats.org/drawingml/2006/main">
            <a:r>
              <a:t/>
            </a:r>
          </a:p>
          <a:p xmlns:a="http://schemas.openxmlformats.org/drawingml/2006/main">
            <a:r>
              <a:t>Owned existing components</a:t>
            </a:r>
          </a:p>
          <a:p xmlns:a="http://schemas.openxmlformats.org/drawingml/2006/main">
            <a:r>
              <a:t>HAR-09: Claims, local identity, warrants and journal; extract; checks HAR-09-C01, HAR-09-C02, HAR-09-C03</a:t>
            </a:r>
          </a:p>
          <a:p xmlns:a="http://schemas.openxmlformats.org/drawingml/2006/main">
            <a:r>
              <a:t>HUB-03: Hub store, work ownership, messaging and recovery; extract; checks HUB-03-C01, HUB-03-C02, HUB-03-C03</a:t>
            </a:r>
          </a:p>
          <a:p xmlns:a="http://schemas.openxmlformats.org/drawingml/2006/main">
            <a:r>
              <a:t>HUB-12: Federation guard and outbound secret filtering; extend; checks HUB-12-C01, HUB-12-C02</a:t>
            </a:r>
          </a:p>
          <a:p xmlns:a="http://schemas.openxmlformats.org/drawingml/2006/main">
            <a:r>
              <a:t>HUB-14: Federation outbox, idempotency, audit and quarantine ledger; extract; checks HUB-14-C01, HUB-14-C02</a:t>
            </a:r>
          </a:p>
          <a:p xmlns:a="http://schemas.openxmlformats.org/drawingml/2006/main">
            <a:r>
              <a:t>DASH-02: HTTP routing, request guards and terminal stream server; extract; checks DASH-02-C01, DASH-02-C02</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C:/Users/RyanHelms/GitHub/agentmux/docs/planning/2026-10-09/component-preservation.md</a:t>
            </a:r>
          </a:p>
          <a:p xmlns:a="http://schemas.openxmlformats.org/drawingml/2006/main">
            <a:r>
              <a:t>C:/Users/RyanHelms/GitHub/agentmux/docs/planning/2026-10-09/component-inventory.json</a:t>
            </a:r>
          </a:p>
          <a:p xmlns:a="http://schemas.openxmlformats.org/drawingml/2006/main">
            <a:r>
              <a:t>C:/Users/RyanHelms/GitHub/agentmux/docs/planning/2026-10-09/phases.json</a:t>
            </a:r>
          </a:p>
          <a:p xmlns:a="http://schemas.openxmlformats.org/drawingml/2006/main">
            <a:r>
              <a:t>C:/Users/RyanHelms/GitHub/agentmux/docs/planning/2026-10-09/gate-record.template.json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No runtime comparison or acceptance criterion is claimed passed. ADD-01 applies to all affected callers and components, including those owned by another phase. Implementation remains paused.</a:t>
            </a:r>
          </a:p>
          <a:p xmlns:a="http://schemas.openxmlformats.org/drawingml/2006/main">
            <a:r>
              <a:t/>
            </a:r>
          </a:p>
          <a:p xmlns:a="http://schemas.openxmlformats.org/drawingml/2006/main">
            <a:r>
              <a:t>P05: Local orchestration and evidence-based completion</a:t>
            </a:r>
          </a:p>
          <a:p xmlns:a="http://schemas.openxmlformats.org/drawingml/2006/main">
            <a:r>
              <a:t>Outcome: A developer can finish a reviewable software task through durable coordinated work.</a:t>
            </a:r>
          </a:p>
          <a:p xmlns:a="http://schemas.openxmlformats.org/drawingml/2006/main">
            <a:r>
              <a:t/>
            </a:r>
          </a:p>
          <a:p xmlns:a="http://schemas.openxmlformats.org/drawingml/2006/main">
            <a:r>
              <a:t>Work</a:t>
            </a:r>
          </a:p>
          <a:p xmlns:a="http://schemas.openxmlformats.org/drawingml/2006/main">
            <a:r>
              <a:t>Reuse the existing task, dispatch, run, coordination and courier behavior behind the new contracts. Replace persistence and coupling only at recorded boundaries, retaining existing test assertions and data relationships.</a:t>
            </a:r>
          </a:p>
          <a:p xmlns:a="http://schemas.openxmlformats.org/drawingml/2006/main">
            <a:r>
              <a:t>Implement project plans, tasks, dependencies, boards, role/agent/team definitions, assignment, run/attempt state, claims, resource scheduling, and explicit acceptance.</a:t>
            </a:r>
          </a:p>
          <a:p xmlns:a="http://schemas.openxmlformats.org/drawingml/2006/main">
            <a:r>
              <a:t>Implement supervised workers, session resume capability, isolated worktrees, tool calls, messages, handoffs, progress, conversation records, artifacts, validation, and review workflows.</a:t>
            </a:r>
          </a:p>
          <a:p xmlns:a="http://schemas.openxmlformats.org/drawingml/2006/main">
            <a:r>
              <a:t>Separate provider/process exit, reported completion, verified evidence, and owner acceptance. Model cancellation-requested, canceled, failed, and unknown states.</a:t>
            </a:r>
          </a:p>
          <a:p xmlns:a="http://schemas.openxmlformats.org/drawingml/2006/main">
            <a:r>
              <a:t>Port existing journal/notice/dead-letter, search/knowledge, code sharing, cost/resource, and orchestration evaluation behavior behind plugins.</a:t>
            </a:r>
          </a:p>
          <a:p xmlns:a="http://schemas.openxmlformats.org/drawingml/2006/main">
            <a:r>
              <a:t>Produce a software-change workflow from request through test evidence and a reviewable diff/PR proposal. Publishing and merging follow explicit permissions.</a:t>
            </a:r>
          </a:p>
          <a:p xmlns:a="http://schemas.openxmlformats.org/drawingml/2006/main">
            <a:r>
              <a:t>Preserve epics, sprints, ADR/capability proposal records, WIP/readiness gates, notifications, objections, and independent reviewer policy. Bind reviews to immutable repository/commit/artifact identities across multiple repositories.</a:t>
            </a:r>
          </a:p>
          <a:p xmlns:a="http://schemas.openxmlformats.org/drawingml/2006/main">
            <a:r>
              <a:t>Persist orchestration transitions through the NATS-owning domain contracts. Drive dispatch and result publication from recoverable committed intent, and keep queue acknowledgment separate from task completion and origin acceptance.</a:t>
            </a:r>
          </a:p>
          <a:p xmlns:a="http://schemas.openxmlformats.org/drawingml/2006/main">
            <a:r>
              <a:t>Apply ADD-01 and the component preservation matrix to every changed source file and affected caller. Record reuse, intentional behavior changes, migration needs and the specific added functionality before editing implementation.</a:t>
            </a:r>
          </a:p>
          <a:p xmlns:a="http://schemas.openxmlformats.org/drawingml/2006/main">
            <a:r>
              <a:t/>
            </a:r>
          </a:p>
          <a:p xmlns:a="http://schemas.openxmlformats.org/drawingml/2006/main">
            <a:r>
              <a:t>Acceptance criteria</a:t>
            </a:r>
          </a:p>
          <a:p xmlns:a="http://schemas.openxmlformats.org/drawingml/2006/main">
            <a:r>
              <a:t>P05-AC01: A complete fixture workflow creates a plan, delegates tasks, executes in isolated workspaces, validates the result, and returns reviewable evidence.</a:t>
            </a:r>
          </a:p>
          <a:p xmlns:a="http://schemas.openxmlformats.org/drawingml/2006/main">
            <a:r>
              <a:t>P05-AC02: Two developers working on different or shared projects do not steal each other's claims, sessions, workspaces, or tool credentials.</a:t>
            </a:r>
          </a:p>
          <a:p xmlns:a="http://schemas.openxmlformats.org/drawingml/2006/main">
            <a:r>
              <a:t>P05-AC03: No task becomes accepted from terminal text, process exit, or a worker's self-reported done event alone.</a:t>
            </a:r>
          </a:p>
          <a:p xmlns:a="http://schemas.openxmlformats.org/drawingml/2006/main">
            <a:r>
              <a:t>P05-AC04: A crashed or disconnected worker leaves a recoverable known or explicitly unknown attempt. Retry preserves the prior attempt and its effects.</a:t>
            </a:r>
          </a:p>
          <a:p xmlns:a="http://schemas.openxmlformats.org/drawingml/2006/main">
            <a:r>
              <a:t>P05-AC05: Every P05-owned legacy functional group has parity evidence or an explicit replacement and data migration decision. Later client, dashboard, federation, and domain groups have an owned inventory and migration plan, with parity gated in their own phases. Changed artifacts invalidate bound approvals, and migration preserves distinct board, run, hub-work, and shared-board identities.</a:t>
            </a:r>
          </a:p>
          <a:p xmlns:a="http://schemas.openxmlformats.org/drawingml/2006/main">
            <a:r>
              <a:t>P05-AC06: Every affected existing component retains its documented behavior through reused code or a justified replacement. Its baseline and candidate checks, migration checks, and added capability evidence are reviewed before advancement. Missing environments remain open; removal or reduced capability requires Ryan's explicit approval after review with Nick.</a:t>
            </a:r>
          </a:p>
          <a:p xmlns:a="http://schemas.openxmlformats.org/drawingml/2006/main">
            <a:r>
              <a:t/>
            </a:r>
          </a:p>
          <a:p xmlns:a="http://schemas.openxmlformats.org/drawingml/2006/main">
            <a:r>
              <a:t>Verification</a:t>
            </a:r>
          </a:p>
          <a:p xmlns:a="http://schemas.openxmlformats.org/drawingml/2006/main">
            <a:r>
              <a:t>Run normal, failure, retry, cancellation, resume, parallel-team, cross-repo, and swarm-style scenario suites.</a:t>
            </a:r>
          </a:p>
          <a:p xmlns:a="http://schemas.openxmlformats.org/drawingml/2006/main">
            <a:r>
              <a:t>Inject crash windows around work attribution and result publication identified in the repository analysis.</a:t>
            </a:r>
          </a:p>
          <a:p xmlns:a="http://schemas.openxmlformats.org/drawingml/2006/main">
            <a:r>
              <a:t>Use real CLI worker smoke tests plus deterministic fake workers for exhaustive state transitions.</a:t>
            </a:r>
          </a:p>
          <a:p xmlns:a="http://schemas.openxmlformats.org/drawingml/2006/main">
            <a:r>
              <a:t>Run the component coverage validator, review newly added or changed entry points, and attach the owning component checks to the phase gate. Compare existing and candidate behavior in isolated environments; do not run old and new writers against the same live records.</a:t>
            </a:r>
          </a:p>
          <a:p xmlns:a="http://schemas.openxmlformats.org/drawingml/2006/main">
            <a:r>
              <a:t/>
            </a:r>
          </a:p>
          <a:p xmlns:a="http://schemas.openxmlformats.org/drawingml/2006/main">
            <a:r>
              <a:t>Evidence</a:t>
            </a:r>
          </a:p>
          <a:p xmlns:a="http://schemas.openxmlformats.org/drawingml/2006/main">
            <a:r>
              <a:t>End-to-end workflow recording</a:t>
            </a:r>
          </a:p>
          <a:p xmlns:a="http://schemas.openxmlformats.org/drawingml/2006/main">
            <a:r>
              <a:t>Completion/ownership invariant report</a:t>
            </a:r>
          </a:p>
          <a:p xmlns:a="http://schemas.openxmlformats.org/drawingml/2006/main">
            <a:r>
              <a:t>Legacy parity and migration checklist</a:t>
            </a:r>
          </a:p>
          <a:p xmlns:a="http://schemas.openxmlformats.org/drawingml/2006/main">
            <a:r>
              <a:t>Component reuse decisions, baseline/candidate results, gain evidence and approved exceptions for ADD-01</a:t>
            </a:r>
          </a:p>
          <a:p xmlns:a="http://schemas.openxmlformats.org/drawingml/2006/main">
            <a:r>
              <a:t>Rollback: Route new tasks back to the legacy path only after draining or explicitly reconciling active attempts. Never run both paths as writers for one task.</a:t>
            </a:r>
          </a:p>
          <a:p xmlns:a="http://schemas.openxmlformats.org/drawingml/2006/main">
            <a:r>
              <a:t/>
            </a:r>
          </a:p>
          <a:p xmlns:a="http://schemas.openxmlformats.org/drawingml/2006/main">
            <a:r>
              <a:t>Owned existing components</a:t>
            </a:r>
          </a:p>
          <a:p xmlns:a="http://schemas.openxmlformats.org/drawingml/2006/main">
            <a:r>
              <a:t>HAR-10: Board, task, epic and team command compatibility; wrap; checks HAR-10-C01, HAR-10-C02, HAR-10-C03</a:t>
            </a:r>
          </a:p>
          <a:p xmlns:a="http://schemas.openxmlformats.org/drawingml/2006/main">
            <a:r>
              <a:t>HAR-11: Dispatch, worker pool, team worktrees and collection; extract; checks HAR-11-C01, HAR-11-C02, HAR-11-C03</a:t>
            </a:r>
          </a:p>
          <a:p xmlns:a="http://schemas.openxmlformats.org/drawingml/2006/main">
            <a:r>
              <a:t>HAR-12: Run ledger, submission review, objections and completion; extract; checks HAR-12-C01, HAR-12-C02, HAR-12-C03</a:t>
            </a:r>
          </a:p>
          <a:p xmlns:a="http://schemas.openxmlformats.org/drawingml/2006/main">
            <a:r>
              <a:t>HAR-13: Courier, post, virtual inbox and backlog recovery; extract; checks HAR-13-C01, HAR-13-C02, HAR-13-C03</a:t>
            </a:r>
          </a:p>
          <a:p xmlns:a="http://schemas.openxmlformats.org/drawingml/2006/main">
            <a:r>
              <a:t>HAR-14: Notifications and originating-terminal feedback; extract; checks HAR-14-C01, HAR-14-C02</a:t>
            </a:r>
          </a:p>
          <a:p xmlns:a="http://schemas.openxmlformats.org/drawingml/2006/main">
            <a:r>
              <a:t>HUB-02: Local hub server, identity, lifecycle and legacy adoption; extract; checks HUB-02-C01, HUB-02-C02, HUB-02-C03</a:t>
            </a:r>
          </a:p>
          <a:p xmlns:a="http://schemas.openxmlformats.org/drawingml/2006/main">
            <a:r>
              <a:t>DASH-03: Conversation feed and guarded sends; extract; checks DASH-03-C01, DASH-03-C02</a:t>
            </a:r>
          </a:p>
          <a:p xmlns:a="http://schemas.openxmlformats.org/drawingml/2006/main">
            <a:r>
              <a:t>DASH-04: Task board, Kanban, records and policy; extract; checks DASH-04-C01, DASH-04-C02, DASH-04-C03</a:t>
            </a:r>
          </a:p>
          <a:p xmlns:a="http://schemas.openxmlformats.org/drawingml/2006/main">
            <a:r>
              <a:t>DASH-06: Team roster proposal, approval and hiring; extract; checks DASH-06-C01, DASH-06-C02</a:t>
            </a:r>
          </a:p>
          <a:p xmlns:a="http://schemas.openxmlformats.org/drawingml/2006/main">
            <a:r>
              <a:t>DASH-07: Run progress, review, diffs and completion gate; extract; checks DASH-07-C01, DASH-07-C02</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C:/Users/RyanHelms/GitHub/agentmux/docs/planning/2026-10-09/component-preservation.md</a:t>
            </a:r>
          </a:p>
          <a:p xmlns:a="http://schemas.openxmlformats.org/drawingml/2006/main">
            <a:r>
              <a:t>C:/Users/RyanHelms/GitHub/agentmux/docs/planning/2026-10-09/component-inventory.json</a:t>
            </a:r>
          </a:p>
          <a:p xmlns:a="http://schemas.openxmlformats.org/drawingml/2006/main">
            <a:r>
              <a:t>C:/Users/RyanHelms/GitHub/agentmux/docs/planning/2026-10-09/phases.json</a:t>
            </a:r>
          </a:p>
          <a:p xmlns:a="http://schemas.openxmlformats.org/drawingml/2006/main">
            <a:r>
              <a:t>C:/Users/RyanHelms/GitHub/agentmux/docs/planning/2026-10-09/gate-record.template.json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No runtime comparison or acceptance criterion is claimed passed. ADD-01 applies to all affected callers and components, including those owned by another phase. Implementation remains paused.</a:t>
            </a:r>
          </a:p>
          <a:p xmlns:a="http://schemas.openxmlformats.org/drawingml/2006/main">
            <a:r>
              <a:t/>
            </a:r>
          </a:p>
          <a:p xmlns:a="http://schemas.openxmlformats.org/drawingml/2006/main">
            <a:r>
              <a:t>P06: Agent-client entry points and portable tooling</a:t>
            </a:r>
          </a:p>
          <a:p xmlns:a="http://schemas.openxmlformats.org/drawingml/2006/main">
            <a:r>
              <a:t>Outcome: Developers use Agentmux from their preferred supported client.</a:t>
            </a:r>
          </a:p>
          <a:p xmlns:a="http://schemas.openxmlformats.org/drawingml/2006/main">
            <a:r>
              <a:t/>
            </a:r>
          </a:p>
          <a:p xmlns:a="http://schemas.openxmlformats.org/drawingml/2006/main">
            <a:r>
              <a:t>Work</a:t>
            </a:r>
          </a:p>
          <a:p xmlns:a="http://schemas.openxmlformats.org/drawingml/2006/main">
            <a:r>
              <a:t>Extend current CLI, MCP, provider and workspace tooling. Preserve command semantics, safe prompt handling, session cleanup boundaries and credential setup; expose new scopes through the existing entry points where compatible.</a:t>
            </a:r>
          </a:p>
          <a:p xmlns:a="http://schemas.openxmlformats.org/drawingml/2006/main">
            <a:r>
              <a:t>Provide stable CLI and MCP interfaces generated from declared command contracts, with discoverable resources and error semantics.</a:t>
            </a:r>
          </a:p>
          <a:p xmlns:a="http://schemas.openxmlformats.org/drawingml/2006/main">
            <a:r>
              <a:t>Package and test integrations for Claude Code, Codex CLI, Pi, and Claude Desktop using each host's documented capabilities.</a:t>
            </a:r>
          </a:p>
          <a:p xmlns:a="http://schemas.openxmlformats.org/drawingml/2006/main">
            <a:r>
              <a:t>Distinguish external client sessions submitting work from Agentmux-managed worker sessions. Publish coverage for events, controls, resume, hooks, and compaction.</a:t>
            </a:r>
          </a:p>
          <a:p xmlns:a="http://schemas.openxmlformats.org/drawingml/2006/main">
            <a:r>
              <a:t>Add setup, credential references, diagnostics, install checks, and client-specific documentation without silently replacing user configuration.</a:t>
            </a:r>
          </a:p>
          <a:p xmlns:a="http://schemas.openxmlformats.org/drawingml/2006/main">
            <a:r>
              <a:t>Inventory and qualify existing Grok/provider authentication methods and any Bedrock compatibility path. Migrate GitHub and Jira/Confluence workflows as tool plugins with explicit writes and credentials.</a:t>
            </a:r>
          </a:p>
          <a:p xmlns:a="http://schemas.openxmlformats.org/drawingml/2006/main">
            <a:r>
              <a:t>Apply ADD-01 and the component preservation matrix to every changed source file and affected caller. Record reuse, intentional behavior changes, migration needs and the specific added functionality before editing implementation.</a:t>
            </a:r>
          </a:p>
          <a:p xmlns:a="http://schemas.openxmlformats.org/drawingml/2006/main">
            <a:r>
              <a:t/>
            </a:r>
          </a:p>
          <a:p xmlns:a="http://schemas.openxmlformats.org/drawingml/2006/main">
            <a:r>
              <a:t>Acceptance criteria</a:t>
            </a:r>
          </a:p>
          <a:p xmlns:a="http://schemas.openxmlformats.org/drawingml/2006/main">
            <a:r>
              <a:t>P06-AC01: Each supported client can submit a task, inspect progress/evidence, participate in required approvals, and retrieve the result.</a:t>
            </a:r>
          </a:p>
          <a:p xmlns:a="http://schemas.openxmlformats.org/drawingml/2006/main">
            <a:r>
              <a:t>P06-AC02: Unsupported event capture, cancellation, or compaction reports an explicit capability limit instead of simulating success.</a:t>
            </a:r>
          </a:p>
          <a:p xmlns:a="http://schemas.openxmlformats.org/drawingml/2006/main">
            <a:r>
              <a:t>P06-AC03: Closing the originating client or observer does not duplicate or implicitly terminate durable work.</a:t>
            </a:r>
          </a:p>
          <a:p xmlns:a="http://schemas.openxmlformats.org/drawingml/2006/main">
            <a:r>
              <a:t>P06-AC04: Fresh-user install and uninstall preserve unrelated client settings and secrets.</a:t>
            </a:r>
          </a:p>
          <a:p xmlns:a="http://schemas.openxmlformats.org/drawingml/2006/main">
            <a:r>
              <a:t>P06-AC05: All existing supported harness commands, session safeguards, agent definitions, provider setup methods and integration workflows have passing comparisons or an explicitly approved capability change. Retained and added tests cover modal decisions, idle cleanup, credential refresh, WSL paths and external-write uncertainty.</a:t>
            </a:r>
          </a:p>
          <a:p xmlns:a="http://schemas.openxmlformats.org/drawingml/2006/main">
            <a:r>
              <a:t/>
            </a:r>
          </a:p>
          <a:p xmlns:a="http://schemas.openxmlformats.org/drawingml/2006/main">
            <a:r>
              <a:t>Verification</a:t>
            </a:r>
          </a:p>
          <a:p xmlns:a="http://schemas.openxmlformats.org/drawingml/2006/main">
            <a:r>
              <a:t>Execute the same reference workflow on every pinned client version in the support matrix.</a:t>
            </a:r>
          </a:p>
          <a:p xmlns:a="http://schemas.openxmlformats.org/drawingml/2006/main">
            <a:r>
              <a:t>Test reconnect, authentication expiry, missing tool, malformed MCP request, and client shutdown.</a:t>
            </a:r>
          </a:p>
          <a:p xmlns:a="http://schemas.openxmlformats.org/drawingml/2006/main">
            <a:r>
              <a:t>Review provider commercial integration terms before promising a supported paid distribution.</a:t>
            </a:r>
          </a:p>
          <a:p xmlns:a="http://schemas.openxmlformats.org/drawingml/2006/main">
            <a:r>
              <a:t>Run the component coverage validator, review newly added or changed entry points, and attach the owning component checks to the phase gate. Compare existing and candidate behavior in isolated environments; do not run old and new writers against the same live records.</a:t>
            </a:r>
          </a:p>
          <a:p xmlns:a="http://schemas.openxmlformats.org/drawingml/2006/main">
            <a:r>
              <a:t/>
            </a:r>
          </a:p>
          <a:p xmlns:a="http://schemas.openxmlformats.org/drawingml/2006/main">
            <a:r>
              <a:t>Evidence</a:t>
            </a:r>
          </a:p>
          <a:p xmlns:a="http://schemas.openxmlformats.org/drawingml/2006/main">
            <a:r>
              <a:t>Actual-host compatibility matrix</a:t>
            </a:r>
          </a:p>
          <a:p xmlns:a="http://schemas.openxmlformats.org/drawingml/2006/main">
            <a:r>
              <a:t>CLI/MCP reference and setup guides</a:t>
            </a:r>
          </a:p>
          <a:p xmlns:a="http://schemas.openxmlformats.org/drawingml/2006/main">
            <a:r>
              <a:t>Per-client workflow results</a:t>
            </a:r>
          </a:p>
          <a:p xmlns:a="http://schemas.openxmlformats.org/drawingml/2006/main">
            <a:r>
              <a:t>Component reuse decisions, baseline/candidate results, gain evidence and approved exceptions for ADD-01</a:t>
            </a:r>
          </a:p>
          <a:p xmlns:a="http://schemas.openxmlformats.org/drawingml/2006/main">
            <a:r>
              <a:t>Rollback: Disable only the affected adapter and preserve the underlying task state and alternate CLI access.</a:t>
            </a:r>
          </a:p>
          <a:p xmlns:a="http://schemas.openxmlformats.org/drawingml/2006/main">
            <a:r>
              <a:t/>
            </a:r>
          </a:p>
          <a:p xmlns:a="http://schemas.openxmlformats.org/drawingml/2006/main">
            <a:r>
              <a:t>Owned existing components</a:t>
            </a:r>
          </a:p>
          <a:p xmlns:a="http://schemas.openxmlformats.org/drawingml/2006/main">
            <a:r>
              <a:t>HAR-01: Provider launch, session entry and top-level command compatibility; extract; checks HAR-01-C01, HAR-01-C02</a:t>
            </a:r>
          </a:p>
          <a:p xmlns:a="http://schemas.openxmlformats.org/drawingml/2006/main">
            <a:r>
              <a:t>HAR-02: Terminal input, observation and modal helpers; extract; checks HAR-02-C01, HAR-02-C02, HAR-02-C03</a:t>
            </a:r>
          </a:p>
          <a:p xmlns:a="http://schemas.openxmlformats.org/drawingml/2006/main">
            <a:r>
              <a:t>HAR-03: Lifecycle cleanup, archives and Claude credential convergence; extract; checks HAR-03-C01, HAR-03-C02, HAR-03-C03</a:t>
            </a:r>
          </a:p>
          <a:p xmlns:a="http://schemas.openxmlformats.org/drawingml/2006/main">
            <a:r>
              <a:t>HAR-04: Provider authentication, key entry and operator permission setup; extend; checks HAR-04-C01, HAR-04-C02, HAR-04-C03</a:t>
            </a:r>
          </a:p>
          <a:p xmlns:a="http://schemas.openxmlformats.org/drawingml/2006/main">
            <a:r>
              <a:t>HAR-06: macOS command compatibility helpers; retain; checks HAR-06-C01, HAR-06-C02</a:t>
            </a:r>
          </a:p>
          <a:p xmlns:a="http://schemas.openxmlformats.org/drawingml/2006/main">
            <a:r>
              <a:t>HAR-15: Jira and Confluence clients, scripts and setup; wrap; checks HAR-15-C01, HAR-15-C02, HAR-15-C03</a:t>
            </a:r>
          </a:p>
          <a:p xmlns:a="http://schemas.openxmlformats.org/drawingml/2006/main">
            <a:r>
              <a:t>HAR-16: Bedrock Responses-to-Chat gateway; wrap; checks HAR-16-C01, HAR-16-C02</a:t>
            </a:r>
          </a:p>
          <a:p xmlns:a="http://schemas.openxmlformats.org/drawingml/2006/main">
            <a:r>
              <a:t>HUB-04: Hub CLI and federation command client; wrap; checks HUB-04-C01, HUB-04-C02</a:t>
            </a:r>
          </a:p>
          <a:p xmlns:a="http://schemas.openxmlformats.org/drawingml/2006/main">
            <a:r>
              <a:t>HUB-05: Terminal transport abstraction and tmux backend; wrap; checks HUB-05-C01, HUB-05-C02</a:t>
            </a:r>
          </a:p>
          <a:p xmlns:a="http://schemas.openxmlformats.org/drawingml/2006/main">
            <a:r>
              <a:t>HUB-06: CLI screen profiles and guarded terminal input; extract; checks HUB-06-C01, HUB-06-C02</a:t>
            </a:r>
          </a:p>
          <a:p xmlns:a="http://schemas.openxmlformats.org/drawingml/2006/main">
            <a:r>
              <a:t>HUB-07: Native client receipt scanning and hold evidence; retain; checks HUB-07-C01, HUB-07-C02</a:t>
            </a:r>
          </a:p>
          <a:p xmlns:a="http://schemas.openxmlformats.org/drawingml/2006/main">
            <a:r>
              <a:t>HUB-21: Stdio MCP gateway; wrap; checks HUB-21-C01, HUB-21-C02</a:t>
            </a:r>
          </a:p>
          <a:p xmlns:a="http://schemas.openxmlformats.org/drawingml/2006/main">
            <a:r>
              <a:t>DASH-10: Provider authentication settings and diagnostics; wrap; checks DASH-10-C01, DASH-10-C02</a:t>
            </a:r>
          </a:p>
          <a:p xmlns:a="http://schemas.openxmlformats.org/drawingml/2006/main">
            <a:r>
              <a:t>DASH-11: GitHub observations, login and constrained writes; wrap; checks DASH-11-C01, DASH-11-C02</a:t>
            </a:r>
          </a:p>
          <a:p xmlns:a="http://schemas.openxmlformats.org/drawingml/2006/main">
            <a:r>
              <a:t>DASH-12: Resource manifest and fixed diagnostic probes; extend; checks DASH-12-C01, DASH-12-C02</a:t>
            </a:r>
          </a:p>
          <a:p xmlns:a="http://schemas.openxmlformats.org/drawingml/2006/main">
            <a:r>
              <a:t>DASH-13: Atlassian ticket view and action regression contract; retain-evidence; checks DASH-13-C01, DASH-13-C02</a:t>
            </a:r>
          </a:p>
          <a:p xmlns:a="http://schemas.openxmlformats.org/drawingml/2006/main">
            <a:r>
              <a:t>DASH-32: Bedrock gateway differential and HTTP contract evidence; retain-evidence; checks DASH-32-C01, DASH-32-C02</a:t>
            </a:r>
          </a:p>
          <a:p xmlns:a="http://schemas.openxmlformats.org/drawingml/2006/main">
            <a:r>
              <a:t>DASH-33: Operator diagnostics, demos and fixture maintenance; retain; checks DASH-33-C01, DASH-33-C02</a:t>
            </a:r>
          </a:p>
          <a:p xmlns:a="http://schemas.openxmlformats.org/drawingml/2006/main">
            <a:r>
              <a:t>REPO-06: Harness contracts and known operational limits; extend; checks REPO-06-C01</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C:/Users/RyanHelms/GitHub/agentmux/docs/planning/2026-10-09/component-preservation.md</a:t>
            </a:r>
          </a:p>
          <a:p xmlns:a="http://schemas.openxmlformats.org/drawingml/2006/main">
            <a:r>
              <a:t>C:/Users/RyanHelms/GitHub/agentmux/docs/planning/2026-10-09/component-inventory.json</a:t>
            </a:r>
          </a:p>
          <a:p xmlns:a="http://schemas.openxmlformats.org/drawingml/2006/main">
            <a:r>
              <a:t>C:/Users/RyanHelms/GitHub/agentmux/docs/planning/2026-10-09/phases.json</a:t>
            </a:r>
          </a:p>
          <a:p xmlns:a="http://schemas.openxmlformats.org/drawingml/2006/main">
            <a:r>
              <a:t>C:/Users/RyanHelms/GitHub/agentmux/docs/planning/2026-10-09/gate-record.template.json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No runtime comparison or acceptance criterion is claimed passed. ADD-01 applies to all affected callers and components, including those owned by another phase. Implementation remains paused.</a:t>
            </a:r>
          </a:p>
          <a:p xmlns:a="http://schemas.openxmlformats.org/drawingml/2006/main">
            <a:r>
              <a:t/>
            </a:r>
          </a:p>
          <a:p xmlns:a="http://schemas.openxmlformats.org/drawingml/2006/main">
            <a:r>
              <a:t>P07: Existing dashboard: AG-UI and Atomic Design migration</a:t>
            </a:r>
          </a:p>
          <a:p xmlns:a="http://schemas.openxmlformats.org/drawingml/2006/main">
            <a:r>
              <a:t>Outcome: Authorized users can understand work across agents, projects, and hubs.</a:t>
            </a:r>
          </a:p>
          <a:p xmlns:a="http://schemas.openxmlformats.org/drawingml/2006/main">
            <a:r>
              <a:t/>
            </a:r>
          </a:p>
          <a:p xmlns:a="http://schemas.openxmlformats.org/drawingml/2006/main">
            <a:r>
              <a:t>Work</a:t>
            </a:r>
          </a:p>
          <a:p xmlns:a="http://schemas.openxmlformats.org/drawingml/2006/main">
            <a:r>
              <a:t>Extend the existing dashboard incrementally with a NATS-facing interface plugin that maps authorized state/events to a pinned AG-UI contract for CopilotKit.</a:t>
            </a:r>
          </a:p>
          <a:p xmlns:a="http://schemas.openxmlformats.org/drawingml/2006/main">
            <a:r>
              <a:t>Retain the ten existing views and their useful actions. Extract reusable behavior and migrate components in slices; add plans, cross-hub activity, evidence, decision/cost views and domain slots without losing terminal or operator workflows.</a:t>
            </a:r>
          </a:p>
          <a:p xmlns:a="http://schemas.openxmlformats.org/drawingml/2006/main">
            <a:r>
              <a:t>Use snapshots, ordered deltas, stable IDs/cursors, resynchronization, redaction, and explicit unknown/stale state.</a:t>
            </a:r>
          </a:p>
          <a:p xmlns:a="http://schemas.openxmlformats.org/drawingml/2006/main">
            <a:r>
              <a:t>Use atoms, molecules, organisms, templates, and feature/page composition. Implement keyboard, contrast, accessible names, empty/error/offline states.</a:t>
            </a:r>
          </a:p>
          <a:p xmlns:a="http://schemas.openxmlformats.org/drawingml/2006/main">
            <a:r>
              <a:t>Include approvals and run controls only to the approved scope. Commands always return to their authoritative owner over NATS.</a:t>
            </a:r>
          </a:p>
          <a:p xmlns:a="http://schemas.openxmlformats.org/drawingml/2006/main">
            <a:r>
              <a:t>Read authorized NATS-backed views with source revisions/checkpoint cursors. Show lag or rebuild status explicitly; destructive controls revalidate at the record owner instead of trusting cached display state.</a:t>
            </a:r>
          </a:p>
          <a:p xmlns:a="http://schemas.openxmlformats.org/drawingml/2006/main">
            <a:r>
              <a:t>Apply ADD-01 and the component preservation matrix to every changed source file and affected caller. Record reuse, intentional behavior changes, migration needs and the specific added functionality before editing implementation.</a:t>
            </a:r>
          </a:p>
          <a:p xmlns:a="http://schemas.openxmlformats.org/drawingml/2006/main">
            <a:r>
              <a:t/>
            </a:r>
          </a:p>
          <a:p xmlns:a="http://schemas.openxmlformats.org/drawingml/2006/main">
            <a:r>
              <a:t>Acceptance criteria</a:t>
            </a:r>
          </a:p>
          <a:p xmlns:a="http://schemas.openxmlformats.org/drawingml/2006/main">
            <a:r>
              <a:t>P07-AC01: Refresh, reconnect, duplicate events, delayed events, and history gaps converge to the same authorized view without starting work.</a:t>
            </a:r>
          </a:p>
          <a:p xmlns:a="http://schemas.openxmlformats.org/drawingml/2006/main">
            <a:r>
              <a:t>P07-AC02: An unauthorized user cannot access another project's snapshots, streams, conversation, or artifact by guessing an ID.</a:t>
            </a:r>
          </a:p>
          <a:p xmlns:a="http://schemas.openxmlformats.org/drawingml/2006/main">
            <a:r>
              <a:t>P07-AC03: Every displayed completion or cancellation state distinguishes worker output from accepted/confirmed state.</a:t>
            </a:r>
          </a:p>
          <a:p xmlns:a="http://schemas.openxmlformats.org/drawingml/2006/main">
            <a:r>
              <a:t>P07-AC04: Domain UI contributions use versioned registered components. Core views remain usable when an optional plugin fails.</a:t>
            </a:r>
          </a:p>
          <a:p xmlns:a="http://schemas.openxmlformats.org/drawingml/2006/main">
            <a:r>
              <a:t>P07-AC05: Reusable component boundaries and accessibility checks pass for all launch views.</a:t>
            </a:r>
          </a:p>
          <a:p xmlns:a="http://schemas.openxmlformats.org/drawingml/2006/main">
            <a:r>
              <a:t>P07-AC06: All ten existing dashboard views and their actions, terminal streams, saved preferences, editor conflicts, themes and integration panels have reviewed before/after evidence. Existing capabilities remain reachable until their replacements pass; AG-UI and component restructuring do not authorize dropping controls.</a:t>
            </a:r>
          </a:p>
          <a:p xmlns:a="http://schemas.openxmlformats.org/drawingml/2006/main">
            <a:r>
              <a:t/>
            </a:r>
          </a:p>
          <a:p xmlns:a="http://schemas.openxmlformats.org/drawingml/2006/main">
            <a:r>
              <a:t>Verification</a:t>
            </a:r>
          </a:p>
          <a:p xmlns:a="http://schemas.openxmlformats.org/drawingml/2006/main">
            <a:r>
              <a:t>Run multi-viewer browser tests, revoked-session tests, stream replay, and network interruptions.</a:t>
            </a:r>
          </a:p>
          <a:p xmlns:a="http://schemas.openxmlformats.org/drawingml/2006/main">
            <a:r>
              <a:t>Compare UI snapshots to authoritative records after each failure scenario.</a:t>
            </a:r>
          </a:p>
          <a:p xmlns:a="http://schemas.openxmlformats.org/drawingml/2006/main">
            <a:r>
              <a:t>Run component dependency checks, keyboard/screen-reader review, and visual regression tests.</a:t>
            </a:r>
          </a:p>
          <a:p xmlns:a="http://schemas.openxmlformats.org/drawingml/2006/main">
            <a:r>
              <a:t>Run the component coverage validator, review newly added or changed entry points, and attach the owning component checks to the phase gate. Compare existing and candidate behavior in isolated environments; do not run old and new writers against the same live records.</a:t>
            </a:r>
          </a:p>
          <a:p xmlns:a="http://schemas.openxmlformats.org/drawingml/2006/main">
            <a:r>
              <a:t/>
            </a:r>
          </a:p>
          <a:p xmlns:a="http://schemas.openxmlformats.org/drawingml/2006/main">
            <a:r>
              <a:t>Evidence</a:t>
            </a:r>
          </a:p>
          <a:p xmlns:a="http://schemas.openxmlformats.org/drawingml/2006/main">
            <a:r>
              <a:t>AG-UI event mapping</a:t>
            </a:r>
          </a:p>
          <a:p xmlns:a="http://schemas.openxmlformats.org/drawingml/2006/main">
            <a:r>
              <a:t>UI extension and accessibility reports</a:t>
            </a:r>
          </a:p>
          <a:p xmlns:a="http://schemas.openxmlformats.org/drawingml/2006/main">
            <a:r>
              <a:t>Dashboard before/after demonstration</a:t>
            </a:r>
          </a:p>
          <a:p xmlns:a="http://schemas.openxmlformats.org/drawingml/2006/main">
            <a:r>
              <a:t>Component reuse decisions, baseline/candidate results, gain evidence and approved exceptions for ADD-01</a:t>
            </a:r>
          </a:p>
          <a:p xmlns:a="http://schemas.openxmlformats.org/drawingml/2006/main">
            <a:r>
              <a:t>Rollback: Retain CLI access and pin the prior interface/UI version. A UI rollback cannot roll back task ownership.</a:t>
            </a:r>
          </a:p>
          <a:p xmlns:a="http://schemas.openxmlformats.org/drawingml/2006/main">
            <a:r>
              <a:t/>
            </a:r>
          </a:p>
          <a:p xmlns:a="http://schemas.openxmlformats.org/drawingml/2006/main">
            <a:r>
              <a:t>Owned existing components</a:t>
            </a:r>
          </a:p>
          <a:p xmlns:a="http://schemas.openxmlformats.org/drawingml/2006/main">
            <a:r>
              <a:t>DASH-01: Existing dashboard shell, ten views, terminal grid and preferences; extract; checks DASH-01-C01, DASH-01-C02, DASH-01-C03</a:t>
            </a:r>
          </a:p>
          <a:p xmlns:a="http://schemas.openxmlformats.org/drawingml/2006/main">
            <a:r>
              <a:t>DASH-08: Hub observation panel; wrap; checks DASH-08-C01, DASH-08-C02</a:t>
            </a:r>
          </a:p>
          <a:p xmlns:a="http://schemas.openxmlformats.org/drawingml/2006/main">
            <a:r>
              <a:t>DASH-30: Real browser dashboard workflow suite; extend; checks DASH-30-C01, DASH-30-C02</a:t>
            </a:r>
          </a:p>
          <a:p xmlns:a="http://schemas.openxmlformats.org/drawingml/2006/main">
            <a:r>
              <a:t>DASH-35: Existing branding and session-state assets; retain; checks DASH-35-C01, DASH-35-C02</a:t>
            </a:r>
          </a:p>
          <a:p xmlns:a="http://schemas.openxmlformats.org/drawingml/2006/main">
            <a:r>
              <a:t>REPO-08: Historical handover and reference screenshots; retain-evidence; checks REPO-08-C01</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C:/Users/RyanHelms/GitHub/agentmux/docs/planning/2026-10-09/component-preservation.md</a:t>
            </a:r>
          </a:p>
          <a:p xmlns:a="http://schemas.openxmlformats.org/drawingml/2006/main">
            <a:r>
              <a:t>C:/Users/RyanHelms/GitHub/agentmux/docs/planning/2026-10-09/component-inventory.json</a:t>
            </a:r>
          </a:p>
          <a:p xmlns:a="http://schemas.openxmlformats.org/drawingml/2006/main">
            <a:r>
              <a:t>C:/Users/RyanHelms/GitHub/agentmux/docs/planning/2026-10-09/phases.json</a:t>
            </a:r>
          </a:p>
          <a:p xmlns:a="http://schemas.openxmlformats.org/drawingml/2006/main">
            <a:r>
              <a:t>C:/Users/RyanHelms/GitHub/agentmux/docs/planning/2026-10-09/gate-record.template.json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No runtime comparison or acceptance criterion is claimed passed. ADD-01 applies to all affected callers and components, including those owned by another phase. Implementation remains paused.</a:t>
            </a:r>
          </a:p>
          <a:p xmlns:a="http://schemas.openxmlformats.org/drawingml/2006/main">
            <a:r>
              <a:t/>
            </a:r>
          </a:p>
          <a:p xmlns:a="http://schemas.openxmlformats.org/drawingml/2006/main">
            <a:r>
              <a:t>P08: Jev decision services and measured efficiency</a:t>
            </a:r>
          </a:p>
          <a:p xmlns:a="http://schemas.openxmlformats.org/drawingml/2006/main">
            <a:r>
              <a:t>Outcome: Plugins request bounded semantic advice with traceable evidence and safe fallback.</a:t>
            </a:r>
          </a:p>
          <a:p xmlns:a="http://schemas.openxmlformats.org/drawingml/2006/main">
            <a:r>
              <a:t/>
            </a:r>
          </a:p>
          <a:p xmlns:a="http://schemas.openxmlformats.org/drawingml/2006/main">
            <a:r>
              <a:t>Work</a:t>
            </a:r>
          </a:p>
          <a:p xmlns:a="http://schemas.openxmlformats.org/drawingml/2006/main">
            <a:r>
              <a:t>Implement a language-neutral decision service with optional Jev provider, versioned definitions/rubrics/schemas, scoped NATS requests, cache, budgets, cancellation, and evidence ledger.</a:t>
            </a:r>
          </a:p>
          <a:p xmlns:a="http://schemas.openxmlformats.org/drawingml/2006/main">
            <a:r>
              <a:t>Check exact rules and data-export authority before hosted inference. Distinguish known answer, abstention, partial evidence, unavailable provider, and ambiguous billing.</a:t>
            </a:r>
          </a:p>
          <a:p xmlns:a="http://schemas.openxmlformats.org/drawingml/2006/main">
            <a:r>
              <a:t>Support the eight reusable decision families and contributed definitions. Start in shadow/advisory mode for capability discovery, evidence selection, failure triage, and review.</a:t>
            </a:r>
          </a:p>
          <a:p xmlns:a="http://schemas.openxmlformats.org/drawingml/2006/main">
            <a:r>
              <a:t>Preserve exact source IDs/spans, required facts, contrary evidence, and context-expansion routes. Mandatory events bypass relevance filters.</a:t>
            </a:r>
          </a:p>
          <a:p xmlns:a="http://schemas.openxmlformats.org/drawingml/2006/main">
            <a:r>
              <a:t>Measure downstream tokens, provider costs, prompt-cache effects, latency, retries, rework, and accepted outcomes against a baseline.</a:t>
            </a:r>
          </a:p>
          <a:p xmlns:a="http://schemas.openxmlformats.org/drawingml/2006/main">
            <a:r>
              <a:t>Apply ADD-01 and the component preservation matrix to every changed source file and affected caller. Record reuse, intentional behavior changes, migration needs and the specific added functionality before editing implementation.</a:t>
            </a:r>
          </a:p>
          <a:p xmlns:a="http://schemas.openxmlformats.org/drawingml/2006/main">
            <a:r>
              <a:t/>
            </a:r>
          </a:p>
          <a:p xmlns:a="http://schemas.openxmlformats.org/drawingml/2006/main">
            <a:r>
              <a:t>Acceptance criteria</a:t>
            </a:r>
          </a:p>
          <a:p xmlns:a="http://schemas.openxmlformats.org/drawingml/2006/main">
            <a:r>
              <a:t>P08-AC01: Boot and core orchestration still work when Jev is disabled or unreachable, using documented fallbacks.</a:t>
            </a:r>
          </a:p>
          <a:p xmlns:a="http://schemas.openxmlformats.org/drawingml/2006/main">
            <a:r>
              <a:t>P08-AC02: Jev cannot grant authority, mutate kernel state, invent tool success, transfer task ownership, or accept a result.</a:t>
            </a:r>
          </a:p>
          <a:p xmlns:a="http://schemas.openxmlformats.org/drawingml/2006/main">
            <a:r>
              <a:t>P08-AC03: Cache keys bind tenant, scope, source/version, definition/model, and policy. Revoked sharing cannot return a cached restricted result.</a:t>
            </a:r>
          </a:p>
          <a:p xmlns:a="http://schemas.openxmlformats.org/drawingml/2006/main">
            <a:r>
              <a:t>P08-AC04: All calls obey size/time/budget limits and account for failed/uncertain attempts. Replay of stored annotations makes no new paid call.</a:t>
            </a:r>
          </a:p>
          <a:p xmlns:a="http://schemas.openxmlformats.org/drawingml/2006/main">
            <a:r>
              <a:t>P08-AC05: Each enabled definition passes its own labeled holdout criteria and workflow non-regression threshold before promotion.</a:t>
            </a:r>
          </a:p>
          <a:p xmlns:a="http://schemas.openxmlformats.org/drawingml/2006/main">
            <a:r>
              <a:t>P08-AC06: Every affected existing component retains its documented behavior through reused code or a justified replacement. Its baseline and candidate checks, migration checks, and added capability evidence are reviewed before advancement. Missing environments remain open; removal or reduced capability requires Ryan's explicit approval after review with Nick.</a:t>
            </a:r>
          </a:p>
          <a:p xmlns:a="http://schemas.openxmlformats.org/drawingml/2006/main">
            <a:r>
              <a:t/>
            </a:r>
          </a:p>
          <a:p xmlns:a="http://schemas.openxmlformats.org/drawingml/2006/main">
            <a:r>
              <a:t>Verification</a:t>
            </a:r>
          </a:p>
          <a:p xmlns:a="http://schemas.openxmlformats.org/drawingml/2006/main">
            <a:r>
              <a:t>Run the existing synthetic examples and 44-case policy illustration as historical inputs, then extend with real service and NATS tests.</a:t>
            </a:r>
          </a:p>
          <a:p xmlns:a="http://schemas.openxmlformats.org/drawingml/2006/main">
            <a:r>
              <a:t>Evaluate with provider mocks for mechanics, separately with capped live calls for semantic quality after local token configuration and budget approval.</a:t>
            </a:r>
          </a:p>
          <a:p xmlns:a="http://schemas.openxmlformats.org/drawingml/2006/main">
            <a:r>
              <a:t>Compare deterministic baseline, Jev tools only, and tools plus skills on equivalent fresh tasks.</a:t>
            </a:r>
          </a:p>
          <a:p xmlns:a="http://schemas.openxmlformats.org/drawingml/2006/main">
            <a:r>
              <a:t>Run the component coverage validator, review newly added or changed entry points, and attach the owning component checks to the phase gate. Compare existing and candidate behavior in isolated environments; do not run old and new writers against the same live records.</a:t>
            </a:r>
          </a:p>
          <a:p xmlns:a="http://schemas.openxmlformats.org/drawingml/2006/main">
            <a:r>
              <a:t/>
            </a:r>
          </a:p>
          <a:p xmlns:a="http://schemas.openxmlformats.org/drawingml/2006/main">
            <a:r>
              <a:t>Evidence</a:t>
            </a:r>
          </a:p>
          <a:p xmlns:a="http://schemas.openxmlformats.org/drawingml/2006/main">
            <a:r>
              <a:t>Decision contracts and policy ledger</a:t>
            </a:r>
          </a:p>
          <a:p xmlns:a="http://schemas.openxmlformats.org/drawingml/2006/main">
            <a:r>
              <a:t>Definition-specific scorecards</a:t>
            </a:r>
          </a:p>
          <a:p xmlns:a="http://schemas.openxmlformats.org/drawingml/2006/main">
            <a:r>
              <a:t>Cost per accepted outcome and fallback report</a:t>
            </a:r>
          </a:p>
          <a:p xmlns:a="http://schemas.openxmlformats.org/drawingml/2006/main">
            <a:r>
              <a:t>Component reuse decisions, baseline/candidate results, gain evidence and approved exceptions for ADD-01</a:t>
            </a:r>
          </a:p>
          <a:p xmlns:a="http://schemas.openxmlformats.org/drawingml/2006/main">
            <a:r>
              <a:t>Rollback: Disable a definition or provider and use the deterministic/manual fallback. Retain audit/evaluation history.</a:t>
            </a:r>
          </a:p>
          <a:p xmlns:a="http://schemas.openxmlformats.org/drawingml/2006/main">
            <a:r>
              <a:t/>
            </a:r>
          </a:p>
          <a:p xmlns:a="http://schemas.openxmlformats.org/drawingml/2006/main">
            <a:r>
              <a:t>Owned existing components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C:/Users/RyanHelms/GitHub/agentmux/docs/planning/2026-10-09/component-preservation.md</a:t>
            </a:r>
          </a:p>
          <a:p xmlns:a="http://schemas.openxmlformats.org/drawingml/2006/main">
            <a:r>
              <a:t>C:/Users/RyanHelms/GitHub/agentmux/docs/planning/2026-10-09/component-inventory.json</a:t>
            </a:r>
          </a:p>
          <a:p xmlns:a="http://schemas.openxmlformats.org/drawingml/2006/main">
            <a:r>
              <a:t>C:/Users/RyanHelms/GitHub/agentmux/docs/planning/2026-10-09/phases.json</a:t>
            </a:r>
          </a:p>
          <a:p xmlns:a="http://schemas.openxmlformats.org/drawingml/2006/main">
            <a:r>
              <a:t>C:/Users/RyanHelms/GitHub/agentmux/docs/planning/2026-10-09/gate-record.template.json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No runtime comparison or acceptance criterion is claimed passed. ADD-01 applies to all affected callers and components, including those owned by another phase. Implementation remains paused.</a:t>
            </a:r>
          </a:p>
          <a:p xmlns:a="http://schemas.openxmlformats.org/drawingml/2006/main">
            <a:r>
              <a:t/>
            </a:r>
          </a:p>
          <a:p xmlns:a="http://schemas.openxmlformats.org/drawingml/2006/main">
            <a:r>
              <a:t>P09: Portable Jev plugin and first skill wave</a:t>
            </a:r>
          </a:p>
          <a:p xmlns:a="http://schemas.openxmlformats.org/drawingml/2006/main">
            <a:r>
              <a:t>Outcome: The same Jev capabilities improve supported clients with host-specific packaging.</a:t>
            </a:r>
          </a:p>
          <a:p xmlns:a="http://schemas.openxmlformats.org/drawingml/2006/main">
            <a:r>
              <a:t/>
            </a:r>
          </a:p>
          <a:p xmlns:a="http://schemas.openxmlformats.org/drawingml/2006/main">
            <a:r>
              <a:t>Work</a:t>
            </a:r>
          </a:p>
          <a:p xmlns:a="http://schemas.openxmlformats.org/drawingml/2006/main">
            <a:r>
              <a:t>Build one shared Jev CLI/MCP runtime and portable skill content with separate Claude, Codex, Pi, and Desktop packaging.</a:t>
            </a:r>
          </a:p>
          <a:p xmlns:a="http://schemas.openxmlformats.org/drawingml/2006/main">
            <a:r>
              <a:t>Keep standalone Jev usable without Agentmux or NATS. In Agentmux mode route decision requests through scoped hub services.</a:t>
            </a:r>
          </a:p>
          <a:p xmlns:a="http://schemas.openxmlformats.org/drawingml/2006/main">
            <a:r>
              <a:t>Create the proposed first general skill wave: setup, classify, scout, context, triage, review, author, and eval.</a:t>
            </a:r>
          </a:p>
          <a:p xmlns:a="http://schemas.openxmlformats.org/drawingml/2006/main">
            <a:r>
              <a:t>Create the first Agentmux wave: prepare-worker, delegate, inspect-hub, and review-results. Qualify local-hub behavior in P09 and keep remote-hub modes disabled until P10 actual-hub acceptance. Keep final delegation authorization with platform owners.</a:t>
            </a:r>
          </a:p>
          <a:p xmlns:a="http://schemas.openxmlformats.org/drawingml/2006/main">
            <a:r>
              <a:t>Use skill-creator to draft, run paired behavioral and trigger tests, review results, revise, and qualify untouched holdout cases.</a:t>
            </a:r>
          </a:p>
          <a:p xmlns:a="http://schemas.openxmlformats.org/drawingml/2006/main">
            <a:r>
              <a:t>Apply ADD-01 and the component preservation matrix to every changed source file and affected caller. Record reuse, intentional behavior changes, migration needs and the specific added functionality before editing implementation.</a:t>
            </a:r>
          </a:p>
          <a:p xmlns:a="http://schemas.openxmlformats.org/drawingml/2006/main">
            <a:r>
              <a:t/>
            </a:r>
          </a:p>
          <a:p xmlns:a="http://schemas.openxmlformats.org/drawingml/2006/main">
            <a:r>
              <a:t>Acceptance criteria</a:t>
            </a:r>
          </a:p>
          <a:p xmlns:a="http://schemas.openxmlformats.org/drawingml/2006/main">
            <a:r>
              <a:t>P09-AC01: All first-wave skills have a clear trigger, declared input/output, real use case, error/fallback behavior, and evaluation fixtures.</a:t>
            </a:r>
          </a:p>
          <a:p xmlns:a="http://schemas.openxmlformats.org/drawingml/2006/main">
            <a:r>
              <a:t>P09-AC02: Whole-suite near-miss tests show skills do not compete unnecessarily or trigger a broad ask-everything path.</a:t>
            </a:r>
          </a:p>
          <a:p xmlns:a="http://schemas.openxmlformats.org/drawingml/2006/main">
            <a:r>
              <a:t>P09-AC03: Every claimed host capability passes on that actual host. Unsupported hooks/compaction are declared.</a:t>
            </a:r>
          </a:p>
          <a:p xmlns:a="http://schemas.openxmlformats.org/drawingml/2006/main">
            <a:r>
              <a:t>P09-AC04: Skills preserve counterevidence and required obligations and cannot override system permissions or invent authority.</a:t>
            </a:r>
          </a:p>
          <a:p xmlns:a="http://schemas.openxmlformats.org/drawingml/2006/main">
            <a:r>
              <a:t>P09-AC05: Live semantic and end-to-end cost gates pass before the corresponding skill is enabled by default.</a:t>
            </a:r>
          </a:p>
          <a:p xmlns:a="http://schemas.openxmlformats.org/drawingml/2006/main">
            <a:r>
              <a:t>P09-AC06: Every affected existing component retains its documented behavior through reused code or a justified replacement. Its baseline and candidate checks, migration checks, and added capability evidence are reviewed before advancement. Missing environments remain open; removal or reduced capability requires Ryan's explicit approval after review with Nick.</a:t>
            </a:r>
          </a:p>
          <a:p xmlns:a="http://schemas.openxmlformats.org/drawingml/2006/main">
            <a:r>
              <a:t/>
            </a:r>
          </a:p>
          <a:p xmlns:a="http://schemas.openxmlformats.org/drawingml/2006/main">
            <a:r>
              <a:t>Verification</a:t>
            </a:r>
          </a:p>
          <a:p xmlns:a="http://schemas.openxmlformats.org/drawingml/2006/main">
            <a:r>
              <a:t>Run approximately 20 positive/near-miss trigger prompts per skill and representative task pairs plus shared boundary cases.</a:t>
            </a:r>
          </a:p>
          <a:p xmlns:a="http://schemas.openxmlformats.org/drawingml/2006/main">
            <a:r>
              <a:t>Use independent review and separate tuning/validation/release sets.</a:t>
            </a:r>
          </a:p>
          <a:p xmlns:a="http://schemas.openxmlformats.org/drawingml/2006/main">
            <a:r>
              <a:t>Measure skill discovery metadata overhead, context cost, accuracy, and accepted outcomes across hosts.</a:t>
            </a:r>
          </a:p>
          <a:p xmlns:a="http://schemas.openxmlformats.org/drawingml/2006/main">
            <a:r>
              <a:t>Run the component coverage validator, review newly added or changed entry points, and attach the owning component checks to the phase gate. Compare existing and candidate behavior in isolated environments; do not run old and new writers against the same live records.</a:t>
            </a:r>
          </a:p>
          <a:p xmlns:a="http://schemas.openxmlformats.org/drawingml/2006/main">
            <a:r>
              <a:t/>
            </a:r>
          </a:p>
          <a:p xmlns:a="http://schemas.openxmlformats.org/drawingml/2006/main">
            <a:r>
              <a:t>Evidence</a:t>
            </a:r>
          </a:p>
          <a:p xmlns:a="http://schemas.openxmlformats.org/drawingml/2006/main">
            <a:r>
              <a:t>Host packages and skill catalog</a:t>
            </a:r>
          </a:p>
          <a:p xmlns:a="http://schemas.openxmlformats.org/drawingml/2006/main">
            <a:r>
              <a:t>Paired skill-creator evaluation reports</a:t>
            </a:r>
          </a:p>
          <a:p xmlns:a="http://schemas.openxmlformats.org/drawingml/2006/main">
            <a:r>
              <a:t>Cross-host conformance and release holdout</a:t>
            </a:r>
          </a:p>
          <a:p xmlns:a="http://schemas.openxmlformats.org/drawingml/2006/main">
            <a:r>
              <a:t>Component reuse decisions, baseline/candidate results, gain evidence and approved exceptions for ADD-01</a:t>
            </a:r>
          </a:p>
          <a:p xmlns:a="http://schemas.openxmlformats.org/drawingml/2006/main">
            <a:r>
              <a:t>Rollback: Disable or uninstall the specific skill/package, preserve user config, and retain CLI/MCP access where independently qualified.</a:t>
            </a:r>
          </a:p>
          <a:p xmlns:a="http://schemas.openxmlformats.org/drawingml/2006/main">
            <a:r>
              <a:t/>
            </a:r>
          </a:p>
          <a:p xmlns:a="http://schemas.openxmlformats.org/drawingml/2006/main">
            <a:r>
              <a:t>Owned existing components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C:/Users/RyanHelms/GitHub/agentmux/docs/planning/2026-10-09/component-preservation.md</a:t>
            </a:r>
          </a:p>
          <a:p xmlns:a="http://schemas.openxmlformats.org/drawingml/2006/main">
            <a:r>
              <a:t>C:/Users/RyanHelms/GitHub/agentmux/docs/planning/2026-10-09/component-inventory.json</a:t>
            </a:r>
          </a:p>
          <a:p xmlns:a="http://schemas.openxmlformats.org/drawingml/2006/main">
            <a:r>
              <a:t>C:/Users/RyanHelms/GitHub/agentmux/docs/planning/2026-10-09/phases.json</a:t>
            </a:r>
          </a:p>
          <a:p xmlns:a="http://schemas.openxmlformats.org/drawingml/2006/main">
            <a:r>
              <a:t>C:/Users/RyanHelms/GitHub/agentmux/docs/planning/2026-10-09/gate-record.template.json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No runtime comparison or acceptance criterion is claimed passed. ADD-01 applies to all affected callers and components, including those owned by another phase. Implementation remains paused.</a:t>
            </a:r>
          </a:p>
          <a:p xmlns:a="http://schemas.openxmlformats.org/drawingml/2006/main">
            <a:r>
              <a:t/>
            </a:r>
          </a:p>
          <a:p xmlns:a="http://schemas.openxmlformats.org/drawingml/2006/main">
            <a:r>
              <a:t>P10: Connected hubs, leaf nodes, and cross-organization work</a:t>
            </a:r>
          </a:p>
          <a:p xmlns:a="http://schemas.openxmlformats.org/drawingml/2006/main">
            <a:r>
              <a:t>Outcome: Independent teams share authorized work while retaining their own authority.</a:t>
            </a:r>
          </a:p>
          <a:p xmlns:a="http://schemas.openxmlformats.org/drawingml/2006/main">
            <a:r>
              <a:t/>
            </a:r>
          </a:p>
          <a:p xmlns:a="http://schemas.openxmlformats.org/drawingml/2006/main">
            <a:r>
              <a:t>Work</a:t>
            </a:r>
          </a:p>
          <a:p xmlns:a="http://schemas.openxmlformats.org/drawingml/2006/main">
            <a:r>
              <a:t>Extend current federation capability. Move one recorded protocol and persistence boundary at a time, preserving existing messages, work, board, knowledge, code and deployment administration workflows.</a:t>
            </a:r>
          </a:p>
          <a:p xmlns:a="http://schemas.openxmlformats.org/drawingml/2006/main">
            <a:r>
              <a:t>Implement scoped trust agreements, node/peer enrollment, NATS leaf topology, independent JetStream domains where needed, and selective sharing/replication.</a:t>
            </a:r>
          </a:p>
          <a:p xmlns:a="http://schemas.openxmlformats.org/drawingml/2006/main">
            <a:r>
              <a:t>Publish authorized capabilities and capacity. Filter deterministic eligibility before optional Jev suitability scoring and revalidate at offer time.</a:t>
            </a:r>
          </a:p>
          <a:p xmlns:a="http://schemas.openxmlformats.org/drawingml/2006/main">
            <a:r>
              <a:t>Implement durable offer, acceptance, reservation, execution reporting, result submission, origin acceptance, reconciliation, revocation, and explicit reassignment.</a:t>
            </a:r>
          </a:p>
          <a:p xmlns:a="http://schemas.openxmlformats.org/drawingml/2006/main">
            <a:r>
              <a:t>Support work/context/artifacts/code/findings/messages/board projections with authenticated provenance, digests, visibility, and retention.</a:t>
            </a:r>
          </a:p>
          <a:p xmlns:a="http://schemas.openxmlformats.org/drawingml/2006/main">
            <a:r>
              <a:t>Add automatic receiving-hub acceptance inside approved rules, pending human approval for review-required work, and rejection for hard-denied work. Enforce any onward delegation/export separately.</a:t>
            </a:r>
          </a:p>
          <a:p xmlns:a="http://schemas.openxmlformats.org/drawingml/2006/main">
            <a:r>
              <a:t>Qualify and enable the remote-hub modes of P09 delegate, inspect-hub, and review-results skills on real connected hubs and supported clients. Their earlier local qualification does not count as federation evidence.</a:t>
            </a:r>
          </a:p>
          <a:p xmlns:a="http://schemas.openxmlformats.org/drawingml/2006/main">
            <a:r>
              <a:t>Use separate persistent JetStream domains for hubs that must operate autonomously. Share selected authorized records and views, preserve origin task versus receiver execution authority, and reconcile replication gaps without treating mirrors or merged sources as a shared mutable task.</a:t>
            </a:r>
          </a:p>
          <a:p xmlns:a="http://schemas.openxmlformats.org/drawingml/2006/main">
            <a:r>
              <a:t>Apply ADD-01 and the component preservation matrix to every changed source file and affected caller. Record reuse, intentional behavior changes, migration needs and the specific added functionality before editing implementation.</a:t>
            </a:r>
          </a:p>
          <a:p xmlns:a="http://schemas.openxmlformats.org/drawingml/2006/main">
            <a:r>
              <a:t/>
            </a:r>
          </a:p>
          <a:p xmlns:a="http://schemas.openxmlformats.org/drawingml/2006/main">
            <a:r>
              <a:t>Acceptance criteria</a:t>
            </a:r>
          </a:p>
          <a:p xmlns:a="http://schemas.openxmlformats.org/drawingml/2006/main">
            <a:r>
              <a:t>P10-AC01: Same-organization and cross-organization reference workflows both finish with origin-owned result acceptance.</a:t>
            </a:r>
          </a:p>
          <a:p xmlns:a="http://schemas.openxmlformats.org/drawingml/2006/main">
            <a:r>
              <a:t>P10-AC02: Accepted work stays reserved while disconnected. Missing acceptance acknowledgment remains ambiguous until reconciled, never automatically redispatched.</a:t>
            </a:r>
          </a:p>
          <a:p xmlns:a="http://schemas.openxmlformats.org/drawingml/2006/main">
            <a:r>
              <a:t>P10-AC03: Duplicate offer/result delivery creates one delegation/attempt outcome. Wrong executor, project, repository, or task version is rejected. Stale grants cannot authorize new effects. Authenticated historical results from previously authorized reserved work are retained for reconciliation or quarantine when current policy requires it; grant expiry cannot erase the obligation or its evidence.</a:t>
            </a:r>
          </a:p>
          <a:p xmlns:a="http://schemas.openxmlformats.org/drawingml/2006/main">
            <a:r>
              <a:t>P10-AC04: Unauthorized accounts cannot subscribe to private project subjects or fetch protected artifacts. Transitive hub connectivity grants no access.</a:t>
            </a:r>
          </a:p>
          <a:p xmlns:a="http://schemas.openxmlformats.org/drawingml/2006/main">
            <a:r>
              <a:t>P10-AC05: Reconnect recovers progress/results and durable revocations. A stop request is not reported as execution stopped until confirmed or clearly unknown.</a:t>
            </a:r>
          </a:p>
          <a:p xmlns:a="http://schemas.openxmlformats.org/drawingml/2006/main">
            <a:r>
              <a:t>P10-AC06: A leaf outage and independent local persistence produce the agreed offline behavior without treating broker connectivity as shared ownership.</a:t>
            </a:r>
          </a:p>
          <a:p xmlns:a="http://schemas.openxmlformats.org/drawingml/2006/main">
            <a:r>
              <a:t>P10-AC07: After a partition, mirror lag, retention gap or restoration of an older origin snapshot, hubs reconcile authoritative task and execution records before admitting overlapping work. Replication never grants write authority, and accepted or acceptance-unknown work remains reserved.</a:t>
            </a:r>
          </a:p>
          <a:p xmlns:a="http://schemas.openxmlformats.org/drawingml/2006/main">
            <a:r>
              <a:t>P10-AC08: Migration fixtures retain current hub verbs, five federation plugins, pending outbox/quarantine records, seen IDs, durable consumer positions, shared-board revisions, knowledge search/capture and code pointers. Existing account, credential and ACL installations have an approved migration path.</a:t>
            </a:r>
          </a:p>
          <a:p xmlns:a="http://schemas.openxmlformats.org/drawingml/2006/main">
            <a:r>
              <a:t/>
            </a:r>
          </a:p>
          <a:p xmlns:a="http://schemas.openxmlformats.org/drawingml/2006/main">
            <a:r>
              <a:t>Verification</a:t>
            </a:r>
          </a:p>
          <a:p xmlns:a="http://schemas.openxmlformats.org/drawingml/2006/main">
            <a:r>
              <a:t>Run at least three hubs and two independently administered organizations with real accounts/leaf links and isolated stores.</a:t>
            </a:r>
          </a:p>
          <a:p xmlns:a="http://schemas.openxmlformats.org/drawingml/2006/main">
            <a:r>
              <a:t>Inject partitions before/after offer acceptance, drop replies, duplicate deliveries, restart hubs, expire/revoke grants, and alter task versions.</a:t>
            </a:r>
          </a:p>
          <a:p xmlns:a="http://schemas.openxmlformats.org/drawingml/2006/main">
            <a:r>
              <a:t>Exercise explicit cancel/reassign with a possibly running old worker and document unavoidable external-effect uncertainty.</a:t>
            </a:r>
          </a:p>
          <a:p xmlns:a="http://schemas.openxmlformats.org/drawingml/2006/main">
            <a:r>
              <a:t>Snapshot the origin before a remote acceptance, let the receiver accept and continue, restore that older origin snapshot, and require reconciliation before overlapping admission. Verify one reservation and no duplicate execution.</a:t>
            </a:r>
          </a:p>
          <a:p xmlns:a="http://schemas.openxmlformats.org/drawingml/2006/main">
            <a:r>
              <a:t>Disconnect beyond configured stream-retention and deduplication horizons using short test limits, then prune, restart, and reconnect. Require gap detection, snapshot/reconciliation or explicit intervention, preserved reservations, and no duplicate effects.</a:t>
            </a:r>
          </a:p>
          <a:p xmlns:a="http://schemas.openxmlformats.org/drawingml/2006/main">
            <a:r>
              <a:t>Run the component coverage validator, review newly added or changed entry points, and attach the owning component checks to the phase gate. Compare existing and candidate behavior in isolated environments; do not run old and new writers against the same live records.</a:t>
            </a:r>
          </a:p>
          <a:p xmlns:a="http://schemas.openxmlformats.org/drawingml/2006/main">
            <a:r>
              <a:t/>
            </a:r>
          </a:p>
          <a:p xmlns:a="http://schemas.openxmlformats.org/drawingml/2006/main">
            <a:r>
              <a:t>Evidence</a:t>
            </a:r>
          </a:p>
          <a:p xmlns:a="http://schemas.openxmlformats.org/drawingml/2006/main">
            <a:r>
              <a:t>Federation state-machine and authority tests</a:t>
            </a:r>
          </a:p>
          <a:p xmlns:a="http://schemas.openxmlformats.org/drawingml/2006/main">
            <a:r>
              <a:t>Partition/reconciliation matrix</a:t>
            </a:r>
          </a:p>
          <a:p xmlns:a="http://schemas.openxmlformats.org/drawingml/2006/main">
            <a:r>
              <a:t>Cross-organization demo with auditable evidence</a:t>
            </a:r>
          </a:p>
          <a:p xmlns:a="http://schemas.openxmlformats.org/drawingml/2006/main">
            <a:r>
              <a:t>Independent-domain storage, retention-gap and older-origin recovery reports</a:t>
            </a:r>
          </a:p>
          <a:p xmlns:a="http://schemas.openxmlformats.org/drawingml/2006/main">
            <a:r>
              <a:t>Component reuse decisions, baseline/candidate results, gain evidence and approved exceptions for ADD-01</a:t>
            </a:r>
          </a:p>
          <a:p xmlns:a="http://schemas.openxmlformats.org/drawingml/2006/main">
            <a:r>
              <a:t>Rollback: Disable new links and stop new offers. Preserve reservations and reconcile accepted work before returning to a prior federation version.</a:t>
            </a:r>
          </a:p>
          <a:p xmlns:a="http://schemas.openxmlformats.org/drawingml/2006/main">
            <a:r>
              <a:t/>
            </a:r>
          </a:p>
          <a:p xmlns:a="http://schemas.openxmlformats.org/drawingml/2006/main">
            <a:r>
              <a:t>Owned existing components</a:t>
            </a:r>
          </a:p>
          <a:p xmlns:a="http://schemas.openxmlformats.org/drawingml/2006/main">
            <a:r>
              <a:t>HUB-08: Existing core-NATS bridge; wrap; checks HUB-08-C01, HUB-08-C02</a:t>
            </a:r>
          </a:p>
          <a:p xmlns:a="http://schemas.openxmlformats.org/drawingml/2006/main">
            <a:r>
              <a:t>HUB-10: Federation runtime, supervision, control and observations; extract; checks HUB-10-C01, HUB-10-C02, HUB-10-C03</a:t>
            </a:r>
          </a:p>
          <a:p xmlns:a="http://schemas.openxmlformats.org/drawingml/2006/main">
            <a:r>
              <a:t>HUB-16: Federation messages and handoffs plugin; extract; checks HUB-16-C01, HUB-16-C02</a:t>
            </a:r>
          </a:p>
          <a:p xmlns:a="http://schemas.openxmlformats.org/drawingml/2006/main">
            <a:r>
              <a:t>HUB-17: Federated work distribution and result plugin; extend; checks HUB-17-C01, HUB-17-C02, HUB-17-C03</a:t>
            </a:r>
          </a:p>
          <a:p xmlns:a="http://schemas.openxmlformats.org/drawingml/2006/main">
            <a:r>
              <a:t>HUB-18: Shared board plugin and local mirror; extend; checks HUB-18-C01, HUB-18-C02</a:t>
            </a:r>
          </a:p>
          <a:p xmlns:a="http://schemas.openxmlformats.org/drawingml/2006/main">
            <a:r>
              <a:t>HUB-19: Shared knowledge, offline search, capture and notifications; extract; checks HUB-19-C01, HUB-19-C02, HUB-19-C03</a:t>
            </a:r>
          </a:p>
          <a:p xmlns:a="http://schemas.openxmlformats.org/drawingml/2006/main">
            <a:r>
              <a:t>HUB-20: Git code sharing and verified fetch plugin; extract; checks HUB-20-C01, HUB-20-C02</a:t>
            </a:r>
          </a:p>
          <a:p xmlns:a="http://schemas.openxmlformats.org/drawingml/2006/main">
            <a:r>
              <a:t>HUB-23: NATS deployment, account enrollment and credentials; extend; checks HUB-23-C01, HUB-23-C02, HUB-23-C03</a:t>
            </a:r>
          </a:p>
          <a:p xmlns:a="http://schemas.openxmlformats.org/drawingml/2006/main">
            <a:r>
              <a:t>HUB-25: Cross-user federation walkthrough and live-agent demo; retain-evidence; checks HUB-25-C01, HUB-25-C02</a:t>
            </a:r>
          </a:p>
          <a:p xmlns:a="http://schemas.openxmlformats.org/drawingml/2006/main">
            <a:r>
              <a:t>DASH-09: Federation panel and operator actions; wrap; checks DASH-09-C01, DASH-09-C02</a:t>
            </a:r>
          </a:p>
          <a:p xmlns:a="http://schemas.openxmlformats.org/drawingml/2006/main">
            <a:r>
              <a:t>REPO-07: Hub, federation and transport specifications; extend; checks REPO-07-C01</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C:/Users/RyanHelms/GitHub/agentmux/docs/planning/2026-10-09/component-preservation.md</a:t>
            </a:r>
          </a:p>
          <a:p xmlns:a="http://schemas.openxmlformats.org/drawingml/2006/main">
            <a:r>
              <a:t>C:/Users/RyanHelms/GitHub/agentmux/docs/planning/2026-10-09/component-inventory.json</a:t>
            </a:r>
          </a:p>
          <a:p xmlns:a="http://schemas.openxmlformats.org/drawingml/2006/main">
            <a:r>
              <a:t>C:/Users/RyanHelms/GitHub/agentmux/docs/planning/2026-10-09/phases.json</a:t>
            </a:r>
          </a:p>
          <a:p xmlns:a="http://schemas.openxmlformats.org/drawingml/2006/main">
            <a:r>
              <a:t>C:/Users/RyanHelms/GitHub/agentmux/docs/planning/2026-10-09/gate-record.template.json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No runtime comparison or acceptance criterion is claimed passed. ADD-01 applies to all affected callers and components, including those owned by another phase. Implementation remains paused.</a:t>
            </a:r>
          </a:p>
          <a:p xmlns:a="http://schemas.openxmlformats.org/drawingml/2006/main">
            <a:r>
              <a:t/>
            </a:r>
          </a:p>
          <a:p xmlns:a="http://schemas.openxmlformats.org/drawingml/2006/main">
            <a:r>
              <a:t>P11: Industrial and vendor extension packages</a:t>
            </a:r>
          </a:p>
          <a:p xmlns:a="http://schemas.openxmlformats.org/drawingml/2006/main">
            <a:r>
              <a:t>Outcome: Industrial workflows extend Agentmux through the same contracts as other domains.</a:t>
            </a:r>
          </a:p>
          <a:p xmlns:a="http://schemas.openxmlformats.org/drawingml/2006/main">
            <a:r>
              <a:t/>
            </a:r>
          </a:p>
          <a:p xmlns:a="http://schemas.openxmlformats.org/drawingml/2006/main">
            <a:r>
              <a:t>Work</a:t>
            </a:r>
          </a:p>
          <a:p xmlns:a="http://schemas.openxmlformats.org/drawingml/2006/main">
            <a:r>
              <a:t>Package industrial orchestration guidance, tools, schemas, UI renderers, and skills with explicitly independent or parent-owned children.</a:t>
            </a:r>
          </a:p>
          <a:p xmlns:a="http://schemas.openxmlformats.org/drawingml/2006/main">
            <a:r>
              <a:t>Migrate current Modbus, MQTT, network discovery, PROFINET snapshot/DCP, passive BOOTP, EtherNet/IP/Logix, ADS, EtherCAT diagnostics, CODESYS runtime tooling, PCAP analysis, and existing engineering wrappers to declared capability plugins.</a:t>
            </a:r>
          </a:p>
          <a:p xmlns:a="http://schemas.openxmlformats.org/drawingml/2006/main">
            <a:r>
              <a:t>Define CODESYS, Siemens, Rockwell, and related vendor integration slices with actual licensed tool/OS/hardware prerequisites and test environments.</a:t>
            </a:r>
          </a:p>
          <a:p xmlns:a="http://schemas.openxmlformats.org/drawingml/2006/main">
            <a:r>
              <a:t>Add engineering build/migration/evidence skills and Jev definitions for diagnostics and source-preserving comparisons.</a:t>
            </a:r>
          </a:p>
          <a:p xmlns:a="http://schemas.openxmlformats.org/drawingml/2006/main">
            <a:r>
              <a:t>Implement read/simulation-first reference workflows and per-action permissions for equipment changes. Resolve any Windows-native execution host arrangement explicitly.</a:t>
            </a:r>
          </a:p>
          <a:p xmlns:a="http://schemas.openxmlformats.org/drawingml/2006/main">
            <a:r>
              <a:t>Inventory existing PCM600/ABB-related privilege hooks as integration requirements, preserving target/action confirmation and audit. Do not infer a complete vendor adapter from the existence of a guard hook.</a:t>
            </a:r>
          </a:p>
          <a:p xmlns:a="http://schemas.openxmlformats.org/drawingml/2006/main">
            <a:r>
              <a:t>Apply ADD-01 and the component preservation matrix to every changed source file and affected caller. Record reuse, intentional behavior changes, migration needs and the specific added functionality before editing implementation.</a:t>
            </a:r>
          </a:p>
          <a:p xmlns:a="http://schemas.openxmlformats.org/drawingml/2006/main">
            <a:r>
              <a:t/>
            </a:r>
          </a:p>
          <a:p xmlns:a="http://schemas.openxmlformats.org/drawingml/2006/main">
            <a:r>
              <a:t>Acceptance criteria</a:t>
            </a:r>
          </a:p>
          <a:p xmlns:a="http://schemas.openxmlformats.org/drawingml/2006/main">
            <a:r>
              <a:t>P11-AC01: A selected industrial workflow completes through client, orchestration, tool plugin, evidence, and dashboard without kernel or generic task-model changes.</a:t>
            </a:r>
          </a:p>
          <a:p xmlns:a="http://schemas.openxmlformats.org/drawingml/2006/main">
            <a:r>
              <a:t>P11-AC02: Standalone and nested installation of selected domain children behave as declared.</a:t>
            </a:r>
          </a:p>
          <a:p xmlns:a="http://schemas.openxmlformats.org/drawingml/2006/main">
            <a:r>
              <a:t>P11-AC03: Every migrated existing integration has a parity/deprecation record, tested tool/platform matrix, and explicit missing capability status.</a:t>
            </a:r>
          </a:p>
          <a:p xmlns:a="http://schemas.openxmlformats.org/drawingml/2006/main">
            <a:r>
              <a:t>P11-AC04: Equipment writes require the correct target/action/operation grant and any applicable human approval at the owning tool endpoint.</a:t>
            </a:r>
          </a:p>
          <a:p xmlns:a="http://schemas.openxmlformats.org/drawingml/2006/main">
            <a:r>
              <a:t>P11-AC05: A vendor adapter passes with the actual required tool or a clearly labeled simulator. Simulated success is never sold as hardware qualification.</a:t>
            </a:r>
          </a:p>
          <a:p xmlns:a="http://schemas.openxmlformats.org/drawingml/2006/main">
            <a:r>
              <a:t>P11-AC06: Every existing protocol, standalone library, CLI and dashboard integration has individual behavior evidence, including bounds and supported host/target versions. Narrowing the first demonstration does not retire an existing capability.</a:t>
            </a:r>
          </a:p>
          <a:p xmlns:a="http://schemas.openxmlformats.org/drawingml/2006/main">
            <a:r>
              <a:t/>
            </a:r>
          </a:p>
          <a:p xmlns:a="http://schemas.openxmlformats.org/drawingml/2006/main">
            <a:r>
              <a:t>Verification</a:t>
            </a:r>
          </a:p>
          <a:p xmlns:a="http://schemas.openxmlformats.org/drawingml/2006/main">
            <a:r>
              <a:t>Use protocol simulators and recorded fixtures, then controlled hardware/vendor environments for supported claims.</a:t>
            </a:r>
          </a:p>
          <a:p xmlns:a="http://schemas.openxmlformats.org/drawingml/2006/main">
            <a:r>
              <a:t>Test wrong device/project/version, timeout, partial writes, lost replies, credential failure, and disconnected grants.</a:t>
            </a:r>
          </a:p>
          <a:p xmlns:a="http://schemas.openxmlformats.org/drawingml/2006/main">
            <a:r>
              <a:t>Demonstrate missing Windows-native prerequisites as an actionable unsupported environment, not silent fallback.</a:t>
            </a:r>
          </a:p>
          <a:p xmlns:a="http://schemas.openxmlformats.org/drawingml/2006/main">
            <a:r>
              <a:t>Run the component coverage validator, review newly added or changed entry points, and attach the owning component checks to the phase gate. Compare existing and candidate behavior in isolated environments; do not run old and new writers against the same live records.</a:t>
            </a:r>
          </a:p>
          <a:p xmlns:a="http://schemas.openxmlformats.org/drawingml/2006/main">
            <a:r>
              <a:t/>
            </a:r>
          </a:p>
          <a:p xmlns:a="http://schemas.openxmlformats.org/drawingml/2006/main">
            <a:r>
              <a:t>Evidence</a:t>
            </a:r>
          </a:p>
          <a:p xmlns:a="http://schemas.openxmlformats.org/drawingml/2006/main">
            <a:r>
              <a:t>Domain package and vendor compatibility matrix</a:t>
            </a:r>
          </a:p>
          <a:p xmlns:a="http://schemas.openxmlformats.org/drawingml/2006/main">
            <a:r>
              <a:t>Industrial workflow and permission report</a:t>
            </a:r>
          </a:p>
          <a:p xmlns:a="http://schemas.openxmlformats.org/drawingml/2006/main">
            <a:r>
              <a:t>Protocol parity and hardware qualification records</a:t>
            </a:r>
          </a:p>
          <a:p xmlns:a="http://schemas.openxmlformats.org/drawingml/2006/main">
            <a:r>
              <a:t>Component reuse decisions, baseline/candidate results, gain evidence and approved exceptions for ADD-01</a:t>
            </a:r>
          </a:p>
          <a:p xmlns:a="http://schemas.openxmlformats.org/drawingml/2006/main">
            <a:r>
              <a:t>Rollback: Disable the affected domain capability and drain sessions. Preserve device-state uncertainty and do not automatically reverse external equipment effects.</a:t>
            </a:r>
          </a:p>
          <a:p xmlns:a="http://schemas.openxmlformats.org/drawingml/2006/main">
            <a:r>
              <a:t/>
            </a:r>
          </a:p>
          <a:p xmlns:a="http://schemas.openxmlformats.org/drawingml/2006/main">
            <a:r>
              <a:t>Owned existing components</a:t>
            </a:r>
          </a:p>
          <a:p xmlns:a="http://schemas.openxmlformats.org/drawingml/2006/main">
            <a:r>
              <a:t>HUB-13: Privileged remote-work host hook; wrap; checks HUB-13-C01, HUB-13-C02</a:t>
            </a:r>
          </a:p>
          <a:p xmlns:a="http://schemas.openxmlformats.org/drawingml/2006/main">
            <a:r>
              <a:t>DASH-14: IIOT view and Modbus TCP tag table; extract; checks DASH-14-C01, DASH-14-C02, DASH-14-C03</a:t>
            </a:r>
          </a:p>
          <a:p xmlns:a="http://schemas.openxmlformats.org/drawingml/2006/main">
            <a:r>
              <a:t>DASH-15: Modbus serial RTU transport; wrap; checks DASH-15-C01, DASH-15-C02</a:t>
            </a:r>
          </a:p>
          <a:p xmlns:a="http://schemas.openxmlformats.org/drawingml/2006/main">
            <a:r>
              <a:t>DASH-16: Bounded legacy MQTT request endpoints; wrap; checks DASH-16-C01, DASH-16-C02</a:t>
            </a:r>
          </a:p>
          <a:p xmlns:a="http://schemas.openxmlformats.org/drawingml/2006/main">
            <a:r>
              <a:t>DASH-17: MQTT topic monitor and publication UI; extract; checks DASH-17-C01, DASH-17-C02</a:t>
            </a:r>
          </a:p>
          <a:p xmlns:a="http://schemas.openxmlformats.org/drawingml/2006/main">
            <a:r>
              <a:t>DASH-18: Private IPv4 scan and network observation UI; wrap; checks DASH-18-C01, DASH-18-C02</a:t>
            </a:r>
          </a:p>
          <a:p xmlns:a="http://schemas.openxmlformats.org/drawingml/2006/main">
            <a:r>
              <a:t>DASH-19: PROFINET expected stations and imported comparison; wrap; checks DASH-19-C01, DASH-19-C02</a:t>
            </a:r>
          </a:p>
          <a:p xmlns:a="http://schemas.openxmlformats.org/drawingml/2006/main">
            <a:r>
              <a:t>DASH-20: Privileged PROFINET DCP tool; wrap; checks DASH-20-C01, DASH-20-C02</a:t>
            </a:r>
          </a:p>
          <a:p xmlns:a="http://schemas.openxmlformats.org/drawingml/2006/main">
            <a:r>
              <a:t>DASH-21: Passive BOOTP/DHCP observation tool; wrap; checks DASH-21-C01, DASH-21-C02</a:t>
            </a:r>
          </a:p>
          <a:p xmlns:a="http://schemas.openxmlformats.org/drawingml/2006/main">
            <a:r>
              <a:t>DASH-22: EtherNet/IP explicit messaging library; wrap; checks DASH-22-C01, DASH-22-C02</a:t>
            </a:r>
          </a:p>
          <a:p xmlns:a="http://schemas.openxmlformats.org/drawingml/2006/main">
            <a:r>
              <a:t>DASH-23: Rockwell Logix fragmented tag access; wrap; checks DASH-23-C01, DASH-23-C02</a:t>
            </a:r>
          </a:p>
          <a:p xmlns:a="http://schemas.openxmlformats.org/drawingml/2006/main">
            <a:r>
              <a:t>DASH-24: ADS state, symbol and memory access; wrap; checks DASH-24-C01, DASH-24-C02</a:t>
            </a:r>
          </a:p>
          <a:p xmlns:a="http://schemas.openxmlformats.org/drawingml/2006/main">
            <a:r>
              <a:t>DASH-25: TwinCAT EtherCAT diagnostics and confirmed state requests; wrap; checks DASH-25-C01, DASH-25-C02</a:t>
            </a:r>
          </a:p>
          <a:p xmlns:a="http://schemas.openxmlformats.org/drawingml/2006/main">
            <a:r>
              <a:t>DASH-26: CODESYS target management and runtime actions; wrap; checks DASH-26-C01, DASH-26-C02, DASH-26-C03</a:t>
            </a:r>
          </a:p>
          <a:p xmlns:a="http://schemas.openxmlformats.org/drawingml/2006/main">
            <a:r>
              <a:t>DASH-27: Classic PCAP analyzer, PNG rendering and reproducible fixture; wrap; checks DASH-27-C01, DASH-27-C02</a:t>
            </a:r>
          </a:p>
          <a:p xmlns:a="http://schemas.openxmlformats.org/drawingml/2006/main">
            <a:r>
              <a:t>REPO-09: Vendor documentation references; extend; checks REPO-09-C01</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C:/Users/RyanHelms/GitHub/agentmux/docs/planning/2026-10-09/component-preservation.md</a:t>
            </a:r>
          </a:p>
          <a:p xmlns:a="http://schemas.openxmlformats.org/drawingml/2006/main">
            <a:r>
              <a:t>C:/Users/RyanHelms/GitHub/agentmux/docs/planning/2026-10-09/component-inventory.json</a:t>
            </a:r>
          </a:p>
          <a:p xmlns:a="http://schemas.openxmlformats.org/drawingml/2006/main">
            <a:r>
              <a:t>C:/Users/RyanHelms/GitHub/agentmux/docs/planning/2026-10-09/phases.json</a:t>
            </a:r>
          </a:p>
          <a:p xmlns:a="http://schemas.openxmlformats.org/drawingml/2006/main">
            <a:r>
              <a:t>C:/Users/RyanHelms/GitHub/agentmux/docs/planning/2026-10-09/gate-record.template.json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No runtime comparison or acceptance criterion is claimed passed. ADD-01 applies to all affected callers and components, including those owned by another phase. Implementation remains paused.</a:t>
            </a:r>
          </a:p>
          <a:p xmlns:a="http://schemas.openxmlformats.org/drawingml/2006/main">
            <a:r>
              <a:t/>
            </a:r>
          </a:p>
          <a:p xmlns:a="http://schemas.openxmlformats.org/drawingml/2006/main">
            <a:r>
              <a:t>P12: Production hardening and first sellable release</a:t>
            </a:r>
          </a:p>
          <a:p xmlns:a="http://schemas.openxmlformats.org/drawingml/2006/main">
            <a:r>
              <a:t>Outcome: Customers can install, operate, recover, and support the complete launch product.</a:t>
            </a:r>
          </a:p>
          <a:p xmlns:a="http://schemas.openxmlformats.org/drawingml/2006/main">
            <a:r>
              <a:t/>
            </a:r>
          </a:p>
          <a:p xmlns:a="http://schemas.openxmlformats.org/drawingml/2006/main">
            <a:r>
              <a:t>Work</a:t>
            </a:r>
          </a:p>
          <a:p xmlns:a="http://schemas.openxmlformats.org/drawingml/2006/main">
            <a:r>
              <a:t>Finish signed/reproducible distributions, dependency locks/SBOM, versioned configuration, upgrade/rollback, package verification, and support diagnostics.</a:t>
            </a:r>
          </a:p>
          <a:p xmlns:a="http://schemas.openxmlformats.org/drawingml/2006/main">
            <a:r>
              <a:t>Complete self-hosted topology guides, backup/restore drills, durable retention/pruning, quotas/fairness, monitoring, alerts, incident procedures, and consented telemetry.</a:t>
            </a:r>
          </a:p>
          <a:p xmlns:a="http://schemas.openxmlformats.org/drawingml/2006/main">
            <a:r>
              <a:t>Validate launch performance/capacity profiles, broker/storage failure recovery, long-running work, and cross-organization safety.</a:t>
            </a:r>
          </a:p>
          <a:p xmlns:a="http://schemas.openxmlformats.org/drawingml/2006/main">
            <a:r>
              <a:t>Finish onboarding, documentation, reference plugins, accessibility, support ownership, commercial licensing/provider eligibility, and pilot feedback.</a:t>
            </a:r>
          </a:p>
          <a:p xmlns:a="http://schemas.openxmlformats.org/drawingml/2006/main">
            <a:r>
              <a:t>Rehearse migration from v0.32.0 across board/run/hub/federation state, credentials, worktrees, and integrations. Keep an explicit compatibility retirement plan.</a:t>
            </a:r>
          </a:p>
          <a:p xmlns:a="http://schemas.openxmlformats.org/drawingml/2006/main">
            <a:r>
              <a:t>Restore an origin hub while a receiver continues accepted work and reconcile outstanding reservations before admitting replacements. Test backup-name collisions, JetStream/checkpoint restore, and local filesystem requirements for any remaining SQLite indexes or legacy migration inputs.</a:t>
            </a:r>
          </a:p>
          <a:p xmlns:a="http://schemas.openxmlformats.org/drawingml/2006/main">
            <a:r>
              <a:t>Qualify NATS storage capacity, retention, immutable artifact lifecycle, snapshot/archive integrity, sync policy and recovery time for solo and team profiles. Document every remaining SQL component as a rebuildable projection or an explicitly reviewed exception.</a:t>
            </a:r>
          </a:p>
          <a:p xmlns:a="http://schemas.openxmlformats.org/drawingml/2006/main">
            <a:r>
              <a:t>Apply ADD-01 and the component preservation matrix to every changed source file and affected caller. Record reuse, intentional behavior changes, migration needs and the specific added functionality before editing implementation.</a:t>
            </a:r>
          </a:p>
          <a:p xmlns:a="http://schemas.openxmlformats.org/drawingml/2006/main">
            <a:r>
              <a:t/>
            </a:r>
          </a:p>
          <a:p xmlns:a="http://schemas.openxmlformats.org/drawingml/2006/main">
            <a:r>
              <a:t>Acceptance criteria</a:t>
            </a:r>
          </a:p>
          <a:p xmlns:a="http://schemas.openxmlformats.org/drawingml/2006/main">
            <a:r>
              <a:t>P12-AC01: Every launch requirement is linked to passing evidence for the exact release candidate. Critical correctness/security defects are closed.</a:t>
            </a:r>
          </a:p>
          <a:p xmlns:a="http://schemas.openxmlformats.org/drawingml/2006/main">
            <a:r>
              <a:t>P12-AC02: A new developer installs and completes the reference task using only published docs on every supported platform.</a:t>
            </a:r>
          </a:p>
          <a:p xmlns:a="http://schemas.openxmlformats.org/drawingml/2006/main">
            <a:r>
              <a:t>P12-AC03: A team administrator enrolls two organizations, shares a scoped project, delegates work, survives a partition, and restores a backup.</a:t>
            </a:r>
          </a:p>
          <a:p xmlns:a="http://schemas.openxmlformats.org/drawingml/2006/main">
            <a:r>
              <a:t>P12-AC04: The approved capacity/SLO targets and recovery drill pass without losing acknowledged durable records within the tested fault model.</a:t>
            </a:r>
          </a:p>
          <a:p xmlns:a="http://schemas.openxmlformats.org/drawingml/2006/main">
            <a:r>
              <a:t>P12-AC05: Ryan reviews the release evidence with Nick and explicitly authorizes merge/release. Passing automation alone cannot merge this branch.</a:t>
            </a:r>
          </a:p>
          <a:p xmlns:a="http://schemas.openxmlformats.org/drawingml/2006/main">
            <a:r>
              <a:t>P12-AC06: The approved NATS storage profile passes record/checkpoint/artifact restore, projection rebuild, retention-gap and migration rollback drills under the declared process/host/disk/quorum failure model. Published RPO/RTO and capacity claims match observed evidence, and no unreviewed SQL authority remains.</a:t>
            </a:r>
          </a:p>
          <a:p xmlns:a="http://schemas.openxmlformats.org/drawingml/2006/main">
            <a:r>
              <a:t>P12-AC07: Every component and behavior check has a reviewed release disposition. Required baseline/candidate comparisons and migration drills pass on the supported matrix; no skipped check, missing component or unapproved feature removal can be hidden by a successful new reference workflow.</a:t>
            </a:r>
          </a:p>
          <a:p xmlns:a="http://schemas.openxmlformats.org/drawingml/2006/main">
            <a:r>
              <a:t/>
            </a:r>
          </a:p>
          <a:p xmlns:a="http://schemas.openxmlformats.org/drawingml/2006/main">
            <a:r>
              <a:t>Verification</a:t>
            </a:r>
          </a:p>
          <a:p xmlns:a="http://schemas.openxmlformats.org/drawingml/2006/main">
            <a:r>
              <a:t>Run the complete release matrix, independent security review, load/soak tests, upgrade/restore rehearsal, and pilot acceptance.</a:t>
            </a:r>
          </a:p>
          <a:p xmlns:a="http://schemas.openxmlformats.org/drawingml/2006/main">
            <a:r>
              <a:t>Compare evidence manifests to the exact candidate digest and invalidate stale results after material changes.</a:t>
            </a:r>
          </a:p>
          <a:p xmlns:a="http://schemas.openxmlformats.org/drawingml/2006/main">
            <a:r>
              <a:t>Review support and commercial readiness with accountable owners.</a:t>
            </a:r>
          </a:p>
          <a:p xmlns:a="http://schemas.openxmlformats.org/drawingml/2006/main">
            <a:r>
              <a:t>Run qualified storage failure and recovery drills with pinned disk/sync/replication settings, including capacity exhaustion. Verify restored reservations before processing queued commands.</a:t>
            </a:r>
          </a:p>
          <a:p xmlns:a="http://schemas.openxmlformats.org/drawingml/2006/main">
            <a:r>
              <a:t>Run the component coverage validator, review newly added or changed entry points, and attach the owning component checks to the phase gate. Compare existing and candidate behavior in isolated environments; do not run old and new writers against the same live records.</a:t>
            </a:r>
          </a:p>
          <a:p xmlns:a="http://schemas.openxmlformats.org/drawingml/2006/main">
            <a:r>
              <a:t/>
            </a:r>
          </a:p>
          <a:p xmlns:a="http://schemas.openxmlformats.org/drawingml/2006/main">
            <a:r>
              <a:t>Evidence</a:t>
            </a:r>
          </a:p>
          <a:p xmlns:a="http://schemas.openxmlformats.org/drawingml/2006/main">
            <a:r>
              <a:t>Release readiness dossier</a:t>
            </a:r>
          </a:p>
          <a:p xmlns:a="http://schemas.openxmlformats.org/drawingml/2006/main">
            <a:r>
              <a:t>Pilot and migration acceptance</a:t>
            </a:r>
          </a:p>
          <a:p xmlns:a="http://schemas.openxmlformats.org/drawingml/2006/main">
            <a:r>
              <a:t>Signed merge/release decision</a:t>
            </a:r>
          </a:p>
          <a:p xmlns:a="http://schemas.openxmlformats.org/drawingml/2006/main">
            <a:r>
              <a:t>Component reuse decisions, baseline/candidate results, gain evidence and approved exceptions for ADD-01</a:t>
            </a:r>
          </a:p>
          <a:p xmlns:a="http://schemas.openxmlformats.org/drawingml/2006/main">
            <a:r>
              <a:t>Rollback: Use rehearsed backup/restore and version compatibility procedures. Stop new work where safe downgrade is impossible; reconcile in-flight tasks first.</a:t>
            </a:r>
          </a:p>
          <a:p xmlns:a="http://schemas.openxmlformats.org/drawingml/2006/main">
            <a:r>
              <a:t/>
            </a:r>
          </a:p>
          <a:p xmlns:a="http://schemas.openxmlformats.org/drawingml/2006/main">
            <a:r>
              <a:t>Owned existing components</a:t>
            </a:r>
          </a:p>
          <a:p xmlns:a="http://schemas.openxmlformats.org/drawingml/2006/main">
            <a:r>
              <a:t>HAR-05: Installation and Windows-to-WSL state compatibility; extend; checks HAR-05-C01, HAR-05-C02, HAR-05-C03</a:t>
            </a:r>
          </a:p>
          <a:p xmlns:a="http://schemas.openxmlformats.org/drawingml/2006/main">
            <a:r>
              <a:t>HUB-22: Federation dependency manifests; retain; checks HUB-22-C01</a:t>
            </a:r>
          </a:p>
          <a:p xmlns:a="http://schemas.openxmlformats.org/drawingml/2006/main">
            <a:r>
              <a:t>DASH-28: Dashboard restart and OS startup integration; extend; checks DASH-28-C01, DASH-28-C02</a:t>
            </a:r>
          </a:p>
          <a:p xmlns:a="http://schemas.openxmlformats.org/drawingml/2006/main">
            <a:r>
              <a:t>DASH-34: Vendored terminal, MQTT and OUI dependencies; retain; checks DASH-34-C01, DASH-34-C02</a:t>
            </a:r>
          </a:p>
          <a:p xmlns:a="http://schemas.openxmlformats.org/drawingml/2006/main">
            <a:r>
              <a:t>REPO-04: Git text, binary and privacy rules; extend; checks REPO-04-C01</a:t>
            </a:r>
          </a:p>
          <a:p xmlns:a="http://schemas.openxmlformats.org/drawingml/2006/main">
            <a:r>
              <a:t>REPO-05: Product version and main user guide; extend; checks REPO-05-C01</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C:/Users/RyanHelms/GitHub/agentmux/docs/planning/2026-10-09/component-preservation.md</a:t>
            </a:r>
          </a:p>
          <a:p xmlns:a="http://schemas.openxmlformats.org/drawingml/2006/main">
            <a:r>
              <a:t>C:/Users/RyanHelms/GitHub/agentmux/docs/planning/2026-10-09/component-inventory.json</a:t>
            </a:r>
          </a:p>
          <a:p xmlns:a="http://schemas.openxmlformats.org/drawingml/2006/main">
            <a:r>
              <a:t>C:/Users/RyanHelms/GitHub/agentmux/docs/planning/2026-10-09/phases.json</a:t>
            </a:r>
          </a:p>
          <a:p xmlns:a="http://schemas.openxmlformats.org/drawingml/2006/main">
            <a:r>
              <a:t>C:/Users/RyanHelms/GitHub/agentmux/docs/planning/2026-10-09/gate-record.template.json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No runtime comparison or acceptance criterion is claimed passed. ADD-01 applies to all affected callers and components, including those owned by another phase. Implementation remains paused.</a:t>
            </a:r>
          </a:p>
          <a:p xmlns:a="http://schemas.openxmlformats.org/drawingml/2006/main">
            <a:r>
              <a:t/>
            </a:r>
          </a:p>
          <a:p xmlns:a="http://schemas.openxmlformats.org/drawingml/2006/main">
            <a:r>
              <a:t>P13: Remaining Jev catalog and skill expansion</a:t>
            </a:r>
          </a:p>
          <a:p xmlns:a="http://schemas.openxmlformats.org/drawingml/2006/main">
            <a:r>
              <a:t>Outcome: Every remaining research proposal receives a measured implementation decision.</a:t>
            </a:r>
          </a:p>
          <a:p xmlns:a="http://schemas.openxmlformats.org/drawingml/2006/main">
            <a:r>
              <a:t/>
            </a:r>
          </a:p>
          <a:p xmlns:a="http://schemas.openxmlformats.org/drawingml/2006/main">
            <a:r>
              <a:t>Work</a:t>
            </a:r>
          </a:p>
          <a:p xmlns:a="http://schemas.openxmlformats.org/drawingml/2006/main">
            <a:r>
              <a:t>Implement the complete remaining catalog in bounded batches using the coverage appendix, without duplicating overlapping video and original use cases.</a:t>
            </a:r>
          </a:p>
          <a:p xmlns:a="http://schemas.openxmlformats.org/drawingml/2006/main">
            <a:r>
              <a:t>Complete general extract, compare, checkpoint, integrate, and optimize skills plus remaining Agentmux planning, coordination, diagnosis, knowledge, plugin review, and policy-tuning skills.</a:t>
            </a:r>
          </a:p>
          <a:p xmlns:a="http://schemas.openxmlformats.org/drawingml/2006/main">
            <a:r>
              <a:t>Expand temporary bounded questions, semantic inventories, federated source inspection, compaction/retention controls, what-if replay, fidelity review, bilateral contract interpretation, and opportunity scorecards.</a:t>
            </a:r>
          </a:p>
          <a:p xmlns:a="http://schemas.openxmlformats.org/drawingml/2006/main">
            <a:r>
              <a:t>Promote only qualified definitions. Record rejected or deferred cases with evidence, reasons, owner, and next review point.</a:t>
            </a:r>
          </a:p>
          <a:p xmlns:a="http://schemas.openxmlformats.org/drawingml/2006/main">
            <a:r>
              <a:t>Apply ADD-01 and the component preservation matrix to every changed source file and affected caller. Record reuse, intentional behavior changes, migration needs and the specific added functionality before editing implementation.</a:t>
            </a:r>
          </a:p>
          <a:p xmlns:a="http://schemas.openxmlformats.org/drawingml/2006/main">
            <a:r>
              <a:t/>
            </a:r>
          </a:p>
          <a:p xmlns:a="http://schemas.openxmlformats.org/drawingml/2006/main">
            <a:r>
              <a:t>Acceptance criteria</a:t>
            </a:r>
          </a:p>
          <a:p xmlns:a="http://schemas.openxmlformats.org/drawingml/2006/main">
            <a:r>
              <a:t>P13-AC01: All 88 original uses, 14 video additions, four enablers, and 26 skills retain a traceable disposition and owning phase.</a:t>
            </a:r>
          </a:p>
          <a:p xmlns:a="http://schemas.openxmlformats.org/drawingml/2006/main">
            <a:r>
              <a:t>P13-AC02: Each batch passes schema, access, failure, semantic holdout, host-capability, and end-to-end economic gates.</a:t>
            </a:r>
          </a:p>
          <a:p xmlns:a="http://schemas.openxmlformats.org/drawingml/2006/main">
            <a:r>
              <a:t>P13-AC03: Compaction preserves mandatory obligations and active evidence and runs only on supported hosts.</a:t>
            </a:r>
          </a:p>
          <a:p xmlns:a="http://schemas.openxmlformats.org/drawingml/2006/main">
            <a:r>
              <a:t>P13-AC04: No savings claim relies only on shortened context or a provider's confidence score. Outcome quality and total cost meet approved thresholds.</a:t>
            </a:r>
          </a:p>
          <a:p xmlns:a="http://schemas.openxmlformats.org/drawingml/2006/main">
            <a:r>
              <a:t>P13-AC05: Every affected existing component retains its documented behavior through reused code or a justified replacement. Its baseline and candidate checks, migration checks, and added capability evidence are reviewed before advancement. Missing environments remain open; removal or reduced capability requires Ryan's explicit approval after review with Nick.</a:t>
            </a:r>
          </a:p>
          <a:p xmlns:a="http://schemas.openxmlformats.org/drawingml/2006/main">
            <a:r>
              <a:t/>
            </a:r>
          </a:p>
          <a:p xmlns:a="http://schemas.openxmlformats.org/drawingml/2006/main">
            <a:r>
              <a:t>Verification</a:t>
            </a:r>
          </a:p>
          <a:p xmlns:a="http://schemas.openxmlformats.org/drawingml/2006/main">
            <a:r>
              <a:t>Repeat the P08/P09 evaluation protocol per changed definition/skill and representative combined workflows.</a:t>
            </a:r>
          </a:p>
          <a:p xmlns:a="http://schemas.openxmlformats.org/drawingml/2006/main">
            <a:r>
              <a:t>Use stored factors for policy-only replay and record when a fresh inference is necessary.</a:t>
            </a:r>
          </a:p>
          <a:p xmlns:a="http://schemas.openxmlformats.org/drawingml/2006/main">
            <a:r>
              <a:t>Run regression tests for cache isolation, missing evidence, mandatory messages, provider failure, and decision drift.</a:t>
            </a:r>
          </a:p>
          <a:p xmlns:a="http://schemas.openxmlformats.org/drawingml/2006/main">
            <a:r>
              <a:t>Run the component coverage validator, review newly added or changed entry points, and attach the owning component checks to the phase gate. Compare existing and candidate behavior in isolated environments; do not run old and new writers against the same live records.</a:t>
            </a:r>
          </a:p>
          <a:p xmlns:a="http://schemas.openxmlformats.org/drawingml/2006/main">
            <a:r>
              <a:t/>
            </a:r>
          </a:p>
          <a:p xmlns:a="http://schemas.openxmlformats.org/drawingml/2006/main">
            <a:r>
              <a:t>Evidence</a:t>
            </a:r>
          </a:p>
          <a:p xmlns:a="http://schemas.openxmlformats.org/drawingml/2006/main">
            <a:r>
              <a:t>Catalog disposition register</a:t>
            </a:r>
          </a:p>
          <a:p xmlns:a="http://schemas.openxmlformats.org/drawingml/2006/main">
            <a:r>
              <a:t>Per-batch holdout and economics</a:t>
            </a:r>
          </a:p>
          <a:p xmlns:a="http://schemas.openxmlformats.org/drawingml/2006/main">
            <a:r>
              <a:t>Complete skill-suite release matrix</a:t>
            </a:r>
          </a:p>
          <a:p xmlns:a="http://schemas.openxmlformats.org/drawingml/2006/main">
            <a:r>
              <a:t>Component reuse decisions, baseline/candidate results, gain evidence and approved exceptions for ADD-01</a:t>
            </a:r>
          </a:p>
          <a:p xmlns:a="http://schemas.openxmlformats.org/drawingml/2006/main">
            <a:r>
              <a:t>Rollback: Independently disable definitions/skills and return to the prior pinned set while preserving all evidence.</a:t>
            </a:r>
          </a:p>
          <a:p xmlns:a="http://schemas.openxmlformats.org/drawingml/2006/main">
            <a:r>
              <a:t/>
            </a:r>
          </a:p>
          <a:p xmlns:a="http://schemas.openxmlformats.org/drawingml/2006/main">
            <a:r>
              <a:t>Owned existing components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C:/Users/RyanHelms/GitHub/agentmux/docs/planning/2026-10-09/component-preservation.md</a:t>
            </a:r>
          </a:p>
          <a:p xmlns:a="http://schemas.openxmlformats.org/drawingml/2006/main">
            <a:r>
              <a:t>C:/Users/RyanHelms/GitHub/agentmux/docs/planning/2026-10-09/component-inventory.json</a:t>
            </a:r>
          </a:p>
          <a:p xmlns:a="http://schemas.openxmlformats.org/drawingml/2006/main">
            <a:r>
              <a:t>C:/Users/RyanHelms/GitHub/agentmux/docs/planning/2026-10-09/phases.json</a:t>
            </a:r>
          </a:p>
          <a:p xmlns:a="http://schemas.openxmlformats.org/drawingml/2006/main">
            <a:r>
              <a:t>C:/Users/RyanHelms/GitHub/agentmux/docs/planning/2026-10-09/gate-record.template.json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No runtime comparison or acceptance criterion is claimed passed. ADD-01 applies to all affected callers and components, including those owned by another phase. Implementation remains paused.</a:t>
            </a:r>
          </a:p>
          <a:p xmlns:a="http://schemas.openxmlformats.org/drawingml/2006/main">
            <a:r>
              <a:t/>
            </a:r>
          </a:p>
          <a:p xmlns:a="http://schemas.openxmlformats.org/drawingml/2006/main">
            <a:r>
              <a:t>P14: Sandboxed plugins and ecosystem expansion</a:t>
            </a:r>
          </a:p>
          <a:p xmlns:a="http://schemas.openxmlformats.org/drawingml/2006/main">
            <a:r>
              <a:t>Outcome: Untrusted third-party plugins gain a tested containment option.</a:t>
            </a:r>
          </a:p>
          <a:p xmlns:a="http://schemas.openxmlformats.org/drawingml/2006/main">
            <a:r>
              <a:t/>
            </a:r>
          </a:p>
          <a:p xmlns:a="http://schemas.openxmlformats.org/drawingml/2006/main">
            <a:r>
              <a:t>Work</a:t>
            </a:r>
          </a:p>
          <a:p xmlns:a="http://schemas.openxmlformats.org/drawingml/2006/main">
            <a:r>
              <a:t>Choose and threat-model isolated execution profiles, process/container/WASM options, host brokers, and platform limitations against actual plugin needs.</a:t>
            </a:r>
          </a:p>
          <a:p xmlns:a="http://schemas.openxmlformats.org/drawingml/2006/main">
            <a:r>
              <a:t>Enforce declared filesystem/network/process/device access, secret isolation, quotas, termination, and package provenance at runtime.</a:t>
            </a:r>
          </a:p>
          <a:p xmlns:a="http://schemas.openxmlformats.org/drawingml/2006/main">
            <a:r>
              <a:t>Qualify UI contribution isolation and publisher/distribution controls before enabling a public plugin ecosystem.</a:t>
            </a:r>
          </a:p>
          <a:p xmlns:a="http://schemas.openxmlformats.org/drawingml/2006/main">
            <a:r>
              <a:t>Retain trusted native profiles only with clear administrator choice. Assess future hosted service and native Windows as separate product decisions.</a:t>
            </a:r>
          </a:p>
          <a:p xmlns:a="http://schemas.openxmlformats.org/drawingml/2006/main">
            <a:r>
              <a:t>Apply ADD-01 and the component preservation matrix to every changed source file and affected caller. Record reuse, intentional behavior changes, migration needs and the specific added functionality before editing implementation.</a:t>
            </a:r>
          </a:p>
          <a:p xmlns:a="http://schemas.openxmlformats.org/drawingml/2006/main">
            <a:r>
              <a:t/>
            </a:r>
          </a:p>
          <a:p xmlns:a="http://schemas.openxmlformats.org/drawingml/2006/main">
            <a:r>
              <a:t>Acceptance criteria</a:t>
            </a:r>
          </a:p>
          <a:p xmlns:a="http://schemas.openxmlformats.org/drawingml/2006/main">
            <a:r>
              <a:t>P14-AC01: Adversarial plugins fail to escape their declared profile or access unauthorized host/team data in the supported threat model.</a:t>
            </a:r>
          </a:p>
          <a:p xmlns:a="http://schemas.openxmlformats.org/drawingml/2006/main">
            <a:r>
              <a:t>P14-AC02: Sandboxed and trusted implementations pass the same language-neutral domain contract tests.</a:t>
            </a:r>
          </a:p>
          <a:p xmlns:a="http://schemas.openxmlformats.org/drawingml/2006/main">
            <a:r>
              <a:t>P14-AC03: Required native/device integrations declare and enforce narrower support or an explicitly trusted execution host.</a:t>
            </a:r>
          </a:p>
          <a:p xmlns:a="http://schemas.openxmlformats.org/drawingml/2006/main">
            <a:r>
              <a:t>P14-AC04: Security review and per-platform tests pass before claiming untrusted-plugin support. Marketplace availability requires this gate or a clearly restricted trusted catalog.</a:t>
            </a:r>
          </a:p>
          <a:p xmlns:a="http://schemas.openxmlformats.org/drawingml/2006/main">
            <a:r>
              <a:t>P14-AC05: Every affected existing component retains its documented behavior through reused code or a justified replacement. Its baseline and candidate checks, migration checks, and added capability evidence are reviewed before advancement. Missing environments remain open; removal or reduced capability requires Ryan's explicit approval after review with Nick.</a:t>
            </a:r>
          </a:p>
          <a:p xmlns:a="http://schemas.openxmlformats.org/drawingml/2006/main">
            <a:r>
              <a:t/>
            </a:r>
          </a:p>
          <a:p xmlns:a="http://schemas.openxmlformats.org/drawingml/2006/main">
            <a:r>
              <a:t>Verification</a:t>
            </a:r>
          </a:p>
          <a:p xmlns:a="http://schemas.openxmlformats.org/drawingml/2006/main">
            <a:r>
              <a:t>Run exploit-oriented confinement, resource exhaustion, cross-tenant, lifecycle, dependency, and upgrade tests on each supported profile.</a:t>
            </a:r>
          </a:p>
          <a:p xmlns:a="http://schemas.openxmlformats.org/drawingml/2006/main">
            <a:r>
              <a:t>Review residual risk and performance/compatibility effects with independent security expertise.</a:t>
            </a:r>
          </a:p>
          <a:p xmlns:a="http://schemas.openxmlformats.org/drawingml/2006/main">
            <a:r>
              <a:t>Re-run representative local, team, federation, UI, and industrial workflows.</a:t>
            </a:r>
          </a:p>
          <a:p xmlns:a="http://schemas.openxmlformats.org/drawingml/2006/main">
            <a:r>
              <a:t>Run the component coverage validator, review newly added or changed entry points, and attach the owning component checks to the phase gate. Compare existing and candidate behavior in isolated environments; do not run old and new writers against the same live records.</a:t>
            </a:r>
          </a:p>
          <a:p xmlns:a="http://schemas.openxmlformats.org/drawingml/2006/main">
            <a:r>
              <a:t/>
            </a:r>
          </a:p>
          <a:p xmlns:a="http://schemas.openxmlformats.org/drawingml/2006/main">
            <a:r>
              <a:t>Evidence</a:t>
            </a:r>
          </a:p>
          <a:p xmlns:a="http://schemas.openxmlformats.org/drawingml/2006/main">
            <a:r>
              <a:t>Sandbox threat model and test report</a:t>
            </a:r>
          </a:p>
          <a:p xmlns:a="http://schemas.openxmlformats.org/drawingml/2006/main">
            <a:r>
              <a:t>Profile compatibility matrix</a:t>
            </a:r>
          </a:p>
          <a:p xmlns:a="http://schemas.openxmlformats.org/drawingml/2006/main">
            <a:r>
              <a:t>Ecosystem launch decision</a:t>
            </a:r>
          </a:p>
          <a:p xmlns:a="http://schemas.openxmlformats.org/drawingml/2006/main">
            <a:r>
              <a:t>Component reuse decisions, baseline/candidate results, gain evidence and approved exceptions for ADD-01</a:t>
            </a:r>
          </a:p>
          <a:p xmlns:a="http://schemas.openxmlformats.org/drawingml/2006/main">
            <a:r>
              <a:t>Rollback: Disable new untrusted profiles/packages and preserve the prior trusted-only support promise.</a:t>
            </a:r>
          </a:p>
          <a:p xmlns:a="http://schemas.openxmlformats.org/drawingml/2006/main">
            <a:r>
              <a:t/>
            </a:r>
          </a:p>
          <a:p xmlns:a="http://schemas.openxmlformats.org/drawingml/2006/main">
            <a:r>
              <a:t>Owned existing components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C:/Users/RyanHelms/GitHub/agentmux/docs/planning/2026-10-09/component-preservation.md</a:t>
            </a:r>
          </a:p>
          <a:p xmlns:a="http://schemas.openxmlformats.org/drawingml/2006/main">
            <a:r>
              <a:t>C:/Users/RyanHelms/GitHub/agentmux/docs/planning/2026-10-09/component-inventory.json</a:t>
            </a:r>
          </a:p>
          <a:p xmlns:a="http://schemas.openxmlformats.org/drawingml/2006/main">
            <a:r>
              <a:t>C:/Users/RyanHelms/GitHub/agentmux/docs/planning/2026-10-09/phases.json</a:t>
            </a:r>
          </a:p>
          <a:p xmlns:a="http://schemas.openxmlformats.org/drawingml/2006/main">
            <a:r>
              <a:t>C:/Users/RyanHelms/GitHub/agentmux/docs/planning/2026-10-09/gate-record.template.json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numbers are reviewable proposed test profiles, not measured capacity or service commitments. Plan section 8: solo 1 user/2 projects/4 attempts; team 20 users/10 projects/40 attempts; federation 3 hubs/2 organizations/up to 40 attempts per hub; growth 200 users/10 hubs/up to 400 overall. Proposed p95 metadata &lt;250ms, UI &lt;=2s after owner record, 10,000-event replay &lt;=5s, warm-broker readiness &lt;=10s, prepared setup &lt;=15min after tools/accounts. Approve hardware, payloads, latency, retention and variance before measurement. RPO/RTO remain explicit choices.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revised plan contains 15 phases, 90 acceptance criteria and 54 proposed failure scenarios. ADD-01 adds 93 owned components and 198 baseline/candidate behavior checks. All runtime comparisons are not-run. File coverage and source references are checked mechanically; maintainers must still review behavioral completeness. Six existing baseline governance findings remain active.</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C:/Users/RyanHelms/GitHub/agentmux/docs/planning/2026-10-09/component-preservation.md</a:t>
            </a:r>
          </a:p>
          <a:p xmlns:a="http://schemas.openxmlformats.org/drawingml/2006/main">
            <a:r>
              <a:t>C:/Users/RyanHelms/GitHub/agentmux/docs/planning/2026-10-09/component-inventory.json</a:t>
            </a:r>
          </a:p>
          <a:p xmlns:a="http://schemas.openxmlformats.org/drawingml/2006/main">
            <a:r>
              <a:t>C:/Users/RyanHelms/GitHub/agentmux/docs/planning/2026-10-09/verification-matrix.json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NATS-first shared persistence with optional rebuildable SQL views is approved. Open implementation choices include runtime and SDK versions, stream/bucket/account boundaries, replica counts, storage durability and capacity, retention/snapshot recovery contracts, actual client versions, commercial terms, dashboard command scope and cost policies. None of these unresolved details reopens the approved minimal-kernel, scoped-owner or disconnected-work authority boundaries.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next action: Ryan and Nick review the plan and criteria, resolve P00 choices, approve/revise first-release split and targets, name reviewers and record approved revision. Ryan explicitly authorizes implementation. Later merge/release is a separate decision after review. This deck and current work do not authorize product implementation. Planning is ready for review, while the repository governance gate remains blocked by inherited correctness findings until approved P01 repairs and regressions close them. Presentation package validation is separate from repository governance and product acceptance.</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a:p xmlns:a="http://schemas.openxmlformats.org/drawingml/2006/main">
            <a:r>
              <a:t>C:/Users/RyanHelms/GitHub/agentmux/.bytedesk/design-patterns/review.json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914ba1f010496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69e5d75051d4b2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5527fb5765645f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4982de31e9c478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12e79bdd4424bd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805d03e91f346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569F76-9CB0-40A2-9F4C-0533E7F7B4F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644DFD9-6F5D-4FF9-9272-405AB2B8DEE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9AC96DC-0C99-485E-A88E-346A84FA713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A90280-6EF6-4234-9A5C-93BDC94E78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559080D-0486-4AE4-A590-3AF3EB1AF9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242EEE2-BC95-4BC9-9F64-0A4B77545F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84445C-CAB1-404E-9CDA-2522EBA2AF4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59B3B9D-CEB8-4226-8161-B0827284DDE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EC4ACD-8215-40C0-819D-114A466E29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38CF92-3AEB-4CAA-997F-4B00A6EA752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670c6a5a8e482d" /><Relationship Type="http://schemas.openxmlformats.org/officeDocument/2006/relationships/slideLayout" Target="/ppt/slideLayouts/slideLayout1.xml" Id="R1ebd0c93bf174cb0" /><Relationship Type="http://schemas.openxmlformats.org/officeDocument/2006/relationships/slideLayout" Target="/ppt/slideLayouts/slideLayout2.xml" Id="R3fd017fdda47404e" /><Relationship Type="http://schemas.openxmlformats.org/officeDocument/2006/relationships/slideLayout" Target="/ppt/slideLayouts/slideLayout3.xml" Id="R2c44309120b34c7f" /><Relationship Type="http://schemas.openxmlformats.org/officeDocument/2006/relationships/slideLayout" Target="/ppt/slideLayouts/slideLayout4.xml" Id="Rdef3e256b3144dcc" /><Relationship Type="http://schemas.openxmlformats.org/officeDocument/2006/relationships/slideLayout" Target="/ppt/slideLayouts/slideLayout5.xml" Id="R024559e6bdf3481e" /><Relationship Type="http://schemas.openxmlformats.org/officeDocument/2006/relationships/slideLayout" Target="/ppt/slideLayouts/slideLayout6.xml" Id="Rce86624c3cf343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bd0c93bf174cb0"/>
    <p:sldLayoutId xmlns:r="http://schemas.openxmlformats.org/officeDocument/2006/relationships" id="2147483650" r:id="R3fd017fdda47404e"/>
    <p:sldLayoutId xmlns:r="http://schemas.openxmlformats.org/officeDocument/2006/relationships" id="2147483651" r:id="R2c44309120b34c7f"/>
    <p:sldLayoutId xmlns:r="http://schemas.openxmlformats.org/officeDocument/2006/relationships" id="2147483652" r:id="Rdef3e256b3144dcc"/>
    <p:sldLayoutId xmlns:r="http://schemas.openxmlformats.org/officeDocument/2006/relationships" id="2147483653" r:id="R024559e6bdf3481e"/>
    <p:sldLayoutId xmlns:r="http://schemas.openxmlformats.org/officeDocument/2006/relationships" id="2147483654" r:id="Rce86624c3cf343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b76e329f68341b9" /><Relationship Type="http://schemas.openxmlformats.org/officeDocument/2006/relationships/notesSlide" Target="/ppt/notesSlides/notesSlide1.xml" Id="R3d6c9b05a21b4c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978d736fd3b4cca" /><Relationship Type="http://schemas.openxmlformats.org/officeDocument/2006/relationships/notesSlide" Target="/ppt/notesSlides/notesSlide2.xml" Id="Rba793647fd914b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dc845a153e84765" /><Relationship Type="http://schemas.openxmlformats.org/officeDocument/2006/relationships/notesSlide" Target="/ppt/notesSlides/notesSlide3.xml" Id="R1b1d37649d7048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9727901961a4d10" /><Relationship Type="http://schemas.openxmlformats.org/officeDocument/2006/relationships/notesSlide" Target="/ppt/notesSlides/notesSlide4.xml" Id="Rb3383ebc769646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2e96f781a9a4387" /><Relationship Type="http://schemas.openxmlformats.org/officeDocument/2006/relationships/notesSlide" Target="/ppt/notesSlides/notesSlide5.xml" Id="R9c36571e4ae549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3b58c2c9ff64b92" /><Relationship Type="http://schemas.openxmlformats.org/officeDocument/2006/relationships/notesSlide" Target="/ppt/notesSlides/notesSlide6.xml" Id="Rddde01da4c964a2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580ac029713488c" /><Relationship Type="http://schemas.openxmlformats.org/officeDocument/2006/relationships/notesSlide" Target="/ppt/notesSlides/notesSlide7.xml" Id="R6b072c156392445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acbc0d0f47b47f7" /><Relationship Type="http://schemas.openxmlformats.org/officeDocument/2006/relationships/notesSlide" Target="/ppt/notesSlides/notesSlide8.xml" Id="R170bd81f5eca4a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515daf19bfb4939" /><Relationship Type="http://schemas.openxmlformats.org/officeDocument/2006/relationships/notesSlide" Target="/ppt/notesSlides/notesSlide9.xml" Id="Rc5bdc218af374e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a0e9ae11f23453b" /><Relationship Type="http://schemas.openxmlformats.org/officeDocument/2006/relationships/notesSlide" Target="/ppt/notesSlides/notesSlide10.xml" Id="R6c72ceda183645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4ae2c3c9e6e4037" /><Relationship Type="http://schemas.openxmlformats.org/officeDocument/2006/relationships/notesSlide" Target="/ppt/notesSlides/notesSlide11.xml" Id="R39d2aadee4d7485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5531707bf7f409c" /><Relationship Type="http://schemas.openxmlformats.org/officeDocument/2006/relationships/notesSlide" Target="/ppt/notesSlides/notesSlide12.xml" Id="Raaacb29c3a6540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1d5c43a96294e0e" /><Relationship Type="http://schemas.openxmlformats.org/officeDocument/2006/relationships/notesSlide" Target="/ppt/notesSlides/notesSlide13.xml" Id="Rcb81b44af783405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4085cbe282c4c2f" /><Relationship Type="http://schemas.openxmlformats.org/officeDocument/2006/relationships/notesSlide" Target="/ppt/notesSlides/notesSlide14.xml" Id="R9c6bbcfd70bc480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17c8ee783634062" /><Relationship Type="http://schemas.openxmlformats.org/officeDocument/2006/relationships/notesSlide" Target="/ppt/notesSlides/notesSlide15.xml" Id="Rab5edd371a74425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e2036fba2bb4ff3" /><Relationship Type="http://schemas.openxmlformats.org/officeDocument/2006/relationships/notesSlide" Target="/ppt/notesSlides/notesSlide16.xml" Id="R20dd8a0dc3eb438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e7e8a460cc84721" /><Relationship Type="http://schemas.openxmlformats.org/officeDocument/2006/relationships/notesSlide" Target="/ppt/notesSlides/notesSlide17.xml" Id="Re6dd8dc458d7409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c5400cf6c3f480c" /><Relationship Type="http://schemas.openxmlformats.org/officeDocument/2006/relationships/notesSlide" Target="/ppt/notesSlides/notesSlide18.xml" Id="R199c96e6418d440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49addf2f7fd4f68" /><Relationship Type="http://schemas.openxmlformats.org/officeDocument/2006/relationships/notesSlide" Target="/ppt/notesSlides/notesSlide19.xml" Id="R2f817b84ce1f4d2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29795b8e6ff47f5" /><Relationship Type="http://schemas.openxmlformats.org/officeDocument/2006/relationships/notesSlide" Target="/ppt/notesSlides/notesSlide20.xml" Id="R9327bfdad4cd4c5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413cabf0ca54832" /><Relationship Type="http://schemas.openxmlformats.org/officeDocument/2006/relationships/notesSlide" Target="/ppt/notesSlides/notesSlide21.xml" Id="R75763ed4353e491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71f954317a24218" /><Relationship Type="http://schemas.openxmlformats.org/officeDocument/2006/relationships/notesSlide" Target="/ppt/notesSlides/notesSlide22.xml" Id="Rc137eeb004f54fa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d02a69d35d44e4c" /><Relationship Type="http://schemas.openxmlformats.org/officeDocument/2006/relationships/notesSlide" Target="/ppt/notesSlides/notesSlide23.xml" Id="Rb3032c2d206c42a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7ddbce5681545a5" /><Relationship Type="http://schemas.openxmlformats.org/officeDocument/2006/relationships/notesSlide" Target="/ppt/notesSlides/notesSlide24.xml" Id="Re773b7b1f70e402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77bddf7f8aa4b1d" /><Relationship Type="http://schemas.openxmlformats.org/officeDocument/2006/relationships/notesSlide" Target="/ppt/notesSlides/notesSlide25.xml" Id="R097711530c8541b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c5511ada3d042fe" /><Relationship Type="http://schemas.openxmlformats.org/officeDocument/2006/relationships/notesSlide" Target="/ppt/notesSlides/notesSlide26.xml" Id="R46ab794bf8414f9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e44ef6c04d54fd2" /><Relationship Type="http://schemas.openxmlformats.org/officeDocument/2006/relationships/notesSlide" Target="/ppt/notesSlides/notesSlide27.xml" Id="R132517334313499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8c2a2e20a384fe8" /><Relationship Type="http://schemas.openxmlformats.org/officeDocument/2006/relationships/notesSlide" Target="/ppt/notesSlides/notesSlide28.xml" Id="Rc530bd85ac3f46f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5262bd594ac441b2" /><Relationship Type="http://schemas.openxmlformats.org/officeDocument/2006/relationships/notesSlide" Target="/ppt/notesSlides/notesSlide29.xml" Id="Rdd6f6e253eea448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93cdaac5bcc4cc1" /><Relationship Type="http://schemas.openxmlformats.org/officeDocument/2006/relationships/notesSlide" Target="/ppt/notesSlides/notesSlide30.xml" Id="Rbd9838ca7a8240c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e13ea0a9eeb4f82" /><Relationship Type="http://schemas.openxmlformats.org/officeDocument/2006/relationships/notesSlide" Target="/ppt/notesSlides/notesSlide31.xml" Id="R0fdf5ed6ea5442c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0460ba34f774250" /><Relationship Type="http://schemas.openxmlformats.org/officeDocument/2006/relationships/notesSlide" Target="/ppt/notesSlides/notesSlide32.xml" Id="Rbd1a512be2a34f0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0c21d615bef34d22" /><Relationship Type="http://schemas.openxmlformats.org/officeDocument/2006/relationships/notesSlide" Target="/ppt/notesSlides/notesSlide33.xml" Id="R41ece9806fba4d2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d07f70e9fae4ca0" /><Relationship Type="http://schemas.openxmlformats.org/officeDocument/2006/relationships/notesSlide" Target="/ppt/notesSlides/notesSlide34.xml" Id="R81a392bbea8743b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aab8a1d3ac8940ae" /><Relationship Type="http://schemas.openxmlformats.org/officeDocument/2006/relationships/notesSlide" Target="/ppt/notesSlides/notesSlide35.xml" Id="Rf8097f257206470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90b70c5fa63b437c" /><Relationship Type="http://schemas.openxmlformats.org/officeDocument/2006/relationships/notesSlide" Target="/ppt/notesSlides/notesSlide36.xml" Id="Re4326d9f5b7f44a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faa9e7c62f224f3b" /><Relationship Type="http://schemas.openxmlformats.org/officeDocument/2006/relationships/notesSlide" Target="/ppt/notesSlides/notesSlide37.xml" Id="Rd30647798c5c470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caba1e7be0c141b9" /><Relationship Type="http://schemas.openxmlformats.org/officeDocument/2006/relationships/notesSlide" Target="/ppt/notesSlides/notesSlide38.xml" Id="R00c49fc1d3f74ff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8e568bd258344bab" /><Relationship Type="http://schemas.openxmlformats.org/officeDocument/2006/relationships/notesSlide" Target="/ppt/notesSlides/notesSlide39.xml" Id="Rd27d7733d48e498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1c9173abad554c4e" /><Relationship Type="http://schemas.openxmlformats.org/officeDocument/2006/relationships/notesSlide" Target="/ppt/notesSlides/notesSlide40.xml" Id="Rea4c6e4fee9c445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cd678787e2fe4e92" /><Relationship Type="http://schemas.openxmlformats.org/officeDocument/2006/relationships/notesSlide" Target="/ppt/notesSlides/notesSlide41.xml" Id="R4bbd7b3f5d7b423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748a9dfca46d4011" /><Relationship Type="http://schemas.openxmlformats.org/officeDocument/2006/relationships/notesSlide" Target="/ppt/notesSlides/notesSlide42.xml" Id="Rd86b6c4e468942a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aaa74dc81a654372" /><Relationship Type="http://schemas.openxmlformats.org/officeDocument/2006/relationships/notesSlide" Target="/ppt/notesSlides/notesSlide43.xml" Id="Rb98828cb3d66428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78f3fc77dd99409c" /><Relationship Type="http://schemas.openxmlformats.org/officeDocument/2006/relationships/notesSlide" Target="/ppt/notesSlides/notesSlide44.xml" Id="Rc384d479a8934a2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d20722cfa9e14bc8" /><Relationship Type="http://schemas.openxmlformats.org/officeDocument/2006/relationships/notesSlide" Target="/ppt/notesSlides/notesSlide45.xml" Id="Re678ed6f11354c9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62f623b4a76a4d66" /><Relationship Type="http://schemas.openxmlformats.org/officeDocument/2006/relationships/notesSlide" Target="/ppt/notesSlides/notesSlide46.xml" Id="Raeaec5a8b8494d5c" /></Relationships>
</file>

<file path=ppt/slides/slide1.xml><?xml version="1.0" encoding="utf-8"?>
<p:sld xmlns:p="http://schemas.openxmlformats.org/presentationml/2006/main">
  <p:cSld>
    <p:bg>
      <p:bgPr>
        <a:solidFill xmlns:a="http://schemas.openxmlformats.org/drawingml/2006/main">
          <a:srgbClr val="152E42"/>
        </a:solidFill>
      </p:bgPr>
    </p:bg>
    <p:spTree>
      <p:nvGrpSpPr>
        <p:cNvPr id="1" name=""/>
        <p:cNvGrpSpPr/>
        <p:nvPr/>
      </p:nvGrpSpPr>
      <p:grpSpPr>
        <a:xfrm xmlns:a="http://schemas.openxmlformats.org/drawingml/2006/main"/>
      </p:grpSpPr>
      <p:sp>
        <p:nvSpPr>
          <p:cNvPr id="5" name="Agentmux">
            <a:extLst xmlns:a="http://schemas.openxmlformats.org/drawingml/2006/main">
              <a:ext uri="{FF2B5EF4-FFF2-40B4-BE49-F238E27FC236}">
                <a16:creationId xmlns:a16="http://schemas.microsoft.com/office/drawing/2014/main" id="{E61958FF-397C-4EEC-87AE-D23C0E7E2465}"/>
              </a:ext>
            </a:extLst>
          </p:cNvPr>
          <p:cNvSpPr>
            <a:spLocks xmlns:a="http://schemas.openxmlformats.org/drawingml/2006/main" noGrp="1"/>
          </p:cNvSpPr>
          <p:nvPr/>
        </p:nvSpPr>
        <p:spPr>
          <a:xfrm xmlns:a="http://schemas.openxmlformats.org/drawingml/2006/main">
            <a:off x="609600" y="1123950"/>
            <a:ext cx="10763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Arial"/>
                <a:ea typeface="Arial"/>
                <a:cs typeface="Arial"/>
              </a:defRPr>
            </a:defPPr>
          </a:lstStyle>
          <a:p xmlns:a="http://schemas.openxmlformats.org/drawingml/2006/main">
            <a:pPr algn="l">
              <a:buNone/>
              <a:defRPr sz="5700" b="1">
                <a:solidFill>
                  <a:srgbClr val="FFFFFF"/>
                </a:solidFill>
                <a:latin typeface="Arial"/>
                <a:ea typeface="Arial"/>
                <a:cs typeface="Arial"/>
              </a:defRPr>
            </a:pPr>
            <a:r>
              <a:rPr sz="5700" b="1">
                <a:solidFill>
                  <a:srgbClr val="FFFFFF"/>
                </a:solidFill>
                <a:latin typeface="Arial"/>
                <a:ea typeface="Arial"/>
                <a:cs typeface="Arial"/>
              </a:rPr>
              <a:t>Agentmux</a:t>
            </a:r>
          </a:p>
        </p:txBody>
      </p:sp>
      <p:sp>
        <p:nvSpPr>
          <p:cNvPr id="2" name="Platform implementation review">
            <a:extLst xmlns:a="http://schemas.openxmlformats.org/drawingml/2006/main">
              <a:ext uri="{FF2B5EF4-FFF2-40B4-BE49-F238E27FC236}">
                <a16:creationId xmlns:a16="http://schemas.microsoft.com/office/drawing/2014/main" id="{7E7D80D2-CA16-4207-B478-714E56F27496}"/>
              </a:ext>
            </a:extLst>
          </p:cNvPr>
          <p:cNvSpPr>
            <a:spLocks xmlns:a="http://schemas.openxmlformats.org/drawingml/2006/main" noGrp="1"/>
          </p:cNvSpPr>
          <p:nvPr/>
        </p:nvSpPr>
        <p:spPr>
          <a:xfrm xmlns:a="http://schemas.openxmlformats.org/drawingml/2006/main">
            <a:off x="647700" y="2409825"/>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BEE5DF"/>
                </a:solidFill>
                <a:latin typeface="Arial"/>
                <a:ea typeface="Arial"/>
                <a:cs typeface="Arial"/>
              </a:defRPr>
            </a:defPPr>
          </a:lstStyle>
          <a:p xmlns:a="http://schemas.openxmlformats.org/drawingml/2006/main">
            <a:pPr algn="l">
              <a:buNone/>
              <a:defRPr sz="3300" b="0">
                <a:solidFill>
                  <a:srgbClr val="BEE5DF"/>
                </a:solidFill>
                <a:latin typeface="Arial"/>
                <a:ea typeface="Arial"/>
                <a:cs typeface="Arial"/>
              </a:defRPr>
            </a:pPr>
            <a:r>
              <a:rPr sz="3300" b="0">
                <a:solidFill>
                  <a:srgbClr val="BEE5DF"/>
                </a:solidFill>
                <a:latin typeface="Arial"/>
                <a:ea typeface="Arial"/>
                <a:cs typeface="Arial"/>
              </a:rPr>
              <a:t>Platform implementation review</a:t>
            </a:r>
          </a:p>
        </p:txBody>
      </p:sp>
      <p:sp>
        <p:nvSpPr>
          <p:cNvPr id="3" name="Architecture, migration and phased acceptance">
            <a:extLst xmlns:a="http://schemas.openxmlformats.org/drawingml/2006/main">
              <a:ext uri="{FF2B5EF4-FFF2-40B4-BE49-F238E27FC236}">
                <a16:creationId xmlns:a16="http://schemas.microsoft.com/office/drawing/2014/main" id="{184A2A79-FDE9-4C0D-ADBD-17AB4AF48598}"/>
              </a:ext>
            </a:extLst>
          </p:cNvPr>
          <p:cNvSpPr>
            <a:spLocks xmlns:a="http://schemas.openxmlformats.org/drawingml/2006/main" noGrp="1"/>
          </p:cNvSpPr>
          <p:nvPr/>
        </p:nvSpPr>
        <p:spPr>
          <a:xfrm xmlns:a="http://schemas.openxmlformats.org/drawingml/2006/main">
            <a:off x="647700" y="3343275"/>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stStyle>
          <a:p xmlns:a="http://schemas.openxmlformats.org/drawingml/2006/main">
            <a:pPr algn="l">
              <a:buNone/>
              <a:defRPr sz="2250" b="0">
                <a:solidFill>
                  <a:srgbClr val="FFFFFF"/>
                </a:solidFill>
                <a:latin typeface="Arial"/>
                <a:ea typeface="Arial"/>
                <a:cs typeface="Arial"/>
              </a:defRPr>
            </a:pPr>
            <a:r>
              <a:rPr sz="2250" b="0">
                <a:solidFill>
                  <a:srgbClr val="FFFFFF"/>
                </a:solidFill>
                <a:latin typeface="Arial"/>
                <a:ea typeface="Arial"/>
                <a:cs typeface="Arial"/>
              </a:rPr>
              <a:t>Architecture, migration and phased acceptance</a:t>
            </a:r>
          </a:p>
        </p:txBody>
      </p:sp>
      <p:sp>
        <p:nvSpPr>
          <p:cNvPr id="4" name="Proposal for Ryan and Nick&#10;October 9, 2026">
            <a:extLst xmlns:a="http://schemas.openxmlformats.org/drawingml/2006/main">
              <a:ext uri="{FF2B5EF4-FFF2-40B4-BE49-F238E27FC236}">
                <a16:creationId xmlns:a16="http://schemas.microsoft.com/office/drawing/2014/main" id="{2D726745-6DE1-4961-A81A-2998BBBDF36D}"/>
              </a:ext>
            </a:extLst>
          </p:cNvPr>
          <p:cNvSpPr>
            <a:spLocks xmlns:a="http://schemas.openxmlformats.org/drawingml/2006/main" noGrp="1"/>
          </p:cNvSpPr>
          <p:nvPr/>
        </p:nvSpPr>
        <p:spPr>
          <a:xfrm xmlns:a="http://schemas.openxmlformats.org/drawingml/2006/main">
            <a:off x="647700" y="5095875"/>
            <a:ext cx="981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C4DFDF"/>
                </a:solidFill>
                <a:latin typeface="Arial"/>
                <a:ea typeface="Arial"/>
                <a:cs typeface="Arial"/>
              </a:defRPr>
            </a:defPPr>
          </a:lstStyle>
          <a:p xmlns:a="http://schemas.openxmlformats.org/drawingml/2006/main">
            <a:pPr algn="l">
              <a:buNone/>
              <a:defRPr sz="1950" b="0">
                <a:solidFill>
                  <a:srgbClr val="C4DFDF"/>
                </a:solidFill>
                <a:latin typeface="Arial"/>
                <a:ea typeface="Arial"/>
                <a:cs typeface="Arial"/>
              </a:defRPr>
            </a:pPr>
            <a:r>
              <a:rPr sz="1950" b="0">
                <a:solidFill>
                  <a:srgbClr val="C4DFDF"/>
                </a:solidFill>
                <a:latin typeface="Arial"/>
                <a:ea typeface="Arial"/>
                <a:cs typeface="Arial"/>
              </a:rPr>
              <a:t>Proposal for Ryan and Nick</a:t>
            </a:r>
          </a:p>
          <a:p xmlns:a="http://schemas.openxmlformats.org/drawingml/2006/main">
            <a:pPr algn="l">
              <a:buNone/>
              <a:defRPr sz="1950" b="0">
                <a:solidFill>
                  <a:srgbClr val="C4DFDF"/>
                </a:solidFill>
                <a:latin typeface="Arial"/>
                <a:ea typeface="Arial"/>
                <a:cs typeface="Arial"/>
              </a:defRPr>
            </a:pPr>
            <a:r>
              <a:rPr sz="1950" b="0">
                <a:solidFill>
                  <a:srgbClr val="C4DFDF"/>
                </a:solidFill>
                <a:latin typeface="Arial"/>
                <a:ea typeface="Arial"/>
                <a:cs typeface="Arial"/>
              </a:rPr>
              <a:t>October 9, 2026</a:t>
            </a:r>
          </a:p>
        </p:txBody>
      </p:sp>
    </p:spTree>
    <p:extLst>
      <p:ext uri="{BB962C8B-B14F-4D97-AF65-F5344CB8AC3E}">
        <p14:creationId xmlns:p14="http://schemas.microsoft.com/office/powerpoint/2010/main" val="1873944645"/>
      </p:ext>
    </p:extLst>
  </p:cSld>
</p:sld>
</file>

<file path=ppt/slides/slide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Confirmed product direction">
            <a:extLst xmlns:a="http://schemas.openxmlformats.org/drawingml/2006/main">
              <a:ext uri="{FF2B5EF4-FFF2-40B4-BE49-F238E27FC236}">
                <a16:creationId xmlns:a16="http://schemas.microsoft.com/office/drawing/2014/main" id="{29EA27E1-0A5E-497E-98B9-6F2159732753}"/>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Confirmed product direction</a:t>
            </a:r>
          </a:p>
        </p:txBody>
      </p:sp>
      <p:sp>
        <p:nvSpPr>
          <p:cNvPr id="2" name="02">
            <a:extLst xmlns:a="http://schemas.openxmlformats.org/drawingml/2006/main">
              <a:ext uri="{FF2B5EF4-FFF2-40B4-BE49-F238E27FC236}">
                <a16:creationId xmlns:a16="http://schemas.microsoft.com/office/drawing/2014/main" id="{FA6B49CF-B727-499D-BA74-54E36EDEE832}"/>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02</a:t>
            </a:r>
          </a:p>
        </p:txBody>
      </p:sp>
      <p:sp>
        <p:nvSpPr>
          <p:cNvPr id="3" name="Plugin foundation">
            <a:extLst xmlns:a="http://schemas.openxmlformats.org/drawingml/2006/main">
              <a:ext uri="{FF2B5EF4-FFF2-40B4-BE49-F238E27FC236}">
                <a16:creationId xmlns:a16="http://schemas.microsoft.com/office/drawing/2014/main" id="{F4453DF1-DFA7-4DE2-8651-589DC09AFC7A}"/>
              </a:ext>
            </a:extLst>
          </p:cNvPr>
          <p:cNvSpPr>
            <a:spLocks xmlns:a="http://schemas.openxmlformats.org/drawingml/2006/main" noGrp="1"/>
          </p:cNvSpPr>
          <p:nvPr/>
        </p:nvSpPr>
        <p:spPr>
          <a:xfrm xmlns:a="http://schemas.openxmlformats.org/drawingml/2006/main">
            <a:off x="609600" y="16764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Plugin foundation</a:t>
            </a:r>
          </a:p>
        </p:txBody>
      </p:sp>
      <p:sp>
        <p:nvSpPr>
          <p:cNvPr id="4" name="A protected boot assembly with extensible surrounding services">
            <a:extLst xmlns:a="http://schemas.openxmlformats.org/drawingml/2006/main">
              <a:ext uri="{FF2B5EF4-FFF2-40B4-BE49-F238E27FC236}">
                <a16:creationId xmlns:a16="http://schemas.microsoft.com/office/drawing/2014/main" id="{02D4AD09-8721-46D1-B20D-C5BFF6772D09}"/>
              </a:ext>
            </a:extLst>
          </p:cNvPr>
          <p:cNvSpPr>
            <a:spLocks xmlns:a="http://schemas.openxmlformats.org/drawingml/2006/main" noGrp="1"/>
          </p:cNvSpPr>
          <p:nvPr/>
        </p:nvSpPr>
        <p:spPr>
          <a:xfrm xmlns:a="http://schemas.openxmlformats.org/drawingml/2006/main">
            <a:off x="609600" y="204787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A protected boot assembly with extensible surrounding services</a:t>
            </a:r>
          </a:p>
        </p:txBody>
      </p:sp>
      <p:sp>
        <p:nvSpPr>
          <p:cNvPr id="5" name="NATS communication">
            <a:extLst xmlns:a="http://schemas.openxmlformats.org/drawingml/2006/main">
              <a:ext uri="{FF2B5EF4-FFF2-40B4-BE49-F238E27FC236}">
                <a16:creationId xmlns:a16="http://schemas.microsoft.com/office/drawing/2014/main" id="{0C6FCC07-9434-48E0-90B2-084F6485EF37}"/>
              </a:ext>
            </a:extLst>
          </p:cNvPr>
          <p:cNvSpPr>
            <a:spLocks xmlns:a="http://schemas.openxmlformats.org/drawingml/2006/main" noGrp="1"/>
          </p:cNvSpPr>
          <p:nvPr/>
        </p:nvSpPr>
        <p:spPr>
          <a:xfrm xmlns:a="http://schemas.openxmlformats.org/drawingml/2006/main">
            <a:off x="609600" y="26765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NATS communication and persistence</a:t>
            </a:r>
          </a:p>
        </p:txBody>
      </p:sp>
      <p:sp>
        <p:nvSpPr>
          <p:cNvPr id="6" name="All Agentmux components communicate through scoped NATS contracts">
            <a:extLst xmlns:a="http://schemas.openxmlformats.org/drawingml/2006/main">
              <a:ext uri="{FF2B5EF4-FFF2-40B4-BE49-F238E27FC236}">
                <a16:creationId xmlns:a16="http://schemas.microsoft.com/office/drawing/2014/main" id="{88D0E784-A740-49A4-976F-622F30E4A175}"/>
              </a:ext>
            </a:extLst>
          </p:cNvPr>
          <p:cNvSpPr>
            <a:spLocks xmlns:a="http://schemas.openxmlformats.org/drawingml/2006/main" noGrp="1"/>
          </p:cNvSpPr>
          <p:nvPr/>
        </p:nvSpPr>
        <p:spPr>
          <a:xfrm xmlns:a="http://schemas.openxmlformats.org/drawingml/2006/main">
            <a:off x="609600" y="304800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Scoped NATS contracts and shared persistence with optional rebuildable SQL views</a:t>
            </a:r>
          </a:p>
        </p:txBody>
      </p:sp>
      <p:sp>
        <p:nvSpPr>
          <p:cNvPr id="7" name="Client-led work">
            <a:extLst xmlns:a="http://schemas.openxmlformats.org/drawingml/2006/main">
              <a:ext uri="{FF2B5EF4-FFF2-40B4-BE49-F238E27FC236}">
                <a16:creationId xmlns:a16="http://schemas.microsoft.com/office/drawing/2014/main" id="{79133A02-28E8-4757-8DAD-330002A74E6E}"/>
              </a:ext>
            </a:extLst>
          </p:cNvPr>
          <p:cNvSpPr>
            <a:spLocks xmlns:a="http://schemas.openxmlformats.org/drawingml/2006/main" noGrp="1"/>
          </p:cNvSpPr>
          <p:nvPr/>
        </p:nvSpPr>
        <p:spPr>
          <a:xfrm xmlns:a="http://schemas.openxmlformats.org/drawingml/2006/main">
            <a:off x="609600" y="36766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Client-led work</a:t>
            </a:r>
          </a:p>
        </p:txBody>
      </p:sp>
      <p:sp>
        <p:nvSpPr>
          <p:cNvPr id="8" name="Existing agent clients lead the workflow; the dashboard shows shared a">
            <a:extLst xmlns:a="http://schemas.openxmlformats.org/drawingml/2006/main">
              <a:ext uri="{FF2B5EF4-FFF2-40B4-BE49-F238E27FC236}">
                <a16:creationId xmlns:a16="http://schemas.microsoft.com/office/drawing/2014/main" id="{C3177F42-0205-4219-BB3C-9BBFCC4E60FB}"/>
              </a:ext>
            </a:extLst>
          </p:cNvPr>
          <p:cNvSpPr>
            <a:spLocks xmlns:a="http://schemas.openxmlformats.org/drawingml/2006/main" noGrp="1"/>
          </p:cNvSpPr>
          <p:nvPr/>
        </p:nvSpPr>
        <p:spPr>
          <a:xfrm xmlns:a="http://schemas.openxmlformats.org/drawingml/2006/main">
            <a:off x="609600" y="404812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Existing agent clients lead the workflow; the dashboard shows shared activity</a:t>
            </a:r>
          </a:p>
        </p:txBody>
      </p:sp>
      <p:sp>
        <p:nvSpPr>
          <p:cNvPr id="9" name="Local and connected teams">
            <a:extLst xmlns:a="http://schemas.openxmlformats.org/drawingml/2006/main">
              <a:ext uri="{FF2B5EF4-FFF2-40B4-BE49-F238E27FC236}">
                <a16:creationId xmlns:a16="http://schemas.microsoft.com/office/drawing/2014/main" id="{8051EFCB-1183-48D9-B630-B39B2CBE1BED}"/>
              </a:ext>
            </a:extLst>
          </p:cNvPr>
          <p:cNvSpPr>
            <a:spLocks xmlns:a="http://schemas.openxmlformats.org/drawingml/2006/main" noGrp="1"/>
          </p:cNvSpPr>
          <p:nvPr/>
        </p:nvSpPr>
        <p:spPr>
          <a:xfrm xmlns:a="http://schemas.openxmlformats.org/drawingml/2006/main">
            <a:off x="609600" y="467677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Local and connected teams</a:t>
            </a:r>
          </a:p>
        </p:txBody>
      </p:sp>
      <p:sp>
        <p:nvSpPr>
          <p:cNvPr id="10" name="Native macOS/Linux, Windows through WSL, self-hosted hubs across organ">
            <a:extLst xmlns:a="http://schemas.openxmlformats.org/drawingml/2006/main">
              <a:ext uri="{FF2B5EF4-FFF2-40B4-BE49-F238E27FC236}">
                <a16:creationId xmlns:a16="http://schemas.microsoft.com/office/drawing/2014/main" id="{0D3C35BE-4123-4298-BA64-6E9CD46179F7}"/>
              </a:ext>
            </a:extLst>
          </p:cNvPr>
          <p:cNvSpPr>
            <a:spLocks xmlns:a="http://schemas.openxmlformats.org/drawingml/2006/main" noGrp="1"/>
          </p:cNvSpPr>
          <p:nvPr/>
        </p:nvSpPr>
        <p:spPr>
          <a:xfrm xmlns:a="http://schemas.openxmlformats.org/drawingml/2006/main">
            <a:off x="609600" y="50482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Native macOS/Linux, Windows through WSL, self-hosted hubs across organizations</a:t>
            </a:r>
          </a:p>
        </p:txBody>
      </p:sp>
    </p:spTree>
    <p:extLst>
      <p:ext uri="{BB962C8B-B14F-4D97-AF65-F5344CB8AC3E}">
        <p14:creationId xmlns:p14="http://schemas.microsoft.com/office/powerpoint/2010/main" val="399135127"/>
      </p:ext>
    </p:extLst>
  </p:cSld>
</p:sld>
</file>

<file path=ppt/slides/slide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7862346D-A2EA-4006-92D0-A1264E75B97C}"/>
              </a:ext>
            </a:extLst>
          </p:cNvPr>
          <p:cNvCxnSpPr>
            <a:stCxn xmlns:a="http://schemas.openxmlformats.org/drawingml/2006/main" id="14" idx="3"/>
            <a:endCxn xmlns:a="http://schemas.openxmlformats.org/drawingml/2006/main" id="8" idx="1"/>
          </p:cNvCxnSpPr>
          <p:nvPr/>
        </p:nvCxnSpPr>
        <p:spPr>
          <a:xfrm xmlns:a="http://schemas.openxmlformats.org/drawingml/2006/main">
            <a:off x="2933700" y="3781425"/>
            <a:ext cx="88582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0F14A25F-1DA9-4166-BE30-BFE174DEAFA8}"/>
              </a:ext>
            </a:extLst>
          </p:cNvPr>
          <p:cNvCxnSpPr>
            <a:stCxn xmlns:a="http://schemas.openxmlformats.org/drawingml/2006/main" id="9" idx="3"/>
            <a:endCxn xmlns:a="http://schemas.openxmlformats.org/drawingml/2006/main" id="10" idx="1"/>
          </p:cNvCxnSpPr>
          <p:nvPr/>
        </p:nvCxnSpPr>
        <p:spPr>
          <a:xfrm xmlns:a="http://schemas.openxmlformats.org/drawingml/2006/main">
            <a:off x="9296400" y="3781425"/>
            <a:ext cx="70485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880D66A9-3553-4CFE-B2D3-59FD3E06B890}"/>
              </a:ext>
            </a:extLst>
          </p:cNvPr>
          <p:cNvCxnSpPr>
            <a:stCxn xmlns:a="http://schemas.openxmlformats.org/drawingml/2006/main" id="8" idx="3"/>
            <a:endCxn xmlns:a="http://schemas.openxmlformats.org/drawingml/2006/main" id="9" idx="1"/>
          </p:cNvCxnSpPr>
          <p:nvPr/>
        </p:nvCxnSpPr>
        <p:spPr>
          <a:xfrm xmlns:a="http://schemas.openxmlformats.org/drawingml/2006/main">
            <a:off x="6200775" y="3781425"/>
            <a:ext cx="100012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8BCE6010-F2A7-4A11-8BF9-A69454494692}"/>
              </a:ext>
            </a:extLst>
          </p:cNvPr>
          <p:cNvCxnSpPr>
            <a:stCxn xmlns:a="http://schemas.openxmlformats.org/drawingml/2006/main" id="4" idx="2"/>
            <a:endCxn xmlns:a="http://schemas.openxmlformats.org/drawingml/2006/main" id="8" idx="0"/>
          </p:cNvCxnSpPr>
          <p:nvPr/>
        </p:nvCxnSpPr>
        <p:spPr>
          <a:xfrm xmlns:a="http://schemas.openxmlformats.org/drawingml/2006/main">
            <a:off x="5010150" y="2562225"/>
            <a:ext cx="0" cy="83820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BE9904EC-8EE2-4E2A-919B-BA96EB4BDEB0}"/>
              </a:ext>
            </a:extLst>
          </p:cNvPr>
          <p:cNvCxnSpPr>
            <a:stCxn xmlns:a="http://schemas.openxmlformats.org/drawingml/2006/main" id="4" idx="3"/>
            <a:endCxn xmlns:a="http://schemas.openxmlformats.org/drawingml/2006/main" id="5" idx="1"/>
          </p:cNvCxnSpPr>
          <p:nvPr/>
        </p:nvCxnSpPr>
        <p:spPr>
          <a:xfrm xmlns:a="http://schemas.openxmlformats.org/drawingml/2006/main">
            <a:off x="6200775" y="2181225"/>
            <a:ext cx="100012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F418EE53-C63F-40B5-B079-16F38A8D8BB0}"/>
              </a:ext>
            </a:extLst>
          </p:cNvPr>
          <p:cNvCxnSpPr>
            <a:stCxn xmlns:a="http://schemas.openxmlformats.org/drawingml/2006/main" id="3" idx="3"/>
            <a:endCxn xmlns:a="http://schemas.openxmlformats.org/drawingml/2006/main" id="4" idx="1"/>
          </p:cNvCxnSpPr>
          <p:nvPr/>
        </p:nvCxnSpPr>
        <p:spPr>
          <a:xfrm xmlns:a="http://schemas.openxmlformats.org/drawingml/2006/main">
            <a:off x="2933700" y="2181225"/>
            <a:ext cx="88582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20" name="Current architecture">
            <a:extLst xmlns:a="http://schemas.openxmlformats.org/drawingml/2006/main">
              <a:ext uri="{FF2B5EF4-FFF2-40B4-BE49-F238E27FC236}">
                <a16:creationId xmlns:a16="http://schemas.microsoft.com/office/drawing/2014/main" id="{253537BA-4B9B-45AC-A698-57760ACD5EC4}"/>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Current architecture</a:t>
            </a:r>
          </a:p>
        </p:txBody>
      </p:sp>
      <p:sp>
        <p:nvSpPr>
          <p:cNvPr id="2" name="03">
            <a:extLst xmlns:a="http://schemas.openxmlformats.org/drawingml/2006/main">
              <a:ext uri="{FF2B5EF4-FFF2-40B4-BE49-F238E27FC236}">
                <a16:creationId xmlns:a16="http://schemas.microsoft.com/office/drawing/2014/main" id="{28D98E79-E2D2-44B6-8C16-88F44EDBBBF4}"/>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03</a:t>
            </a:r>
          </a:p>
        </p:txBody>
      </p:sp>
      <p:sp>
        <p:nvSpPr>
          <p:cNvPr id="3" name="Agent clients&#10;and terminal">
            <a:extLst xmlns:a="http://schemas.openxmlformats.org/drawingml/2006/main">
              <a:ext uri="{FF2B5EF4-FFF2-40B4-BE49-F238E27FC236}">
                <a16:creationId xmlns:a16="http://schemas.microsoft.com/office/drawing/2014/main" id="{E89D9C3A-A411-4BFA-BB59-1FC9E7CC110F}"/>
              </a:ext>
            </a:extLst>
          </p:cNvPr>
          <p:cNvSpPr>
            <a:spLocks xmlns:a="http://schemas.openxmlformats.org/drawingml/2006/main" noGrp="1"/>
          </p:cNvSpPr>
          <p:nvPr/>
        </p:nvSpPr>
        <p:spPr>
          <a:xfrm xmlns:a="http://schemas.openxmlformats.org/drawingml/2006/main">
            <a:off x="609600" y="1800225"/>
            <a:ext cx="232410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Agent clients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terminal</a:t>
            </a:r>
          </a:p>
        </p:txBody>
      </p:sp>
      <p:sp>
        <p:nvSpPr>
          <p:cNvPr id="4" name="Bash / tmux&#10;harness">
            <a:extLst xmlns:a="http://schemas.openxmlformats.org/drawingml/2006/main">
              <a:ext uri="{FF2B5EF4-FFF2-40B4-BE49-F238E27FC236}">
                <a16:creationId xmlns:a16="http://schemas.microsoft.com/office/drawing/2014/main" id="{EE33D32B-18C2-4680-882A-2FA138B4F028}"/>
              </a:ext>
            </a:extLst>
          </p:cNvPr>
          <p:cNvSpPr>
            <a:spLocks xmlns:a="http://schemas.openxmlformats.org/drawingml/2006/main" noGrp="1"/>
          </p:cNvSpPr>
          <p:nvPr/>
        </p:nvSpPr>
        <p:spPr>
          <a:xfrm xmlns:a="http://schemas.openxmlformats.org/drawingml/2006/main">
            <a:off x="3819525" y="1800225"/>
            <a:ext cx="238125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Bash / tmux</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harness</a:t>
            </a:r>
          </a:p>
        </p:txBody>
      </p:sp>
      <p:sp>
        <p:nvSpPr>
          <p:cNvPr id="5" name="Provider processes&#10;and worktrees">
            <a:extLst xmlns:a="http://schemas.openxmlformats.org/drawingml/2006/main">
              <a:ext uri="{FF2B5EF4-FFF2-40B4-BE49-F238E27FC236}">
                <a16:creationId xmlns:a16="http://schemas.microsoft.com/office/drawing/2014/main" id="{F2002494-2974-4018-A539-871382C244B7}"/>
              </a:ext>
            </a:extLst>
          </p:cNvPr>
          <p:cNvSpPr>
            <a:spLocks xmlns:a="http://schemas.openxmlformats.org/drawingml/2006/main" noGrp="1"/>
          </p:cNvSpPr>
          <p:nvPr/>
        </p:nvSpPr>
        <p:spPr>
          <a:xfrm xmlns:a="http://schemas.openxmlformats.org/drawingml/2006/main">
            <a:off x="7200900" y="1800225"/>
            <a:ext cx="438150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Provider processes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worktrees</a:t>
            </a:r>
          </a:p>
        </p:txBody>
      </p:sp>
      <p:sp>
        <p:nvSpPr>
          <p:cNvPr id="8" name="Python hub">
            <a:extLst xmlns:a="http://schemas.openxmlformats.org/drawingml/2006/main">
              <a:ext uri="{FF2B5EF4-FFF2-40B4-BE49-F238E27FC236}">
                <a16:creationId xmlns:a16="http://schemas.microsoft.com/office/drawing/2014/main" id="{7D92B963-488F-4DD7-B94E-980AAD4D3D89}"/>
              </a:ext>
            </a:extLst>
          </p:cNvPr>
          <p:cNvSpPr>
            <a:spLocks xmlns:a="http://schemas.openxmlformats.org/drawingml/2006/main" noGrp="1"/>
          </p:cNvSpPr>
          <p:nvPr/>
        </p:nvSpPr>
        <p:spPr>
          <a:xfrm xmlns:a="http://schemas.openxmlformats.org/drawingml/2006/main">
            <a:off x="3819525" y="3400425"/>
            <a:ext cx="238125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Python hub</a:t>
            </a:r>
          </a:p>
        </p:txBody>
      </p:sp>
      <p:sp>
        <p:nvSpPr>
          <p:cNvPr id="9" name="Federation&#10;extensions">
            <a:extLst xmlns:a="http://schemas.openxmlformats.org/drawingml/2006/main">
              <a:ext uri="{FF2B5EF4-FFF2-40B4-BE49-F238E27FC236}">
                <a16:creationId xmlns:a16="http://schemas.microsoft.com/office/drawing/2014/main" id="{168FE9E5-53C9-4B37-8656-A93118F1C46F}"/>
              </a:ext>
            </a:extLst>
          </p:cNvPr>
          <p:cNvSpPr>
            <a:spLocks xmlns:a="http://schemas.openxmlformats.org/drawingml/2006/main" noGrp="1"/>
          </p:cNvSpPr>
          <p:nvPr/>
        </p:nvSpPr>
        <p:spPr>
          <a:xfrm xmlns:a="http://schemas.openxmlformats.org/drawingml/2006/main">
            <a:off x="7200900" y="3400425"/>
            <a:ext cx="209550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Federation</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extensions</a:t>
            </a:r>
          </a:p>
        </p:txBody>
      </p:sp>
      <p:sp>
        <p:nvSpPr>
          <p:cNvPr id="10" name="NATS&#10;shared circle">
            <a:extLst xmlns:a="http://schemas.openxmlformats.org/drawingml/2006/main">
              <a:ext uri="{FF2B5EF4-FFF2-40B4-BE49-F238E27FC236}">
                <a16:creationId xmlns:a16="http://schemas.microsoft.com/office/drawing/2014/main" id="{B6FE736F-5E9C-43ED-82C0-D5A6FE2E3075}"/>
              </a:ext>
            </a:extLst>
          </p:cNvPr>
          <p:cNvSpPr>
            <a:spLocks xmlns:a="http://schemas.openxmlformats.org/drawingml/2006/main" noGrp="1"/>
          </p:cNvSpPr>
          <p:nvPr/>
        </p:nvSpPr>
        <p:spPr>
          <a:xfrm xmlns:a="http://schemas.openxmlformats.org/drawingml/2006/main">
            <a:off x="10001250" y="3400425"/>
            <a:ext cx="158115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00" b="0">
                <a:solidFill>
                  <a:srgbClr val="152E42"/>
                </a:solidFill>
                <a:latin typeface="Arial"/>
                <a:ea typeface="Arial"/>
                <a:cs typeface="Arial"/>
              </a:defRPr>
            </a:defPPr>
          </a:lstStyle>
          <a:p xmlns:a="http://schemas.openxmlformats.org/drawingml/2006/main">
            <a:pPr algn="ctr">
              <a:buNone/>
              <a:defRPr sz="1800" b="0">
                <a:solidFill>
                  <a:srgbClr val="152E42"/>
                </a:solidFill>
                <a:latin typeface="Arial"/>
                <a:ea typeface="Arial"/>
                <a:cs typeface="Arial"/>
              </a:defRPr>
            </a:pPr>
            <a:r>
              <a:rPr sz="1800" b="0">
                <a:solidFill>
                  <a:srgbClr val="152E42"/>
                </a:solidFill>
                <a:latin typeface="Arial"/>
                <a:ea typeface="Arial"/>
                <a:cs typeface="Arial"/>
              </a:rPr>
              <a:t>NATS</a:t>
            </a:r>
          </a:p>
          <a:p xmlns:a="http://schemas.openxmlformats.org/drawingml/2006/main">
            <a:pPr algn="ctr">
              <a:buNone/>
              <a:defRPr sz="1800" b="0">
                <a:solidFill>
                  <a:srgbClr val="152E42"/>
                </a:solidFill>
                <a:latin typeface="Arial"/>
                <a:ea typeface="Arial"/>
                <a:cs typeface="Arial"/>
              </a:defRPr>
            </a:pPr>
            <a:r>
              <a:rPr sz="1800" b="0">
                <a:solidFill>
                  <a:srgbClr val="152E42"/>
                </a:solidFill>
                <a:latin typeface="Arial"/>
                <a:ea typeface="Arial"/>
                <a:cs typeface="Arial"/>
              </a:rPr>
              <a:t>shared circle</a:t>
            </a:r>
          </a:p>
        </p:txBody>
      </p:sp>
      <p:sp>
        <p:nvSpPr>
          <p:cNvPr id="14" name="Local dashboard">
            <a:extLst xmlns:a="http://schemas.openxmlformats.org/drawingml/2006/main">
              <a:ext uri="{FF2B5EF4-FFF2-40B4-BE49-F238E27FC236}">
                <a16:creationId xmlns:a16="http://schemas.microsoft.com/office/drawing/2014/main" id="{3AFC74FD-3783-40C0-9E2F-B99F9314F561}"/>
              </a:ext>
            </a:extLst>
          </p:cNvPr>
          <p:cNvSpPr>
            <a:spLocks xmlns:a="http://schemas.openxmlformats.org/drawingml/2006/main" noGrp="1"/>
          </p:cNvSpPr>
          <p:nvPr/>
        </p:nvSpPr>
        <p:spPr>
          <a:xfrm xmlns:a="http://schemas.openxmlformats.org/drawingml/2006/main">
            <a:off x="609600" y="3400425"/>
            <a:ext cx="232410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Local dashboard</a:t>
            </a:r>
          </a:p>
        </p:txBody>
      </p:sp>
      <p:sp>
        <p:nvSpPr>
          <p:cNvPr id="16" name="Board SQLite">
            <a:extLst xmlns:a="http://schemas.openxmlformats.org/drawingml/2006/main">
              <a:ext uri="{FF2B5EF4-FFF2-40B4-BE49-F238E27FC236}">
                <a16:creationId xmlns:a16="http://schemas.microsoft.com/office/drawing/2014/main" id="{7964FA9B-9513-447D-B7CA-771AEE56C1ED}"/>
              </a:ext>
            </a:extLst>
          </p:cNvPr>
          <p:cNvSpPr>
            <a:spLocks xmlns:a="http://schemas.openxmlformats.org/drawingml/2006/main" noGrp="1"/>
          </p:cNvSpPr>
          <p:nvPr/>
        </p:nvSpPr>
        <p:spPr>
          <a:xfrm xmlns:a="http://schemas.openxmlformats.org/drawingml/2006/main">
            <a:off x="609600" y="485775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Board SQLite</a:t>
            </a:r>
          </a:p>
        </p:txBody>
      </p:sp>
      <p:sp>
        <p:nvSpPr>
          <p:cNvPr id="17" name="Run files and claims">
            <a:extLst xmlns:a="http://schemas.openxmlformats.org/drawingml/2006/main">
              <a:ext uri="{FF2B5EF4-FFF2-40B4-BE49-F238E27FC236}">
                <a16:creationId xmlns:a16="http://schemas.microsoft.com/office/drawing/2014/main" id="{E9043168-080F-4920-8DC3-F3A0D1B261C9}"/>
              </a:ext>
            </a:extLst>
          </p:cNvPr>
          <p:cNvSpPr>
            <a:spLocks xmlns:a="http://schemas.openxmlformats.org/drawingml/2006/main" noGrp="1"/>
          </p:cNvSpPr>
          <p:nvPr/>
        </p:nvSpPr>
        <p:spPr>
          <a:xfrm xmlns:a="http://schemas.openxmlformats.org/drawingml/2006/main">
            <a:off x="3981450" y="485775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Run files and claims</a:t>
            </a:r>
          </a:p>
        </p:txBody>
      </p:sp>
      <p:sp>
        <p:nvSpPr>
          <p:cNvPr id="18" name="Hub SQLite">
            <a:extLst xmlns:a="http://schemas.openxmlformats.org/drawingml/2006/main">
              <a:ext uri="{FF2B5EF4-FFF2-40B4-BE49-F238E27FC236}">
                <a16:creationId xmlns:a16="http://schemas.microsoft.com/office/drawing/2014/main" id="{8DF5BE24-16DB-4E6F-BA59-847EBD01C589}"/>
              </a:ext>
            </a:extLst>
          </p:cNvPr>
          <p:cNvSpPr>
            <a:spLocks xmlns:a="http://schemas.openxmlformats.org/drawingml/2006/main" noGrp="1"/>
          </p:cNvSpPr>
          <p:nvPr/>
        </p:nvSpPr>
        <p:spPr>
          <a:xfrm xmlns:a="http://schemas.openxmlformats.org/drawingml/2006/main">
            <a:off x="8362950" y="4857750"/>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Hub SQLite</a:t>
            </a:r>
          </a:p>
        </p:txBody>
      </p:sp>
      <p:sp>
        <p:nvSpPr>
          <p:cNvPr id="19" name="Separate ownership and completion signals need explicit migration.">
            <a:extLst xmlns:a="http://schemas.openxmlformats.org/drawingml/2006/main">
              <a:ext uri="{FF2B5EF4-FFF2-40B4-BE49-F238E27FC236}">
                <a16:creationId xmlns:a16="http://schemas.microsoft.com/office/drawing/2014/main" id="{2B778383-DCC7-4754-8505-C34B6148CAC4}"/>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Separate ownership and completion signals need explicit migration.</a:t>
            </a:r>
          </a:p>
        </p:txBody>
      </p:sp>
    </p:spTree>
    <p:extLst>
      <p:ext uri="{BB962C8B-B14F-4D97-AF65-F5344CB8AC3E}">
        <p14:creationId xmlns:p14="http://schemas.microsoft.com/office/powerpoint/2010/main" val="1594268494"/>
      </p:ext>
    </p:extLst>
  </p:cSld>
</p:sld>
</file>

<file path=ppt/slides/slide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83C1A44B-F9E0-402B-8CDA-0F09CCF33352}"/>
              </a:ext>
            </a:extLst>
          </p:cNvPr>
          <p:cNvCxnSpPr>
            <a:stCxn xmlns:a="http://schemas.openxmlformats.org/drawingml/2006/main" id="9" idx="0"/>
            <a:endCxn xmlns:a="http://schemas.openxmlformats.org/drawingml/2006/main" id="5" idx="2"/>
          </p:cNvCxnSpPr>
          <p:nvPr/>
        </p:nvCxnSpPr>
        <p:spPr>
          <a:xfrm xmlns:a="http://schemas.openxmlformats.org/drawingml/2006/main" flipV="1">
            <a:off x="9925050" y="2390775"/>
            <a:ext cx="0" cy="180975"/>
          </a:xfrm>
          <a:prstGeom xmlns:a="http://schemas.openxmlformats.org/drawingml/2006/main" prst="straightConnector1">
            <a:avLst/>
          </a:prstGeom>
          <a:ln xmlns:a="http://schemas.openxmlformats.org/drawingml/2006/main" w="20955">
            <a:solidFill>
              <a:srgbClr val="087E83"/>
            </a:solidFill>
            <a:prstDash val="solid"/>
            <a:headEnd type="triangle" w="med" len="med"/>
            <a:tailEnd type="triangle" w="med" len="med"/>
          </a:ln>
        </p:spPr>
      </p:cxnSp>
      <p:cxnSp>
        <p:nvCxnSpPr>
          <p:cNvPr id="6" name="">
            <a:extLst xmlns:a="http://schemas.openxmlformats.org/drawingml/2006/main">
              <a:ext uri="{FF2B5EF4-FFF2-40B4-BE49-F238E27FC236}">
                <a16:creationId xmlns:a16="http://schemas.microsoft.com/office/drawing/2014/main" id="{9810DDB7-DE5C-4E4C-8AF0-7414164EB8F5}"/>
              </a:ext>
            </a:extLst>
          </p:cNvPr>
          <p:cNvCxnSpPr>
            <a:stCxn xmlns:a="http://schemas.openxmlformats.org/drawingml/2006/main" id="3" idx="3"/>
            <a:endCxn xmlns:a="http://schemas.openxmlformats.org/drawingml/2006/main" id="4" idx="1"/>
          </p:cNvCxnSpPr>
          <p:nvPr/>
        </p:nvCxnSpPr>
        <p:spPr>
          <a:xfrm xmlns:a="http://schemas.openxmlformats.org/drawingml/2006/main">
            <a:off x="2895600" y="2038350"/>
            <a:ext cx="914400" cy="0"/>
          </a:xfrm>
          <a:prstGeom xmlns:a="http://schemas.openxmlformats.org/drawingml/2006/main" prst="straightConnector1">
            <a:avLst/>
          </a:prstGeom>
          <a:ln xmlns:a="http://schemas.openxmlformats.org/drawingml/2006/main" w="20955">
            <a:solidFill>
              <a:srgbClr val="087E83"/>
            </a:solidFill>
            <a:prstDash val="solid"/>
            <a:headEnd type="triangle" w="med" len="med"/>
            <a:tailEnd type="triangle" w="med" len="med"/>
          </a:ln>
        </p:spPr>
      </p:cxnSp>
      <p:sp>
        <p:nvSpPr>
          <p:cNvPr id="21" name="Proposed product architecture">
            <a:extLst xmlns:a="http://schemas.openxmlformats.org/drawingml/2006/main">
              <a:ext uri="{FF2B5EF4-FFF2-40B4-BE49-F238E27FC236}">
                <a16:creationId xmlns:a16="http://schemas.microsoft.com/office/drawing/2014/main" id="{5387D9F8-F402-4FA6-94B4-EC8729B387F3}"/>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Proposed product architecture</a:t>
            </a:r>
          </a:p>
        </p:txBody>
      </p:sp>
      <p:sp>
        <p:nvSpPr>
          <p:cNvPr id="2" name="04">
            <a:extLst xmlns:a="http://schemas.openxmlformats.org/drawingml/2006/main">
              <a:ext uri="{FF2B5EF4-FFF2-40B4-BE49-F238E27FC236}">
                <a16:creationId xmlns:a16="http://schemas.microsoft.com/office/drawing/2014/main" id="{4C1D171D-B45F-434D-B845-2C0B79D2E741}"/>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04</a:t>
            </a:r>
          </a:p>
        </p:txBody>
      </p:sp>
      <p:sp>
        <p:nvSpPr>
          <p:cNvPr id="3" name="Agent clients">
            <a:extLst xmlns:a="http://schemas.openxmlformats.org/drawingml/2006/main">
              <a:ext uri="{FF2B5EF4-FFF2-40B4-BE49-F238E27FC236}">
                <a16:creationId xmlns:a16="http://schemas.microsoft.com/office/drawing/2014/main" id="{5A96459C-507E-4F5A-B91F-D5D7BDC159D2}"/>
              </a:ext>
            </a:extLst>
          </p:cNvPr>
          <p:cNvSpPr>
            <a:spLocks xmlns:a="http://schemas.openxmlformats.org/drawingml/2006/main" noGrp="1"/>
          </p:cNvSpPr>
          <p:nvPr/>
        </p:nvSpPr>
        <p:spPr>
          <a:xfrm xmlns:a="http://schemas.openxmlformats.org/drawingml/2006/main">
            <a:off x="609600" y="1685925"/>
            <a:ext cx="2286000" cy="7048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Agent clients</a:t>
            </a:r>
          </a:p>
        </p:txBody>
      </p:sp>
      <p:sp>
        <p:nvSpPr>
          <p:cNvPr id="4" name="Client integrations">
            <a:extLst xmlns:a="http://schemas.openxmlformats.org/drawingml/2006/main">
              <a:ext uri="{FF2B5EF4-FFF2-40B4-BE49-F238E27FC236}">
                <a16:creationId xmlns:a16="http://schemas.microsoft.com/office/drawing/2014/main" id="{EB706CF3-EB0A-424E-9622-7E91C6BFB7E4}"/>
              </a:ext>
            </a:extLst>
          </p:cNvPr>
          <p:cNvSpPr>
            <a:spLocks xmlns:a="http://schemas.openxmlformats.org/drawingml/2006/main" noGrp="1"/>
          </p:cNvSpPr>
          <p:nvPr/>
        </p:nvSpPr>
        <p:spPr>
          <a:xfrm xmlns:a="http://schemas.openxmlformats.org/drawingml/2006/main">
            <a:off x="3810000" y="1685925"/>
            <a:ext cx="3048000" cy="7048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Client integrations</a:t>
            </a:r>
          </a:p>
        </p:txBody>
      </p:sp>
      <p:sp>
        <p:nvSpPr>
          <p:cNvPr id="5" name="CopilotKit dashboard">
            <a:extLst xmlns:a="http://schemas.openxmlformats.org/drawingml/2006/main">
              <a:ext uri="{FF2B5EF4-FFF2-40B4-BE49-F238E27FC236}">
                <a16:creationId xmlns:a16="http://schemas.microsoft.com/office/drawing/2014/main" id="{D66B89A4-4448-4AA9-AECD-82CB0102398F}"/>
              </a:ext>
            </a:extLst>
          </p:cNvPr>
          <p:cNvSpPr>
            <a:spLocks xmlns:a="http://schemas.openxmlformats.org/drawingml/2006/main" noGrp="1"/>
          </p:cNvSpPr>
          <p:nvPr/>
        </p:nvSpPr>
        <p:spPr>
          <a:xfrm xmlns:a="http://schemas.openxmlformats.org/drawingml/2006/main">
            <a:off x="8267700" y="1685925"/>
            <a:ext cx="3314700" cy="7048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CopilotKit dashboard</a:t>
            </a:r>
          </a:p>
        </p:txBody>
      </p:sp>
      <p:sp>
        <p:nvSpPr>
          <p:cNvPr id="7" name="NATS application backbone">
            <a:extLst xmlns:a="http://schemas.openxmlformats.org/drawingml/2006/main">
              <a:ext uri="{FF2B5EF4-FFF2-40B4-BE49-F238E27FC236}">
                <a16:creationId xmlns:a16="http://schemas.microsoft.com/office/drawing/2014/main" id="{D73D6C11-162E-4599-A81C-7B70199BF7DC}"/>
              </a:ext>
            </a:extLst>
          </p:cNvPr>
          <p:cNvSpPr>
            <a:spLocks xmlns:a="http://schemas.openxmlformats.org/drawingml/2006/main" noGrp="1"/>
          </p:cNvSpPr>
          <p:nvPr/>
        </p:nvSpPr>
        <p:spPr>
          <a:xfrm xmlns:a="http://schemas.openxmlformats.org/drawingml/2006/main">
            <a:off x="609600" y="3429000"/>
            <a:ext cx="10972800" cy="571500"/>
          </a:xfrm>
          <a:prstGeom xmlns:a="http://schemas.openxmlformats.org/drawingml/2006/main" prst="rect">
            <a:avLst/>
          </a:prstGeom>
          <a:solidFill xmlns:a="http://schemas.openxmlformats.org/drawingml/2006/main">
            <a:srgbClr val="087E83"/>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2250" b="0">
                <a:solidFill>
                  <a:srgbClr val="FFFFFF"/>
                </a:solidFill>
                <a:latin typeface="Arial"/>
                <a:ea typeface="Arial"/>
                <a:cs typeface="Arial"/>
              </a:defRPr>
            </a:defPPr>
          </a:lstStyle>
          <a:p xmlns:a="http://schemas.openxmlformats.org/drawingml/2006/main">
            <a:pPr algn="ctr">
              <a:buNone/>
              <a:defRPr sz="2250" b="0">
                <a:solidFill>
                  <a:srgbClr val="FFFFFF"/>
                </a:solidFill>
                <a:latin typeface="Arial"/>
                <a:ea typeface="Arial"/>
                <a:cs typeface="Arial"/>
              </a:defRPr>
            </a:pPr>
            <a:r>
              <a:rPr sz="2250" b="0">
                <a:solidFill>
                  <a:srgbClr val="FFFFFF"/>
                </a:solidFill>
                <a:latin typeface="Arial"/>
                <a:ea typeface="Arial"/>
                <a:cs typeface="Arial"/>
              </a:rPr>
              <a:t>NATS communication and shared persistence</a:t>
            </a:r>
          </a:p>
        </p:txBody>
      </p:sp>
      <p:cxnSp>
        <p:nvCxnSpPr>
          <p:cNvPr id="8" name="">
            <a:extLst xmlns:a="http://schemas.openxmlformats.org/drawingml/2006/main">
              <a:ext uri="{FF2B5EF4-FFF2-40B4-BE49-F238E27FC236}">
                <a16:creationId xmlns:a16="http://schemas.microsoft.com/office/drawing/2014/main" id="{C4E3BD96-53BE-4871-B0CD-A1D7E9E16BD9}"/>
              </a:ext>
            </a:extLst>
          </p:cNvPr>
          <p:cNvCxnSpPr/>
          <p:nvPr/>
        </p:nvCxnSpPr>
        <p:spPr>
          <a:xfrm xmlns:a="http://schemas.openxmlformats.org/drawingml/2006/main">
            <a:off x="5334000" y="2390775"/>
            <a:ext cx="0" cy="1038225"/>
          </a:xfrm>
          <a:prstGeom xmlns:a="http://schemas.openxmlformats.org/drawingml/2006/main" prst="straightConnector1">
            <a:avLst/>
          </a:prstGeom>
          <a:ln xmlns:a="http://schemas.openxmlformats.org/drawingml/2006/main" w="20955">
            <a:solidFill>
              <a:srgbClr val="087E83"/>
            </a:solidFill>
            <a:headEnd type="triangle" w="med" len="med"/>
            <a:tailEnd type="triangle" w="med" len="med"/>
          </a:ln>
        </p:spPr>
      </p:cxnSp>
      <p:sp>
        <p:nvSpPr>
          <p:cNvPr id="9" name="AG-UI interface">
            <a:extLst xmlns:a="http://schemas.openxmlformats.org/drawingml/2006/main">
              <a:ext uri="{FF2B5EF4-FFF2-40B4-BE49-F238E27FC236}">
                <a16:creationId xmlns:a16="http://schemas.microsoft.com/office/drawing/2014/main" id="{0830C35F-2AB5-470F-B226-7232EEA8C0B4}"/>
              </a:ext>
            </a:extLst>
          </p:cNvPr>
          <p:cNvSpPr>
            <a:spLocks xmlns:a="http://schemas.openxmlformats.org/drawingml/2006/main" noGrp="1"/>
          </p:cNvSpPr>
          <p:nvPr/>
        </p:nvSpPr>
        <p:spPr>
          <a:xfrm xmlns:a="http://schemas.openxmlformats.org/drawingml/2006/main">
            <a:off x="8267700" y="2571750"/>
            <a:ext cx="3314700" cy="4953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00" b="0">
                <a:solidFill>
                  <a:srgbClr val="152E42"/>
                </a:solidFill>
                <a:latin typeface="Arial"/>
                <a:ea typeface="Arial"/>
                <a:cs typeface="Arial"/>
              </a:defRPr>
            </a:defPPr>
          </a:lstStyle>
          <a:p xmlns:a="http://schemas.openxmlformats.org/drawingml/2006/main">
            <a:pPr algn="ctr">
              <a:buNone/>
              <a:defRPr sz="1800" b="0">
                <a:solidFill>
                  <a:srgbClr val="152E42"/>
                </a:solidFill>
                <a:latin typeface="Arial"/>
                <a:ea typeface="Arial"/>
                <a:cs typeface="Arial"/>
              </a:defRPr>
            </a:pPr>
            <a:r>
              <a:rPr sz="1800" b="0">
                <a:solidFill>
                  <a:srgbClr val="152E42"/>
                </a:solidFill>
                <a:latin typeface="Arial"/>
                <a:ea typeface="Arial"/>
                <a:cs typeface="Arial"/>
              </a:rPr>
              <a:t>AG-UI interface</a:t>
            </a:r>
          </a:p>
        </p:txBody>
      </p:sp>
      <p:cxnSp>
        <p:nvCxnSpPr>
          <p:cNvPr id="11" name="">
            <a:extLst xmlns:a="http://schemas.openxmlformats.org/drawingml/2006/main">
              <a:ext uri="{FF2B5EF4-FFF2-40B4-BE49-F238E27FC236}">
                <a16:creationId xmlns:a16="http://schemas.microsoft.com/office/drawing/2014/main" id="{CB4782CB-EA16-49A4-95A9-318988DCE0DC}"/>
              </a:ext>
            </a:extLst>
          </p:cNvPr>
          <p:cNvCxnSpPr/>
          <p:nvPr/>
        </p:nvCxnSpPr>
        <p:spPr>
          <a:xfrm xmlns:a="http://schemas.openxmlformats.org/drawingml/2006/main">
            <a:off x="9925050" y="3067050"/>
            <a:ext cx="0" cy="361950"/>
          </a:xfrm>
          <a:prstGeom xmlns:a="http://schemas.openxmlformats.org/drawingml/2006/main" prst="straightConnector1">
            <a:avLst/>
          </a:prstGeom>
          <a:ln xmlns:a="http://schemas.openxmlformats.org/drawingml/2006/main" w="20955">
            <a:solidFill>
              <a:srgbClr val="087E83"/>
            </a:solidFill>
            <a:headEnd type="triangle" w="med" len="med"/>
            <a:tailEnd type="triangle" w="med" len="med"/>
          </a:ln>
        </p:spPr>
      </p:cxnSp>
      <p:sp>
        <p:nvSpPr>
          <p:cNvPr id="12" name="Plans / tasks&#10;and workspaces">
            <a:extLst xmlns:a="http://schemas.openxmlformats.org/drawingml/2006/main">
              <a:ext uri="{FF2B5EF4-FFF2-40B4-BE49-F238E27FC236}">
                <a16:creationId xmlns:a16="http://schemas.microsoft.com/office/drawing/2014/main" id="{574C9CE0-20F6-45FB-9044-CF81BF9297DC}"/>
              </a:ext>
            </a:extLst>
          </p:cNvPr>
          <p:cNvSpPr>
            <a:spLocks xmlns:a="http://schemas.openxmlformats.org/drawingml/2006/main" noGrp="1"/>
          </p:cNvSpPr>
          <p:nvPr/>
        </p:nvSpPr>
        <p:spPr>
          <a:xfrm xmlns:a="http://schemas.openxmlformats.org/drawingml/2006/main">
            <a:off x="609600" y="4572000"/>
            <a:ext cx="2476500" cy="9048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Plans / tasks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workspaces</a:t>
            </a:r>
          </a:p>
        </p:txBody>
      </p:sp>
      <p:sp>
        <p:nvSpPr>
          <p:cNvPr id="13" name="Execution / tools&#10;and domain plugins">
            <a:extLst xmlns:a="http://schemas.openxmlformats.org/drawingml/2006/main">
              <a:ext uri="{FF2B5EF4-FFF2-40B4-BE49-F238E27FC236}">
                <a16:creationId xmlns:a16="http://schemas.microsoft.com/office/drawing/2014/main" id="{7ACA246A-43BE-4D9C-8F90-6B54CE5F46D9}"/>
              </a:ext>
            </a:extLst>
          </p:cNvPr>
          <p:cNvSpPr>
            <a:spLocks xmlns:a="http://schemas.openxmlformats.org/drawingml/2006/main" noGrp="1"/>
          </p:cNvSpPr>
          <p:nvPr/>
        </p:nvSpPr>
        <p:spPr>
          <a:xfrm xmlns:a="http://schemas.openxmlformats.org/drawingml/2006/main">
            <a:off x="3438525" y="4572000"/>
            <a:ext cx="2571750" cy="9048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Execution / tools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domain plugins</a:t>
            </a:r>
          </a:p>
        </p:txBody>
      </p:sp>
      <p:sp>
        <p:nvSpPr>
          <p:cNvPr id="14" name="Identity / policy&#10;and owned storage">
            <a:extLst xmlns:a="http://schemas.openxmlformats.org/drawingml/2006/main">
              <a:ext uri="{FF2B5EF4-FFF2-40B4-BE49-F238E27FC236}">
                <a16:creationId xmlns:a16="http://schemas.microsoft.com/office/drawing/2014/main" id="{DCAFEE94-26F5-4169-B92A-B587504975E2}"/>
              </a:ext>
            </a:extLst>
          </p:cNvPr>
          <p:cNvSpPr>
            <a:spLocks xmlns:a="http://schemas.openxmlformats.org/drawingml/2006/main" noGrp="1"/>
          </p:cNvSpPr>
          <p:nvPr/>
        </p:nvSpPr>
        <p:spPr>
          <a:xfrm xmlns:a="http://schemas.openxmlformats.org/drawingml/2006/main">
            <a:off x="6362700" y="4572000"/>
            <a:ext cx="2524125" cy="9048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Identity / policy</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state owners</a:t>
            </a:r>
          </a:p>
        </p:txBody>
      </p:sp>
      <p:sp>
        <p:nvSpPr>
          <p:cNvPr id="15" name="Connected&#10;team hubs">
            <a:extLst xmlns:a="http://schemas.openxmlformats.org/drawingml/2006/main">
              <a:ext uri="{FF2B5EF4-FFF2-40B4-BE49-F238E27FC236}">
                <a16:creationId xmlns:a16="http://schemas.microsoft.com/office/drawing/2014/main" id="{161419F0-212F-4DF3-BA73-CEB6B14C95F0}"/>
              </a:ext>
            </a:extLst>
          </p:cNvPr>
          <p:cNvSpPr>
            <a:spLocks xmlns:a="http://schemas.openxmlformats.org/drawingml/2006/main" noGrp="1"/>
          </p:cNvSpPr>
          <p:nvPr/>
        </p:nvSpPr>
        <p:spPr>
          <a:xfrm xmlns:a="http://schemas.openxmlformats.org/drawingml/2006/main">
            <a:off x="9239250" y="4572000"/>
            <a:ext cx="2343150" cy="9048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Connected</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team hubs</a:t>
            </a:r>
          </a:p>
        </p:txBody>
      </p:sp>
      <p:cxnSp>
        <p:nvCxnSpPr>
          <p:cNvPr id="16" name="">
            <a:extLst xmlns:a="http://schemas.openxmlformats.org/drawingml/2006/main">
              <a:ext uri="{FF2B5EF4-FFF2-40B4-BE49-F238E27FC236}">
                <a16:creationId xmlns:a16="http://schemas.microsoft.com/office/drawing/2014/main" id="{6A83091C-6EA1-40F1-9A5C-15B12F20390B}"/>
              </a:ext>
            </a:extLst>
          </p:cNvPr>
          <p:cNvCxnSpPr/>
          <p:nvPr/>
        </p:nvCxnSpPr>
        <p:spPr>
          <a:xfrm xmlns:a="http://schemas.openxmlformats.org/drawingml/2006/main">
            <a:off x="1847850" y="4000500"/>
            <a:ext cx="0" cy="571500"/>
          </a:xfrm>
          <a:prstGeom xmlns:a="http://schemas.openxmlformats.org/drawingml/2006/main" prst="straightConnector1">
            <a:avLst/>
          </a:prstGeom>
          <a:ln xmlns:a="http://schemas.openxmlformats.org/drawingml/2006/main" w="20955">
            <a:solidFill>
              <a:srgbClr val="087E83"/>
            </a:solidFill>
            <a:headEnd type="triangle" w="med" len="med"/>
            <a:tailEnd type="triangle" w="med" len="med"/>
          </a:ln>
        </p:spPr>
      </p:cxnSp>
      <p:cxnSp>
        <p:nvCxnSpPr>
          <p:cNvPr id="17" name="">
            <a:extLst xmlns:a="http://schemas.openxmlformats.org/drawingml/2006/main">
              <a:ext uri="{FF2B5EF4-FFF2-40B4-BE49-F238E27FC236}">
                <a16:creationId xmlns:a16="http://schemas.microsoft.com/office/drawing/2014/main" id="{EDDC1B6A-E789-4917-9AE2-588B1FD6F1BD}"/>
              </a:ext>
            </a:extLst>
          </p:cNvPr>
          <p:cNvCxnSpPr/>
          <p:nvPr/>
        </p:nvCxnSpPr>
        <p:spPr>
          <a:xfrm xmlns:a="http://schemas.openxmlformats.org/drawingml/2006/main">
            <a:off x="4724400" y="4000500"/>
            <a:ext cx="0" cy="571500"/>
          </a:xfrm>
          <a:prstGeom xmlns:a="http://schemas.openxmlformats.org/drawingml/2006/main" prst="straightConnector1">
            <a:avLst/>
          </a:prstGeom>
          <a:ln xmlns:a="http://schemas.openxmlformats.org/drawingml/2006/main" w="20955">
            <a:solidFill>
              <a:srgbClr val="087E83"/>
            </a:solidFill>
            <a:headEnd type="triangle" w="med" len="med"/>
            <a:tailEnd type="triangle" w="med" len="med"/>
          </a:ln>
        </p:spPr>
      </p:cxnSp>
      <p:cxnSp>
        <p:nvCxnSpPr>
          <p:cNvPr id="18" name="">
            <a:extLst xmlns:a="http://schemas.openxmlformats.org/drawingml/2006/main">
              <a:ext uri="{FF2B5EF4-FFF2-40B4-BE49-F238E27FC236}">
                <a16:creationId xmlns:a16="http://schemas.microsoft.com/office/drawing/2014/main" id="{4CB146E5-D5C0-4F9A-AFCE-831B6FF0EC12}"/>
              </a:ext>
            </a:extLst>
          </p:cNvPr>
          <p:cNvCxnSpPr/>
          <p:nvPr/>
        </p:nvCxnSpPr>
        <p:spPr>
          <a:xfrm xmlns:a="http://schemas.openxmlformats.org/drawingml/2006/main">
            <a:off x="7624763" y="4000500"/>
            <a:ext cx="0" cy="571500"/>
          </a:xfrm>
          <a:prstGeom xmlns:a="http://schemas.openxmlformats.org/drawingml/2006/main" prst="straightConnector1">
            <a:avLst/>
          </a:prstGeom>
          <a:ln xmlns:a="http://schemas.openxmlformats.org/drawingml/2006/main" w="20955">
            <a:solidFill>
              <a:srgbClr val="087E83"/>
            </a:solidFill>
            <a:headEnd type="triangle" w="med" len="med"/>
            <a:tailEnd type="triangle" w="med" len="med"/>
          </a:ln>
        </p:spPr>
      </p:cxnSp>
      <p:cxnSp>
        <p:nvCxnSpPr>
          <p:cNvPr id="19" name="">
            <a:extLst xmlns:a="http://schemas.openxmlformats.org/drawingml/2006/main">
              <a:ext uri="{FF2B5EF4-FFF2-40B4-BE49-F238E27FC236}">
                <a16:creationId xmlns:a16="http://schemas.microsoft.com/office/drawing/2014/main" id="{68F9B6AD-6CFE-4735-8225-0BB7D34425AE}"/>
              </a:ext>
            </a:extLst>
          </p:cNvPr>
          <p:cNvCxnSpPr/>
          <p:nvPr/>
        </p:nvCxnSpPr>
        <p:spPr>
          <a:xfrm xmlns:a="http://schemas.openxmlformats.org/drawingml/2006/main">
            <a:off x="10410825" y="4000500"/>
            <a:ext cx="0" cy="571500"/>
          </a:xfrm>
          <a:prstGeom xmlns:a="http://schemas.openxmlformats.org/drawingml/2006/main" prst="straightConnector1">
            <a:avLst/>
          </a:prstGeom>
          <a:ln xmlns:a="http://schemas.openxmlformats.org/drawingml/2006/main" w="20955">
            <a:solidFill>
              <a:srgbClr val="087E83"/>
            </a:solidFill>
            <a:headEnd type="triangle" w="med" len="med"/>
            <a:tailEnd type="triangle" w="med" len="med"/>
          </a:ln>
        </p:spPr>
      </p:cxnSp>
      <p:sp>
        <p:nvSpPr>
          <p:cNvPr id="20" name="Protected kernel publishes permitted status into a separate applicatio">
            <a:extLst xmlns:a="http://schemas.openxmlformats.org/drawingml/2006/main">
              <a:ext uri="{FF2B5EF4-FFF2-40B4-BE49-F238E27FC236}">
                <a16:creationId xmlns:a16="http://schemas.microsoft.com/office/drawing/2014/main" id="{D8C2029E-B18A-47ED-A2AB-71DC7ABD9210}"/>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Protected kernel publishes permitted status into a separate application scope.</a:t>
            </a:r>
          </a:p>
        </p:txBody>
      </p:sp>
    </p:spTree>
    <p:extLst>
      <p:ext uri="{BB962C8B-B14F-4D97-AF65-F5344CB8AC3E}">
        <p14:creationId xmlns:p14="http://schemas.microsoft.com/office/powerpoint/2010/main" val="1837291849"/>
      </p:ext>
    </p:extLst>
  </p:cSld>
</p:sld>
</file>

<file path=ppt/slides/slide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E98851A7-49B2-4CEC-83A7-A5C83C3AC4A0}"/>
              </a:ext>
            </a:extLst>
          </p:cNvPr>
          <p:cNvCxnSpPr>
            <a:stCxn xmlns:a="http://schemas.openxmlformats.org/drawingml/2006/main" id="4" idx="2"/>
            <a:endCxn xmlns:a="http://schemas.openxmlformats.org/drawingml/2006/main" id="6" idx="0"/>
          </p:cNvCxnSpPr>
          <p:nvPr/>
        </p:nvCxnSpPr>
        <p:spPr>
          <a:xfrm xmlns:a="http://schemas.openxmlformats.org/drawingml/2006/main">
            <a:off x="9682163" y="3400425"/>
            <a:ext cx="0" cy="257175"/>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5" name="">
            <a:extLst xmlns:a="http://schemas.openxmlformats.org/drawingml/2006/main">
              <a:ext uri="{FF2B5EF4-FFF2-40B4-BE49-F238E27FC236}">
                <a16:creationId xmlns:a16="http://schemas.microsoft.com/office/drawing/2014/main" id="{CC88E307-05E7-4ECF-B603-C5D207D4DBC5}"/>
              </a:ext>
            </a:extLst>
          </p:cNvPr>
          <p:cNvCxnSpPr>
            <a:stCxn xmlns:a="http://schemas.openxmlformats.org/drawingml/2006/main" id="3" idx="3"/>
            <a:endCxn xmlns:a="http://schemas.openxmlformats.org/drawingml/2006/main" id="4" idx="1"/>
          </p:cNvCxnSpPr>
          <p:nvPr/>
        </p:nvCxnSpPr>
        <p:spPr>
          <a:xfrm xmlns:a="http://schemas.openxmlformats.org/drawingml/2006/main" flipV="1">
            <a:off x="6515100" y="3009900"/>
            <a:ext cx="1266825" cy="4763"/>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0" name="Protected kernel boundary">
            <a:extLst xmlns:a="http://schemas.openxmlformats.org/drawingml/2006/main">
              <a:ext uri="{FF2B5EF4-FFF2-40B4-BE49-F238E27FC236}">
                <a16:creationId xmlns:a16="http://schemas.microsoft.com/office/drawing/2014/main" id="{A3078485-336D-4CB7-A07C-E3DB3EF49D3A}"/>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Protected kernel boundary</a:t>
            </a:r>
          </a:p>
        </p:txBody>
      </p:sp>
      <p:sp>
        <p:nvSpPr>
          <p:cNvPr id="2" name="05">
            <a:extLst xmlns:a="http://schemas.openxmlformats.org/drawingml/2006/main">
              <a:ext uri="{FF2B5EF4-FFF2-40B4-BE49-F238E27FC236}">
                <a16:creationId xmlns:a16="http://schemas.microsoft.com/office/drawing/2014/main" id="{B7209B3E-B9E1-4A37-B9EC-51E253C5EB25}"/>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05</a:t>
            </a:r>
          </a:p>
        </p:txBody>
      </p:sp>
      <p:sp>
        <p:nvSpPr>
          <p:cNvPr id="3" name="Protected boot assembly&#10;&#10;Boot and protected-plugin lifecycle&#10;Internal NATS communication">
            <a:extLst xmlns:a="http://schemas.openxmlformats.org/drawingml/2006/main">
              <a:ext uri="{FF2B5EF4-FFF2-40B4-BE49-F238E27FC236}">
                <a16:creationId xmlns:a16="http://schemas.microsoft.com/office/drawing/2014/main" id="{61A74854-CA23-4127-A211-188C8A7E61F2}"/>
              </a:ext>
            </a:extLst>
          </p:cNvPr>
          <p:cNvSpPr>
            <a:spLocks xmlns:a="http://schemas.openxmlformats.org/drawingml/2006/main" noGrp="1"/>
          </p:cNvSpPr>
          <p:nvPr/>
        </p:nvSpPr>
        <p:spPr>
          <a:xfrm xmlns:a="http://schemas.openxmlformats.org/drawingml/2006/main">
            <a:off x="609600" y="1752600"/>
            <a:ext cx="5905500" cy="2524125"/>
          </a:xfrm>
          <a:prstGeom xmlns:a="http://schemas.openxmlformats.org/drawingml/2006/main" prst="rect">
            <a:avLst/>
          </a:prstGeom>
          <a:solidFill xmlns:a="http://schemas.openxmlformats.org/drawingml/2006/main">
            <a:srgbClr val="152E42"/>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2100" b="0">
                <a:solidFill>
                  <a:srgbClr val="FFFFFF"/>
                </a:solidFill>
                <a:latin typeface="Arial"/>
                <a:ea typeface="Arial"/>
                <a:cs typeface="Arial"/>
              </a:defRPr>
            </a:defPPr>
          </a:lstStyle>
          <a:p xmlns:a="http://schemas.openxmlformats.org/drawingml/2006/main">
            <a:pPr algn="ctr">
              <a:buNone/>
              <a:defRPr sz="2100" b="0">
                <a:solidFill>
                  <a:srgbClr val="FFFFFF"/>
                </a:solidFill>
                <a:latin typeface="Arial"/>
                <a:ea typeface="Arial"/>
                <a:cs typeface="Arial"/>
              </a:defRPr>
            </a:pPr>
            <a:r>
              <a:rPr sz="2100" b="0">
                <a:solidFill>
                  <a:srgbClr val="FFFFFF"/>
                </a:solidFill>
                <a:latin typeface="Arial"/>
                <a:ea typeface="Arial"/>
                <a:cs typeface="Arial"/>
              </a:rPr>
              <a:t>Protected boot assembly</a:t>
            </a:r>
          </a:p>
          <a:p xmlns:a="http://schemas.openxmlformats.org/drawingml/2006/main">
            <a:r>
              <a:t/>
            </a:r>
          </a:p>
          <a:p xmlns:a="http://schemas.openxmlformats.org/drawingml/2006/main">
            <a:pPr algn="ctr">
              <a:buNone/>
              <a:defRPr sz="2100" b="0">
                <a:solidFill>
                  <a:srgbClr val="FFFFFF"/>
                </a:solidFill>
                <a:latin typeface="Arial"/>
                <a:ea typeface="Arial"/>
                <a:cs typeface="Arial"/>
              </a:defRPr>
            </a:pPr>
            <a:r>
              <a:rPr sz="2100" b="0">
                <a:solidFill>
                  <a:srgbClr val="FFFFFF"/>
                </a:solidFill>
                <a:latin typeface="Arial"/>
                <a:ea typeface="Arial"/>
                <a:cs typeface="Arial"/>
              </a:rPr>
              <a:t>Boot and protected-plugin lifecycle</a:t>
            </a:r>
          </a:p>
          <a:p xmlns:a="http://schemas.openxmlformats.org/drawingml/2006/main">
            <a:pPr algn="ctr">
              <a:buNone/>
              <a:defRPr sz="2100" b="0">
                <a:solidFill>
                  <a:srgbClr val="FFFFFF"/>
                </a:solidFill>
                <a:latin typeface="Arial"/>
                <a:ea typeface="Arial"/>
                <a:cs typeface="Arial"/>
              </a:defRPr>
            </a:pPr>
            <a:r>
              <a:rPr sz="2100" b="0">
                <a:solidFill>
                  <a:srgbClr val="FFFFFF"/>
                </a:solidFill>
                <a:latin typeface="Arial"/>
                <a:ea typeface="Arial"/>
                <a:cs typeface="Arial"/>
              </a:rPr>
              <a:t>Internal NATS communication</a:t>
            </a:r>
          </a:p>
        </p:txBody>
      </p:sp>
      <p:sp>
        <p:nvSpPr>
          <p:cNvPr id="4" name="Published kernel status">
            <a:extLst xmlns:a="http://schemas.openxmlformats.org/drawingml/2006/main">
              <a:ext uri="{FF2B5EF4-FFF2-40B4-BE49-F238E27FC236}">
                <a16:creationId xmlns:a16="http://schemas.microsoft.com/office/drawing/2014/main" id="{9BE62E64-92D0-45AF-80AC-D82DEF64EF78}"/>
              </a:ext>
            </a:extLst>
          </p:cNvPr>
          <p:cNvSpPr>
            <a:spLocks xmlns:a="http://schemas.openxmlformats.org/drawingml/2006/main" noGrp="1"/>
          </p:cNvSpPr>
          <p:nvPr/>
        </p:nvSpPr>
        <p:spPr>
          <a:xfrm xmlns:a="http://schemas.openxmlformats.org/drawingml/2006/main">
            <a:off x="7781925" y="2619375"/>
            <a:ext cx="3800475" cy="7810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Published kernel status</a:t>
            </a:r>
          </a:p>
        </p:txBody>
      </p:sp>
      <p:sp>
        <p:nvSpPr>
          <p:cNvPr id="6" name="Surrounding subscribers">
            <a:extLst xmlns:a="http://schemas.openxmlformats.org/drawingml/2006/main">
              <a:ext uri="{FF2B5EF4-FFF2-40B4-BE49-F238E27FC236}">
                <a16:creationId xmlns:a16="http://schemas.microsoft.com/office/drawing/2014/main" id="{1E05F52B-AEB5-4F89-9E7F-5246ADBDCB3D}"/>
              </a:ext>
            </a:extLst>
          </p:cNvPr>
          <p:cNvSpPr>
            <a:spLocks xmlns:a="http://schemas.openxmlformats.org/drawingml/2006/main" noGrp="1"/>
          </p:cNvSpPr>
          <p:nvPr/>
        </p:nvSpPr>
        <p:spPr>
          <a:xfrm xmlns:a="http://schemas.openxmlformats.org/drawingml/2006/main">
            <a:off x="7781925" y="3657600"/>
            <a:ext cx="3800475" cy="7810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Surrounding subscribers</a:t>
            </a:r>
          </a:p>
        </p:txBody>
      </p:sp>
      <p:sp>
        <p:nvSpPr>
          <p:cNvPr id="8" name="Identity, storage, orchestration and domain services live outside this">
            <a:extLst xmlns:a="http://schemas.openxmlformats.org/drawingml/2006/main">
              <a:ext uri="{FF2B5EF4-FFF2-40B4-BE49-F238E27FC236}">
                <a16:creationId xmlns:a16="http://schemas.microsoft.com/office/drawing/2014/main" id="{6D428C88-1377-403C-A0C9-A9A3FF72B743}"/>
              </a:ext>
            </a:extLst>
          </p:cNvPr>
          <p:cNvSpPr>
            <a:spLocks xmlns:a="http://schemas.openxmlformats.org/drawingml/2006/main" noGrp="1"/>
          </p:cNvSpPr>
          <p:nvPr/>
        </p:nvSpPr>
        <p:spPr>
          <a:xfrm xmlns:a="http://schemas.openxmlformats.org/drawingml/2006/main">
            <a:off x="609600" y="49149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Identity, storage, orchestration and domain services live outside this boundary.</a:t>
            </a:r>
          </a:p>
        </p:txBody>
      </p:sp>
      <p:sp>
        <p:nvSpPr>
          <p:cNvPr id="9" name="Kernel replacement and general external kernel commands remain exclude">
            <a:extLst xmlns:a="http://schemas.openxmlformats.org/drawingml/2006/main">
              <a:ext uri="{FF2B5EF4-FFF2-40B4-BE49-F238E27FC236}">
                <a16:creationId xmlns:a16="http://schemas.microsoft.com/office/drawing/2014/main" id="{B78F1A79-A39D-4CE6-9B54-2B02F7B342B6}"/>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Kernel replacement and general external kernel commands remain excluded.</a:t>
            </a:r>
          </a:p>
        </p:txBody>
      </p:sp>
    </p:spTree>
    <p:extLst>
      <p:ext uri="{BB962C8B-B14F-4D97-AF65-F5344CB8AC3E}">
        <p14:creationId xmlns:p14="http://schemas.microsoft.com/office/powerpoint/2010/main" val="254858875"/>
      </p:ext>
    </p:extLst>
  </p:cSld>
</p:sld>
</file>

<file path=ppt/slides/slide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F12BB553-9050-465D-B3AC-4C5355ED86B2}"/>
              </a:ext>
            </a:extLst>
          </p:cNvPr>
          <p:cNvCxnSpPr>
            <a:stCxn xmlns:a="http://schemas.openxmlformats.org/drawingml/2006/main" id="3" idx="2"/>
            <a:endCxn xmlns:a="http://schemas.openxmlformats.org/drawingml/2006/main" id="5" idx="0"/>
          </p:cNvCxnSpPr>
          <p:nvPr/>
        </p:nvCxnSpPr>
        <p:spPr>
          <a:xfrm xmlns:a="http://schemas.openxmlformats.org/drawingml/2006/main">
            <a:off x="2038350" y="2552700"/>
            <a:ext cx="3829050" cy="704850"/>
          </a:xfrm>
          <a:prstGeom xmlns:a="http://schemas.openxmlformats.org/drawingml/2006/main" prst="bentConnector4">
            <a:avLst>
              <a:gd name="adj1" fmla="val 0"/>
              <a:gd name="adj2" fmla="val 50000"/>
            </a:avLst>
          </a:prstGeom>
          <a:ln xmlns:a="http://schemas.openxmlformats.org/drawingml/2006/main" w="20955">
            <a:solidFill>
              <a:srgbClr val="087E83"/>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374E0857-8315-49B8-9391-3A9BEBC90B80}"/>
              </a:ext>
            </a:extLst>
          </p:cNvPr>
          <p:cNvCxnSpPr>
            <a:stCxn xmlns:a="http://schemas.openxmlformats.org/drawingml/2006/main" id="3" idx="2"/>
            <a:endCxn xmlns:a="http://schemas.openxmlformats.org/drawingml/2006/main" id="4" idx="0"/>
          </p:cNvCxnSpPr>
          <p:nvPr/>
        </p:nvCxnSpPr>
        <p:spPr>
          <a:xfrm xmlns:a="http://schemas.openxmlformats.org/drawingml/2006/main">
            <a:off x="2038350" y="2552700"/>
            <a:ext cx="0" cy="70485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3" name="Nested plugins and scoped context">
            <a:extLst xmlns:a="http://schemas.openxmlformats.org/drawingml/2006/main">
              <a:ext uri="{FF2B5EF4-FFF2-40B4-BE49-F238E27FC236}">
                <a16:creationId xmlns:a16="http://schemas.microsoft.com/office/drawing/2014/main" id="{95C07509-1E5F-4550-831C-83178B4181F5}"/>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Nested plugins and scoped context</a:t>
            </a:r>
          </a:p>
        </p:txBody>
      </p:sp>
      <p:sp>
        <p:nvSpPr>
          <p:cNvPr id="2" name="06">
            <a:extLst xmlns:a="http://schemas.openxmlformats.org/drawingml/2006/main">
              <a:ext uri="{FF2B5EF4-FFF2-40B4-BE49-F238E27FC236}">
                <a16:creationId xmlns:a16="http://schemas.microsoft.com/office/drawing/2014/main" id="{EDCC0873-4E25-4184-8D59-F0289BABE041}"/>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06</a:t>
            </a:r>
          </a:p>
        </p:txBody>
      </p:sp>
      <p:sp>
        <p:nvSpPr>
          <p:cNvPr id="3" name="Parent plugin">
            <a:extLst xmlns:a="http://schemas.openxmlformats.org/drawingml/2006/main">
              <a:ext uri="{FF2B5EF4-FFF2-40B4-BE49-F238E27FC236}">
                <a16:creationId xmlns:a16="http://schemas.microsoft.com/office/drawing/2014/main" id="{E9085792-5379-483C-A35C-FF869CD537A5}"/>
              </a:ext>
            </a:extLst>
          </p:cNvPr>
          <p:cNvSpPr>
            <a:spLocks xmlns:a="http://schemas.openxmlformats.org/drawingml/2006/main" noGrp="1"/>
          </p:cNvSpPr>
          <p:nvPr/>
        </p:nvSpPr>
        <p:spPr>
          <a:xfrm xmlns:a="http://schemas.openxmlformats.org/drawingml/2006/main">
            <a:off x="609600" y="1790700"/>
            <a:ext cx="285750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Parent plugin</a:t>
            </a:r>
          </a:p>
        </p:txBody>
      </p:sp>
      <p:sp>
        <p:nvSpPr>
          <p:cNvPr id="4" name="Parent-owned child">
            <a:extLst xmlns:a="http://schemas.openxmlformats.org/drawingml/2006/main">
              <a:ext uri="{FF2B5EF4-FFF2-40B4-BE49-F238E27FC236}">
                <a16:creationId xmlns:a16="http://schemas.microsoft.com/office/drawing/2014/main" id="{FB0B93C7-C2AC-4515-984B-7500654E80CE}"/>
              </a:ext>
            </a:extLst>
          </p:cNvPr>
          <p:cNvSpPr>
            <a:spLocks xmlns:a="http://schemas.openxmlformats.org/drawingml/2006/main" noGrp="1"/>
          </p:cNvSpPr>
          <p:nvPr/>
        </p:nvSpPr>
        <p:spPr>
          <a:xfrm xmlns:a="http://schemas.openxmlformats.org/drawingml/2006/main">
            <a:off x="609600" y="3257550"/>
            <a:ext cx="285750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Parent-owned child</a:t>
            </a:r>
          </a:p>
        </p:txBody>
      </p:sp>
      <p:sp>
        <p:nvSpPr>
          <p:cNvPr id="5" name="Independent child">
            <a:extLst xmlns:a="http://schemas.openxmlformats.org/drawingml/2006/main">
              <a:ext uri="{FF2B5EF4-FFF2-40B4-BE49-F238E27FC236}">
                <a16:creationId xmlns:a16="http://schemas.microsoft.com/office/drawing/2014/main" id="{F012B393-8453-4B50-89FA-5A71EE482221}"/>
              </a:ext>
            </a:extLst>
          </p:cNvPr>
          <p:cNvSpPr>
            <a:spLocks xmlns:a="http://schemas.openxmlformats.org/drawingml/2006/main" noGrp="1"/>
          </p:cNvSpPr>
          <p:nvPr/>
        </p:nvSpPr>
        <p:spPr>
          <a:xfrm xmlns:a="http://schemas.openxmlformats.org/drawingml/2006/main">
            <a:off x="4343400" y="3257550"/>
            <a:ext cx="304800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Independent child</a:t>
            </a:r>
          </a:p>
        </p:txBody>
      </p:sp>
      <p:sp>
        <p:nvSpPr>
          <p:cNvPr id="8" name="PluginContext">
            <a:extLst xmlns:a="http://schemas.openxmlformats.org/drawingml/2006/main">
              <a:ext uri="{FF2B5EF4-FFF2-40B4-BE49-F238E27FC236}">
                <a16:creationId xmlns:a16="http://schemas.microsoft.com/office/drawing/2014/main" id="{723952B2-A690-413F-B50D-1B4DB40D29E1}"/>
              </a:ext>
            </a:extLst>
          </p:cNvPr>
          <p:cNvSpPr>
            <a:spLocks xmlns:a="http://schemas.openxmlformats.org/drawingml/2006/main" noGrp="1"/>
          </p:cNvSpPr>
          <p:nvPr/>
        </p:nvSpPr>
        <p:spPr>
          <a:xfrm xmlns:a="http://schemas.openxmlformats.org/drawingml/2006/main">
            <a:off x="8153400" y="179070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PluginContext</a:t>
            </a:r>
          </a:p>
        </p:txBody>
      </p:sp>
      <p:sp>
        <p:nvSpPr>
          <p:cNvPr id="9" name="Identity, logger, config,&#10;lifecycle and scoped clients">
            <a:extLst xmlns:a="http://schemas.openxmlformats.org/drawingml/2006/main">
              <a:ext uri="{FF2B5EF4-FFF2-40B4-BE49-F238E27FC236}">
                <a16:creationId xmlns:a16="http://schemas.microsoft.com/office/drawing/2014/main" id="{1803BC33-499F-4CE6-9BDE-DC70CE284D31}"/>
              </a:ext>
            </a:extLst>
          </p:cNvPr>
          <p:cNvSpPr>
            <a:spLocks xmlns:a="http://schemas.openxmlformats.org/drawingml/2006/main" noGrp="1"/>
          </p:cNvSpPr>
          <p:nvPr/>
        </p:nvSpPr>
        <p:spPr>
          <a:xfrm xmlns:a="http://schemas.openxmlformats.org/drawingml/2006/main">
            <a:off x="8153400" y="2276475"/>
            <a:ext cx="3371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Identity, logger, config,</a:t>
            </a:r>
          </a:p>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lifecycle and scoped clients</a:t>
            </a:r>
          </a:p>
        </p:txBody>
      </p:sp>
      <p:sp>
        <p:nvSpPr>
          <p:cNvPr id="10" name="OperationContext">
            <a:extLst xmlns:a="http://schemas.openxmlformats.org/drawingml/2006/main">
              <a:ext uri="{FF2B5EF4-FFF2-40B4-BE49-F238E27FC236}">
                <a16:creationId xmlns:a16="http://schemas.microsoft.com/office/drawing/2014/main" id="{85BE6D57-0B10-4442-A6AE-AB5746AC6CF9}"/>
              </a:ext>
            </a:extLst>
          </p:cNvPr>
          <p:cNvSpPr>
            <a:spLocks xmlns:a="http://schemas.openxmlformats.org/drawingml/2006/main" noGrp="1"/>
          </p:cNvSpPr>
          <p:nvPr/>
        </p:nvSpPr>
        <p:spPr>
          <a:xfrm xmlns:a="http://schemas.openxmlformats.org/drawingml/2006/main">
            <a:off x="8153400" y="3609975"/>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OperationContext</a:t>
            </a:r>
          </a:p>
        </p:txBody>
      </p:sp>
      <p:sp>
        <p:nvSpPr>
          <p:cNvPr id="11" name="Caller, project, grant,&#10;attempt and deadline">
            <a:extLst xmlns:a="http://schemas.openxmlformats.org/drawingml/2006/main">
              <a:ext uri="{FF2B5EF4-FFF2-40B4-BE49-F238E27FC236}">
                <a16:creationId xmlns:a16="http://schemas.microsoft.com/office/drawing/2014/main" id="{A33415AB-CAEC-4C70-915E-2A8C9114B29C}"/>
              </a:ext>
            </a:extLst>
          </p:cNvPr>
          <p:cNvSpPr>
            <a:spLocks xmlns:a="http://schemas.openxmlformats.org/drawingml/2006/main" noGrp="1"/>
          </p:cNvSpPr>
          <p:nvPr/>
        </p:nvSpPr>
        <p:spPr>
          <a:xfrm xmlns:a="http://schemas.openxmlformats.org/drawingml/2006/main">
            <a:off x="8153400" y="4095750"/>
            <a:ext cx="3371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Caller, project, grant,</a:t>
            </a:r>
          </a:p>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attempt and deadline</a:t>
            </a:r>
          </a:p>
        </p:txBody>
      </p:sp>
      <p:sp>
        <p:nvSpPr>
          <p:cNvPr id="12" name="Independent reuse survives parent removal. Concurrent callers never sh">
            <a:extLst xmlns:a="http://schemas.openxmlformats.org/drawingml/2006/main">
              <a:ext uri="{FF2B5EF4-FFF2-40B4-BE49-F238E27FC236}">
                <a16:creationId xmlns:a16="http://schemas.microsoft.com/office/drawing/2014/main" id="{93300E1A-F209-4CDC-AEAD-F45C7A101AD6}"/>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Independent reuse survives parent removal. Concurrent callers never share a mutable “current user.”</a:t>
            </a:r>
          </a:p>
        </p:txBody>
      </p:sp>
    </p:spTree>
    <p:extLst>
      <p:ext uri="{BB962C8B-B14F-4D97-AF65-F5344CB8AC3E}">
        <p14:creationId xmlns:p14="http://schemas.microsoft.com/office/powerpoint/2010/main" val="913327273"/>
      </p:ext>
    </p:extLst>
  </p:cSld>
</p:sld>
</file>

<file path=ppt/slides/slide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5" name="NATS service responsibilities">
            <a:extLst xmlns:a="http://schemas.openxmlformats.org/drawingml/2006/main">
              <a:ext uri="{FF2B5EF4-FFF2-40B4-BE49-F238E27FC236}">
                <a16:creationId xmlns:a16="http://schemas.microsoft.com/office/drawing/2014/main" id="{229EBE4B-D426-41F8-B378-72F57C838D89}"/>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NATS service responsibilities</a:t>
            </a:r>
          </a:p>
        </p:txBody>
      </p:sp>
      <p:sp>
        <p:nvSpPr>
          <p:cNvPr id="2" name="07">
            <a:extLst xmlns:a="http://schemas.openxmlformats.org/drawingml/2006/main">
              <a:ext uri="{FF2B5EF4-FFF2-40B4-BE49-F238E27FC236}">
                <a16:creationId xmlns:a16="http://schemas.microsoft.com/office/drawing/2014/main" id="{D11120E7-E0ED-4EB4-8388-53730118E5B1}"/>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07</a:t>
            </a:r>
          </a:p>
        </p:txBody>
      </p:sp>
      <p:graphicFrame>
        <p:nvGraphicFramePr>
          <p:cNvPr id="3" name="">
            <a:extLst xmlns:a="http://schemas.openxmlformats.org/drawingml/2006/main">
              <a:ext uri="{FF2B5EF4-FFF2-40B4-BE49-F238E27FC236}">
                <a16:creationId xmlns:a16="http://schemas.microsoft.com/office/drawing/2014/main" id="{498ABDDE-AE40-461F-81DC-07244AE3AC5A}"/>
              </a:ext>
            </a:extLst>
          </p:cNvPr>
          <p:cNvGraphicFramePr/>
          <p:nvPr/>
        </p:nvGraphicFramePr>
        <p:xfrm>
          <a:off xmlns:a="http://schemas.openxmlformats.org/drawingml/2006/main" x="609600" y="1752600"/>
          <a:ext xmlns:a="http://schemas.openxmlformats.org/drawingml/2006/main" cx="10972800" cy="3829050"/>
        </p:xfrm>
        <a:graphic xmlns:a="http://schemas.openxmlformats.org/drawingml/2006/main">
          <a:graphicData uri="http://schemas.openxmlformats.org/drawingml/2006/table">
            <a:tbl>
              <a:tblPr/>
              <a:tblGrid>
                <a:gridCol w="2667000"/>
                <a:gridCol w="4191000"/>
                <a:gridCol w="4114800"/>
              </a:tblGrid>
              <a:tr h="638175">
                <a:tc>
                  <a:txBody>
                    <a:bodyPr lIns="95250" tIns="95250" rIns="95250" bIns="95250"/>
                    <a:lstStyle/>
                    <a:p>
                      <a:r>
                        <a:rPr sz="1800" b="1">
                          <a:solidFill>
                            <a:srgbClr val="FFFFFF"/>
                          </a:solidFill>
                          <a:latin typeface="Arial"/>
                          <a:ea typeface="Arial"/>
                          <a:cs typeface="Arial"/>
                        </a:rPr>
                        <a:t>Facility</a:t>
                      </a:r>
                    </a:p>
                  </a:txBody>
                  <a:tcPr marL="91440" marR="91440" marT="45720" marB="45720" anchor="ctr">
                    <a:solidFill>
                      <a:srgbClr val="152E42"/>
                    </a:solidFill>
                  </a:tcPr>
                </a:tc>
                <a:tc>
                  <a:txBody>
                    <a:bodyPr lIns="95250" tIns="95250" rIns="95250" bIns="95250"/>
                    <a:lstStyle/>
                    <a:p>
                      <a:r>
                        <a:rPr sz="1800" b="1">
                          <a:solidFill>
                            <a:srgbClr val="FFFFFF"/>
                          </a:solidFill>
                          <a:latin typeface="Arial"/>
                          <a:ea typeface="Arial"/>
                          <a:cs typeface="Arial"/>
                        </a:rPr>
                        <a:t>Planned responsibility</a:t>
                      </a:r>
                    </a:p>
                  </a:txBody>
                  <a:tcPr marL="91440" marR="91440" marT="45720" marB="45720" anchor="ctr">
                    <a:solidFill>
                      <a:srgbClr val="152E42"/>
                    </a:solidFill>
                  </a:tcPr>
                </a:tc>
                <a:tc>
                  <a:txBody>
                    <a:bodyPr lIns="95250" tIns="95250" rIns="95250" bIns="95250"/>
                    <a:lstStyle/>
                    <a:p>
                      <a:r>
                        <a:rPr sz="1800" b="1">
                          <a:solidFill>
                            <a:srgbClr val="FFFFFF"/>
                          </a:solidFill>
                          <a:latin typeface="Arial"/>
                          <a:ea typeface="Arial"/>
                          <a:cs typeface="Arial"/>
                        </a:rPr>
                        <a:t>Required distinction</a:t>
                      </a:r>
                    </a:p>
                  </a:txBody>
                  <a:tcPr marL="91440" marR="91440" marT="45720" marB="45720" anchor="ctr">
                    <a:solidFill>
                      <a:srgbClr val="152E42"/>
                    </a:solidFill>
                  </a:tcPr>
                </a:tc>
              </a:tr>
              <a:tr h="638175">
                <a:tc>
                  <a:txBody>
                    <a:bodyPr lIns="95250" tIns="95250" rIns="95250" bIns="95250"/>
                    <a:lstStyle/>
                    <a:p>
                      <a:r>
                        <a:rPr sz="1800" b="0">
                          <a:solidFill>
                            <a:srgbClr val="203747"/>
                          </a:solidFill>
                          <a:latin typeface="Arial"/>
                          <a:ea typeface="Arial"/>
                          <a:cs typeface="Arial"/>
                        </a:rPr>
                        <a:t>Core request/reply</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Queries and live status</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Timeout may mean unknown</a:t>
                      </a:r>
                    </a:p>
                  </a:txBody>
                  <a:tcPr marL="91440" marR="91440" marT="45720" marB="45720" anchor="ctr">
                    <a:solidFill>
                      <a:srgbClr val="F8F7F2"/>
                    </a:solidFill>
                  </a:tcPr>
                </a:tc>
              </a:tr>
              <a:tr h="638175">
                <a:tc>
                  <a:txBody>
                    <a:bodyPr lIns="95250" tIns="95250" rIns="95250" bIns="95250"/>
                    <a:lstStyle/>
                    <a:p>
                      <a:r>
                        <a:rPr sz="1800" b="0">
                          <a:solidFill>
                            <a:srgbClr val="203747"/>
                          </a:solidFill>
                          <a:latin typeface="Arial"/>
                          <a:ea typeface="Arial"/>
                          <a:cs typeface="Arial"/>
                        </a:rPr>
                        <a:t>JetStream</a:t>
                      </a:r>
                    </a:p>
                  </a:txBody>
                  <a:tcPr marL="91440" marR="91440" marT="45720" marB="45720" anchor="ctr">
                    <a:solidFill>
                      <a:srgbClr val="EEF2EF"/>
                    </a:solidFill>
                  </a:tcPr>
                </a:tc>
                <a:tc>
                  <a:txBody>
                    <a:bodyPr lIns="95250" tIns="95250" rIns="95250" bIns="95250"/>
                    <a:lstStyle/>
                    <a:p>
                      <a:r>
                        <a:rPr sz="1800" b="0">
                          <a:solidFill>
                            <a:srgbClr val="203747"/>
                          </a:solidFill>
                          <a:latin typeface="Arial"/>
                          <a:ea typeface="Arial"/>
                          <a:cs typeface="Arial"/>
                        </a:rPr>
                        <a:t>Validated changes and durable history</a:t>
                      </a:r>
                    </a:p>
                  </a:txBody>
                  <a:tcPr marL="91440" marR="91440" marT="45720" marB="45720" anchor="ctr">
                    <a:solidFill>
                      <a:srgbClr val="EEF2EF"/>
                    </a:solidFill>
                  </a:tcPr>
                </a:tc>
                <a:tc>
                  <a:txBody>
                    <a:bodyPr lIns="95250" tIns="95250" rIns="95250" bIns="95250"/>
                    <a:lstStyle/>
                    <a:p>
                      <a:r>
                        <a:rPr sz="1800" b="0">
                          <a:solidFill>
                            <a:srgbClr val="203747"/>
                          </a:solidFill>
                          <a:latin typeface="Arial"/>
                          <a:ea typeface="Arial"/>
                          <a:cs typeface="Arial"/>
                        </a:rPr>
                        <a:t>Commit differs from acceptance</a:t>
                      </a:r>
                    </a:p>
                  </a:txBody>
                  <a:tcPr marL="91440" marR="91440" marT="45720" marB="45720" anchor="ctr">
                    <a:solidFill>
                      <a:srgbClr val="EEF2EF"/>
                    </a:solidFill>
                  </a:tcPr>
                </a:tc>
              </a:tr>
              <a:tr h="638175">
                <a:tc>
                  <a:txBody>
                    <a:bodyPr lIns="95250" tIns="95250" rIns="95250" bIns="95250"/>
                    <a:lstStyle/>
                    <a:p>
                      <a:r>
                        <a:rPr sz="1800" b="0">
                          <a:solidFill>
                            <a:srgbClr val="203747"/>
                          </a:solidFill>
                          <a:latin typeface="Arial"/>
                          <a:ea typeface="Arial"/>
                          <a:cs typeface="Arial"/>
                        </a:rPr>
                        <a:t>KV and Object Store</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Config, summaries and artifacts</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Explicit authority and retention</a:t>
                      </a:r>
                    </a:p>
                  </a:txBody>
                  <a:tcPr marL="91440" marR="91440" marT="45720" marB="45720" anchor="ctr">
                    <a:solidFill>
                      <a:srgbClr val="F8F7F2"/>
                    </a:solidFill>
                  </a:tcPr>
                </a:tc>
              </a:tr>
              <a:tr h="638175">
                <a:tc>
                  <a:txBody>
                    <a:bodyPr lIns="95250" tIns="95250" rIns="95250" bIns="95250"/>
                    <a:lstStyle/>
                    <a:p>
                      <a:r>
                        <a:rPr sz="1800" b="0">
                          <a:solidFill>
                            <a:srgbClr val="203747"/>
                          </a:solidFill>
                          <a:latin typeface="Arial"/>
                          <a:ea typeface="Arial"/>
                          <a:cs typeface="Arial"/>
                        </a:rPr>
                        <a:t>Accounts</a:t>
                      </a:r>
                    </a:p>
                  </a:txBody>
                  <a:tcPr marL="91440" marR="91440" marT="45720" marB="45720" anchor="ctr">
                    <a:solidFill>
                      <a:srgbClr val="EEF2EF"/>
                    </a:solidFill>
                  </a:tcPr>
                </a:tc>
                <a:tc>
                  <a:txBody>
                    <a:bodyPr lIns="95250" tIns="95250" rIns="95250" bIns="95250"/>
                    <a:lstStyle/>
                    <a:p>
                      <a:r>
                        <a:rPr sz="1800" b="0">
                          <a:solidFill>
                            <a:srgbClr val="203747"/>
                          </a:solidFill>
                          <a:latin typeface="Arial"/>
                          <a:ea typeface="Arial"/>
                          <a:cs typeface="Arial"/>
                        </a:rPr>
                        <a:t>Kernel, tenant and partner boundaries</a:t>
                      </a:r>
                    </a:p>
                  </a:txBody>
                  <a:tcPr marL="91440" marR="91440" marT="45720" marB="45720" anchor="ctr">
                    <a:solidFill>
                      <a:srgbClr val="EEF2EF"/>
                    </a:solidFill>
                  </a:tcPr>
                </a:tc>
                <a:tc>
                  <a:txBody>
                    <a:bodyPr lIns="95250" tIns="95250" rIns="95250" bIns="95250"/>
                    <a:lstStyle/>
                    <a:p>
                      <a:r>
                        <a:rPr sz="1800" b="0">
                          <a:solidFill>
                            <a:srgbClr val="203747"/>
                          </a:solidFill>
                          <a:latin typeface="Arial"/>
                          <a:ea typeface="Arial"/>
                          <a:cs typeface="Arial"/>
                        </a:rPr>
                        <a:t>Actual broker enforcement</a:t>
                      </a:r>
                    </a:p>
                  </a:txBody>
                  <a:tcPr marL="91440" marR="91440" marT="45720" marB="45720" anchor="ctr">
                    <a:solidFill>
                      <a:srgbClr val="EEF2EF"/>
                    </a:solidFill>
                  </a:tcPr>
                </a:tc>
              </a:tr>
              <a:tr h="638175">
                <a:tc>
                  <a:txBody>
                    <a:bodyPr lIns="95250" tIns="95250" rIns="95250" bIns="95250"/>
                    <a:lstStyle/>
                    <a:p>
                      <a:r>
                        <a:rPr sz="1800" b="0">
                          <a:solidFill>
                            <a:srgbClr val="203747"/>
                          </a:solidFill>
                          <a:latin typeface="Arial"/>
                          <a:ea typeface="Arial"/>
                          <a:cs typeface="Arial"/>
                        </a:rPr>
                        <a:t>Leaf topology</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Connected sites and execution hosts</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Explicit storage and replication</a:t>
                      </a:r>
                    </a:p>
                  </a:txBody>
                  <a:tcPr marL="91440" marR="91440" marT="45720" marB="45720" anchor="ctr">
                    <a:solidFill>
                      <a:srgbClr val="F8F7F2"/>
                    </a:solidFill>
                  </a:tcPr>
                </a:tc>
              </a:tr>
            </a:tbl>
          </a:graphicData>
        </a:graphic>
      </p:graphicFrame>
      <p:sp>
        <p:nvSpPr>
          <p:cNvPr id="4" name="A database may sit inside its owning plugin. Other plugins reach it th">
            <a:extLst xmlns:a="http://schemas.openxmlformats.org/drawingml/2006/main">
              <a:ext uri="{FF2B5EF4-FFF2-40B4-BE49-F238E27FC236}">
                <a16:creationId xmlns:a16="http://schemas.microsoft.com/office/drawing/2014/main" id="{B4F2CE6D-6C29-4A6A-B196-660B52796553}"/>
              </a:ext>
            </a:extLst>
          </p:cNvPr>
          <p:cNvSpPr>
            <a:spLocks xmlns:a="http://schemas.openxmlformats.org/drawingml/2006/main" noGrp="1"/>
          </p:cNvSpPr>
          <p:nvPr/>
        </p:nvSpPr>
        <p:spPr>
          <a:xfrm xmlns:a="http://schemas.openxmlformats.org/drawingml/2006/main">
            <a:off x="609600" y="60293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SQL views remain optional and rebuildable. Domain owners control all state changes.</a:t>
            </a:r>
          </a:p>
        </p:txBody>
      </p:sp>
    </p:spTree>
    <p:extLst>
      <p:ext uri="{BB962C8B-B14F-4D97-AF65-F5344CB8AC3E}">
        <p14:creationId xmlns:p14="http://schemas.microsoft.com/office/powerpoint/2010/main" val="1491611330"/>
      </p:ext>
    </p:extLst>
  </p:cSld>
</p:sld>
</file>

<file path=ppt/slides/slide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5" name="Shared persistence and data placement">
            <a:extLst xmlns:a="http://schemas.openxmlformats.org/drawingml/2006/main">
              <a:ext uri="{FF2B5EF4-FFF2-40B4-BE49-F238E27FC236}">
                <a16:creationId xmlns:a16="http://schemas.microsoft.com/office/drawing/2014/main" id="{F5E0A1E1-631E-4162-99A3-5996A777F8E9}"/>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Shared persistence and data placement</a:t>
            </a:r>
          </a:p>
        </p:txBody>
      </p:sp>
      <p:graphicFrame>
        <p:nvGraphicFramePr>
          <p:cNvPr id="2" name="">
            <a:extLst xmlns:a="http://schemas.openxmlformats.org/drawingml/2006/main">
              <a:ext uri="{FF2B5EF4-FFF2-40B4-BE49-F238E27FC236}">
                <a16:creationId xmlns:a16="http://schemas.microsoft.com/office/drawing/2014/main" id="{743D8E81-E1F7-4026-AE64-97725753794E}"/>
              </a:ext>
            </a:extLst>
          </p:cNvPr>
          <p:cNvGraphicFramePr/>
          <p:nvPr/>
        </p:nvGraphicFramePr>
        <p:xfrm>
          <a:off xmlns:a="http://schemas.openxmlformats.org/drawingml/2006/main" x="609600" y="1752600"/>
          <a:ext xmlns:a="http://schemas.openxmlformats.org/drawingml/2006/main" cx="10972800" cy="3981450"/>
        </p:xfrm>
        <a:graphic xmlns:a="http://schemas.openxmlformats.org/drawingml/2006/main">
          <a:graphicData uri="http://schemas.openxmlformats.org/drawingml/2006/table">
            <a:tbl>
              <a:tblPr/>
              <a:tblGrid>
                <a:gridCol w="2286000"/>
                <a:gridCol w="4333875"/>
                <a:gridCol w="4352925"/>
              </a:tblGrid>
              <a:tr h="663575">
                <a:tc>
                  <a:txBody>
                    <a:bodyPr lIns="95250" tIns="95250" rIns="95250" bIns="95250"/>
                    <a:lstStyle/>
                    <a:p>
                      <a:r>
                        <a:rPr sz="1800" b="1">
                          <a:solidFill>
                            <a:srgbClr val="FFFFFF"/>
                          </a:solidFill>
                          <a:latin typeface="Arial"/>
                          <a:ea typeface="Arial"/>
                          <a:cs typeface="Arial"/>
                        </a:rPr>
                        <a:t>Store</a:t>
                      </a:r>
                    </a:p>
                  </a:txBody>
                  <a:tcPr marL="91440" marR="91440" marT="45720" marB="45720" anchor="ctr">
                    <a:solidFill>
                      <a:srgbClr val="152E42"/>
                    </a:solidFill>
                  </a:tcPr>
                </a:tc>
                <a:tc>
                  <a:txBody>
                    <a:bodyPr lIns="95250" tIns="95250" rIns="95250" bIns="95250"/>
                    <a:lstStyle/>
                    <a:p>
                      <a:r>
                        <a:rPr sz="1800" b="1">
                          <a:solidFill>
                            <a:srgbClr val="FFFFFF"/>
                          </a:solidFill>
                          <a:latin typeface="Arial"/>
                          <a:ea typeface="Arial"/>
                          <a:cs typeface="Arial"/>
                        </a:rPr>
                        <a:t>Planned contents</a:t>
                      </a:r>
                    </a:p>
                  </a:txBody>
                  <a:tcPr marL="91440" marR="91440" marT="45720" marB="45720" anchor="ctr">
                    <a:solidFill>
                      <a:srgbClr val="152E42"/>
                    </a:solidFill>
                  </a:tcPr>
                </a:tc>
                <a:tc>
                  <a:txBody>
                    <a:bodyPr lIns="95250" tIns="95250" rIns="95250" bIns="95250"/>
                    <a:lstStyle/>
                    <a:p>
                      <a:r>
                        <a:rPr sz="1800" b="1">
                          <a:solidFill>
                            <a:srgbClr val="FFFFFF"/>
                          </a:solidFill>
                          <a:latin typeface="Arial"/>
                          <a:ea typeface="Arial"/>
                          <a:cs typeface="Arial"/>
                        </a:rPr>
                        <a:t>Authority and lifecycle</a:t>
                      </a:r>
                    </a:p>
                  </a:txBody>
                  <a:tcPr marL="91440" marR="91440" marT="45720" marB="45720" anchor="ctr">
                    <a:solidFill>
                      <a:srgbClr val="152E42"/>
                    </a:solidFill>
                  </a:tcPr>
                </a:tc>
              </a:tr>
              <a:tr h="663575">
                <a:tc>
                  <a:txBody>
                    <a:bodyPr lIns="95250" tIns="95250" rIns="95250" bIns="95250"/>
                    <a:lstStyle/>
                    <a:p>
                      <a:r>
                        <a:rPr sz="1800" b="0">
                          <a:solidFill>
                            <a:srgbClr val="203747"/>
                          </a:solidFill>
                          <a:latin typeface="Arial"/>
                          <a:ea typeface="Arial"/>
                          <a:cs typeface="Arial"/>
                        </a:rPr>
                        <a:t>JetStream</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Task, attempt and delegation changes</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Owner-validated durable history</a:t>
                      </a:r>
                    </a:p>
                  </a:txBody>
                  <a:tcPr marL="91440" marR="91440" marT="45720" marB="45720" anchor="ctr">
                    <a:solidFill>
                      <a:srgbClr val="F8F7F2"/>
                    </a:solidFill>
                  </a:tcPr>
                </a:tc>
              </a:tr>
              <a:tr h="663575">
                <a:tc>
                  <a:txBody>
                    <a:bodyPr lIns="95250" tIns="95250" rIns="95250" bIns="95250"/>
                    <a:lstStyle/>
                    <a:p>
                      <a:r>
                        <a:rPr sz="1800" b="0">
                          <a:solidFill>
                            <a:srgbClr val="203747"/>
                          </a:solidFill>
                          <a:latin typeface="Arial"/>
                          <a:ea typeface="Arial"/>
                          <a:cs typeface="Arial"/>
                        </a:rPr>
                        <a:t>KV</a:t>
                      </a:r>
                    </a:p>
                  </a:txBody>
                  <a:tcPr marL="91440" marR="91440" marT="45720" marB="45720" anchor="ctr">
                    <a:solidFill>
                      <a:srgbClr val="EEF2EF"/>
                    </a:solidFill>
                  </a:tcPr>
                </a:tc>
                <a:tc>
                  <a:txBody>
                    <a:bodyPr lIns="95250" tIns="95250" rIns="95250" bIns="95250"/>
                    <a:lstStyle/>
                    <a:p>
                      <a:r>
                        <a:rPr sz="1800" b="0">
                          <a:solidFill>
                            <a:srgbClr val="203747"/>
                          </a:solidFill>
                          <a:latin typeface="Arial"/>
                          <a:ea typeface="Arial"/>
                          <a:cs typeface="Arial"/>
                        </a:rPr>
                        <a:t>Configuration and plugin registry</a:t>
                      </a:r>
                    </a:p>
                  </a:txBody>
                  <a:tcPr marL="91440" marR="91440" marT="45720" marB="45720" anchor="ctr">
                    <a:solidFill>
                      <a:srgbClr val="EEF2EF"/>
                    </a:solidFill>
                  </a:tcPr>
                </a:tc>
                <a:tc>
                  <a:txBody>
                    <a:bodyPr lIns="95250" tIns="95250" rIns="95250" bIns="95250"/>
                    <a:lstStyle/>
                    <a:p>
                      <a:r>
                        <a:rPr sz="1800" b="0">
                          <a:solidFill>
                            <a:srgbClr val="203747"/>
                          </a:solidFill>
                          <a:latin typeface="Arial"/>
                          <a:ea typeface="Arial"/>
                          <a:cs typeface="Arial"/>
                        </a:rPr>
                        <a:t>Authoritative scoped records</a:t>
                      </a:r>
                    </a:p>
                  </a:txBody>
                  <a:tcPr marL="91440" marR="91440" marT="45720" marB="45720" anchor="ctr">
                    <a:solidFill>
                      <a:srgbClr val="EEF2EF"/>
                    </a:solidFill>
                  </a:tcPr>
                </a:tc>
              </a:tr>
              <a:tr h="663575">
                <a:tc>
                  <a:txBody>
                    <a:bodyPr lIns="95250" tIns="95250" rIns="95250" bIns="95250"/>
                    <a:lstStyle/>
                    <a:p>
                      <a:r>
                        <a:rPr sz="1800" b="0">
                          <a:solidFill>
                            <a:srgbClr val="203747"/>
                          </a:solidFill>
                          <a:latin typeface="Arial"/>
                          <a:ea typeface="Arial"/>
                          <a:cs typeface="Arial"/>
                        </a:rPr>
                        <a:t>KV</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Task summaries and presence</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Derived state and TTL freshness</a:t>
                      </a:r>
                    </a:p>
                  </a:txBody>
                  <a:tcPr marL="91440" marR="91440" marT="45720" marB="45720" anchor="ctr">
                    <a:solidFill>
                      <a:srgbClr val="F8F7F2"/>
                    </a:solidFill>
                  </a:tcPr>
                </a:tc>
              </a:tr>
              <a:tr h="663575">
                <a:tc>
                  <a:txBody>
                    <a:bodyPr lIns="95250" tIns="95250" rIns="95250" bIns="95250"/>
                    <a:lstStyle/>
                    <a:p>
                      <a:r>
                        <a:rPr sz="1800" b="0">
                          <a:solidFill>
                            <a:srgbClr val="203747"/>
                          </a:solidFill>
                          <a:latin typeface="Arial"/>
                          <a:ea typeface="Arial"/>
                          <a:cs typeface="Arial"/>
                        </a:rPr>
                        <a:t>Object Store</a:t>
                      </a:r>
                    </a:p>
                  </a:txBody>
                  <a:tcPr marL="91440" marR="91440" marT="45720" marB="45720" anchor="ctr">
                    <a:solidFill>
                      <a:srgbClr val="EEF2EF"/>
                    </a:solidFill>
                  </a:tcPr>
                </a:tc>
                <a:tc>
                  <a:txBody>
                    <a:bodyPr lIns="95250" tIns="95250" rIns="95250" bIns="95250"/>
                    <a:lstStyle/>
                    <a:p>
                      <a:r>
                        <a:rPr sz="1800" b="0">
                          <a:solidFill>
                            <a:srgbClr val="203747"/>
                          </a:solidFill>
                          <a:latin typeface="Arial"/>
                          <a:ea typeface="Arial"/>
                          <a:cs typeface="Arial"/>
                        </a:rPr>
                        <a:t>Digests, evidence and larger artifacts</a:t>
                      </a:r>
                    </a:p>
                  </a:txBody>
                  <a:tcPr marL="91440" marR="91440" marT="45720" marB="45720" anchor="ctr">
                    <a:solidFill>
                      <a:srgbClr val="EEF2EF"/>
                    </a:solidFill>
                  </a:tcPr>
                </a:tc>
                <a:tc>
                  <a:txBody>
                    <a:bodyPr lIns="95250" tIns="95250" rIns="95250" bIns="95250"/>
                    <a:lstStyle/>
                    <a:p>
                      <a:r>
                        <a:rPr sz="1800" b="0">
                          <a:solidFill>
                            <a:srgbClr val="203747"/>
                          </a:solidFill>
                          <a:latin typeface="Arial"/>
                          <a:ea typeface="Arial"/>
                          <a:cs typeface="Arial"/>
                        </a:rPr>
                        <a:t>Immutable identifiers where suitable</a:t>
                      </a:r>
                    </a:p>
                  </a:txBody>
                  <a:tcPr marL="91440" marR="91440" marT="45720" marB="45720" anchor="ctr">
                    <a:solidFill>
                      <a:srgbClr val="EEF2EF"/>
                    </a:solidFill>
                  </a:tcPr>
                </a:tc>
              </a:tr>
              <a:tr h="663575">
                <a:tc>
                  <a:txBody>
                    <a:bodyPr lIns="95250" tIns="95250" rIns="95250" bIns="95250"/>
                    <a:lstStyle/>
                    <a:p>
                      <a:r>
                        <a:rPr sz="1800" b="0">
                          <a:solidFill>
                            <a:srgbClr val="203747"/>
                          </a:solidFill>
                          <a:latin typeface="Arial"/>
                          <a:ea typeface="Arial"/>
                          <a:cs typeface="Arial"/>
                        </a:rPr>
                        <a:t>Optional SQL</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Search indexes and reporting views</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Rebuildable queries and caches</a:t>
                      </a:r>
                    </a:p>
                  </a:txBody>
                  <a:tcPr marL="91440" marR="91440" marT="45720" marB="45720" anchor="ctr">
                    <a:solidFill>
                      <a:srgbClr val="F8F7F2"/>
                    </a:solidFill>
                  </a:tcPr>
                </a:tc>
              </a:tr>
            </a:tbl>
          </a:graphicData>
        </a:graphic>
      </p:graphicFrame>
      <p:sp>
        <p:nvSpPr>
          <p:cNvPr id="3" name="Each domain declares retention, access and restore behavior.&#10;Presence ">
            <a:extLst xmlns:a="http://schemas.openxmlformats.org/drawingml/2006/main">
              <a:ext uri="{FF2B5EF4-FFF2-40B4-BE49-F238E27FC236}">
                <a16:creationId xmlns:a16="http://schemas.microsoft.com/office/drawing/2014/main" id="{56924A65-D29F-48B1-8FF6-E488E809D2A9}"/>
              </a:ext>
            </a:extLst>
          </p:cNvPr>
          <p:cNvSpPr>
            <a:spLocks xmlns:a="http://schemas.openxmlformats.org/drawingml/2006/main" noGrp="1"/>
          </p:cNvSpPr>
          <p:nvPr/>
        </p:nvSpPr>
        <p:spPr>
          <a:xfrm xmlns:a="http://schemas.openxmlformats.org/drawingml/2006/main">
            <a:off x="609600" y="5934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Each domain declares retention, access and restore behavior.</a:t>
            </a:r>
          </a:p>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Presence expiry never releases an assignment.</a:t>
            </a:r>
          </a:p>
        </p:txBody>
      </p:sp>
      <p:sp>
        <p:nvSpPr>
          <p:cNvPr id="4" name="08">
            <a:extLst xmlns:a="http://schemas.openxmlformats.org/drawingml/2006/main">
              <a:ext uri="{FF2B5EF4-FFF2-40B4-BE49-F238E27FC236}">
                <a16:creationId xmlns:a16="http://schemas.microsoft.com/office/drawing/2014/main" id="{E83BFB23-FA2D-4FF1-A825-620B2E013CDE}"/>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08</a:t>
            </a:r>
          </a:p>
        </p:txBody>
      </p:sp>
    </p:spTree>
    <p:extLst>
      <p:ext uri="{BB962C8B-B14F-4D97-AF65-F5344CB8AC3E}">
        <p14:creationId xmlns:p14="http://schemas.microsoft.com/office/powerpoint/2010/main" val="1824661802"/>
      </p:ext>
    </p:extLst>
  </p:cSld>
</p:sld>
</file>

<file path=ppt/slides/slide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1E5E0288-0828-4E54-B617-6C3C3792BE3A}"/>
              </a:ext>
            </a:extLst>
          </p:cNvPr>
          <p:cNvCxnSpPr>
            <a:stCxn xmlns:a="http://schemas.openxmlformats.org/drawingml/2006/main" id="4" idx="2"/>
            <a:endCxn xmlns:a="http://schemas.openxmlformats.org/drawingml/2006/main" id="7" idx="0"/>
          </p:cNvCxnSpPr>
          <p:nvPr/>
        </p:nvCxnSpPr>
        <p:spPr>
          <a:xfrm xmlns:a="http://schemas.openxmlformats.org/drawingml/2006/main">
            <a:off x="9934575" y="2676525"/>
            <a:ext cx="0" cy="1123950"/>
          </a:xfrm>
          <a:prstGeom xmlns:a="http://schemas.openxmlformats.org/drawingml/2006/main" prst="straightConnector1">
            <a:avLst/>
          </a:prstGeom>
          <a:ln xmlns:a="http://schemas.openxmlformats.org/drawingml/2006/main" w="20955">
            <a:solidFill>
              <a:srgbClr val="087E83"/>
            </a:solidFill>
            <a:tailEnd type="triangle" w="med" len="med"/>
          </a:ln>
        </p:spPr>
      </p:cxnSp>
      <p:cxnSp>
        <p:nvCxnSpPr>
          <p:cNvPr id="6" name="">
            <a:extLst xmlns:a="http://schemas.openxmlformats.org/drawingml/2006/main">
              <a:ext uri="{FF2B5EF4-FFF2-40B4-BE49-F238E27FC236}">
                <a16:creationId xmlns:a16="http://schemas.microsoft.com/office/drawing/2014/main" id="{9DDE5BCC-1245-4E32-8491-AAFDDE983909}"/>
              </a:ext>
            </a:extLst>
          </p:cNvPr>
          <p:cNvCxnSpPr>
            <a:stCxn xmlns:a="http://schemas.openxmlformats.org/drawingml/2006/main" id="3" idx="3"/>
            <a:endCxn xmlns:a="http://schemas.openxmlformats.org/drawingml/2006/main" id="4" idx="1"/>
          </p:cNvCxnSpPr>
          <p:nvPr/>
        </p:nvCxnSpPr>
        <p:spPr>
          <a:xfrm xmlns:a="http://schemas.openxmlformats.org/drawingml/2006/main">
            <a:off x="7258050" y="2228850"/>
            <a:ext cx="1028700" cy="0"/>
          </a:xfrm>
          <a:prstGeom xmlns:a="http://schemas.openxmlformats.org/drawingml/2006/main" prst="straightConnector1">
            <a:avLst/>
          </a:prstGeom>
          <a:ln xmlns:a="http://schemas.openxmlformats.org/drawingml/2006/main" w="20955">
            <a:solidFill>
              <a:srgbClr val="087E83"/>
            </a:solidFill>
            <a:tailEnd type="triangle" w="med" len="med"/>
          </a:ln>
        </p:spPr>
      </p:cxnSp>
      <p:cxnSp>
        <p:nvCxnSpPr>
          <p:cNvPr id="5" name="">
            <a:extLst xmlns:a="http://schemas.openxmlformats.org/drawingml/2006/main">
              <a:ext uri="{FF2B5EF4-FFF2-40B4-BE49-F238E27FC236}">
                <a16:creationId xmlns:a16="http://schemas.microsoft.com/office/drawing/2014/main" id="{7D9769DD-7B06-4BD1-B74C-8E15DCBE394A}"/>
              </a:ext>
            </a:extLst>
          </p:cNvPr>
          <p:cNvCxnSpPr>
            <a:stCxn xmlns:a="http://schemas.openxmlformats.org/drawingml/2006/main" id="2" idx="3"/>
            <a:endCxn xmlns:a="http://schemas.openxmlformats.org/drawingml/2006/main" id="3" idx="1"/>
          </p:cNvCxnSpPr>
          <p:nvPr/>
        </p:nvCxnSpPr>
        <p:spPr>
          <a:xfrm xmlns:a="http://schemas.openxmlformats.org/drawingml/2006/main">
            <a:off x="3086100" y="2228850"/>
            <a:ext cx="1028700" cy="0"/>
          </a:xfrm>
          <a:prstGeom xmlns:a="http://schemas.openxmlformats.org/drawingml/2006/main" prst="straightConnector1">
            <a:avLst/>
          </a:prstGeom>
          <a:ln xmlns:a="http://schemas.openxmlformats.org/drawingml/2006/main" w="20955">
            <a:solidFill>
              <a:srgbClr val="087E83"/>
            </a:solidFill>
            <a:tailEnd type="triangle" w="med" len="med"/>
          </a:ln>
        </p:spPr>
      </p:cxnSp>
      <p:sp>
        <p:nvSpPr>
          <p:cNvPr id="13" name="Domain-owned commits and read models">
            <a:extLst xmlns:a="http://schemas.openxmlformats.org/drawingml/2006/main">
              <a:ext uri="{FF2B5EF4-FFF2-40B4-BE49-F238E27FC236}">
                <a16:creationId xmlns:a16="http://schemas.microsoft.com/office/drawing/2014/main" id="{F9C658DE-985B-4025-8EAE-836D08AD8090}"/>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Domain-owned commits and read models</a:t>
            </a:r>
          </a:p>
        </p:txBody>
      </p:sp>
      <p:sp>
        <p:nvSpPr>
          <p:cNvPr id="2" name="Scoped command&#10;through NATS">
            <a:extLst xmlns:a="http://schemas.openxmlformats.org/drawingml/2006/main">
              <a:ext uri="{FF2B5EF4-FFF2-40B4-BE49-F238E27FC236}">
                <a16:creationId xmlns:a16="http://schemas.microsoft.com/office/drawing/2014/main" id="{5DCEA91C-98EE-4F4A-B64E-2823AD025241}"/>
              </a:ext>
            </a:extLst>
          </p:cNvPr>
          <p:cNvSpPr>
            <a:spLocks xmlns:a="http://schemas.openxmlformats.org/drawingml/2006/main" noGrp="1"/>
          </p:cNvSpPr>
          <p:nvPr/>
        </p:nvSpPr>
        <p:spPr>
          <a:xfrm xmlns:a="http://schemas.openxmlformats.org/drawingml/2006/main">
            <a:off x="609600" y="1781175"/>
            <a:ext cx="2476500" cy="8953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a:solidFill>
                  <a:srgbClr val="152E42"/>
                </a:solidFill>
                <a:latin typeface="Arial"/>
                <a:ea typeface="Arial"/>
                <a:cs typeface="Arial"/>
              </a:defRPr>
            </a:defPPr>
          </a:lstStyle>
          <a:p xmlns:a="http://schemas.openxmlformats.org/drawingml/2006/main">
            <a:pPr algn="ctr">
              <a:buNone/>
              <a:defRPr sz="1875">
                <a:solidFill>
                  <a:srgbClr val="152E42"/>
                </a:solidFill>
                <a:latin typeface="Arial"/>
                <a:ea typeface="Arial"/>
                <a:cs typeface="Arial"/>
              </a:defRPr>
            </a:pPr>
            <a:r>
              <a:rPr sz="1875">
                <a:solidFill>
                  <a:srgbClr val="152E42"/>
                </a:solidFill>
                <a:latin typeface="Arial"/>
                <a:ea typeface="Arial"/>
                <a:cs typeface="Arial"/>
              </a:rPr>
              <a:t>Scoped command</a:t>
            </a:r>
          </a:p>
          <a:p xmlns:a="http://schemas.openxmlformats.org/drawingml/2006/main">
            <a:pPr algn="ctr">
              <a:buNone/>
              <a:defRPr sz="1875">
                <a:solidFill>
                  <a:srgbClr val="152E42"/>
                </a:solidFill>
                <a:latin typeface="Arial"/>
                <a:ea typeface="Arial"/>
                <a:cs typeface="Arial"/>
              </a:defRPr>
            </a:pPr>
            <a:r>
              <a:rPr sz="1875">
                <a:solidFill>
                  <a:srgbClr val="152E42"/>
                </a:solidFill>
                <a:latin typeface="Arial"/>
                <a:ea typeface="Arial"/>
                <a:cs typeface="Arial"/>
              </a:rPr>
              <a:t>through NATS</a:t>
            </a:r>
          </a:p>
        </p:txBody>
      </p:sp>
      <p:sp>
        <p:nvSpPr>
          <p:cNvPr id="3" name="Domain owner&#10;validates transition">
            <a:extLst xmlns:a="http://schemas.openxmlformats.org/drawingml/2006/main">
              <a:ext uri="{FF2B5EF4-FFF2-40B4-BE49-F238E27FC236}">
                <a16:creationId xmlns:a16="http://schemas.microsoft.com/office/drawing/2014/main" id="{37A4EE5B-4E23-438C-920A-88FE7C7FE0A8}"/>
              </a:ext>
            </a:extLst>
          </p:cNvPr>
          <p:cNvSpPr>
            <a:spLocks xmlns:a="http://schemas.openxmlformats.org/drawingml/2006/main" noGrp="1"/>
          </p:cNvSpPr>
          <p:nvPr/>
        </p:nvSpPr>
        <p:spPr>
          <a:xfrm xmlns:a="http://schemas.openxmlformats.org/drawingml/2006/main">
            <a:off x="4114800" y="1781175"/>
            <a:ext cx="3143250" cy="8953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a:solidFill>
                  <a:srgbClr val="152E42"/>
                </a:solidFill>
                <a:latin typeface="Arial"/>
                <a:ea typeface="Arial"/>
                <a:cs typeface="Arial"/>
              </a:defRPr>
            </a:defPPr>
          </a:lstStyle>
          <a:p xmlns:a="http://schemas.openxmlformats.org/drawingml/2006/main">
            <a:pPr algn="ctr">
              <a:buNone/>
              <a:defRPr sz="1875">
                <a:solidFill>
                  <a:srgbClr val="152E42"/>
                </a:solidFill>
                <a:latin typeface="Arial"/>
                <a:ea typeface="Arial"/>
                <a:cs typeface="Arial"/>
              </a:defRPr>
            </a:pPr>
            <a:r>
              <a:rPr sz="1875">
                <a:solidFill>
                  <a:srgbClr val="152E42"/>
                </a:solidFill>
                <a:latin typeface="Arial"/>
                <a:ea typeface="Arial"/>
                <a:cs typeface="Arial"/>
              </a:rPr>
              <a:t>Domain owner</a:t>
            </a:r>
          </a:p>
          <a:p xmlns:a="http://schemas.openxmlformats.org/drawingml/2006/main">
            <a:pPr algn="ctr">
              <a:buNone/>
              <a:defRPr sz="1875">
                <a:solidFill>
                  <a:srgbClr val="152E42"/>
                </a:solidFill>
                <a:latin typeface="Arial"/>
                <a:ea typeface="Arial"/>
                <a:cs typeface="Arial"/>
              </a:defRPr>
            </a:pPr>
            <a:r>
              <a:rPr sz="1875">
                <a:solidFill>
                  <a:srgbClr val="152E42"/>
                </a:solidFill>
                <a:latin typeface="Arial"/>
                <a:ea typeface="Arial"/>
                <a:cs typeface="Arial"/>
              </a:rPr>
              <a:t>validates transition</a:t>
            </a:r>
          </a:p>
        </p:txBody>
      </p:sp>
      <p:sp>
        <p:nvSpPr>
          <p:cNvPr id="4" name="JetStream&#10;authoritative record">
            <a:extLst xmlns:a="http://schemas.openxmlformats.org/drawingml/2006/main">
              <a:ext uri="{FF2B5EF4-FFF2-40B4-BE49-F238E27FC236}">
                <a16:creationId xmlns:a16="http://schemas.microsoft.com/office/drawing/2014/main" id="{B6BCAAD8-3F82-4962-B469-91188BEE408D}"/>
              </a:ext>
            </a:extLst>
          </p:cNvPr>
          <p:cNvSpPr>
            <a:spLocks xmlns:a="http://schemas.openxmlformats.org/drawingml/2006/main" noGrp="1"/>
          </p:cNvSpPr>
          <p:nvPr/>
        </p:nvSpPr>
        <p:spPr>
          <a:xfrm xmlns:a="http://schemas.openxmlformats.org/drawingml/2006/main">
            <a:off x="8286750" y="1781175"/>
            <a:ext cx="3295650" cy="895350"/>
          </a:xfrm>
          <a:prstGeom xmlns:a="http://schemas.openxmlformats.org/drawingml/2006/main" prst="rect">
            <a:avLst/>
          </a:prstGeom>
          <a:solidFill xmlns:a="http://schemas.openxmlformats.org/drawingml/2006/main">
            <a:srgbClr val="087E83"/>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a:solidFill>
                  <a:srgbClr val="FFFFFF"/>
                </a:solidFill>
                <a:latin typeface="Arial"/>
                <a:ea typeface="Arial"/>
                <a:cs typeface="Arial"/>
              </a:defRPr>
            </a:defPPr>
          </a:lstStyle>
          <a:p xmlns:a="http://schemas.openxmlformats.org/drawingml/2006/main">
            <a:pPr algn="ctr">
              <a:buNone/>
              <a:defRPr sz="1875">
                <a:solidFill>
                  <a:srgbClr val="FFFFFF"/>
                </a:solidFill>
                <a:latin typeface="Arial"/>
                <a:ea typeface="Arial"/>
                <a:cs typeface="Arial"/>
              </a:defRPr>
            </a:pPr>
            <a:r>
              <a:rPr sz="1875">
                <a:solidFill>
                  <a:srgbClr val="FFFFFF"/>
                </a:solidFill>
                <a:latin typeface="Arial"/>
                <a:ea typeface="Arial"/>
                <a:cs typeface="Arial"/>
              </a:rPr>
              <a:t>JetStream</a:t>
            </a:r>
          </a:p>
          <a:p xmlns:a="http://schemas.openxmlformats.org/drawingml/2006/main">
            <a:pPr algn="ctr">
              <a:buNone/>
              <a:defRPr sz="1875">
                <a:solidFill>
                  <a:srgbClr val="FFFFFF"/>
                </a:solidFill>
                <a:latin typeface="Arial"/>
                <a:ea typeface="Arial"/>
                <a:cs typeface="Arial"/>
              </a:defRPr>
            </a:pPr>
            <a:r>
              <a:rPr sz="1875">
                <a:solidFill>
                  <a:srgbClr val="FFFFFF"/>
                </a:solidFill>
                <a:latin typeface="Arial"/>
                <a:ea typeface="Arial"/>
                <a:cs typeface="Arial"/>
              </a:rPr>
              <a:t>authoritative record</a:t>
            </a:r>
          </a:p>
        </p:txBody>
      </p:sp>
      <p:sp>
        <p:nvSpPr>
          <p:cNvPr id="7" name="Derived KV / optional SQL&#10;with revision and freshness">
            <a:extLst xmlns:a="http://schemas.openxmlformats.org/drawingml/2006/main">
              <a:ext uri="{FF2B5EF4-FFF2-40B4-BE49-F238E27FC236}">
                <a16:creationId xmlns:a16="http://schemas.microsoft.com/office/drawing/2014/main" id="{F2EC0A6C-055A-4C51-BD93-C4AD4A6AC8C3}"/>
              </a:ext>
            </a:extLst>
          </p:cNvPr>
          <p:cNvSpPr>
            <a:spLocks xmlns:a="http://schemas.openxmlformats.org/drawingml/2006/main" noGrp="1"/>
          </p:cNvSpPr>
          <p:nvPr/>
        </p:nvSpPr>
        <p:spPr>
          <a:xfrm xmlns:a="http://schemas.openxmlformats.org/drawingml/2006/main">
            <a:off x="8286750" y="3800475"/>
            <a:ext cx="3295650" cy="9525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a:solidFill>
                  <a:srgbClr val="152E42"/>
                </a:solidFill>
                <a:latin typeface="Arial"/>
                <a:ea typeface="Arial"/>
                <a:cs typeface="Arial"/>
              </a:defRPr>
            </a:defPPr>
          </a:lstStyle>
          <a:p xmlns:a="http://schemas.openxmlformats.org/drawingml/2006/main">
            <a:pPr algn="ctr">
              <a:buNone/>
              <a:defRPr sz="1875">
                <a:solidFill>
                  <a:srgbClr val="152E42"/>
                </a:solidFill>
                <a:latin typeface="Arial"/>
                <a:ea typeface="Arial"/>
                <a:cs typeface="Arial"/>
              </a:defRPr>
            </a:pPr>
            <a:r>
              <a:rPr sz="1875">
                <a:solidFill>
                  <a:srgbClr val="152E42"/>
                </a:solidFill>
                <a:latin typeface="Arial"/>
                <a:ea typeface="Arial"/>
                <a:cs typeface="Arial"/>
              </a:rPr>
              <a:t>Derived KV / optional SQL</a:t>
            </a:r>
          </a:p>
          <a:p xmlns:a="http://schemas.openxmlformats.org/drawingml/2006/main">
            <a:pPr algn="ctr">
              <a:buNone/>
              <a:defRPr sz="1875">
                <a:solidFill>
                  <a:srgbClr val="152E42"/>
                </a:solidFill>
                <a:latin typeface="Arial"/>
                <a:ea typeface="Arial"/>
                <a:cs typeface="Arial"/>
              </a:defRPr>
            </a:pPr>
            <a:r>
              <a:rPr sz="1875">
                <a:solidFill>
                  <a:srgbClr val="152E42"/>
                </a:solidFill>
                <a:latin typeface="Arial"/>
                <a:ea typeface="Arial"/>
                <a:cs typeface="Arial"/>
              </a:rPr>
              <a:t>with revision and freshness</a:t>
            </a:r>
          </a:p>
        </p:txBody>
      </p:sp>
      <p:sp>
        <p:nvSpPr>
          <p:cNvPr id="9" name="One-stream atomic batch">
            <a:extLst xmlns:a="http://schemas.openxmlformats.org/drawingml/2006/main">
              <a:ext uri="{FF2B5EF4-FFF2-40B4-BE49-F238E27FC236}">
                <a16:creationId xmlns:a16="http://schemas.microsoft.com/office/drawing/2014/main" id="{9648B355-B392-4A0D-BD26-7CDE20B24CB9}"/>
              </a:ext>
            </a:extLst>
          </p:cNvPr>
          <p:cNvSpPr>
            <a:spLocks xmlns:a="http://schemas.openxmlformats.org/drawingml/2006/main" noGrp="1"/>
          </p:cNvSpPr>
          <p:nvPr/>
        </p:nvSpPr>
        <p:spPr>
          <a:xfrm xmlns:a="http://schemas.openxmlformats.org/drawingml/2006/main">
            <a:off x="609600" y="3419475"/>
            <a:ext cx="672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E83"/>
                </a:solidFill>
                <a:latin typeface="Arial"/>
                <a:ea typeface="Arial"/>
                <a:cs typeface="Arial"/>
              </a:defRPr>
            </a:defPPr>
          </a:lstStyle>
          <a:p xmlns:a="http://schemas.openxmlformats.org/drawingml/2006/main">
            <a:pPr algn="l">
              <a:buNone/>
              <a:defRPr sz="2175" b="1">
                <a:solidFill>
                  <a:srgbClr val="087E83"/>
                </a:solidFill>
                <a:latin typeface="Arial"/>
                <a:ea typeface="Arial"/>
                <a:cs typeface="Arial"/>
              </a:defRPr>
            </a:pPr>
            <a:r>
              <a:rPr sz="2175" b="1">
                <a:solidFill>
                  <a:srgbClr val="087E83"/>
                </a:solidFill>
                <a:latin typeface="Arial"/>
                <a:ea typeface="Arial"/>
                <a:cs typeface="Arial"/>
              </a:rPr>
              <a:t>One-stream atomic batch</a:t>
            </a:r>
          </a:p>
        </p:txBody>
      </p:sp>
      <p:sp>
        <p:nvSpPr>
          <p:cNvPr id="10" name="Available since NATS Server 2.12.&#10;Pin and prove the server / SDK combi">
            <a:extLst xmlns:a="http://schemas.openxmlformats.org/drawingml/2006/main">
              <a:ext uri="{FF2B5EF4-FFF2-40B4-BE49-F238E27FC236}">
                <a16:creationId xmlns:a16="http://schemas.microsoft.com/office/drawing/2014/main" id="{1E282E80-E114-430A-AB82-60393A728DC1}"/>
              </a:ext>
            </a:extLst>
          </p:cNvPr>
          <p:cNvSpPr>
            <a:spLocks xmlns:a="http://schemas.openxmlformats.org/drawingml/2006/main" noGrp="1"/>
          </p:cNvSpPr>
          <p:nvPr/>
        </p:nvSpPr>
        <p:spPr>
          <a:xfrm xmlns:a="http://schemas.openxmlformats.org/drawingml/2006/main">
            <a:off x="609600" y="3981450"/>
            <a:ext cx="68580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Available since NATS Server 2.12.</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Pin and prove the server / SDK combination.</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Cross-stream, hub and tool effects need reconciliation.</a:t>
            </a:r>
          </a:p>
        </p:txBody>
      </p:sp>
      <p:sp>
        <p:nvSpPr>
          <p:cNvPr id="11" name="Only the scoped owner can authorize execution. A stale view cannot.">
            <a:extLst xmlns:a="http://schemas.openxmlformats.org/drawingml/2006/main">
              <a:ext uri="{FF2B5EF4-FFF2-40B4-BE49-F238E27FC236}">
                <a16:creationId xmlns:a16="http://schemas.microsoft.com/office/drawing/2014/main" id="{6BF39CDB-6B5B-40F2-A869-5CE4B167963D}"/>
              </a:ext>
            </a:extLst>
          </p:cNvPr>
          <p:cNvSpPr>
            <a:spLocks xmlns:a="http://schemas.openxmlformats.org/drawingml/2006/main" noGrp="1"/>
          </p:cNvSpPr>
          <p:nvPr/>
        </p:nvSpPr>
        <p:spPr>
          <a:xfrm xmlns:a="http://schemas.openxmlformats.org/drawingml/2006/main">
            <a:off x="609600" y="5848350"/>
            <a:ext cx="10763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774"/>
                </a:solidFill>
                <a:latin typeface="Arial"/>
                <a:ea typeface="Arial"/>
                <a:cs typeface="Arial"/>
              </a:defRPr>
            </a:defPPr>
          </a:lstStyle>
          <a:p xmlns:a="http://schemas.openxmlformats.org/drawingml/2006/main">
            <a:pPr algn="l">
              <a:buNone/>
              <a:defRPr sz="1875" b="0">
                <a:solidFill>
                  <a:srgbClr val="526774"/>
                </a:solidFill>
                <a:latin typeface="Arial"/>
                <a:ea typeface="Arial"/>
                <a:cs typeface="Arial"/>
              </a:defRPr>
            </a:pPr>
            <a:r>
              <a:rPr sz="1875" b="0">
                <a:solidFill>
                  <a:srgbClr val="526774"/>
                </a:solidFill>
                <a:latin typeface="Arial"/>
                <a:ea typeface="Arial"/>
                <a:cs typeface="Arial"/>
              </a:rPr>
              <a:t>Only the scoped owner can authorize execution. A stale view cannot.</a:t>
            </a:r>
          </a:p>
        </p:txBody>
      </p:sp>
      <p:sp>
        <p:nvSpPr>
          <p:cNvPr id="12" name="09">
            <a:extLst xmlns:a="http://schemas.openxmlformats.org/drawingml/2006/main">
              <a:ext uri="{FF2B5EF4-FFF2-40B4-BE49-F238E27FC236}">
                <a16:creationId xmlns:a16="http://schemas.microsoft.com/office/drawing/2014/main" id="{3613BA5F-54E3-4B9D-8766-C050F3A4FA0C}"/>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09</a:t>
            </a:r>
          </a:p>
        </p:txBody>
      </p:sp>
    </p:spTree>
    <p:extLst>
      <p:ext uri="{BB962C8B-B14F-4D97-AF65-F5344CB8AC3E}">
        <p14:creationId xmlns:p14="http://schemas.microsoft.com/office/powerpoint/2010/main" val="1817642055"/>
      </p:ext>
    </p:extLst>
  </p:cSld>
</p:sld>
</file>

<file path=ppt/slides/slide1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4" name="">
            <a:extLst xmlns:a="http://schemas.openxmlformats.org/drawingml/2006/main">
              <a:ext uri="{FF2B5EF4-FFF2-40B4-BE49-F238E27FC236}">
                <a16:creationId xmlns:a16="http://schemas.microsoft.com/office/drawing/2014/main" id="{84C7F400-106D-4CF7-AA5D-B50A2B17A388}"/>
              </a:ext>
            </a:extLst>
          </p:cNvPr>
          <p:cNvCxnSpPr>
            <a:stCxn xmlns:a="http://schemas.openxmlformats.org/drawingml/2006/main" id="2" idx="3"/>
            <a:endCxn xmlns:a="http://schemas.openxmlformats.org/drawingml/2006/main" id="3" idx="1"/>
          </p:cNvCxnSpPr>
          <p:nvPr/>
        </p:nvCxnSpPr>
        <p:spPr>
          <a:xfrm xmlns:a="http://schemas.openxmlformats.org/drawingml/2006/main">
            <a:off x="5048250" y="2190750"/>
            <a:ext cx="2095500" cy="0"/>
          </a:xfrm>
          <a:prstGeom xmlns:a="http://schemas.openxmlformats.org/drawingml/2006/main" prst="straightConnector1">
            <a:avLst/>
          </a:prstGeom>
          <a:ln xmlns:a="http://schemas.openxmlformats.org/drawingml/2006/main" w="20955">
            <a:solidFill>
              <a:srgbClr val="087E83"/>
            </a:solidFill>
            <a:headEnd type="triangle" w="med" len="med"/>
            <a:tailEnd type="triangle" w="med" len="med"/>
          </a:ln>
        </p:spPr>
      </p:cxnSp>
      <p:sp>
        <p:nvSpPr>
          <p:cNvPr id="12" name="Persistence across disconnects and recovery">
            <a:extLst xmlns:a="http://schemas.openxmlformats.org/drawingml/2006/main">
              <a:ext uri="{FF2B5EF4-FFF2-40B4-BE49-F238E27FC236}">
                <a16:creationId xmlns:a16="http://schemas.microsoft.com/office/drawing/2014/main" id="{03CF08B7-27E2-4B9A-A31E-46B8C730D551}"/>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Persistence across disconnects and recovery</a:t>
            </a:r>
          </a:p>
        </p:txBody>
      </p:sp>
      <p:sp>
        <p:nvSpPr>
          <p:cNvPr id="2" name="Origin domain&#10;Task and acceptance owner">
            <a:extLst xmlns:a="http://schemas.openxmlformats.org/drawingml/2006/main">
              <a:ext uri="{FF2B5EF4-FFF2-40B4-BE49-F238E27FC236}">
                <a16:creationId xmlns:a16="http://schemas.microsoft.com/office/drawing/2014/main" id="{8DF5AFD2-0AED-43EA-BB59-A91022AC748B}"/>
              </a:ext>
            </a:extLst>
          </p:cNvPr>
          <p:cNvSpPr>
            <a:spLocks xmlns:a="http://schemas.openxmlformats.org/drawingml/2006/main" noGrp="1"/>
          </p:cNvSpPr>
          <p:nvPr/>
        </p:nvSpPr>
        <p:spPr>
          <a:xfrm xmlns:a="http://schemas.openxmlformats.org/drawingml/2006/main">
            <a:off x="609600" y="1733550"/>
            <a:ext cx="4438650" cy="9144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a:solidFill>
                  <a:srgbClr val="152E42"/>
                </a:solidFill>
                <a:latin typeface="Arial"/>
                <a:ea typeface="Arial"/>
                <a:cs typeface="Arial"/>
              </a:defRPr>
            </a:defPPr>
          </a:lstStyle>
          <a:p xmlns:a="http://schemas.openxmlformats.org/drawingml/2006/main">
            <a:pPr algn="ctr">
              <a:buNone/>
              <a:defRPr sz="1875">
                <a:solidFill>
                  <a:srgbClr val="152E42"/>
                </a:solidFill>
                <a:latin typeface="Arial"/>
                <a:ea typeface="Arial"/>
                <a:cs typeface="Arial"/>
              </a:defRPr>
            </a:pPr>
            <a:r>
              <a:rPr sz="1875">
                <a:solidFill>
                  <a:srgbClr val="152E42"/>
                </a:solidFill>
                <a:latin typeface="Arial"/>
                <a:ea typeface="Arial"/>
                <a:cs typeface="Arial"/>
              </a:rPr>
              <a:t>Origin domain</a:t>
            </a:r>
          </a:p>
          <a:p xmlns:a="http://schemas.openxmlformats.org/drawingml/2006/main">
            <a:pPr algn="ctr">
              <a:buNone/>
              <a:defRPr sz="1875">
                <a:solidFill>
                  <a:srgbClr val="152E42"/>
                </a:solidFill>
                <a:latin typeface="Arial"/>
                <a:ea typeface="Arial"/>
                <a:cs typeface="Arial"/>
              </a:defRPr>
            </a:pPr>
            <a:r>
              <a:rPr sz="1875">
                <a:solidFill>
                  <a:srgbClr val="152E42"/>
                </a:solidFill>
                <a:latin typeface="Arial"/>
                <a:ea typeface="Arial"/>
                <a:cs typeface="Arial"/>
              </a:rPr>
              <a:t>Task and acceptance owner</a:t>
            </a:r>
          </a:p>
        </p:txBody>
      </p:sp>
      <p:sp>
        <p:nvSpPr>
          <p:cNvPr id="3" name="Execution domain&#10;Attempt and evidence owner">
            <a:extLst xmlns:a="http://schemas.openxmlformats.org/drawingml/2006/main">
              <a:ext uri="{FF2B5EF4-FFF2-40B4-BE49-F238E27FC236}">
                <a16:creationId xmlns:a16="http://schemas.microsoft.com/office/drawing/2014/main" id="{610A30D3-061B-4870-84A5-45CFE8DF66EF}"/>
              </a:ext>
            </a:extLst>
          </p:cNvPr>
          <p:cNvSpPr>
            <a:spLocks xmlns:a="http://schemas.openxmlformats.org/drawingml/2006/main" noGrp="1"/>
          </p:cNvSpPr>
          <p:nvPr/>
        </p:nvSpPr>
        <p:spPr>
          <a:xfrm xmlns:a="http://schemas.openxmlformats.org/drawingml/2006/main">
            <a:off x="7143750" y="1733550"/>
            <a:ext cx="4438650" cy="9144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a:solidFill>
                  <a:srgbClr val="152E42"/>
                </a:solidFill>
                <a:latin typeface="Arial"/>
                <a:ea typeface="Arial"/>
                <a:cs typeface="Arial"/>
              </a:defRPr>
            </a:defPPr>
          </a:lstStyle>
          <a:p xmlns:a="http://schemas.openxmlformats.org/drawingml/2006/main">
            <a:pPr algn="ctr">
              <a:buNone/>
              <a:defRPr sz="1875">
                <a:solidFill>
                  <a:srgbClr val="152E42"/>
                </a:solidFill>
                <a:latin typeface="Arial"/>
                <a:ea typeface="Arial"/>
                <a:cs typeface="Arial"/>
              </a:defRPr>
            </a:pPr>
            <a:r>
              <a:rPr sz="1875">
                <a:solidFill>
                  <a:srgbClr val="152E42"/>
                </a:solidFill>
                <a:latin typeface="Arial"/>
                <a:ea typeface="Arial"/>
                <a:cs typeface="Arial"/>
              </a:rPr>
              <a:t>Execution domain</a:t>
            </a:r>
          </a:p>
          <a:p xmlns:a="http://schemas.openxmlformats.org/drawingml/2006/main">
            <a:pPr algn="ctr">
              <a:buNone/>
              <a:defRPr sz="1875">
                <a:solidFill>
                  <a:srgbClr val="152E42"/>
                </a:solidFill>
                <a:latin typeface="Arial"/>
                <a:ea typeface="Arial"/>
                <a:cs typeface="Arial"/>
              </a:defRPr>
            </a:pPr>
            <a:r>
              <a:rPr sz="1875">
                <a:solidFill>
                  <a:srgbClr val="152E42"/>
                </a:solidFill>
                <a:latin typeface="Arial"/>
                <a:ea typeface="Arial"/>
                <a:cs typeface="Arial"/>
              </a:rPr>
              <a:t>Attempt and evidence owner</a:t>
            </a:r>
          </a:p>
        </p:txBody>
      </p:sp>
      <p:sp>
        <p:nvSpPr>
          <p:cNvPr id="5" name="Scoped NATS link">
            <a:extLst xmlns:a="http://schemas.openxmlformats.org/drawingml/2006/main">
              <a:ext uri="{FF2B5EF4-FFF2-40B4-BE49-F238E27FC236}">
                <a16:creationId xmlns:a16="http://schemas.microsoft.com/office/drawing/2014/main" id="{902516B0-0D6F-4F5E-83AE-5A4AF72AD55D}"/>
              </a:ext>
            </a:extLst>
          </p:cNvPr>
          <p:cNvSpPr>
            <a:spLocks xmlns:a="http://schemas.openxmlformats.org/drawingml/2006/main" noGrp="1"/>
          </p:cNvSpPr>
          <p:nvPr/>
        </p:nvSpPr>
        <p:spPr>
          <a:xfrm xmlns:a="http://schemas.openxmlformats.org/drawingml/2006/main">
            <a:off x="5248275" y="1552575"/>
            <a:ext cx="16954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087E83"/>
                </a:solidFill>
                <a:latin typeface="Arial"/>
                <a:ea typeface="Arial"/>
                <a:cs typeface="Arial"/>
              </a:defRPr>
            </a:defPPr>
          </a:lstStyle>
          <a:p xmlns:a="http://schemas.openxmlformats.org/drawingml/2006/main">
            <a:pPr algn="ctr">
              <a:buNone/>
              <a:defRPr sz="1725" b="1">
                <a:solidFill>
                  <a:srgbClr val="087E83"/>
                </a:solidFill>
                <a:latin typeface="Arial"/>
                <a:ea typeface="Arial"/>
                <a:cs typeface="Arial"/>
              </a:defRPr>
            </a:pPr>
            <a:r>
              <a:rPr sz="1725" b="1">
                <a:solidFill>
                  <a:srgbClr val="087E83"/>
                </a:solidFill>
                <a:latin typeface="Arial"/>
                <a:ea typeface="Arial"/>
                <a:cs typeface="Arial"/>
              </a:rPr>
              <a:t>Scoped NATS link</a:t>
            </a:r>
          </a:p>
        </p:txBody>
      </p:sp>
      <p:sp>
        <p:nvSpPr>
          <p:cNvPr id="6" name="Durable domain history">
            <a:extLst xmlns:a="http://schemas.openxmlformats.org/drawingml/2006/main">
              <a:ext uri="{FF2B5EF4-FFF2-40B4-BE49-F238E27FC236}">
                <a16:creationId xmlns:a16="http://schemas.microsoft.com/office/drawing/2014/main" id="{53D12B6F-3B4A-4409-89C4-C9CCF8137A52}"/>
              </a:ext>
            </a:extLst>
          </p:cNvPr>
          <p:cNvSpPr>
            <a:spLocks xmlns:a="http://schemas.openxmlformats.org/drawingml/2006/main" noGrp="1"/>
          </p:cNvSpPr>
          <p:nvPr/>
        </p:nvSpPr>
        <p:spPr>
          <a:xfrm xmlns:a="http://schemas.openxmlformats.org/drawingml/2006/main">
            <a:off x="609600" y="3314700"/>
            <a:ext cx="49434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E83"/>
                </a:solidFill>
                <a:latin typeface="Arial"/>
                <a:ea typeface="Arial"/>
                <a:cs typeface="Arial"/>
              </a:defRPr>
            </a:defPPr>
          </a:lstStyle>
          <a:p xmlns:a="http://schemas.openxmlformats.org/drawingml/2006/main">
            <a:pPr algn="l">
              <a:buNone/>
              <a:defRPr sz="2175" b="1">
                <a:solidFill>
                  <a:srgbClr val="087E83"/>
                </a:solidFill>
                <a:latin typeface="Arial"/>
                <a:ea typeface="Arial"/>
                <a:cs typeface="Arial"/>
              </a:defRPr>
            </a:pPr>
            <a:r>
              <a:rPr sz="2175" b="1">
                <a:solidFill>
                  <a:srgbClr val="087E83"/>
                </a:solidFill>
                <a:latin typeface="Arial"/>
                <a:ea typeface="Arial"/>
                <a:cs typeface="Arial"/>
              </a:rPr>
              <a:t>Durable domain history</a:t>
            </a:r>
          </a:p>
        </p:txBody>
      </p:sp>
      <p:sp>
        <p:nvSpPr>
          <p:cNvPr id="7" name="Retain history separately from workqueues.&#10;Record reservation and reco">
            <a:extLst xmlns:a="http://schemas.openxmlformats.org/drawingml/2006/main">
              <a:ext uri="{FF2B5EF4-FFF2-40B4-BE49-F238E27FC236}">
                <a16:creationId xmlns:a16="http://schemas.microsoft.com/office/drawing/2014/main" id="{6819EE14-340A-4C9B-988B-4703C6EE45D8}"/>
              </a:ext>
            </a:extLst>
          </p:cNvPr>
          <p:cNvSpPr>
            <a:spLocks xmlns:a="http://schemas.openxmlformats.org/drawingml/2006/main" noGrp="1"/>
          </p:cNvSpPr>
          <p:nvPr/>
        </p:nvSpPr>
        <p:spPr>
          <a:xfrm xmlns:a="http://schemas.openxmlformats.org/drawingml/2006/main">
            <a:off x="609600" y="3876675"/>
            <a:ext cx="50863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Retain history separately from workqueues.</a:t>
            </a:r>
          </a:p>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Record reservation and reconciliation identity.</a:t>
            </a:r>
          </a:p>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Restore ownership with verified evidence.</a:t>
            </a:r>
          </a:p>
        </p:txBody>
      </p:sp>
      <p:sp>
        <p:nvSpPr>
          <p:cNvPr id="8" name="Rebuildable local views">
            <a:extLst xmlns:a="http://schemas.openxmlformats.org/drawingml/2006/main">
              <a:ext uri="{FF2B5EF4-FFF2-40B4-BE49-F238E27FC236}">
                <a16:creationId xmlns:a16="http://schemas.microsoft.com/office/drawing/2014/main" id="{63C4498E-1026-4777-896C-44DE83405A50}"/>
              </a:ext>
            </a:extLst>
          </p:cNvPr>
          <p:cNvSpPr>
            <a:spLocks xmlns:a="http://schemas.openxmlformats.org/drawingml/2006/main" noGrp="1"/>
          </p:cNvSpPr>
          <p:nvPr/>
        </p:nvSpPr>
        <p:spPr>
          <a:xfrm xmlns:a="http://schemas.openxmlformats.org/drawingml/2006/main">
            <a:off x="6496050" y="3314700"/>
            <a:ext cx="5086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E83"/>
                </a:solidFill>
                <a:latin typeface="Arial"/>
                <a:ea typeface="Arial"/>
                <a:cs typeface="Arial"/>
              </a:defRPr>
            </a:defPPr>
          </a:lstStyle>
          <a:p xmlns:a="http://schemas.openxmlformats.org/drawingml/2006/main">
            <a:pPr algn="l">
              <a:buNone/>
              <a:defRPr sz="2175" b="1">
                <a:solidFill>
                  <a:srgbClr val="087E83"/>
                </a:solidFill>
                <a:latin typeface="Arial"/>
                <a:ea typeface="Arial"/>
                <a:cs typeface="Arial"/>
              </a:defRPr>
            </a:pPr>
            <a:r>
              <a:rPr sz="2175" b="1">
                <a:solidFill>
                  <a:srgbClr val="087E83"/>
                </a:solidFill>
                <a:latin typeface="Arial"/>
                <a:ea typeface="Arial"/>
                <a:cs typeface="Arial"/>
              </a:rPr>
              <a:t>Rebuildable local views</a:t>
            </a:r>
          </a:p>
        </p:txBody>
      </p:sp>
      <p:sp>
        <p:nvSpPr>
          <p:cNvPr id="9" name="Show replica revision and freshness.&#10;Recover gaps from retained histor">
            <a:extLst xmlns:a="http://schemas.openxmlformats.org/drawingml/2006/main">
              <a:ext uri="{FF2B5EF4-FFF2-40B4-BE49-F238E27FC236}">
                <a16:creationId xmlns:a16="http://schemas.microsoft.com/office/drawing/2014/main" id="{AC7275B9-3AF0-4767-8503-E89CC13749A7}"/>
              </a:ext>
            </a:extLst>
          </p:cNvPr>
          <p:cNvSpPr>
            <a:spLocks xmlns:a="http://schemas.openxmlformats.org/drawingml/2006/main" noGrp="1"/>
          </p:cNvSpPr>
          <p:nvPr/>
        </p:nvSpPr>
        <p:spPr>
          <a:xfrm xmlns:a="http://schemas.openxmlformats.org/drawingml/2006/main">
            <a:off x="6496050" y="3876675"/>
            <a:ext cx="50863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Show replica revision and freshness.</a:t>
            </a:r>
          </a:p>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Recover gaps from retained history / snapshots.</a:t>
            </a:r>
          </a:p>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Test partitions, storage loss and backup restore.</a:t>
            </a:r>
          </a:p>
        </p:txBody>
      </p:sp>
      <p:sp>
        <p:nvSpPr>
          <p:cNvPr id="10" name="Lost acknowledgements retain uncertainty. Reconnect reconciles the sam">
            <a:extLst xmlns:a="http://schemas.openxmlformats.org/drawingml/2006/main">
              <a:ext uri="{FF2B5EF4-FFF2-40B4-BE49-F238E27FC236}">
                <a16:creationId xmlns:a16="http://schemas.microsoft.com/office/drawing/2014/main" id="{CF655954-6903-4187-8638-055413A473D0}"/>
              </a:ext>
            </a:extLst>
          </p:cNvPr>
          <p:cNvSpPr>
            <a:spLocks xmlns:a="http://schemas.openxmlformats.org/drawingml/2006/main" noGrp="1"/>
          </p:cNvSpPr>
          <p:nvPr/>
        </p:nvSpPr>
        <p:spPr>
          <a:xfrm xmlns:a="http://schemas.openxmlformats.org/drawingml/2006/main">
            <a:off x="609600" y="58388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774"/>
                </a:solidFill>
                <a:latin typeface="Arial"/>
                <a:ea typeface="Arial"/>
                <a:cs typeface="Arial"/>
              </a:defRPr>
            </a:defPPr>
          </a:lstStyle>
          <a:p xmlns:a="http://schemas.openxmlformats.org/drawingml/2006/main">
            <a:pPr algn="l">
              <a:buNone/>
              <a:defRPr sz="1800" b="0">
                <a:solidFill>
                  <a:srgbClr val="526774"/>
                </a:solidFill>
                <a:latin typeface="Arial"/>
                <a:ea typeface="Arial"/>
                <a:cs typeface="Arial"/>
              </a:defRPr>
            </a:pPr>
            <a:r>
              <a:rPr sz="1800" b="0">
                <a:solidFill>
                  <a:srgbClr val="526774"/>
                </a:solidFill>
                <a:latin typeface="Arial"/>
                <a:ea typeface="Arial"/>
                <a:cs typeface="Arial"/>
              </a:rPr>
              <a:t>Lost acknowledgements retain uncertainty. Reconnect reconciles the same delegation.</a:t>
            </a:r>
          </a:p>
        </p:txBody>
      </p:sp>
      <p:sp>
        <p:nvSpPr>
          <p:cNvPr id="11" name="10">
            <a:extLst xmlns:a="http://schemas.openxmlformats.org/drawingml/2006/main">
              <a:ext uri="{FF2B5EF4-FFF2-40B4-BE49-F238E27FC236}">
                <a16:creationId xmlns:a16="http://schemas.microsoft.com/office/drawing/2014/main" id="{4B84EFD8-7AE4-443C-A711-9620904593F1}"/>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10</a:t>
            </a:r>
          </a:p>
        </p:txBody>
      </p:sp>
    </p:spTree>
    <p:extLst>
      <p:ext uri="{BB962C8B-B14F-4D97-AF65-F5344CB8AC3E}">
        <p14:creationId xmlns:p14="http://schemas.microsoft.com/office/powerpoint/2010/main" val="1821641687"/>
      </p:ext>
    </p:extLst>
  </p:cSld>
</p:sld>
</file>

<file path=ppt/slides/slide1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371413EF-AFEC-477E-A617-9A2E77548E44}"/>
              </a:ext>
            </a:extLst>
          </p:cNvPr>
          <p:cNvCxnSpPr>
            <a:stCxn xmlns:a="http://schemas.openxmlformats.org/drawingml/2006/main" id="14" idx="3"/>
            <a:endCxn xmlns:a="http://schemas.openxmlformats.org/drawingml/2006/main" id="15" idx="1"/>
          </p:cNvCxnSpPr>
          <p:nvPr/>
        </p:nvCxnSpPr>
        <p:spPr>
          <a:xfrm xmlns:a="http://schemas.openxmlformats.org/drawingml/2006/main">
            <a:off x="8734425" y="4891088"/>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7" name="">
            <a:extLst xmlns:a="http://schemas.openxmlformats.org/drawingml/2006/main">
              <a:ext uri="{FF2B5EF4-FFF2-40B4-BE49-F238E27FC236}">
                <a16:creationId xmlns:a16="http://schemas.microsoft.com/office/drawing/2014/main" id="{03A7D349-655E-4363-B96B-CFE58C2BDB6D}"/>
              </a:ext>
            </a:extLst>
          </p:cNvPr>
          <p:cNvCxnSpPr>
            <a:stCxn xmlns:a="http://schemas.openxmlformats.org/drawingml/2006/main" id="13" idx="3"/>
            <a:endCxn xmlns:a="http://schemas.openxmlformats.org/drawingml/2006/main" id="14" idx="1"/>
          </p:cNvCxnSpPr>
          <p:nvPr/>
        </p:nvCxnSpPr>
        <p:spPr>
          <a:xfrm xmlns:a="http://schemas.openxmlformats.org/drawingml/2006/main">
            <a:off x="5876925" y="4891088"/>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6" name="">
            <a:extLst xmlns:a="http://schemas.openxmlformats.org/drawingml/2006/main">
              <a:ext uri="{FF2B5EF4-FFF2-40B4-BE49-F238E27FC236}">
                <a16:creationId xmlns:a16="http://schemas.microsoft.com/office/drawing/2014/main" id="{F70FCCB5-6844-4518-81BA-01D0CE623AAC}"/>
              </a:ext>
            </a:extLst>
          </p:cNvPr>
          <p:cNvCxnSpPr>
            <a:stCxn xmlns:a="http://schemas.openxmlformats.org/drawingml/2006/main" id="12" idx="3"/>
            <a:endCxn xmlns:a="http://schemas.openxmlformats.org/drawingml/2006/main" id="13" idx="1"/>
          </p:cNvCxnSpPr>
          <p:nvPr/>
        </p:nvCxnSpPr>
        <p:spPr>
          <a:xfrm xmlns:a="http://schemas.openxmlformats.org/drawingml/2006/main">
            <a:off x="3019425" y="4891088"/>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99641254-9F1A-4DC8-8141-2B01A1152EA0}"/>
              </a:ext>
            </a:extLst>
          </p:cNvPr>
          <p:cNvCxnSpPr>
            <a:stCxn xmlns:a="http://schemas.openxmlformats.org/drawingml/2006/main" id="6" idx="3"/>
            <a:endCxn xmlns:a="http://schemas.openxmlformats.org/drawingml/2006/main" id="7" idx="1"/>
          </p:cNvCxnSpPr>
          <p:nvPr/>
        </p:nvCxnSpPr>
        <p:spPr>
          <a:xfrm xmlns:a="http://schemas.openxmlformats.org/drawingml/2006/main">
            <a:off x="8734425" y="2843213"/>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14058D41-78C1-4117-ADEB-2F6E532A29D0}"/>
              </a:ext>
            </a:extLst>
          </p:cNvPr>
          <p:cNvCxnSpPr>
            <a:stCxn xmlns:a="http://schemas.openxmlformats.org/drawingml/2006/main" id="5" idx="3"/>
            <a:endCxn xmlns:a="http://schemas.openxmlformats.org/drawingml/2006/main" id="6" idx="1"/>
          </p:cNvCxnSpPr>
          <p:nvPr/>
        </p:nvCxnSpPr>
        <p:spPr>
          <a:xfrm xmlns:a="http://schemas.openxmlformats.org/drawingml/2006/main">
            <a:off x="5876925" y="2843213"/>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8" name="">
            <a:extLst xmlns:a="http://schemas.openxmlformats.org/drawingml/2006/main">
              <a:ext uri="{FF2B5EF4-FFF2-40B4-BE49-F238E27FC236}">
                <a16:creationId xmlns:a16="http://schemas.microsoft.com/office/drawing/2014/main" id="{C168BADD-C7E4-405E-89AE-26AE48C4B735}"/>
              </a:ext>
            </a:extLst>
          </p:cNvPr>
          <p:cNvCxnSpPr>
            <a:stCxn xmlns:a="http://schemas.openxmlformats.org/drawingml/2006/main" id="4" idx="3"/>
            <a:endCxn xmlns:a="http://schemas.openxmlformats.org/drawingml/2006/main" id="5" idx="1"/>
          </p:cNvCxnSpPr>
          <p:nvPr/>
        </p:nvCxnSpPr>
        <p:spPr>
          <a:xfrm xmlns:a="http://schemas.openxmlformats.org/drawingml/2006/main">
            <a:off x="3019425" y="2843213"/>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20" name="Developer workflow before and after">
            <a:extLst xmlns:a="http://schemas.openxmlformats.org/drawingml/2006/main">
              <a:ext uri="{FF2B5EF4-FFF2-40B4-BE49-F238E27FC236}">
                <a16:creationId xmlns:a16="http://schemas.microsoft.com/office/drawing/2014/main" id="{5F304334-3E19-4921-848A-5A8B0F18A718}"/>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Developer workflow before and after</a:t>
            </a:r>
          </a:p>
        </p:txBody>
      </p:sp>
      <p:sp>
        <p:nvSpPr>
          <p:cNvPr id="2" name="08">
            <a:extLst xmlns:a="http://schemas.openxmlformats.org/drawingml/2006/main">
              <a:ext uri="{FF2B5EF4-FFF2-40B4-BE49-F238E27FC236}">
                <a16:creationId xmlns:a16="http://schemas.microsoft.com/office/drawing/2014/main" id="{3E0A7FE9-C2A5-4836-83E3-E366004F71C2}"/>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11</a:t>
            </a:r>
          </a:p>
        </p:txBody>
      </p:sp>
      <p:sp>
        <p:nvSpPr>
          <p:cNvPr id="3" name="Today">
            <a:extLst xmlns:a="http://schemas.openxmlformats.org/drawingml/2006/main">
              <a:ext uri="{FF2B5EF4-FFF2-40B4-BE49-F238E27FC236}">
                <a16:creationId xmlns:a16="http://schemas.microsoft.com/office/drawing/2014/main" id="{BBBED266-53CB-4FDA-8AF0-3B3774356F42}"/>
              </a:ext>
            </a:extLst>
          </p:cNvPr>
          <p:cNvSpPr>
            <a:spLocks xmlns:a="http://schemas.openxmlformats.org/drawingml/2006/main" noGrp="1"/>
          </p:cNvSpPr>
          <p:nvPr/>
        </p:nvSpPr>
        <p:spPr>
          <a:xfrm xmlns:a="http://schemas.openxmlformats.org/drawingml/2006/main">
            <a:off x="609600" y="176212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Today</a:t>
            </a:r>
          </a:p>
        </p:txBody>
      </p:sp>
      <p:sp>
        <p:nvSpPr>
          <p:cNvPr id="4" name="Launch a pane">
            <a:extLst xmlns:a="http://schemas.openxmlformats.org/drawingml/2006/main">
              <a:ext uri="{FF2B5EF4-FFF2-40B4-BE49-F238E27FC236}">
                <a16:creationId xmlns:a16="http://schemas.microsoft.com/office/drawing/2014/main" id="{83ABBBC4-2829-4424-9634-92F0FFCA1811}"/>
              </a:ext>
            </a:extLst>
          </p:cNvPr>
          <p:cNvSpPr>
            <a:spLocks xmlns:a="http://schemas.openxmlformats.org/drawingml/2006/main" noGrp="1"/>
          </p:cNvSpPr>
          <p:nvPr/>
        </p:nvSpPr>
        <p:spPr>
          <a:xfrm xmlns:a="http://schemas.openxmlformats.org/drawingml/2006/main">
            <a:off x="609600" y="2419350"/>
            <a:ext cx="2409825" cy="84772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Launch a pane</a:t>
            </a:r>
          </a:p>
        </p:txBody>
      </p:sp>
      <p:sp>
        <p:nvSpPr>
          <p:cNvPr id="5" name="Send prompts&#10;and inspect output">
            <a:extLst xmlns:a="http://schemas.openxmlformats.org/drawingml/2006/main">
              <a:ext uri="{FF2B5EF4-FFF2-40B4-BE49-F238E27FC236}">
                <a16:creationId xmlns:a16="http://schemas.microsoft.com/office/drawing/2014/main" id="{404740DF-3E31-48D8-9D00-619AADDB21B8}"/>
              </a:ext>
            </a:extLst>
          </p:cNvPr>
          <p:cNvSpPr>
            <a:spLocks xmlns:a="http://schemas.openxmlformats.org/drawingml/2006/main" noGrp="1"/>
          </p:cNvSpPr>
          <p:nvPr/>
        </p:nvSpPr>
        <p:spPr>
          <a:xfrm xmlns:a="http://schemas.openxmlformats.org/drawingml/2006/main">
            <a:off x="3467100" y="2419350"/>
            <a:ext cx="2409825" cy="84772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Send prompts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inspect output</a:t>
            </a:r>
          </a:p>
        </p:txBody>
      </p:sp>
      <p:sp>
        <p:nvSpPr>
          <p:cNvPr id="6" name="Update several&#10;work records">
            <a:extLst xmlns:a="http://schemas.openxmlformats.org/drawingml/2006/main">
              <a:ext uri="{FF2B5EF4-FFF2-40B4-BE49-F238E27FC236}">
                <a16:creationId xmlns:a16="http://schemas.microsoft.com/office/drawing/2014/main" id="{B19EC7E2-CC05-4419-8B38-6C3FFBB49391}"/>
              </a:ext>
            </a:extLst>
          </p:cNvPr>
          <p:cNvSpPr>
            <a:spLocks xmlns:a="http://schemas.openxmlformats.org/drawingml/2006/main" noGrp="1"/>
          </p:cNvSpPr>
          <p:nvPr/>
        </p:nvSpPr>
        <p:spPr>
          <a:xfrm xmlns:a="http://schemas.openxmlformats.org/drawingml/2006/main">
            <a:off x="6324600" y="2419350"/>
            <a:ext cx="2409825" cy="84772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Update several</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work records</a:t>
            </a:r>
          </a:p>
        </p:txBody>
      </p:sp>
      <p:sp>
        <p:nvSpPr>
          <p:cNvPr id="7" name="Review files&#10;and approvals">
            <a:extLst xmlns:a="http://schemas.openxmlformats.org/drawingml/2006/main">
              <a:ext uri="{FF2B5EF4-FFF2-40B4-BE49-F238E27FC236}">
                <a16:creationId xmlns:a16="http://schemas.microsoft.com/office/drawing/2014/main" id="{0CC2DF57-F751-43FF-8591-F6C318736417}"/>
              </a:ext>
            </a:extLst>
          </p:cNvPr>
          <p:cNvSpPr>
            <a:spLocks xmlns:a="http://schemas.openxmlformats.org/drawingml/2006/main" noGrp="1"/>
          </p:cNvSpPr>
          <p:nvPr/>
        </p:nvSpPr>
        <p:spPr>
          <a:xfrm xmlns:a="http://schemas.openxmlformats.org/drawingml/2006/main">
            <a:off x="9182100" y="2419350"/>
            <a:ext cx="2400300" cy="84772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Review files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approvals</a:t>
            </a:r>
          </a:p>
        </p:txBody>
      </p:sp>
      <p:sp>
        <p:nvSpPr>
          <p:cNvPr id="11" name="Proposed">
            <a:extLst xmlns:a="http://schemas.openxmlformats.org/drawingml/2006/main">
              <a:ext uri="{FF2B5EF4-FFF2-40B4-BE49-F238E27FC236}">
                <a16:creationId xmlns:a16="http://schemas.microsoft.com/office/drawing/2014/main" id="{E50E52F9-E00C-479A-BF9D-7C8C0489850C}"/>
              </a:ext>
            </a:extLst>
          </p:cNvPr>
          <p:cNvSpPr>
            <a:spLocks xmlns:a="http://schemas.openxmlformats.org/drawingml/2006/main" noGrp="1"/>
          </p:cNvSpPr>
          <p:nvPr/>
        </p:nvSpPr>
        <p:spPr>
          <a:xfrm xmlns:a="http://schemas.openxmlformats.org/drawingml/2006/main">
            <a:off x="609600" y="37909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Proposed</a:t>
            </a:r>
          </a:p>
        </p:txBody>
      </p:sp>
      <p:sp>
        <p:nvSpPr>
          <p:cNvPr id="12" name="Request work&#10;in a client">
            <a:extLst xmlns:a="http://schemas.openxmlformats.org/drawingml/2006/main">
              <a:ext uri="{FF2B5EF4-FFF2-40B4-BE49-F238E27FC236}">
                <a16:creationId xmlns:a16="http://schemas.microsoft.com/office/drawing/2014/main" id="{0BBDBF08-0AA6-4769-8118-C930A9515EB8}"/>
              </a:ext>
            </a:extLst>
          </p:cNvPr>
          <p:cNvSpPr>
            <a:spLocks xmlns:a="http://schemas.openxmlformats.org/drawingml/2006/main" noGrp="1"/>
          </p:cNvSpPr>
          <p:nvPr/>
        </p:nvSpPr>
        <p:spPr>
          <a:xfrm xmlns:a="http://schemas.openxmlformats.org/drawingml/2006/main">
            <a:off x="609600" y="4467225"/>
            <a:ext cx="2409825" cy="84772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Request work</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in a client</a:t>
            </a:r>
          </a:p>
        </p:txBody>
      </p:sp>
      <p:sp>
        <p:nvSpPr>
          <p:cNvPr id="13" name="Track plan&#10;and scoped attempts">
            <a:extLst xmlns:a="http://schemas.openxmlformats.org/drawingml/2006/main">
              <a:ext uri="{FF2B5EF4-FFF2-40B4-BE49-F238E27FC236}">
                <a16:creationId xmlns:a16="http://schemas.microsoft.com/office/drawing/2014/main" id="{6E4A8354-FB9A-4718-AC63-D91245DF6CC0}"/>
              </a:ext>
            </a:extLst>
          </p:cNvPr>
          <p:cNvSpPr>
            <a:spLocks xmlns:a="http://schemas.openxmlformats.org/drawingml/2006/main" noGrp="1"/>
          </p:cNvSpPr>
          <p:nvPr/>
        </p:nvSpPr>
        <p:spPr>
          <a:xfrm xmlns:a="http://schemas.openxmlformats.org/drawingml/2006/main">
            <a:off x="3467100" y="4467225"/>
            <a:ext cx="2409825" cy="84772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Track plan</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scoped attempts</a:t>
            </a:r>
          </a:p>
        </p:txBody>
      </p:sp>
      <p:sp>
        <p:nvSpPr>
          <p:cNvPr id="14" name="Inspect evidence&#10;and conversations">
            <a:extLst xmlns:a="http://schemas.openxmlformats.org/drawingml/2006/main">
              <a:ext uri="{FF2B5EF4-FFF2-40B4-BE49-F238E27FC236}">
                <a16:creationId xmlns:a16="http://schemas.microsoft.com/office/drawing/2014/main" id="{8F05448E-7673-45B3-B09B-29067013630D}"/>
              </a:ext>
            </a:extLst>
          </p:cNvPr>
          <p:cNvSpPr>
            <a:spLocks xmlns:a="http://schemas.openxmlformats.org/drawingml/2006/main" noGrp="1"/>
          </p:cNvSpPr>
          <p:nvPr/>
        </p:nvSpPr>
        <p:spPr>
          <a:xfrm xmlns:a="http://schemas.openxmlformats.org/drawingml/2006/main">
            <a:off x="6324600" y="4467225"/>
            <a:ext cx="2409825" cy="84772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Inspect evidence</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conversations</a:t>
            </a:r>
          </a:p>
        </p:txBody>
      </p:sp>
      <p:sp>
        <p:nvSpPr>
          <p:cNvPr id="15" name="Accept result&#10;at the origin">
            <a:extLst xmlns:a="http://schemas.openxmlformats.org/drawingml/2006/main">
              <a:ext uri="{FF2B5EF4-FFF2-40B4-BE49-F238E27FC236}">
                <a16:creationId xmlns:a16="http://schemas.microsoft.com/office/drawing/2014/main" id="{C77752EB-7BAD-4918-82B3-86BEC9072E06}"/>
              </a:ext>
            </a:extLst>
          </p:cNvPr>
          <p:cNvSpPr>
            <a:spLocks xmlns:a="http://schemas.openxmlformats.org/drawingml/2006/main" noGrp="1"/>
          </p:cNvSpPr>
          <p:nvPr/>
        </p:nvSpPr>
        <p:spPr>
          <a:xfrm xmlns:a="http://schemas.openxmlformats.org/drawingml/2006/main">
            <a:off x="9182100" y="4467225"/>
            <a:ext cx="2400300" cy="84772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Accept result</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at the origin</a:t>
            </a:r>
          </a:p>
        </p:txBody>
      </p:sp>
      <p:sp>
        <p:nvSpPr>
          <p:cNvPr id="19" name="Client and dashboard connections may close while durable work continue">
            <a:extLst xmlns:a="http://schemas.openxmlformats.org/drawingml/2006/main">
              <a:ext uri="{FF2B5EF4-FFF2-40B4-BE49-F238E27FC236}">
                <a16:creationId xmlns:a16="http://schemas.microsoft.com/office/drawing/2014/main" id="{0760DCDF-7A95-4794-B9A4-8102C7C56B0A}"/>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Client and dashboard connections may close while durable work continues.</a:t>
            </a:r>
          </a:p>
        </p:txBody>
      </p:sp>
    </p:spTree>
    <p:extLst>
      <p:ext uri="{BB962C8B-B14F-4D97-AF65-F5344CB8AC3E}">
        <p14:creationId xmlns:p14="http://schemas.microsoft.com/office/powerpoint/2010/main" val="1032564389"/>
      </p:ext>
    </p:extLst>
  </p:cSld>
</p:sld>
</file>

<file path=ppt/slides/slide1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D4BB8E5A-97CA-4D56-9AA5-D218044CD970}"/>
              </a:ext>
            </a:extLst>
          </p:cNvPr>
          <p:cNvCxnSpPr>
            <a:stCxn xmlns:a="http://schemas.openxmlformats.org/drawingml/2006/main" id="6" idx="3"/>
            <a:endCxn xmlns:a="http://schemas.openxmlformats.org/drawingml/2006/main" id="8" idx="1"/>
          </p:cNvCxnSpPr>
          <p:nvPr/>
        </p:nvCxnSpPr>
        <p:spPr>
          <a:xfrm xmlns:a="http://schemas.openxmlformats.org/drawingml/2006/main">
            <a:off x="7000875" y="4548188"/>
            <a:ext cx="150495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ABDDC3C6-1754-40E7-969E-6AC91526493C}"/>
              </a:ext>
            </a:extLst>
          </p:cNvPr>
          <p:cNvCxnSpPr>
            <a:stCxn xmlns:a="http://schemas.openxmlformats.org/drawingml/2006/main" id="4" idx="3"/>
            <a:endCxn xmlns:a="http://schemas.openxmlformats.org/drawingml/2006/main" id="6" idx="1"/>
          </p:cNvCxnSpPr>
          <p:nvPr/>
        </p:nvCxnSpPr>
        <p:spPr>
          <a:xfrm xmlns:a="http://schemas.openxmlformats.org/drawingml/2006/main">
            <a:off x="3086100" y="4548188"/>
            <a:ext cx="10572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81F8A74B-DE14-4424-8294-5E8C400AC694}"/>
              </a:ext>
            </a:extLst>
          </p:cNvPr>
          <p:cNvCxnSpPr>
            <a:stCxn xmlns:a="http://schemas.openxmlformats.org/drawingml/2006/main" id="5" idx="3"/>
            <a:endCxn xmlns:a="http://schemas.openxmlformats.org/drawingml/2006/main" id="7" idx="1"/>
          </p:cNvCxnSpPr>
          <p:nvPr/>
        </p:nvCxnSpPr>
        <p:spPr>
          <a:xfrm xmlns:a="http://schemas.openxmlformats.org/drawingml/2006/main">
            <a:off x="7000875" y="2271713"/>
            <a:ext cx="150495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3AA8364A-2293-4F32-9578-68E4FA9B6918}"/>
              </a:ext>
            </a:extLst>
          </p:cNvPr>
          <p:cNvCxnSpPr>
            <a:stCxn xmlns:a="http://schemas.openxmlformats.org/drawingml/2006/main" id="3" idx="3"/>
            <a:endCxn xmlns:a="http://schemas.openxmlformats.org/drawingml/2006/main" id="5" idx="1"/>
          </p:cNvCxnSpPr>
          <p:nvPr/>
        </p:nvCxnSpPr>
        <p:spPr>
          <a:xfrm xmlns:a="http://schemas.openxmlformats.org/drawingml/2006/main">
            <a:off x="3086100" y="2271713"/>
            <a:ext cx="10572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5" name="Concurrent users and workspaces">
            <a:extLst xmlns:a="http://schemas.openxmlformats.org/drawingml/2006/main">
              <a:ext uri="{FF2B5EF4-FFF2-40B4-BE49-F238E27FC236}">
                <a16:creationId xmlns:a16="http://schemas.microsoft.com/office/drawing/2014/main" id="{64B28199-7632-4CF8-9006-4258632864C8}"/>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Concurrent users and workspaces</a:t>
            </a:r>
          </a:p>
        </p:txBody>
      </p:sp>
      <p:sp>
        <p:nvSpPr>
          <p:cNvPr id="2" name="09">
            <a:extLst xmlns:a="http://schemas.openxmlformats.org/drawingml/2006/main">
              <a:ext uri="{FF2B5EF4-FFF2-40B4-BE49-F238E27FC236}">
                <a16:creationId xmlns:a16="http://schemas.microsoft.com/office/drawing/2014/main" id="{76832B50-A6C0-4187-A05C-7CEC1D4F477B}"/>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12</a:t>
            </a:r>
          </a:p>
        </p:txBody>
      </p:sp>
      <p:sp>
        <p:nvSpPr>
          <p:cNvPr id="3" name="Developer A">
            <a:extLst xmlns:a="http://schemas.openxmlformats.org/drawingml/2006/main">
              <a:ext uri="{FF2B5EF4-FFF2-40B4-BE49-F238E27FC236}">
                <a16:creationId xmlns:a16="http://schemas.microsoft.com/office/drawing/2014/main" id="{A015B654-F0BE-4E78-A0B8-ADBA3E0351F8}"/>
              </a:ext>
            </a:extLst>
          </p:cNvPr>
          <p:cNvSpPr>
            <a:spLocks xmlns:a="http://schemas.openxmlformats.org/drawingml/2006/main" noGrp="1"/>
          </p:cNvSpPr>
          <p:nvPr/>
        </p:nvSpPr>
        <p:spPr>
          <a:xfrm xmlns:a="http://schemas.openxmlformats.org/drawingml/2006/main">
            <a:off x="609600" y="1781175"/>
            <a:ext cx="2476500"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Developer A</a:t>
            </a:r>
          </a:p>
        </p:txBody>
      </p:sp>
      <p:sp>
        <p:nvSpPr>
          <p:cNvPr id="4" name="Developer B">
            <a:extLst xmlns:a="http://schemas.openxmlformats.org/drawingml/2006/main">
              <a:ext uri="{FF2B5EF4-FFF2-40B4-BE49-F238E27FC236}">
                <a16:creationId xmlns:a16="http://schemas.microsoft.com/office/drawing/2014/main" id="{A3057A50-B2F2-41A9-B6B2-88D4E7F00EC1}"/>
              </a:ext>
            </a:extLst>
          </p:cNvPr>
          <p:cNvSpPr>
            <a:spLocks xmlns:a="http://schemas.openxmlformats.org/drawingml/2006/main" noGrp="1"/>
          </p:cNvSpPr>
          <p:nvPr/>
        </p:nvSpPr>
        <p:spPr>
          <a:xfrm xmlns:a="http://schemas.openxmlformats.org/drawingml/2006/main">
            <a:off x="609600" y="4057650"/>
            <a:ext cx="2476500"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Developer B</a:t>
            </a:r>
          </a:p>
        </p:txBody>
      </p:sp>
      <p:sp>
        <p:nvSpPr>
          <p:cNvPr id="5" name="Project A scope">
            <a:extLst xmlns:a="http://schemas.openxmlformats.org/drawingml/2006/main">
              <a:ext uri="{FF2B5EF4-FFF2-40B4-BE49-F238E27FC236}">
                <a16:creationId xmlns:a16="http://schemas.microsoft.com/office/drawing/2014/main" id="{684EF88B-58DF-44B7-B257-00B639D1662F}"/>
              </a:ext>
            </a:extLst>
          </p:cNvPr>
          <p:cNvSpPr>
            <a:spLocks xmlns:a="http://schemas.openxmlformats.org/drawingml/2006/main" noGrp="1"/>
          </p:cNvSpPr>
          <p:nvPr/>
        </p:nvSpPr>
        <p:spPr>
          <a:xfrm xmlns:a="http://schemas.openxmlformats.org/drawingml/2006/main">
            <a:off x="4143375" y="1781175"/>
            <a:ext cx="2857500"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Project A scope</a:t>
            </a:r>
          </a:p>
        </p:txBody>
      </p:sp>
      <p:sp>
        <p:nvSpPr>
          <p:cNvPr id="6" name="Project B scope">
            <a:extLst xmlns:a="http://schemas.openxmlformats.org/drawingml/2006/main">
              <a:ext uri="{FF2B5EF4-FFF2-40B4-BE49-F238E27FC236}">
                <a16:creationId xmlns:a16="http://schemas.microsoft.com/office/drawing/2014/main" id="{028C31D4-D23B-4BD7-A507-03D79061AA9D}"/>
              </a:ext>
            </a:extLst>
          </p:cNvPr>
          <p:cNvSpPr>
            <a:spLocks xmlns:a="http://schemas.openxmlformats.org/drawingml/2006/main" noGrp="1"/>
          </p:cNvSpPr>
          <p:nvPr/>
        </p:nvSpPr>
        <p:spPr>
          <a:xfrm xmlns:a="http://schemas.openxmlformats.org/drawingml/2006/main">
            <a:off x="4143375" y="4057650"/>
            <a:ext cx="2857500"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Project B scope</a:t>
            </a:r>
          </a:p>
        </p:txBody>
      </p:sp>
      <p:sp>
        <p:nvSpPr>
          <p:cNvPr id="7" name="Owned attempts&#10;and worktrees">
            <a:extLst xmlns:a="http://schemas.openxmlformats.org/drawingml/2006/main">
              <a:ext uri="{FF2B5EF4-FFF2-40B4-BE49-F238E27FC236}">
                <a16:creationId xmlns:a16="http://schemas.microsoft.com/office/drawing/2014/main" id="{CDACFB59-A23F-40AD-A450-A620C45160D6}"/>
              </a:ext>
            </a:extLst>
          </p:cNvPr>
          <p:cNvSpPr>
            <a:spLocks xmlns:a="http://schemas.openxmlformats.org/drawingml/2006/main" noGrp="1"/>
          </p:cNvSpPr>
          <p:nvPr/>
        </p:nvSpPr>
        <p:spPr>
          <a:xfrm xmlns:a="http://schemas.openxmlformats.org/drawingml/2006/main">
            <a:off x="8505825" y="1781175"/>
            <a:ext cx="3076575"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Owned attempts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worktrees</a:t>
            </a:r>
          </a:p>
        </p:txBody>
      </p:sp>
      <p:sp>
        <p:nvSpPr>
          <p:cNvPr id="8" name="Owned attempts&#10;and worktrees">
            <a:extLst xmlns:a="http://schemas.openxmlformats.org/drawingml/2006/main">
              <a:ext uri="{FF2B5EF4-FFF2-40B4-BE49-F238E27FC236}">
                <a16:creationId xmlns:a16="http://schemas.microsoft.com/office/drawing/2014/main" id="{AD1CB92A-4DA8-48F7-8C0B-4F93E954A965}"/>
              </a:ext>
            </a:extLst>
          </p:cNvPr>
          <p:cNvSpPr>
            <a:spLocks xmlns:a="http://schemas.openxmlformats.org/drawingml/2006/main" noGrp="1"/>
          </p:cNvSpPr>
          <p:nvPr/>
        </p:nvSpPr>
        <p:spPr>
          <a:xfrm xmlns:a="http://schemas.openxmlformats.org/drawingml/2006/main">
            <a:off x="8505825" y="4057650"/>
            <a:ext cx="3076575"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Owned attempts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worktrees</a:t>
            </a:r>
          </a:p>
        </p:txBody>
      </p:sp>
      <p:sp>
        <p:nvSpPr>
          <p:cNvPr id="13" name="Validated caller and grant on every operation">
            <a:extLst xmlns:a="http://schemas.openxmlformats.org/drawingml/2006/main">
              <a:ext uri="{FF2B5EF4-FFF2-40B4-BE49-F238E27FC236}">
                <a16:creationId xmlns:a16="http://schemas.microsoft.com/office/drawing/2014/main" id="{692E080C-EF1D-44DF-88E2-FA7B61E8F11B}"/>
              </a:ext>
            </a:extLst>
          </p:cNvPr>
          <p:cNvSpPr>
            <a:spLocks xmlns:a="http://schemas.openxmlformats.org/drawingml/2006/main" noGrp="1"/>
          </p:cNvSpPr>
          <p:nvPr/>
        </p:nvSpPr>
        <p:spPr>
          <a:xfrm xmlns:a="http://schemas.openxmlformats.org/drawingml/2006/main">
            <a:off x="3629025" y="3200400"/>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Validated caller and grant on every operation</a:t>
            </a:r>
          </a:p>
        </p:txBody>
      </p:sp>
      <p:sp>
        <p:nvSpPr>
          <p:cNvPr id="14" name="P04 also qualifies worker OS/container/host separation for mutually un">
            <a:extLst xmlns:a="http://schemas.openxmlformats.org/drawingml/2006/main">
              <a:ext uri="{FF2B5EF4-FFF2-40B4-BE49-F238E27FC236}">
                <a16:creationId xmlns:a16="http://schemas.microsoft.com/office/drawing/2014/main" id="{4D547D3F-474F-44EC-B0DF-6D256945B48F}"/>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P04 also qualifies worker OS/container/host separation for mutually untrusted task code.</a:t>
            </a:r>
          </a:p>
        </p:txBody>
      </p:sp>
    </p:spTree>
    <p:extLst>
      <p:ext uri="{BB962C8B-B14F-4D97-AF65-F5344CB8AC3E}">
        <p14:creationId xmlns:p14="http://schemas.microsoft.com/office/powerpoint/2010/main" val="235135702"/>
      </p:ext>
    </p:extLst>
  </p:cSld>
</p:sld>
</file>

<file path=ppt/slides/slide1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AE30B825-10C2-425D-9A9D-9B9AD5473AD9}"/>
              </a:ext>
            </a:extLst>
          </p:cNvPr>
          <p:cNvCxnSpPr>
            <a:stCxn xmlns:a="http://schemas.openxmlformats.org/drawingml/2006/main" id="4" idx="2"/>
            <a:endCxn xmlns:a="http://schemas.openxmlformats.org/drawingml/2006/main" id="7" idx="0"/>
          </p:cNvCxnSpPr>
          <p:nvPr/>
        </p:nvCxnSpPr>
        <p:spPr>
          <a:xfrm xmlns:a="http://schemas.openxmlformats.org/drawingml/2006/main">
            <a:off x="9586913" y="3457575"/>
            <a:ext cx="0" cy="981075"/>
          </a:xfrm>
          <a:prstGeom xmlns:a="http://schemas.openxmlformats.org/drawingml/2006/main" prst="straightConnector1">
            <a:avLst/>
          </a:prstGeom>
          <a:ln xmlns:a="http://schemas.openxmlformats.org/drawingml/2006/main" w="20955">
            <a:solidFill>
              <a:srgbClr val="087E83"/>
            </a:solidFill>
            <a:prstDash val="solid"/>
            <a:headEnd type="triangle" w="med" len="med"/>
            <a:tailEnd type="triangle" w="med" len="med"/>
          </a:ln>
        </p:spPr>
      </p:cxnSp>
      <p:cxnSp>
        <p:nvCxnSpPr>
          <p:cNvPr id="5" name="">
            <a:extLst xmlns:a="http://schemas.openxmlformats.org/drawingml/2006/main">
              <a:ext uri="{FF2B5EF4-FFF2-40B4-BE49-F238E27FC236}">
                <a16:creationId xmlns:a16="http://schemas.microsoft.com/office/drawing/2014/main" id="{1DAF3084-D439-4322-A3DF-F878EA8CF948}"/>
              </a:ext>
            </a:extLst>
          </p:cNvPr>
          <p:cNvCxnSpPr>
            <a:stCxn xmlns:a="http://schemas.openxmlformats.org/drawingml/2006/main" id="3" idx="3"/>
            <a:endCxn xmlns:a="http://schemas.openxmlformats.org/drawingml/2006/main" id="4" idx="1"/>
          </p:cNvCxnSpPr>
          <p:nvPr/>
        </p:nvCxnSpPr>
        <p:spPr>
          <a:xfrm xmlns:a="http://schemas.openxmlformats.org/drawingml/2006/main">
            <a:off x="4600575" y="2657475"/>
            <a:ext cx="2990850" cy="0"/>
          </a:xfrm>
          <a:prstGeom xmlns:a="http://schemas.openxmlformats.org/drawingml/2006/main" prst="straightConnector1">
            <a:avLst/>
          </a:prstGeom>
          <a:ln xmlns:a="http://schemas.openxmlformats.org/drawingml/2006/main" w="20955">
            <a:solidFill>
              <a:srgbClr val="087E83"/>
            </a:solidFill>
            <a:prstDash val="solid"/>
            <a:headEnd type="triangle" w="med" len="med"/>
            <a:tailEnd type="triangle" w="med" len="med"/>
          </a:ln>
        </p:spPr>
      </p:cxnSp>
      <p:sp>
        <p:nvSpPr>
          <p:cNvPr id="11" name="Federated ownership">
            <a:extLst xmlns:a="http://schemas.openxmlformats.org/drawingml/2006/main">
              <a:ext uri="{FF2B5EF4-FFF2-40B4-BE49-F238E27FC236}">
                <a16:creationId xmlns:a16="http://schemas.microsoft.com/office/drawing/2014/main" id="{A919A1A1-399D-4710-975C-CAC4EEF1C429}"/>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Federated ownership</a:t>
            </a:r>
          </a:p>
        </p:txBody>
      </p:sp>
      <p:sp>
        <p:nvSpPr>
          <p:cNvPr id="2" name="10">
            <a:extLst xmlns:a="http://schemas.openxmlformats.org/drawingml/2006/main">
              <a:ext uri="{FF2B5EF4-FFF2-40B4-BE49-F238E27FC236}">
                <a16:creationId xmlns:a16="http://schemas.microsoft.com/office/drawing/2014/main" id="{CDA116A7-8533-456A-9A9D-6CB8EB87F9AD}"/>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13</a:t>
            </a:r>
          </a:p>
        </p:txBody>
      </p:sp>
      <p:sp>
        <p:nvSpPr>
          <p:cNvPr id="3" name="Origin hub&#10;&#10;Task and acceptance owner">
            <a:extLst xmlns:a="http://schemas.openxmlformats.org/drawingml/2006/main">
              <a:ext uri="{FF2B5EF4-FFF2-40B4-BE49-F238E27FC236}">
                <a16:creationId xmlns:a16="http://schemas.microsoft.com/office/drawing/2014/main" id="{26AEBC9E-DC27-4625-AE29-1768666779E0}"/>
              </a:ext>
            </a:extLst>
          </p:cNvPr>
          <p:cNvSpPr>
            <a:spLocks xmlns:a="http://schemas.openxmlformats.org/drawingml/2006/main" noGrp="1"/>
          </p:cNvSpPr>
          <p:nvPr/>
        </p:nvSpPr>
        <p:spPr>
          <a:xfrm xmlns:a="http://schemas.openxmlformats.org/drawingml/2006/main">
            <a:off x="609600" y="1857375"/>
            <a:ext cx="3990975" cy="1600200"/>
          </a:xfrm>
          <a:prstGeom xmlns:a="http://schemas.openxmlformats.org/drawingml/2006/main" prst="rect">
            <a:avLst/>
          </a:prstGeom>
          <a:solidFill xmlns:a="http://schemas.openxmlformats.org/drawingml/2006/main">
            <a:srgbClr val="152E42"/>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2175" b="0">
                <a:solidFill>
                  <a:srgbClr val="FFFFFF"/>
                </a:solidFill>
                <a:latin typeface="Arial"/>
                <a:ea typeface="Arial"/>
                <a:cs typeface="Arial"/>
              </a:defRPr>
            </a:defPPr>
          </a:lstStyle>
          <a:p xmlns:a="http://schemas.openxmlformats.org/drawingml/2006/main">
            <a:pPr algn="ctr">
              <a:buNone/>
              <a:defRPr sz="2175" b="0">
                <a:solidFill>
                  <a:srgbClr val="FFFFFF"/>
                </a:solidFill>
                <a:latin typeface="Arial"/>
                <a:ea typeface="Arial"/>
                <a:cs typeface="Arial"/>
              </a:defRPr>
            </a:pPr>
            <a:r>
              <a:rPr sz="2175" b="0">
                <a:solidFill>
                  <a:srgbClr val="FFFFFF"/>
                </a:solidFill>
                <a:latin typeface="Arial"/>
                <a:ea typeface="Arial"/>
                <a:cs typeface="Arial"/>
              </a:rPr>
              <a:t>Origin hub</a:t>
            </a:r>
          </a:p>
          <a:p xmlns:a="http://schemas.openxmlformats.org/drawingml/2006/main">
            <a:r>
              <a:t/>
            </a:r>
          </a:p>
          <a:p xmlns:a="http://schemas.openxmlformats.org/drawingml/2006/main">
            <a:pPr algn="ctr">
              <a:buNone/>
              <a:defRPr sz="2175" b="0">
                <a:solidFill>
                  <a:srgbClr val="FFFFFF"/>
                </a:solidFill>
                <a:latin typeface="Arial"/>
                <a:ea typeface="Arial"/>
                <a:cs typeface="Arial"/>
              </a:defRPr>
            </a:pPr>
            <a:r>
              <a:rPr sz="2175" b="0">
                <a:solidFill>
                  <a:srgbClr val="FFFFFF"/>
                </a:solidFill>
                <a:latin typeface="Arial"/>
                <a:ea typeface="Arial"/>
                <a:cs typeface="Arial"/>
              </a:rPr>
              <a:t>Task and acceptance owner</a:t>
            </a:r>
          </a:p>
        </p:txBody>
      </p:sp>
      <p:sp>
        <p:nvSpPr>
          <p:cNvPr id="4" name="Receiving hub&#10;&#10;Delegated execution owner">
            <a:extLst xmlns:a="http://schemas.openxmlformats.org/drawingml/2006/main">
              <a:ext uri="{FF2B5EF4-FFF2-40B4-BE49-F238E27FC236}">
                <a16:creationId xmlns:a16="http://schemas.microsoft.com/office/drawing/2014/main" id="{E3DFA2BB-DCB9-45E1-8AB7-3F71E7AFE802}"/>
              </a:ext>
            </a:extLst>
          </p:cNvPr>
          <p:cNvSpPr>
            <a:spLocks xmlns:a="http://schemas.openxmlformats.org/drawingml/2006/main" noGrp="1"/>
          </p:cNvSpPr>
          <p:nvPr/>
        </p:nvSpPr>
        <p:spPr>
          <a:xfrm xmlns:a="http://schemas.openxmlformats.org/drawingml/2006/main">
            <a:off x="7591425" y="1857375"/>
            <a:ext cx="3990975" cy="16002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2175" b="0">
                <a:solidFill>
                  <a:srgbClr val="152E42"/>
                </a:solidFill>
                <a:latin typeface="Arial"/>
                <a:ea typeface="Arial"/>
                <a:cs typeface="Arial"/>
              </a:defRPr>
            </a:defPPr>
          </a:lstStyle>
          <a:p xmlns:a="http://schemas.openxmlformats.org/drawingml/2006/main">
            <a:pPr algn="ctr">
              <a:buNone/>
              <a:defRPr sz="2175" b="0">
                <a:solidFill>
                  <a:srgbClr val="152E42"/>
                </a:solidFill>
                <a:latin typeface="Arial"/>
                <a:ea typeface="Arial"/>
                <a:cs typeface="Arial"/>
              </a:defRPr>
            </a:pPr>
            <a:r>
              <a:rPr sz="2175" b="0">
                <a:solidFill>
                  <a:srgbClr val="152E42"/>
                </a:solidFill>
                <a:latin typeface="Arial"/>
                <a:ea typeface="Arial"/>
                <a:cs typeface="Arial"/>
              </a:rPr>
              <a:t>Receiving hub</a:t>
            </a:r>
          </a:p>
          <a:p xmlns:a="http://schemas.openxmlformats.org/drawingml/2006/main">
            <a:r>
              <a:t/>
            </a:r>
          </a:p>
          <a:p xmlns:a="http://schemas.openxmlformats.org/drawingml/2006/main">
            <a:pPr algn="ctr">
              <a:buNone/>
              <a:defRPr sz="2175" b="0">
                <a:solidFill>
                  <a:srgbClr val="152E42"/>
                </a:solidFill>
                <a:latin typeface="Arial"/>
                <a:ea typeface="Arial"/>
                <a:cs typeface="Arial"/>
              </a:defRPr>
            </a:pPr>
            <a:r>
              <a:rPr sz="2175" b="0">
                <a:solidFill>
                  <a:srgbClr val="152E42"/>
                </a:solidFill>
                <a:latin typeface="Arial"/>
                <a:ea typeface="Arial"/>
                <a:cs typeface="Arial"/>
              </a:rPr>
              <a:t>Delegated execution owner</a:t>
            </a:r>
          </a:p>
        </p:txBody>
      </p:sp>
      <p:sp>
        <p:nvSpPr>
          <p:cNvPr id="6" name="Scoped NATS link">
            <a:extLst xmlns:a="http://schemas.openxmlformats.org/drawingml/2006/main">
              <a:ext uri="{FF2B5EF4-FFF2-40B4-BE49-F238E27FC236}">
                <a16:creationId xmlns:a16="http://schemas.microsoft.com/office/drawing/2014/main" id="{9B975AB8-607C-49BE-98EE-473B69244F7B}"/>
              </a:ext>
            </a:extLst>
          </p:cNvPr>
          <p:cNvSpPr>
            <a:spLocks xmlns:a="http://schemas.openxmlformats.org/drawingml/2006/main" noGrp="1"/>
          </p:cNvSpPr>
          <p:nvPr/>
        </p:nvSpPr>
        <p:spPr>
          <a:xfrm xmlns:a="http://schemas.openxmlformats.org/drawingml/2006/main">
            <a:off x="4733925" y="2152650"/>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087E83"/>
                </a:solidFill>
                <a:latin typeface="Arial"/>
                <a:ea typeface="Arial"/>
                <a:cs typeface="Arial"/>
              </a:defRPr>
            </a:defPPr>
          </a:lstStyle>
          <a:p xmlns:a="http://schemas.openxmlformats.org/drawingml/2006/main">
            <a:pPr algn="ctr">
              <a:buNone/>
              <a:defRPr sz="1875" b="1">
                <a:solidFill>
                  <a:srgbClr val="087E83"/>
                </a:solidFill>
                <a:latin typeface="Arial"/>
                <a:ea typeface="Arial"/>
                <a:cs typeface="Arial"/>
              </a:defRPr>
            </a:pPr>
            <a:r>
              <a:rPr sz="1875" b="1">
                <a:solidFill>
                  <a:srgbClr val="087E83"/>
                </a:solidFill>
                <a:latin typeface="Arial"/>
                <a:ea typeface="Arial"/>
                <a:cs typeface="Arial"/>
              </a:rPr>
              <a:t>Scoped NATS link</a:t>
            </a:r>
          </a:p>
        </p:txBody>
      </p:sp>
      <p:sp>
        <p:nvSpPr>
          <p:cNvPr id="7" name="Local execution host&#10;with declared offline grants">
            <a:extLst xmlns:a="http://schemas.openxmlformats.org/drawingml/2006/main">
              <a:ext uri="{FF2B5EF4-FFF2-40B4-BE49-F238E27FC236}">
                <a16:creationId xmlns:a16="http://schemas.microsoft.com/office/drawing/2014/main" id="{0C1E813F-B914-4DC3-818E-45B786E233F0}"/>
              </a:ext>
            </a:extLst>
          </p:cNvPr>
          <p:cNvSpPr>
            <a:spLocks xmlns:a="http://schemas.openxmlformats.org/drawingml/2006/main" noGrp="1"/>
          </p:cNvSpPr>
          <p:nvPr/>
        </p:nvSpPr>
        <p:spPr>
          <a:xfrm xmlns:a="http://schemas.openxmlformats.org/drawingml/2006/main">
            <a:off x="7591425" y="4438650"/>
            <a:ext cx="3990975" cy="9429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Local execution host</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with declared offline grants</a:t>
            </a:r>
          </a:p>
        </p:txBody>
      </p:sp>
      <p:sp>
        <p:nvSpPr>
          <p:cNvPr id="9" name="Offer and grant&#10;Progress and evidence&#10;Origin acceptance">
            <a:extLst xmlns:a="http://schemas.openxmlformats.org/drawingml/2006/main">
              <a:ext uri="{FF2B5EF4-FFF2-40B4-BE49-F238E27FC236}">
                <a16:creationId xmlns:a16="http://schemas.microsoft.com/office/drawing/2014/main" id="{29CF6850-6ADF-43D1-A940-C3664AA3B839}"/>
              </a:ext>
            </a:extLst>
          </p:cNvPr>
          <p:cNvSpPr>
            <a:spLocks xmlns:a="http://schemas.openxmlformats.org/drawingml/2006/main" noGrp="1"/>
          </p:cNvSpPr>
          <p:nvPr/>
        </p:nvSpPr>
        <p:spPr>
          <a:xfrm xmlns:a="http://schemas.openxmlformats.org/drawingml/2006/main">
            <a:off x="609600" y="4229100"/>
            <a:ext cx="50958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Offer and grant</a:t>
            </a:r>
          </a:p>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Progress and evidence</a:t>
            </a:r>
          </a:p>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Origin acceptance</a:t>
            </a:r>
          </a:p>
        </p:txBody>
      </p:sp>
      <p:sp>
        <p:nvSpPr>
          <p:cNvPr id="10" name="A result submission preserves executor, task version, artifact digest ">
            <a:extLst xmlns:a="http://schemas.openxmlformats.org/drawingml/2006/main">
              <a:ext uri="{FF2B5EF4-FFF2-40B4-BE49-F238E27FC236}">
                <a16:creationId xmlns:a16="http://schemas.microsoft.com/office/drawing/2014/main" id="{30B77D96-89BF-4818-AA06-B299E89A1D89}"/>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A result submission preserves executor, task version, artifact digest and provenance.</a:t>
            </a:r>
          </a:p>
        </p:txBody>
      </p:sp>
    </p:spTree>
    <p:extLst>
      <p:ext uri="{BB962C8B-B14F-4D97-AF65-F5344CB8AC3E}">
        <p14:creationId xmlns:p14="http://schemas.microsoft.com/office/powerpoint/2010/main" val="1629210532"/>
      </p:ext>
    </p:extLst>
  </p:cSld>
</p:sld>
</file>

<file path=ppt/slides/slide1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DFFDF28D-270F-4C5C-9D03-993266597D54}"/>
              </a:ext>
            </a:extLst>
          </p:cNvPr>
          <p:cNvCxnSpPr>
            <a:stCxn xmlns:a="http://schemas.openxmlformats.org/drawingml/2006/main" id="5" idx="2"/>
            <a:endCxn xmlns:a="http://schemas.openxmlformats.org/drawingml/2006/main" id="10" idx="0"/>
          </p:cNvCxnSpPr>
          <p:nvPr/>
        </p:nvCxnSpPr>
        <p:spPr>
          <a:xfrm xmlns:a="http://schemas.openxmlformats.org/drawingml/2006/main">
            <a:off x="10134600" y="2695575"/>
            <a:ext cx="0" cy="139065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08D71883-7E75-4D02-B6CF-82C95A6BD780}"/>
              </a:ext>
            </a:extLst>
          </p:cNvPr>
          <p:cNvCxnSpPr>
            <a:stCxn xmlns:a="http://schemas.openxmlformats.org/drawingml/2006/main" id="4" idx="2"/>
            <a:endCxn xmlns:a="http://schemas.openxmlformats.org/drawingml/2006/main" id="9" idx="0"/>
          </p:cNvCxnSpPr>
          <p:nvPr/>
        </p:nvCxnSpPr>
        <p:spPr>
          <a:xfrm xmlns:a="http://schemas.openxmlformats.org/drawingml/2006/main">
            <a:off x="5715000" y="2695575"/>
            <a:ext cx="0" cy="1390650"/>
          </a:xfrm>
          <a:prstGeom xmlns:a="http://schemas.openxmlformats.org/drawingml/2006/main" prst="straightConnector1">
            <a:avLst/>
          </a:prstGeom>
          <a:ln xmlns:a="http://schemas.openxmlformats.org/drawingml/2006/main" w="20955">
            <a:solidFill>
              <a:srgbClr val="9B582D"/>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034B9F1A-8833-4F35-9AC3-7D9CEF027435}"/>
              </a:ext>
            </a:extLst>
          </p:cNvPr>
          <p:cNvCxnSpPr>
            <a:stCxn xmlns:a="http://schemas.openxmlformats.org/drawingml/2006/main" id="3" idx="2"/>
            <a:endCxn xmlns:a="http://schemas.openxmlformats.org/drawingml/2006/main" id="8" idx="0"/>
          </p:cNvCxnSpPr>
          <p:nvPr/>
        </p:nvCxnSpPr>
        <p:spPr>
          <a:xfrm xmlns:a="http://schemas.openxmlformats.org/drawingml/2006/main">
            <a:off x="2038350" y="2695575"/>
            <a:ext cx="0" cy="1390650"/>
          </a:xfrm>
          <a:prstGeom xmlns:a="http://schemas.openxmlformats.org/drawingml/2006/main" prst="straightConnector1">
            <a:avLst/>
          </a:prstGeom>
          <a:ln xmlns:a="http://schemas.openxmlformats.org/drawingml/2006/main" w="20955">
            <a:solidFill>
              <a:srgbClr val="9B582D"/>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2B45A04E-3279-4B87-ADF1-85DA7A5A7045}"/>
              </a:ext>
            </a:extLst>
          </p:cNvPr>
          <p:cNvCxnSpPr>
            <a:stCxn xmlns:a="http://schemas.openxmlformats.org/drawingml/2006/main" id="4" idx="3"/>
            <a:endCxn xmlns:a="http://schemas.openxmlformats.org/drawingml/2006/main" id="5" idx="1"/>
          </p:cNvCxnSpPr>
          <p:nvPr/>
        </p:nvCxnSpPr>
        <p:spPr>
          <a:xfrm xmlns:a="http://schemas.openxmlformats.org/drawingml/2006/main">
            <a:off x="7219950" y="2333625"/>
            <a:ext cx="146685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8B3082A2-5488-4132-B0D5-8B1B96B10320}"/>
              </a:ext>
            </a:extLst>
          </p:cNvPr>
          <p:cNvCxnSpPr>
            <a:stCxn xmlns:a="http://schemas.openxmlformats.org/drawingml/2006/main" id="3" idx="3"/>
            <a:endCxn xmlns:a="http://schemas.openxmlformats.org/drawingml/2006/main" id="4" idx="1"/>
          </p:cNvCxnSpPr>
          <p:nvPr/>
        </p:nvCxnSpPr>
        <p:spPr>
          <a:xfrm xmlns:a="http://schemas.openxmlformats.org/drawingml/2006/main">
            <a:off x="3467100" y="2333625"/>
            <a:ext cx="74295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6" name="Disconnected work stays reserved">
            <a:extLst xmlns:a="http://schemas.openxmlformats.org/drawingml/2006/main">
              <a:ext uri="{FF2B5EF4-FFF2-40B4-BE49-F238E27FC236}">
                <a16:creationId xmlns:a16="http://schemas.microsoft.com/office/drawing/2014/main" id="{55062FA5-2079-449C-9394-34F79ECBC41A}"/>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Disconnected work stays reserved</a:t>
            </a:r>
          </a:p>
        </p:txBody>
      </p:sp>
      <p:sp>
        <p:nvSpPr>
          <p:cNvPr id="2" name="11">
            <a:extLst xmlns:a="http://schemas.openxmlformats.org/drawingml/2006/main">
              <a:ext uri="{FF2B5EF4-FFF2-40B4-BE49-F238E27FC236}">
                <a16:creationId xmlns:a16="http://schemas.microsoft.com/office/drawing/2014/main" id="{F14B8C51-2448-46F5-B34D-1740AEDDFC04}"/>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14</a:t>
            </a:r>
          </a:p>
        </p:txBody>
      </p:sp>
      <p:sp>
        <p:nvSpPr>
          <p:cNvPr id="3" name="Offer">
            <a:extLst xmlns:a="http://schemas.openxmlformats.org/drawingml/2006/main">
              <a:ext uri="{FF2B5EF4-FFF2-40B4-BE49-F238E27FC236}">
                <a16:creationId xmlns:a16="http://schemas.microsoft.com/office/drawing/2014/main" id="{017E1609-8751-4779-BA08-D2C21DB82F39}"/>
              </a:ext>
            </a:extLst>
          </p:cNvPr>
          <p:cNvSpPr>
            <a:spLocks xmlns:a="http://schemas.openxmlformats.org/drawingml/2006/main" noGrp="1"/>
          </p:cNvSpPr>
          <p:nvPr/>
        </p:nvSpPr>
        <p:spPr>
          <a:xfrm xmlns:a="http://schemas.openxmlformats.org/drawingml/2006/main">
            <a:off x="609600" y="1971675"/>
            <a:ext cx="2857500" cy="7239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Offer</a:t>
            </a:r>
          </a:p>
        </p:txBody>
      </p:sp>
      <p:sp>
        <p:nvSpPr>
          <p:cNvPr id="4" name="Accepted&#10;and reserved">
            <a:extLst xmlns:a="http://schemas.openxmlformats.org/drawingml/2006/main">
              <a:ext uri="{FF2B5EF4-FFF2-40B4-BE49-F238E27FC236}">
                <a16:creationId xmlns:a16="http://schemas.microsoft.com/office/drawing/2014/main" id="{68C1B5C4-6252-4021-8BEB-4A3391AD8E51}"/>
              </a:ext>
            </a:extLst>
          </p:cNvPr>
          <p:cNvSpPr>
            <a:spLocks xmlns:a="http://schemas.openxmlformats.org/drawingml/2006/main" noGrp="1"/>
          </p:cNvSpPr>
          <p:nvPr/>
        </p:nvSpPr>
        <p:spPr>
          <a:xfrm xmlns:a="http://schemas.openxmlformats.org/drawingml/2006/main">
            <a:off x="4210050" y="1971675"/>
            <a:ext cx="3009900" cy="7239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Accepted</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reserved</a:t>
            </a:r>
          </a:p>
        </p:txBody>
      </p:sp>
      <p:sp>
        <p:nvSpPr>
          <p:cNvPr id="5" name="Execution">
            <a:extLst xmlns:a="http://schemas.openxmlformats.org/drawingml/2006/main">
              <a:ext uri="{FF2B5EF4-FFF2-40B4-BE49-F238E27FC236}">
                <a16:creationId xmlns:a16="http://schemas.microsoft.com/office/drawing/2014/main" id="{781C321D-45AA-4629-BF56-7B11420B61A8}"/>
              </a:ext>
            </a:extLst>
          </p:cNvPr>
          <p:cNvSpPr>
            <a:spLocks xmlns:a="http://schemas.openxmlformats.org/drawingml/2006/main" noGrp="1"/>
          </p:cNvSpPr>
          <p:nvPr/>
        </p:nvSpPr>
        <p:spPr>
          <a:xfrm xmlns:a="http://schemas.openxmlformats.org/drawingml/2006/main">
            <a:off x="8686800" y="1971675"/>
            <a:ext cx="2895600" cy="7239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Execution</a:t>
            </a:r>
          </a:p>
        </p:txBody>
      </p:sp>
      <p:sp>
        <p:nvSpPr>
          <p:cNvPr id="8" name="Acceptance unknown&#10;Reply lost">
            <a:extLst xmlns:a="http://schemas.openxmlformats.org/drawingml/2006/main">
              <a:ext uri="{FF2B5EF4-FFF2-40B4-BE49-F238E27FC236}">
                <a16:creationId xmlns:a16="http://schemas.microsoft.com/office/drawing/2014/main" id="{B8E2DB12-5569-4B17-8DD6-E08B4C3079FD}"/>
              </a:ext>
            </a:extLst>
          </p:cNvPr>
          <p:cNvSpPr>
            <a:spLocks xmlns:a="http://schemas.openxmlformats.org/drawingml/2006/main" noGrp="1"/>
          </p:cNvSpPr>
          <p:nvPr/>
        </p:nvSpPr>
        <p:spPr>
          <a:xfrm xmlns:a="http://schemas.openxmlformats.org/drawingml/2006/main">
            <a:off x="609600" y="4086225"/>
            <a:ext cx="2857500" cy="990600"/>
          </a:xfrm>
          <a:prstGeom xmlns:a="http://schemas.openxmlformats.org/drawingml/2006/main" prst="rect">
            <a:avLst/>
          </a:prstGeom>
          <a:solidFill xmlns:a="http://schemas.openxmlformats.org/drawingml/2006/main">
            <a:srgbClr val="E3EFEC"/>
          </a:solidFill>
          <a:ln xmlns:a="http://schemas.openxmlformats.org/drawingml/2006/main" w="14288">
            <a:solidFill>
              <a:srgbClr val="9B582D"/>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Acceptance unknown</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Reply lost</a:t>
            </a:r>
          </a:p>
        </p:txBody>
      </p:sp>
      <p:sp>
        <p:nvSpPr>
          <p:cNvPr id="9" name="Disconnected&#10;Reservation retained">
            <a:extLst xmlns:a="http://schemas.openxmlformats.org/drawingml/2006/main">
              <a:ext uri="{FF2B5EF4-FFF2-40B4-BE49-F238E27FC236}">
                <a16:creationId xmlns:a16="http://schemas.microsoft.com/office/drawing/2014/main" id="{45B63386-FF5B-4678-BFF4-378702F4137C}"/>
              </a:ext>
            </a:extLst>
          </p:cNvPr>
          <p:cNvSpPr>
            <a:spLocks xmlns:a="http://schemas.openxmlformats.org/drawingml/2006/main" noGrp="1"/>
          </p:cNvSpPr>
          <p:nvPr/>
        </p:nvSpPr>
        <p:spPr>
          <a:xfrm xmlns:a="http://schemas.openxmlformats.org/drawingml/2006/main">
            <a:off x="4210050" y="4086225"/>
            <a:ext cx="3009900" cy="990600"/>
          </a:xfrm>
          <a:prstGeom xmlns:a="http://schemas.openxmlformats.org/drawingml/2006/main" prst="rect">
            <a:avLst/>
          </a:prstGeom>
          <a:solidFill xmlns:a="http://schemas.openxmlformats.org/drawingml/2006/main">
            <a:srgbClr val="E3EFEC"/>
          </a:solidFill>
          <a:ln xmlns:a="http://schemas.openxmlformats.org/drawingml/2006/main" w="14288">
            <a:solidFill>
              <a:srgbClr val="9B582D"/>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Disconnected</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Reservation retained</a:t>
            </a:r>
          </a:p>
        </p:txBody>
      </p:sp>
      <p:sp>
        <p:nvSpPr>
          <p:cNvPr id="10" name="Result submitted&#10;Origin reviews">
            <a:extLst xmlns:a="http://schemas.openxmlformats.org/drawingml/2006/main">
              <a:ext uri="{FF2B5EF4-FFF2-40B4-BE49-F238E27FC236}">
                <a16:creationId xmlns:a16="http://schemas.microsoft.com/office/drawing/2014/main" id="{E752B229-F52B-4C4D-B79D-BAB816508427}"/>
              </a:ext>
            </a:extLst>
          </p:cNvPr>
          <p:cNvSpPr>
            <a:spLocks xmlns:a="http://schemas.openxmlformats.org/drawingml/2006/main" noGrp="1"/>
          </p:cNvSpPr>
          <p:nvPr/>
        </p:nvSpPr>
        <p:spPr>
          <a:xfrm xmlns:a="http://schemas.openxmlformats.org/drawingml/2006/main">
            <a:off x="8686800" y="4086225"/>
            <a:ext cx="2895600" cy="9906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Result submitted</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Origin reviews</a:t>
            </a:r>
          </a:p>
        </p:txBody>
      </p:sp>
      <p:sp>
        <p:nvSpPr>
          <p:cNvPr id="14" name="A connectivity timeout never authorizes reassignment.">
            <a:extLst xmlns:a="http://schemas.openxmlformats.org/drawingml/2006/main">
              <a:ext uri="{FF2B5EF4-FFF2-40B4-BE49-F238E27FC236}">
                <a16:creationId xmlns:a16="http://schemas.microsoft.com/office/drawing/2014/main" id="{EC92CA07-985B-437F-9821-F5C9AC90F609}"/>
              </a:ext>
            </a:extLst>
          </p:cNvPr>
          <p:cNvSpPr>
            <a:spLocks xmlns:a="http://schemas.openxmlformats.org/drawingml/2006/main" noGrp="1"/>
          </p:cNvSpPr>
          <p:nvPr/>
        </p:nvSpPr>
        <p:spPr>
          <a:xfrm xmlns:a="http://schemas.openxmlformats.org/drawingml/2006/main">
            <a:off x="609600" y="530542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E83"/>
                </a:solidFill>
                <a:latin typeface="Arial"/>
                <a:ea typeface="Arial"/>
                <a:cs typeface="Arial"/>
              </a:defRPr>
            </a:defPPr>
          </a:lstStyle>
          <a:p xmlns:a="http://schemas.openxmlformats.org/drawingml/2006/main">
            <a:pPr algn="l">
              <a:buNone/>
              <a:defRPr sz="1800" b="1">
                <a:solidFill>
                  <a:srgbClr val="087E83"/>
                </a:solidFill>
                <a:latin typeface="Arial"/>
                <a:ea typeface="Arial"/>
                <a:cs typeface="Arial"/>
              </a:defRPr>
            </a:pPr>
            <a:r>
              <a:rPr sz="1800" b="1">
                <a:solidFill>
                  <a:srgbClr val="087E83"/>
                </a:solidFill>
                <a:latin typeface="Arial"/>
                <a:ea typeface="Arial"/>
                <a:cs typeface="Arial"/>
              </a:rPr>
              <a:t>A connectivity timeout never authorizes reassignment.</a:t>
            </a:r>
          </a:p>
        </p:txBody>
      </p:sp>
      <p:sp>
        <p:nvSpPr>
          <p:cNvPr id="15" name="Receiver may continue within its grant and reconcile the same delegati">
            <a:extLst xmlns:a="http://schemas.openxmlformats.org/drawingml/2006/main">
              <a:ext uri="{FF2B5EF4-FFF2-40B4-BE49-F238E27FC236}">
                <a16:creationId xmlns:a16="http://schemas.microsoft.com/office/drawing/2014/main" id="{A61C45C4-57E9-4885-B6E3-8DD69ABCEFA2}"/>
              </a:ext>
            </a:extLst>
          </p:cNvPr>
          <p:cNvSpPr>
            <a:spLocks xmlns:a="http://schemas.openxmlformats.org/drawingml/2006/main" noGrp="1"/>
          </p:cNvSpPr>
          <p:nvPr/>
        </p:nvSpPr>
        <p:spPr>
          <a:xfrm xmlns:a="http://schemas.openxmlformats.org/drawingml/2006/main">
            <a:off x="609600" y="578167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Receiver may continue within its grant and reconcile the same delegation after reconnect.</a:t>
            </a:r>
          </a:p>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Expired grants block new effects. Historical results remain available.</a:t>
            </a:r>
          </a:p>
        </p:txBody>
      </p:sp>
    </p:spTree>
    <p:extLst>
      <p:ext uri="{BB962C8B-B14F-4D97-AF65-F5344CB8AC3E}">
        <p14:creationId xmlns:p14="http://schemas.microsoft.com/office/powerpoint/2010/main" val="472732134"/>
      </p:ext>
    </p:extLst>
  </p:cSld>
</p:sld>
</file>

<file path=ppt/slides/slide1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4DCA47FC-0C11-4B59-AC47-D66D65F9941B}"/>
              </a:ext>
            </a:extLst>
          </p:cNvPr>
          <p:cNvCxnSpPr>
            <a:stCxn xmlns:a="http://schemas.openxmlformats.org/drawingml/2006/main" id="4" idx="3"/>
            <a:endCxn xmlns:a="http://schemas.openxmlformats.org/drawingml/2006/main" id="5" idx="1"/>
          </p:cNvCxnSpPr>
          <p:nvPr/>
        </p:nvCxnSpPr>
        <p:spPr>
          <a:xfrm xmlns:a="http://schemas.openxmlformats.org/drawingml/2006/main">
            <a:off x="6905625" y="2524125"/>
            <a:ext cx="104775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57B2E365-229F-4397-873F-1E149395A73A}"/>
              </a:ext>
            </a:extLst>
          </p:cNvPr>
          <p:cNvCxnSpPr>
            <a:stCxn xmlns:a="http://schemas.openxmlformats.org/drawingml/2006/main" id="3" idx="3"/>
            <a:endCxn xmlns:a="http://schemas.openxmlformats.org/drawingml/2006/main" id="4" idx="1"/>
          </p:cNvCxnSpPr>
          <p:nvPr/>
        </p:nvCxnSpPr>
        <p:spPr>
          <a:xfrm xmlns:a="http://schemas.openxmlformats.org/drawingml/2006/main">
            <a:off x="3028950" y="2524125"/>
            <a:ext cx="73342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3" name="Authorization at the work owner">
            <a:extLst xmlns:a="http://schemas.openxmlformats.org/drawingml/2006/main">
              <a:ext uri="{FF2B5EF4-FFF2-40B4-BE49-F238E27FC236}">
                <a16:creationId xmlns:a16="http://schemas.microsoft.com/office/drawing/2014/main" id="{4DF9E100-63FB-4807-B7AC-6C9C6D5716A0}"/>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Authorization at the work owner</a:t>
            </a:r>
          </a:p>
        </p:txBody>
      </p:sp>
      <p:sp>
        <p:nvSpPr>
          <p:cNvPr id="2" name="12">
            <a:extLst xmlns:a="http://schemas.openxmlformats.org/drawingml/2006/main">
              <a:ext uri="{FF2B5EF4-FFF2-40B4-BE49-F238E27FC236}">
                <a16:creationId xmlns:a16="http://schemas.microsoft.com/office/drawing/2014/main" id="{E0A1BDDA-1E0C-440E-A911-0666349D0CFA}"/>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15</a:t>
            </a:r>
          </a:p>
        </p:txBody>
      </p:sp>
      <p:sp>
        <p:nvSpPr>
          <p:cNvPr id="3" name="Validated caller">
            <a:extLst xmlns:a="http://schemas.openxmlformats.org/drawingml/2006/main">
              <a:ext uri="{FF2B5EF4-FFF2-40B4-BE49-F238E27FC236}">
                <a16:creationId xmlns:a16="http://schemas.microsoft.com/office/drawing/2014/main" id="{621A60C4-497E-48A3-95F8-8EDAB6A06480}"/>
              </a:ext>
            </a:extLst>
          </p:cNvPr>
          <p:cNvSpPr>
            <a:spLocks xmlns:a="http://schemas.openxmlformats.org/drawingml/2006/main" noGrp="1"/>
          </p:cNvSpPr>
          <p:nvPr/>
        </p:nvSpPr>
        <p:spPr>
          <a:xfrm xmlns:a="http://schemas.openxmlformats.org/drawingml/2006/main">
            <a:off x="609600" y="2038350"/>
            <a:ext cx="2419350" cy="9715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Validated caller</a:t>
            </a:r>
          </a:p>
        </p:txBody>
      </p:sp>
      <p:sp>
        <p:nvSpPr>
          <p:cNvPr id="4" name="Broker subject&#10;permissions">
            <a:extLst xmlns:a="http://schemas.openxmlformats.org/drawingml/2006/main">
              <a:ext uri="{FF2B5EF4-FFF2-40B4-BE49-F238E27FC236}">
                <a16:creationId xmlns:a16="http://schemas.microsoft.com/office/drawing/2014/main" id="{A1E35EAB-5EC7-4DDA-A0E0-AA57F637D80A}"/>
              </a:ext>
            </a:extLst>
          </p:cNvPr>
          <p:cNvSpPr>
            <a:spLocks xmlns:a="http://schemas.openxmlformats.org/drawingml/2006/main" noGrp="1"/>
          </p:cNvSpPr>
          <p:nvPr/>
        </p:nvSpPr>
        <p:spPr>
          <a:xfrm xmlns:a="http://schemas.openxmlformats.org/drawingml/2006/main">
            <a:off x="3762375" y="2038350"/>
            <a:ext cx="3143250" cy="9715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Broker subject</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permissions</a:t>
            </a:r>
          </a:p>
        </p:txBody>
      </p:sp>
      <p:sp>
        <p:nvSpPr>
          <p:cNvPr id="5" name="Authoritative owner&#10;checks and transition">
            <a:extLst xmlns:a="http://schemas.openxmlformats.org/drawingml/2006/main">
              <a:ext uri="{FF2B5EF4-FFF2-40B4-BE49-F238E27FC236}">
                <a16:creationId xmlns:a16="http://schemas.microsoft.com/office/drawing/2014/main" id="{92C1B938-1F71-4459-8DBB-49F5B5367A25}"/>
              </a:ext>
            </a:extLst>
          </p:cNvPr>
          <p:cNvSpPr>
            <a:spLocks xmlns:a="http://schemas.openxmlformats.org/drawingml/2006/main" noGrp="1"/>
          </p:cNvSpPr>
          <p:nvPr/>
        </p:nvSpPr>
        <p:spPr>
          <a:xfrm xmlns:a="http://schemas.openxmlformats.org/drawingml/2006/main">
            <a:off x="7953375" y="2038350"/>
            <a:ext cx="3629025" cy="9715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Authoritative owner</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checks and transition</a:t>
            </a:r>
          </a:p>
        </p:txBody>
      </p:sp>
      <p:sp>
        <p:nvSpPr>
          <p:cNvPr id="8" name="Revalidation">
            <a:extLst xmlns:a="http://schemas.openxmlformats.org/drawingml/2006/main">
              <a:ext uri="{FF2B5EF4-FFF2-40B4-BE49-F238E27FC236}">
                <a16:creationId xmlns:a16="http://schemas.microsoft.com/office/drawing/2014/main" id="{0C73DDAF-7758-441C-82A0-5DB529B967AC}"/>
              </a:ext>
            </a:extLst>
          </p:cNvPr>
          <p:cNvSpPr>
            <a:spLocks xmlns:a="http://schemas.openxmlformats.org/drawingml/2006/main" noGrp="1"/>
          </p:cNvSpPr>
          <p:nvPr/>
        </p:nvSpPr>
        <p:spPr>
          <a:xfrm xmlns:a="http://schemas.openxmlformats.org/drawingml/2006/main">
            <a:off x="609600" y="36385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Revalidation</a:t>
            </a:r>
          </a:p>
        </p:txBody>
      </p:sp>
      <p:sp>
        <p:nvSpPr>
          <p:cNvPr id="9" name="Current grants, task version, approval and artifact identity">
            <a:extLst xmlns:a="http://schemas.openxmlformats.org/drawingml/2006/main">
              <a:ext uri="{FF2B5EF4-FFF2-40B4-BE49-F238E27FC236}">
                <a16:creationId xmlns:a16="http://schemas.microsoft.com/office/drawing/2014/main" id="{05628B5C-92AE-4AF9-82D2-3918A3B7750B}"/>
              </a:ext>
            </a:extLst>
          </p:cNvPr>
          <p:cNvSpPr>
            <a:spLocks xmlns:a="http://schemas.openxmlformats.org/drawingml/2006/main" noGrp="1"/>
          </p:cNvSpPr>
          <p:nvPr/>
        </p:nvSpPr>
        <p:spPr>
          <a:xfrm xmlns:a="http://schemas.openxmlformats.org/drawingml/2006/main">
            <a:off x="609600" y="4010025"/>
            <a:ext cx="1076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Current grants, task version, approval and artifact identity</a:t>
            </a:r>
          </a:p>
        </p:txBody>
      </p:sp>
      <p:sp>
        <p:nvSpPr>
          <p:cNvPr id="10" name="Policy outcomes">
            <a:extLst xmlns:a="http://schemas.openxmlformats.org/drawingml/2006/main">
              <a:ext uri="{FF2B5EF4-FFF2-40B4-BE49-F238E27FC236}">
                <a16:creationId xmlns:a16="http://schemas.microsoft.com/office/drawing/2014/main" id="{CCE42C26-08AA-434B-91CD-E02C0DCD788C}"/>
              </a:ext>
            </a:extLst>
          </p:cNvPr>
          <p:cNvSpPr>
            <a:spLocks xmlns:a="http://schemas.openxmlformats.org/drawingml/2006/main" noGrp="1"/>
          </p:cNvSpPr>
          <p:nvPr/>
        </p:nvSpPr>
        <p:spPr>
          <a:xfrm xmlns:a="http://schemas.openxmlformats.org/drawingml/2006/main">
            <a:off x="609600" y="45720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Policy outcomes</a:t>
            </a:r>
          </a:p>
        </p:txBody>
      </p:sp>
      <p:sp>
        <p:nvSpPr>
          <p:cNvPr id="11" name="Allow, hard deny or review required. Approval cannot override a hard d">
            <a:extLst xmlns:a="http://schemas.openxmlformats.org/drawingml/2006/main">
              <a:ext uri="{FF2B5EF4-FFF2-40B4-BE49-F238E27FC236}">
                <a16:creationId xmlns:a16="http://schemas.microsoft.com/office/drawing/2014/main" id="{BA0FA406-DED6-4D0A-926F-C23FC065C280}"/>
              </a:ext>
            </a:extLst>
          </p:cNvPr>
          <p:cNvSpPr>
            <a:spLocks xmlns:a="http://schemas.openxmlformats.org/drawingml/2006/main" noGrp="1"/>
          </p:cNvSpPr>
          <p:nvPr/>
        </p:nvSpPr>
        <p:spPr>
          <a:xfrm xmlns:a="http://schemas.openxmlformats.org/drawingml/2006/main">
            <a:off x="609600" y="4943475"/>
            <a:ext cx="1076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Allow, hard deny or review required. Approval cannot override a hard denial.</a:t>
            </a:r>
          </a:p>
        </p:txBody>
      </p:sp>
      <p:sp>
        <p:nvSpPr>
          <p:cNvPr id="12" name="Launch isolates worker code. P14 separately qualifies untrusted third-">
            <a:extLst xmlns:a="http://schemas.openxmlformats.org/drawingml/2006/main">
              <a:ext uri="{FF2B5EF4-FFF2-40B4-BE49-F238E27FC236}">
                <a16:creationId xmlns:a16="http://schemas.microsoft.com/office/drawing/2014/main" id="{462631AD-F16A-4CD2-BD94-965F08527BBC}"/>
              </a:ext>
            </a:extLst>
          </p:cNvPr>
          <p:cNvSpPr>
            <a:spLocks xmlns:a="http://schemas.openxmlformats.org/drawingml/2006/main" noGrp="1"/>
          </p:cNvSpPr>
          <p:nvPr/>
        </p:nvSpPr>
        <p:spPr>
          <a:xfrm xmlns:a="http://schemas.openxmlformats.org/drawingml/2006/main">
            <a:off x="609600" y="59340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Launch isolates worker code. P14 separately qualifies untrusted third-party plugins.</a:t>
            </a:r>
          </a:p>
        </p:txBody>
      </p:sp>
    </p:spTree>
    <p:extLst>
      <p:ext uri="{BB962C8B-B14F-4D97-AF65-F5344CB8AC3E}">
        <p14:creationId xmlns:p14="http://schemas.microsoft.com/office/powerpoint/2010/main" val="1734214708"/>
      </p:ext>
    </p:extLst>
  </p:cSld>
</p:sld>
</file>

<file path=ppt/slides/slide1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7E0026F7-F6A8-4027-B31F-4F024CC63022}"/>
              </a:ext>
            </a:extLst>
          </p:cNvPr>
          <p:cNvCxnSpPr>
            <a:stCxn xmlns:a="http://schemas.openxmlformats.org/drawingml/2006/main" id="4" idx="3"/>
            <a:endCxn xmlns:a="http://schemas.openxmlformats.org/drawingml/2006/main" id="5" idx="1"/>
          </p:cNvCxnSpPr>
          <p:nvPr/>
        </p:nvCxnSpPr>
        <p:spPr>
          <a:xfrm xmlns:a="http://schemas.openxmlformats.org/drawingml/2006/main">
            <a:off x="7419975" y="2419350"/>
            <a:ext cx="971550" cy="0"/>
          </a:xfrm>
          <a:prstGeom xmlns:a="http://schemas.openxmlformats.org/drawingml/2006/main" prst="straightConnector1">
            <a:avLst/>
          </a:prstGeom>
          <a:ln xmlns:a="http://schemas.openxmlformats.org/drawingml/2006/main" w="20955">
            <a:solidFill>
              <a:srgbClr val="087E83"/>
            </a:solidFill>
            <a:prstDash val="solid"/>
            <a:headEnd type="triangle" w="med" len="med"/>
            <a:tailEnd type="triangle" w="med" len="med"/>
          </a:ln>
        </p:spPr>
      </p:cxnSp>
      <p:cxnSp>
        <p:nvCxnSpPr>
          <p:cNvPr id="6" name="">
            <a:extLst xmlns:a="http://schemas.openxmlformats.org/drawingml/2006/main">
              <a:ext uri="{FF2B5EF4-FFF2-40B4-BE49-F238E27FC236}">
                <a16:creationId xmlns:a16="http://schemas.microsoft.com/office/drawing/2014/main" id="{2F4CFAA7-1DF8-406C-853E-0974C377E1FA}"/>
              </a:ext>
            </a:extLst>
          </p:cNvPr>
          <p:cNvCxnSpPr>
            <a:stCxn xmlns:a="http://schemas.openxmlformats.org/drawingml/2006/main" id="3" idx="3"/>
            <a:endCxn xmlns:a="http://schemas.openxmlformats.org/drawingml/2006/main" id="4" idx="1"/>
          </p:cNvCxnSpPr>
          <p:nvPr/>
        </p:nvCxnSpPr>
        <p:spPr>
          <a:xfrm xmlns:a="http://schemas.openxmlformats.org/drawingml/2006/main">
            <a:off x="3343275" y="2419350"/>
            <a:ext cx="895350" cy="0"/>
          </a:xfrm>
          <a:prstGeom xmlns:a="http://schemas.openxmlformats.org/drawingml/2006/main" prst="straightConnector1">
            <a:avLst/>
          </a:prstGeom>
          <a:ln xmlns:a="http://schemas.openxmlformats.org/drawingml/2006/main" w="20955">
            <a:solidFill>
              <a:srgbClr val="087E83"/>
            </a:solidFill>
            <a:prstDash val="solid"/>
            <a:headEnd type="triangle" w="med" len="med"/>
            <a:tailEnd type="triangle" w="med" len="med"/>
          </a:ln>
        </p:spPr>
      </p:cxnSp>
      <p:sp>
        <p:nvSpPr>
          <p:cNvPr id="15" name="AG-UI dashboard projection">
            <a:extLst xmlns:a="http://schemas.openxmlformats.org/drawingml/2006/main">
              <a:ext uri="{FF2B5EF4-FFF2-40B4-BE49-F238E27FC236}">
                <a16:creationId xmlns:a16="http://schemas.microsoft.com/office/drawing/2014/main" id="{83DF16E0-89E7-46B3-9A3E-8F2E4194C030}"/>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Existing dashboard with AG-UI</a:t>
            </a:r>
          </a:p>
        </p:txBody>
      </p:sp>
      <p:sp>
        <p:nvSpPr>
          <p:cNvPr id="2" name="13">
            <a:extLst xmlns:a="http://schemas.openxmlformats.org/drawingml/2006/main">
              <a:ext uri="{FF2B5EF4-FFF2-40B4-BE49-F238E27FC236}">
                <a16:creationId xmlns:a16="http://schemas.microsoft.com/office/drawing/2014/main" id="{0172FE18-E8F8-4DF8-AF80-A9C1D6B07CD4}"/>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16</a:t>
            </a:r>
          </a:p>
        </p:txBody>
      </p:sp>
      <p:sp>
        <p:nvSpPr>
          <p:cNvPr id="3" name="NATS records&#10;and events">
            <a:extLst xmlns:a="http://schemas.openxmlformats.org/drawingml/2006/main">
              <a:ext uri="{FF2B5EF4-FFF2-40B4-BE49-F238E27FC236}">
                <a16:creationId xmlns:a16="http://schemas.microsoft.com/office/drawing/2014/main" id="{49CC2B01-061E-4FE6-8C61-C9B0D7DC7B02}"/>
              </a:ext>
            </a:extLst>
          </p:cNvPr>
          <p:cNvSpPr>
            <a:spLocks xmlns:a="http://schemas.openxmlformats.org/drawingml/2006/main" noGrp="1"/>
          </p:cNvSpPr>
          <p:nvPr/>
        </p:nvSpPr>
        <p:spPr>
          <a:xfrm xmlns:a="http://schemas.openxmlformats.org/drawingml/2006/main">
            <a:off x="609600" y="1943100"/>
            <a:ext cx="2733675" cy="9525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NATS records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events</a:t>
            </a:r>
          </a:p>
        </p:txBody>
      </p:sp>
      <p:sp>
        <p:nvSpPr>
          <p:cNvPr id="4" name="Authorized&#10;interface plugin">
            <a:extLst xmlns:a="http://schemas.openxmlformats.org/drawingml/2006/main">
              <a:ext uri="{FF2B5EF4-FFF2-40B4-BE49-F238E27FC236}">
                <a16:creationId xmlns:a16="http://schemas.microsoft.com/office/drawing/2014/main" id="{485729CA-60E9-4EA5-B561-138FF81B849A}"/>
              </a:ext>
            </a:extLst>
          </p:cNvPr>
          <p:cNvSpPr>
            <a:spLocks xmlns:a="http://schemas.openxmlformats.org/drawingml/2006/main" noGrp="1"/>
          </p:cNvSpPr>
          <p:nvPr/>
        </p:nvSpPr>
        <p:spPr>
          <a:xfrm xmlns:a="http://schemas.openxmlformats.org/drawingml/2006/main">
            <a:off x="4238625" y="1943100"/>
            <a:ext cx="3181350" cy="9525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Authorized</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interface plugin</a:t>
            </a:r>
          </a:p>
        </p:txBody>
      </p:sp>
      <p:sp>
        <p:nvSpPr>
          <p:cNvPr id="5" name="AG-UI&#10;CopilotKit dashboard">
            <a:extLst xmlns:a="http://schemas.openxmlformats.org/drawingml/2006/main">
              <a:ext uri="{FF2B5EF4-FFF2-40B4-BE49-F238E27FC236}">
                <a16:creationId xmlns:a16="http://schemas.microsoft.com/office/drawing/2014/main" id="{15247F5A-7333-4587-9DC9-186F3714F50D}"/>
              </a:ext>
            </a:extLst>
          </p:cNvPr>
          <p:cNvSpPr>
            <a:spLocks xmlns:a="http://schemas.openxmlformats.org/drawingml/2006/main" noGrp="1"/>
          </p:cNvSpPr>
          <p:nvPr/>
        </p:nvSpPr>
        <p:spPr>
          <a:xfrm xmlns:a="http://schemas.openxmlformats.org/drawingml/2006/main">
            <a:off x="8391525" y="1943100"/>
            <a:ext cx="3190875" cy="9525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AG-UI</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CopilotKit dashboard</a:t>
            </a:r>
          </a:p>
        </p:txBody>
      </p:sp>
      <p:sp>
        <p:nvSpPr>
          <p:cNvPr id="8" name="Plans and tasks">
            <a:extLst xmlns:a="http://schemas.openxmlformats.org/drawingml/2006/main">
              <a:ext uri="{FF2B5EF4-FFF2-40B4-BE49-F238E27FC236}">
                <a16:creationId xmlns:a16="http://schemas.microsoft.com/office/drawing/2014/main" id="{00F3C137-979F-417E-9759-9F5ADEDFAE8C}"/>
              </a:ext>
            </a:extLst>
          </p:cNvPr>
          <p:cNvSpPr>
            <a:spLocks xmlns:a="http://schemas.openxmlformats.org/drawingml/2006/main" noGrp="1"/>
          </p:cNvSpPr>
          <p:nvPr/>
        </p:nvSpPr>
        <p:spPr>
          <a:xfrm xmlns:a="http://schemas.openxmlformats.org/drawingml/2006/main">
            <a:off x="609600" y="384810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E83"/>
                </a:solidFill>
                <a:latin typeface="Arial"/>
                <a:ea typeface="Arial"/>
                <a:cs typeface="Arial"/>
              </a:defRPr>
            </a:defPPr>
          </a:lstStyle>
          <a:p xmlns:a="http://schemas.openxmlformats.org/drawingml/2006/main">
            <a:pPr algn="l">
              <a:buNone/>
              <a:defRPr sz="2250" b="1">
                <a:solidFill>
                  <a:srgbClr val="087E83"/>
                </a:solidFill>
                <a:latin typeface="Arial"/>
                <a:ea typeface="Arial"/>
                <a:cs typeface="Arial"/>
              </a:defRPr>
            </a:pPr>
            <a:r>
              <a:rPr sz="2250" b="1">
                <a:solidFill>
                  <a:srgbClr val="087E83"/>
                </a:solidFill>
                <a:latin typeface="Arial"/>
                <a:ea typeface="Arial"/>
                <a:cs typeface="Arial"/>
              </a:rPr>
              <a:t>Plans and tasks</a:t>
            </a:r>
          </a:p>
        </p:txBody>
      </p:sp>
      <p:sp>
        <p:nvSpPr>
          <p:cNvPr id="9" name="Work, agents and evidence">
            <a:extLst xmlns:a="http://schemas.openxmlformats.org/drawingml/2006/main">
              <a:ext uri="{FF2B5EF4-FFF2-40B4-BE49-F238E27FC236}">
                <a16:creationId xmlns:a16="http://schemas.microsoft.com/office/drawing/2014/main" id="{5158C819-B034-4D53-9981-91C2845042D9}"/>
              </a:ext>
            </a:extLst>
          </p:cNvPr>
          <p:cNvSpPr>
            <a:spLocks xmlns:a="http://schemas.openxmlformats.org/drawingml/2006/main" noGrp="1"/>
          </p:cNvSpPr>
          <p:nvPr/>
        </p:nvSpPr>
        <p:spPr>
          <a:xfrm xmlns:a="http://schemas.openxmlformats.org/drawingml/2006/main">
            <a:off x="609600" y="4314825"/>
            <a:ext cx="542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Work, agents and evidence</a:t>
            </a:r>
          </a:p>
        </p:txBody>
      </p:sp>
      <p:sp>
        <p:nvSpPr>
          <p:cNvPr id="10" name="Agent conversations">
            <a:extLst xmlns:a="http://schemas.openxmlformats.org/drawingml/2006/main">
              <a:ext uri="{FF2B5EF4-FFF2-40B4-BE49-F238E27FC236}">
                <a16:creationId xmlns:a16="http://schemas.microsoft.com/office/drawing/2014/main" id="{DC5AED1D-ACB0-4835-8250-CC38D5F8B49B}"/>
              </a:ext>
            </a:extLst>
          </p:cNvPr>
          <p:cNvSpPr>
            <a:spLocks xmlns:a="http://schemas.openxmlformats.org/drawingml/2006/main" noGrp="1"/>
          </p:cNvSpPr>
          <p:nvPr/>
        </p:nvSpPr>
        <p:spPr>
          <a:xfrm xmlns:a="http://schemas.openxmlformats.org/drawingml/2006/main">
            <a:off x="609600" y="4781550"/>
            <a:ext cx="5286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Agent conversations</a:t>
            </a:r>
          </a:p>
        </p:txBody>
      </p:sp>
      <p:sp>
        <p:nvSpPr>
          <p:cNvPr id="11" name="Snapshots and ordered updates">
            <a:extLst xmlns:a="http://schemas.openxmlformats.org/drawingml/2006/main">
              <a:ext uri="{FF2B5EF4-FFF2-40B4-BE49-F238E27FC236}">
                <a16:creationId xmlns:a16="http://schemas.microsoft.com/office/drawing/2014/main" id="{71204D2D-7EE8-4C27-8CF9-A8AE35B1F3D4}"/>
              </a:ext>
            </a:extLst>
          </p:cNvPr>
          <p:cNvSpPr>
            <a:spLocks xmlns:a="http://schemas.openxmlformats.org/drawingml/2006/main" noGrp="1"/>
          </p:cNvSpPr>
          <p:nvPr/>
        </p:nvSpPr>
        <p:spPr>
          <a:xfrm xmlns:a="http://schemas.openxmlformats.org/drawingml/2006/main">
            <a:off x="6400800" y="384810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E83"/>
                </a:solidFill>
                <a:latin typeface="Arial"/>
                <a:ea typeface="Arial"/>
                <a:cs typeface="Arial"/>
              </a:defRPr>
            </a:defPPr>
          </a:lstStyle>
          <a:p xmlns:a="http://schemas.openxmlformats.org/drawingml/2006/main">
            <a:pPr algn="l">
              <a:buNone/>
              <a:defRPr sz="2250" b="1">
                <a:solidFill>
                  <a:srgbClr val="087E83"/>
                </a:solidFill>
                <a:latin typeface="Arial"/>
                <a:ea typeface="Arial"/>
                <a:cs typeface="Arial"/>
              </a:defRPr>
            </a:pPr>
            <a:r>
              <a:rPr sz="2250" b="1">
                <a:solidFill>
                  <a:srgbClr val="087E83"/>
                </a:solidFill>
                <a:latin typeface="Arial"/>
                <a:ea typeface="Arial"/>
                <a:cs typeface="Arial"/>
              </a:rPr>
              <a:t>Snapshots and ordered updates</a:t>
            </a:r>
          </a:p>
        </p:txBody>
      </p:sp>
      <p:sp>
        <p:nvSpPr>
          <p:cNvPr id="12" name="Reconnect and missing-history recovery">
            <a:extLst xmlns:a="http://schemas.openxmlformats.org/drawingml/2006/main">
              <a:ext uri="{FF2B5EF4-FFF2-40B4-BE49-F238E27FC236}">
                <a16:creationId xmlns:a16="http://schemas.microsoft.com/office/drawing/2014/main" id="{66154B2A-34D2-4A67-ADDA-6F6F28EFEA2C}"/>
              </a:ext>
            </a:extLst>
          </p:cNvPr>
          <p:cNvSpPr>
            <a:spLocks xmlns:a="http://schemas.openxmlformats.org/drawingml/2006/main" noGrp="1"/>
          </p:cNvSpPr>
          <p:nvPr/>
        </p:nvSpPr>
        <p:spPr>
          <a:xfrm xmlns:a="http://schemas.openxmlformats.org/drawingml/2006/main">
            <a:off x="6400800" y="4314825"/>
            <a:ext cx="5181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Reconnect and missing-history recovery</a:t>
            </a:r>
          </a:p>
        </p:txBody>
      </p:sp>
      <p:sp>
        <p:nvSpPr>
          <p:cNvPr id="13" name="Atoms, molecules, organisms, templates">
            <a:extLst xmlns:a="http://schemas.openxmlformats.org/drawingml/2006/main">
              <a:ext uri="{FF2B5EF4-FFF2-40B4-BE49-F238E27FC236}">
                <a16:creationId xmlns:a16="http://schemas.microsoft.com/office/drawing/2014/main" id="{12823547-2841-49D6-95BA-E419F82AFB39}"/>
              </a:ext>
            </a:extLst>
          </p:cNvPr>
          <p:cNvSpPr>
            <a:spLocks xmlns:a="http://schemas.openxmlformats.org/drawingml/2006/main" noGrp="1"/>
          </p:cNvSpPr>
          <p:nvPr/>
        </p:nvSpPr>
        <p:spPr>
          <a:xfrm xmlns:a="http://schemas.openxmlformats.org/drawingml/2006/main">
            <a:off x="6400800" y="5191125"/>
            <a:ext cx="5181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3747"/>
                </a:solidFill>
                <a:latin typeface="Arial"/>
                <a:ea typeface="Arial"/>
                <a:cs typeface="Arial"/>
              </a:defRPr>
            </a:defPPr>
          </a:lstStyle>
          <a:p xmlns:a="http://schemas.openxmlformats.org/drawingml/2006/main">
            <a:pPr algn="l">
              <a:buNone/>
              <a:defRPr sz="1800" b="0">
                <a:solidFill>
                  <a:srgbClr val="203747"/>
                </a:solidFill>
                <a:latin typeface="Arial"/>
                <a:ea typeface="Arial"/>
                <a:cs typeface="Arial"/>
              </a:defRPr>
            </a:pPr>
            <a:r>
              <a:rPr sz="1800" b="0">
                <a:solidFill>
                  <a:srgbClr val="203747"/>
                </a:solidFill>
                <a:latin typeface="Arial"/>
                <a:ea typeface="Arial"/>
                <a:cs typeface="Arial"/>
              </a:rPr>
              <a:t>Atoms, molecules, organisms, templates</a:t>
            </a:r>
          </a:p>
        </p:txBody>
      </p:sp>
      <p:sp>
        <p:nvSpPr>
          <p:cNvPr id="14" name="Dashboard actions remain a P00 scope decision. Any enabled command ret">
            <a:extLst xmlns:a="http://schemas.openxmlformats.org/drawingml/2006/main">
              <a:ext uri="{FF2B5EF4-FFF2-40B4-BE49-F238E27FC236}">
                <a16:creationId xmlns:a16="http://schemas.microsoft.com/office/drawing/2014/main" id="{9F8F1F2B-242A-4CDF-88F6-07CD9B49A60C}"/>
              </a:ext>
            </a:extLst>
          </p:cNvPr>
          <p:cNvSpPr>
            <a:spLocks xmlns:a="http://schemas.openxmlformats.org/drawingml/2006/main" noGrp="1"/>
          </p:cNvSpPr>
          <p:nvPr/>
        </p:nvSpPr>
        <p:spPr>
          <a:xfrm xmlns:a="http://schemas.openxmlformats.org/drawingml/2006/main">
            <a:off x="609600" y="59912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Preserve existing views and actions. Any changed command scope requires explicit review.</a:t>
            </a:r>
          </a:p>
        </p:txBody>
      </p:sp>
    </p:spTree>
    <p:extLst>
      <p:ext uri="{BB962C8B-B14F-4D97-AF65-F5344CB8AC3E}">
        <p14:creationId xmlns:p14="http://schemas.microsoft.com/office/powerpoint/2010/main" val="794696615"/>
      </p:ext>
    </p:extLst>
  </p:cSld>
</p:sld>
</file>

<file path=ppt/slides/slide1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834001AC-2DDC-48E7-B2EA-777051E2D846}"/>
              </a:ext>
            </a:extLst>
          </p:cNvPr>
          <p:cNvCxnSpPr>
            <a:stCxn xmlns:a="http://schemas.openxmlformats.org/drawingml/2006/main" id="9" idx="1"/>
            <a:endCxn xmlns:a="http://schemas.openxmlformats.org/drawingml/2006/main" id="10" idx="3"/>
          </p:cNvCxnSpPr>
          <p:nvPr/>
        </p:nvCxnSpPr>
        <p:spPr>
          <a:xfrm xmlns:a="http://schemas.openxmlformats.org/drawingml/2006/main" flipH="1">
            <a:off x="3609975" y="4705350"/>
            <a:ext cx="97155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A8132F80-EC41-4784-9F29-E8B203F49D52}"/>
              </a:ext>
            </a:extLst>
          </p:cNvPr>
          <p:cNvCxnSpPr>
            <a:stCxn xmlns:a="http://schemas.openxmlformats.org/drawingml/2006/main" id="8" idx="1"/>
            <a:endCxn xmlns:a="http://schemas.openxmlformats.org/drawingml/2006/main" id="9" idx="3"/>
          </p:cNvCxnSpPr>
          <p:nvPr/>
        </p:nvCxnSpPr>
        <p:spPr>
          <a:xfrm xmlns:a="http://schemas.openxmlformats.org/drawingml/2006/main" flipH="1">
            <a:off x="7581900" y="4705350"/>
            <a:ext cx="100012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AFBAC9E0-B1D1-47C9-A525-6F530F869FB4}"/>
              </a:ext>
            </a:extLst>
          </p:cNvPr>
          <p:cNvCxnSpPr>
            <a:stCxn xmlns:a="http://schemas.openxmlformats.org/drawingml/2006/main" id="5" idx="2"/>
            <a:endCxn xmlns:a="http://schemas.openxmlformats.org/drawingml/2006/main" id="8" idx="0"/>
          </p:cNvCxnSpPr>
          <p:nvPr/>
        </p:nvCxnSpPr>
        <p:spPr>
          <a:xfrm xmlns:a="http://schemas.openxmlformats.org/drawingml/2006/main">
            <a:off x="10082213" y="2838450"/>
            <a:ext cx="0" cy="1343025"/>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318C14B6-424B-44D2-8884-990120756668}"/>
              </a:ext>
            </a:extLst>
          </p:cNvPr>
          <p:cNvCxnSpPr>
            <a:stCxn xmlns:a="http://schemas.openxmlformats.org/drawingml/2006/main" id="4" idx="3"/>
            <a:endCxn xmlns:a="http://schemas.openxmlformats.org/drawingml/2006/main" id="5" idx="1"/>
          </p:cNvCxnSpPr>
          <p:nvPr/>
        </p:nvCxnSpPr>
        <p:spPr>
          <a:xfrm xmlns:a="http://schemas.openxmlformats.org/drawingml/2006/main">
            <a:off x="7581900" y="2366963"/>
            <a:ext cx="100012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191463AB-3DCC-4825-8B0C-31A4BB8CEC71}"/>
              </a:ext>
            </a:extLst>
          </p:cNvPr>
          <p:cNvCxnSpPr>
            <a:stCxn xmlns:a="http://schemas.openxmlformats.org/drawingml/2006/main" id="3" idx="3"/>
            <a:endCxn xmlns:a="http://schemas.openxmlformats.org/drawingml/2006/main" id="4" idx="1"/>
          </p:cNvCxnSpPr>
          <p:nvPr/>
        </p:nvCxnSpPr>
        <p:spPr>
          <a:xfrm xmlns:a="http://schemas.openxmlformats.org/drawingml/2006/main">
            <a:off x="3609975" y="2366963"/>
            <a:ext cx="97155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5" name="Optional Jev decision pipeline">
            <a:extLst xmlns:a="http://schemas.openxmlformats.org/drawingml/2006/main">
              <a:ext uri="{FF2B5EF4-FFF2-40B4-BE49-F238E27FC236}">
                <a16:creationId xmlns:a16="http://schemas.microsoft.com/office/drawing/2014/main" id="{D399DEA9-FA06-4EC5-98AA-AF6B7247B4F4}"/>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Optional Jev decision pipeline</a:t>
            </a:r>
          </a:p>
        </p:txBody>
      </p:sp>
      <p:sp>
        <p:nvSpPr>
          <p:cNvPr id="2" name="14">
            <a:extLst xmlns:a="http://schemas.openxmlformats.org/drawingml/2006/main">
              <a:ext uri="{FF2B5EF4-FFF2-40B4-BE49-F238E27FC236}">
                <a16:creationId xmlns:a16="http://schemas.microsoft.com/office/drawing/2014/main" id="{A9E2995A-18EB-4ABE-9ACD-AB365884DE36}"/>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17</a:t>
            </a:r>
          </a:p>
        </p:txBody>
      </p:sp>
      <p:sp>
        <p:nvSpPr>
          <p:cNvPr id="3" name="Exact eligibility&#10;and export policy">
            <a:extLst xmlns:a="http://schemas.openxmlformats.org/drawingml/2006/main">
              <a:ext uri="{FF2B5EF4-FFF2-40B4-BE49-F238E27FC236}">
                <a16:creationId xmlns:a16="http://schemas.microsoft.com/office/drawing/2014/main" id="{E8BAE7AA-AD68-428F-9763-7338F9F29C6D}"/>
              </a:ext>
            </a:extLst>
          </p:cNvPr>
          <p:cNvSpPr>
            <a:spLocks xmlns:a="http://schemas.openxmlformats.org/drawingml/2006/main" noGrp="1"/>
          </p:cNvSpPr>
          <p:nvPr/>
        </p:nvSpPr>
        <p:spPr>
          <a:xfrm xmlns:a="http://schemas.openxmlformats.org/drawingml/2006/main">
            <a:off x="609600" y="1895475"/>
            <a:ext cx="3000375" cy="9429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Exact eligibility</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export policy</a:t>
            </a:r>
          </a:p>
        </p:txBody>
      </p:sp>
      <p:sp>
        <p:nvSpPr>
          <p:cNvPr id="4" name="Bounded evidence&#10;and versioned question">
            <a:extLst xmlns:a="http://schemas.openxmlformats.org/drawingml/2006/main">
              <a:ext uri="{FF2B5EF4-FFF2-40B4-BE49-F238E27FC236}">
                <a16:creationId xmlns:a16="http://schemas.microsoft.com/office/drawing/2014/main" id="{256B4314-BB9A-490C-885B-7A2B3ECE1562}"/>
              </a:ext>
            </a:extLst>
          </p:cNvPr>
          <p:cNvSpPr>
            <a:spLocks xmlns:a="http://schemas.openxmlformats.org/drawingml/2006/main" noGrp="1"/>
          </p:cNvSpPr>
          <p:nvPr/>
        </p:nvSpPr>
        <p:spPr>
          <a:xfrm xmlns:a="http://schemas.openxmlformats.org/drawingml/2006/main">
            <a:off x="4581525" y="1895475"/>
            <a:ext cx="3000375" cy="9429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Bounded evidence</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versioned question</a:t>
            </a:r>
          </a:p>
        </p:txBody>
      </p:sp>
      <p:sp>
        <p:nvSpPr>
          <p:cNvPr id="5" name="Optional Jev&#10;decision">
            <a:extLst xmlns:a="http://schemas.openxmlformats.org/drawingml/2006/main">
              <a:ext uri="{FF2B5EF4-FFF2-40B4-BE49-F238E27FC236}">
                <a16:creationId xmlns:a16="http://schemas.microsoft.com/office/drawing/2014/main" id="{FA79AF79-7D97-44CF-BA29-D4E6FD2276F9}"/>
              </a:ext>
            </a:extLst>
          </p:cNvPr>
          <p:cNvSpPr>
            <a:spLocks xmlns:a="http://schemas.openxmlformats.org/drawingml/2006/main" noGrp="1"/>
          </p:cNvSpPr>
          <p:nvPr/>
        </p:nvSpPr>
        <p:spPr>
          <a:xfrm xmlns:a="http://schemas.openxmlformats.org/drawingml/2006/main">
            <a:off x="8582025" y="1895475"/>
            <a:ext cx="3000375" cy="9429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Optional Jev</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decision</a:t>
            </a:r>
          </a:p>
        </p:txBody>
      </p:sp>
      <p:sp>
        <p:nvSpPr>
          <p:cNvPr id="8" name="Deterministic policy&#10;and revalidation">
            <a:extLst xmlns:a="http://schemas.openxmlformats.org/drawingml/2006/main">
              <a:ext uri="{FF2B5EF4-FFF2-40B4-BE49-F238E27FC236}">
                <a16:creationId xmlns:a16="http://schemas.microsoft.com/office/drawing/2014/main" id="{95FC6B1E-3606-4B16-BA52-1920DEFD98DC}"/>
              </a:ext>
            </a:extLst>
          </p:cNvPr>
          <p:cNvSpPr>
            <a:spLocks xmlns:a="http://schemas.openxmlformats.org/drawingml/2006/main" noGrp="1"/>
          </p:cNvSpPr>
          <p:nvPr/>
        </p:nvSpPr>
        <p:spPr>
          <a:xfrm xmlns:a="http://schemas.openxmlformats.org/drawingml/2006/main">
            <a:off x="8582025" y="4181475"/>
            <a:ext cx="3000375" cy="10477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Deterministic policy</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revalidation</a:t>
            </a:r>
          </a:p>
        </p:txBody>
      </p:sp>
      <p:sp>
        <p:nvSpPr>
          <p:cNvPr id="9" name="Authorized owner&#10;executes or abstains">
            <a:extLst xmlns:a="http://schemas.openxmlformats.org/drawingml/2006/main">
              <a:ext uri="{FF2B5EF4-FFF2-40B4-BE49-F238E27FC236}">
                <a16:creationId xmlns:a16="http://schemas.microsoft.com/office/drawing/2014/main" id="{F4D4B405-ED27-4080-9CF1-6E7F8CAE8295}"/>
              </a:ext>
            </a:extLst>
          </p:cNvPr>
          <p:cNvSpPr>
            <a:spLocks xmlns:a="http://schemas.openxmlformats.org/drawingml/2006/main" noGrp="1"/>
          </p:cNvSpPr>
          <p:nvPr/>
        </p:nvSpPr>
        <p:spPr>
          <a:xfrm xmlns:a="http://schemas.openxmlformats.org/drawingml/2006/main">
            <a:off x="4581525" y="4181475"/>
            <a:ext cx="3000375" cy="10477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Authorized owner</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executes or abstains</a:t>
            </a:r>
          </a:p>
        </p:txBody>
      </p:sp>
      <p:sp>
        <p:nvSpPr>
          <p:cNvPr id="10" name="Decision and&#10;outcome evidence">
            <a:extLst xmlns:a="http://schemas.openxmlformats.org/drawingml/2006/main">
              <a:ext uri="{FF2B5EF4-FFF2-40B4-BE49-F238E27FC236}">
                <a16:creationId xmlns:a16="http://schemas.microsoft.com/office/drawing/2014/main" id="{B75982C6-FBD6-4DC4-AE3A-C11843D57747}"/>
              </a:ext>
            </a:extLst>
          </p:cNvPr>
          <p:cNvSpPr>
            <a:spLocks xmlns:a="http://schemas.openxmlformats.org/drawingml/2006/main" noGrp="1"/>
          </p:cNvSpPr>
          <p:nvPr/>
        </p:nvSpPr>
        <p:spPr>
          <a:xfrm xmlns:a="http://schemas.openxmlformats.org/drawingml/2006/main">
            <a:off x="609600" y="4181475"/>
            <a:ext cx="3000375" cy="10477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Decision and</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outcome evidence</a:t>
            </a:r>
          </a:p>
        </p:txBody>
      </p:sp>
      <p:sp>
        <p:nvSpPr>
          <p:cNvPr id="14" name="Jev advice cannot grant permissions, release reservations or accept a ">
            <a:extLst xmlns:a="http://schemas.openxmlformats.org/drawingml/2006/main">
              <a:ext uri="{FF2B5EF4-FFF2-40B4-BE49-F238E27FC236}">
                <a16:creationId xmlns:a16="http://schemas.microsoft.com/office/drawing/2014/main" id="{4D534502-132F-4879-970D-18F4467CA9B6}"/>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Jev advice cannot grant permissions, release reservations or accept a result.</a:t>
            </a:r>
          </a:p>
        </p:txBody>
      </p:sp>
    </p:spTree>
    <p:extLst>
      <p:ext uri="{BB962C8B-B14F-4D97-AF65-F5344CB8AC3E}">
        <p14:creationId xmlns:p14="http://schemas.microsoft.com/office/powerpoint/2010/main" val="1237033474"/>
      </p:ext>
    </p:extLst>
  </p:cSld>
</p:sld>
</file>

<file path=ppt/slides/slide1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7" name="Measuring token and cost savings">
            <a:extLst xmlns:a="http://schemas.openxmlformats.org/drawingml/2006/main">
              <a:ext uri="{FF2B5EF4-FFF2-40B4-BE49-F238E27FC236}">
                <a16:creationId xmlns:a16="http://schemas.microsoft.com/office/drawing/2014/main" id="{39D5C08E-51E7-4D46-B66B-69FC1072EFB7}"/>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Measuring token and cost savings</a:t>
            </a:r>
          </a:p>
        </p:txBody>
      </p:sp>
      <p:sp>
        <p:nvSpPr>
          <p:cNvPr id="2" name="15">
            <a:extLst xmlns:a="http://schemas.openxmlformats.org/drawingml/2006/main">
              <a:ext uri="{FF2B5EF4-FFF2-40B4-BE49-F238E27FC236}">
                <a16:creationId xmlns:a16="http://schemas.microsoft.com/office/drawing/2014/main" id="{73BB0433-FD2F-45FD-9E93-53B9196A3ED9}"/>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18</a:t>
            </a:r>
          </a:p>
        </p:txBody>
      </p:sp>
      <p:graphicFrame>
        <p:nvGraphicFramePr>
          <p:cNvPr id="3" name="">
            <a:extLst xmlns:a="http://schemas.openxmlformats.org/drawingml/2006/main">
              <a:ext uri="{FF2B5EF4-FFF2-40B4-BE49-F238E27FC236}">
                <a16:creationId xmlns:a16="http://schemas.microsoft.com/office/drawing/2014/main" id="{35C897D6-65AE-4112-B3CF-2FEA38CDDD56}"/>
              </a:ext>
            </a:extLst>
          </p:cNvPr>
          <p:cNvGraphicFramePr/>
          <p:nvPr/>
        </p:nvGraphicFramePr>
        <p:xfrm>
          <a:off xmlns:a="http://schemas.openxmlformats.org/drawingml/2006/main" x="609600" y="1752600"/>
          <a:ext xmlns:a="http://schemas.openxmlformats.org/drawingml/2006/main" cx="10972800" cy="2581275"/>
        </p:xfrm>
        <a:graphic xmlns:a="http://schemas.openxmlformats.org/drawingml/2006/main">
          <a:graphicData uri="http://schemas.openxmlformats.org/drawingml/2006/table">
            <a:tbl>
              <a:tblPr/>
              <a:tblGrid>
                <a:gridCol w="3333750"/>
                <a:gridCol w="7639050"/>
              </a:tblGrid>
              <a:tr h="645319">
                <a:tc>
                  <a:txBody>
                    <a:bodyPr lIns="95250" tIns="95250" rIns="95250" bIns="95250"/>
                    <a:lstStyle/>
                    <a:p>
                      <a:r>
                        <a:rPr sz="1950" b="1">
                          <a:solidFill>
                            <a:srgbClr val="FFFFFF"/>
                          </a:solidFill>
                          <a:latin typeface="Arial"/>
                          <a:ea typeface="Arial"/>
                          <a:cs typeface="Arial"/>
                        </a:rPr>
                        <a:t>Comparison</a:t>
                      </a:r>
                    </a:p>
                  </a:txBody>
                  <a:tcPr marL="91440" marR="91440" marT="45720" marB="45720" anchor="ctr">
                    <a:solidFill>
                      <a:srgbClr val="152E42"/>
                    </a:solidFill>
                  </a:tcPr>
                </a:tc>
                <a:tc>
                  <a:txBody>
                    <a:bodyPr lIns="95250" tIns="95250" rIns="95250" bIns="95250"/>
                    <a:lstStyle/>
                    <a:p>
                      <a:r>
                        <a:rPr sz="1950" b="1">
                          <a:solidFill>
                            <a:srgbClr val="FFFFFF"/>
                          </a:solidFill>
                          <a:latin typeface="Arial"/>
                          <a:ea typeface="Arial"/>
                          <a:cs typeface="Arial"/>
                        </a:rPr>
                        <a:t>Measure on equivalent tasks</a:t>
                      </a:r>
                    </a:p>
                  </a:txBody>
                  <a:tcPr marL="91440" marR="91440" marT="45720" marB="45720" anchor="ctr">
                    <a:solidFill>
                      <a:srgbClr val="152E42"/>
                    </a:solidFill>
                  </a:tcPr>
                </a:tc>
              </a:tr>
              <a:tr h="645319">
                <a:tc>
                  <a:txBody>
                    <a:bodyPr lIns="95250" tIns="95250" rIns="95250" bIns="95250"/>
                    <a:lstStyle/>
                    <a:p>
                      <a:r>
                        <a:rPr sz="1950" b="0">
                          <a:solidFill>
                            <a:srgbClr val="203747"/>
                          </a:solidFill>
                          <a:latin typeface="Arial"/>
                          <a:ea typeface="Arial"/>
                          <a:cs typeface="Arial"/>
                        </a:rPr>
                        <a:t>Existing workflow</a:t>
                      </a:r>
                    </a:p>
                  </a:txBody>
                  <a:tcPr marL="91440" marR="91440" marT="45720" marB="45720" anchor="ctr">
                    <a:solidFill>
                      <a:srgbClr val="F8F7F2"/>
                    </a:solidFill>
                  </a:tcPr>
                </a:tc>
                <a:tc>
                  <a:txBody>
                    <a:bodyPr lIns="95250" tIns="95250" rIns="95250" bIns="95250"/>
                    <a:lstStyle/>
                    <a:p>
                      <a:r>
                        <a:rPr sz="1950" b="0">
                          <a:solidFill>
                            <a:srgbClr val="203747"/>
                          </a:solidFill>
                          <a:latin typeface="Arial"/>
                          <a:ea typeface="Arial"/>
                          <a:cs typeface="Arial"/>
                        </a:rPr>
                        <a:t>Accepted outcomes, engineer time, tokens and total cost</a:t>
                      </a:r>
                    </a:p>
                  </a:txBody>
                  <a:tcPr marL="91440" marR="91440" marT="45720" marB="45720" anchor="ctr">
                    <a:solidFill>
                      <a:srgbClr val="F8F7F2"/>
                    </a:solidFill>
                  </a:tcPr>
                </a:tc>
              </a:tr>
              <a:tr h="645319">
                <a:tc>
                  <a:txBody>
                    <a:bodyPr lIns="95250" tIns="95250" rIns="95250" bIns="95250"/>
                    <a:lstStyle/>
                    <a:p>
                      <a:r>
                        <a:rPr sz="1950" b="0">
                          <a:solidFill>
                            <a:srgbClr val="203747"/>
                          </a:solidFill>
                          <a:latin typeface="Arial"/>
                          <a:ea typeface="Arial"/>
                          <a:cs typeface="Arial"/>
                        </a:rPr>
                        <a:t>Jev tools</a:t>
                      </a:r>
                    </a:p>
                  </a:txBody>
                  <a:tcPr marL="91440" marR="91440" marT="45720" marB="45720" anchor="ctr">
                    <a:solidFill>
                      <a:srgbClr val="EEF2EF"/>
                    </a:solidFill>
                  </a:tcPr>
                </a:tc>
                <a:tc>
                  <a:txBody>
                    <a:bodyPr lIns="95250" tIns="95250" rIns="95250" bIns="95250"/>
                    <a:lstStyle/>
                    <a:p>
                      <a:r>
                        <a:rPr sz="1950" b="0">
                          <a:solidFill>
                            <a:srgbClr val="203747"/>
                          </a:solidFill>
                          <a:latin typeface="Arial"/>
                          <a:ea typeface="Arial"/>
                          <a:cs typeface="Arial"/>
                        </a:rPr>
                        <a:t>Add Jev cost, retries, failed calls and cache changes</a:t>
                      </a:r>
                    </a:p>
                  </a:txBody>
                  <a:tcPr marL="91440" marR="91440" marT="45720" marB="45720" anchor="ctr">
                    <a:solidFill>
                      <a:srgbClr val="EEF2EF"/>
                    </a:solidFill>
                  </a:tcPr>
                </a:tc>
              </a:tr>
              <a:tr h="645319">
                <a:tc>
                  <a:txBody>
                    <a:bodyPr lIns="95250" tIns="95250" rIns="95250" bIns="95250"/>
                    <a:lstStyle/>
                    <a:p>
                      <a:r>
                        <a:rPr sz="1950" b="0">
                          <a:solidFill>
                            <a:srgbClr val="203747"/>
                          </a:solidFill>
                          <a:latin typeface="Arial"/>
                          <a:ea typeface="Arial"/>
                          <a:cs typeface="Arial"/>
                        </a:rPr>
                        <a:t>Jev tools plus skills</a:t>
                      </a:r>
                    </a:p>
                  </a:txBody>
                  <a:tcPr marL="91440" marR="91440" marT="45720" marB="45720" anchor="ctr">
                    <a:solidFill>
                      <a:srgbClr val="F8F7F2"/>
                    </a:solidFill>
                  </a:tcPr>
                </a:tc>
                <a:tc>
                  <a:txBody>
                    <a:bodyPr lIns="95250" tIns="95250" rIns="95250" bIns="95250"/>
                    <a:lstStyle/>
                    <a:p>
                      <a:r>
                        <a:rPr sz="1950" b="0">
                          <a:solidFill>
                            <a:srgbClr val="203747"/>
                          </a:solidFill>
                          <a:latin typeface="Arial"/>
                          <a:ea typeface="Arial"/>
                          <a:cs typeface="Arial"/>
                        </a:rPr>
                        <a:t>Add trigger accuracy, evidence retention and rework</a:t>
                      </a:r>
                    </a:p>
                  </a:txBody>
                  <a:tcPr marL="91440" marR="91440" marT="45720" marB="45720" anchor="ctr">
                    <a:solidFill>
                      <a:srgbClr val="F8F7F2"/>
                    </a:solidFill>
                  </a:tcPr>
                </a:tc>
              </a:tr>
            </a:tbl>
          </a:graphicData>
        </a:graphic>
      </p:graphicFrame>
      <p:sp>
        <p:nvSpPr>
          <p:cNvPr id="4" name="Proposed activation threshold">
            <a:extLst xmlns:a="http://schemas.openxmlformats.org/drawingml/2006/main">
              <a:ext uri="{FF2B5EF4-FFF2-40B4-BE49-F238E27FC236}">
                <a16:creationId xmlns:a16="http://schemas.microsoft.com/office/drawing/2014/main" id="{773D82AB-E504-4F03-BD22-29DE3517A1F1}"/>
              </a:ext>
            </a:extLst>
          </p:cNvPr>
          <p:cNvSpPr>
            <a:spLocks xmlns:a="http://schemas.openxmlformats.org/drawingml/2006/main" noGrp="1"/>
          </p:cNvSpPr>
          <p:nvPr/>
        </p:nvSpPr>
        <p:spPr>
          <a:xfrm xmlns:a="http://schemas.openxmlformats.org/drawingml/2006/main">
            <a:off x="609600" y="46958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Proposed activation threshold</a:t>
            </a:r>
          </a:p>
        </p:txBody>
      </p:sp>
      <p:sp>
        <p:nvSpPr>
          <p:cNvPr id="5" name="At least 10% lower total cost per accepted outcome, with approved qual">
            <a:extLst xmlns:a="http://schemas.openxmlformats.org/drawingml/2006/main">
              <a:ext uri="{FF2B5EF4-FFF2-40B4-BE49-F238E27FC236}">
                <a16:creationId xmlns:a16="http://schemas.microsoft.com/office/drawing/2014/main" id="{F31BBA18-CA27-40F3-A8C6-A607E517836C}"/>
              </a:ext>
            </a:extLst>
          </p:cNvPr>
          <p:cNvSpPr>
            <a:spLocks xmlns:a="http://schemas.openxmlformats.org/drawingml/2006/main" noGrp="1"/>
          </p:cNvSpPr>
          <p:nvPr/>
        </p:nvSpPr>
        <p:spPr>
          <a:xfrm xmlns:a="http://schemas.openxmlformats.org/drawingml/2006/main">
            <a:off x="609600" y="51720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At least 10% lower total cost per accepted outcome, with approved quality limits</a:t>
            </a:r>
          </a:p>
        </p:txBody>
      </p:sp>
      <p:sp>
        <p:nvSpPr>
          <p:cNvPr id="6" name="Fewer downstream tokens can still cost more when prompt caching deteri">
            <a:extLst xmlns:a="http://schemas.openxmlformats.org/drawingml/2006/main">
              <a:ext uri="{FF2B5EF4-FFF2-40B4-BE49-F238E27FC236}">
                <a16:creationId xmlns:a16="http://schemas.microsoft.com/office/drawing/2014/main" id="{02B0FB73-7D69-43AE-A67F-1308ECD5226D}"/>
              </a:ext>
            </a:extLst>
          </p:cNvPr>
          <p:cNvSpPr>
            <a:spLocks xmlns:a="http://schemas.openxmlformats.org/drawingml/2006/main" noGrp="1"/>
          </p:cNvSpPr>
          <p:nvPr/>
        </p:nvSpPr>
        <p:spPr>
          <a:xfrm xmlns:a="http://schemas.openxmlformats.org/drawingml/2006/main">
            <a:off x="609600" y="60007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Fewer downstream tokens can still cost more when prompt caching deteriorates.</a:t>
            </a:r>
          </a:p>
        </p:txBody>
      </p:sp>
    </p:spTree>
    <p:extLst>
      <p:ext uri="{BB962C8B-B14F-4D97-AF65-F5344CB8AC3E}">
        <p14:creationId xmlns:p14="http://schemas.microsoft.com/office/powerpoint/2010/main" val="1954596387"/>
      </p:ext>
    </p:extLst>
  </p:cSld>
</p:sld>
</file>

<file path=ppt/slides/slide1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0" name="Portable Jev and Agentmux skills">
            <a:extLst xmlns:a="http://schemas.openxmlformats.org/drawingml/2006/main">
              <a:ext uri="{FF2B5EF4-FFF2-40B4-BE49-F238E27FC236}">
                <a16:creationId xmlns:a16="http://schemas.microsoft.com/office/drawing/2014/main" id="{3C67E8A2-1B12-4F42-96B6-4D2CAA2C845A}"/>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Portable Jev and Agentmux skills</a:t>
            </a:r>
          </a:p>
        </p:txBody>
      </p:sp>
      <p:sp>
        <p:nvSpPr>
          <p:cNvPr id="2" name="16">
            <a:extLst xmlns:a="http://schemas.openxmlformats.org/drawingml/2006/main">
              <a:ext uri="{FF2B5EF4-FFF2-40B4-BE49-F238E27FC236}">
                <a16:creationId xmlns:a16="http://schemas.microsoft.com/office/drawing/2014/main" id="{BAB7F782-ADA2-4C0B-A959-CE4A73D3D4B6}"/>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19</a:t>
            </a:r>
          </a:p>
        </p:txBody>
      </p:sp>
      <p:sp>
        <p:nvSpPr>
          <p:cNvPr id="3" name="Portable jev plugin: 13 proposed skills">
            <a:extLst xmlns:a="http://schemas.openxmlformats.org/drawingml/2006/main">
              <a:ext uri="{FF2B5EF4-FFF2-40B4-BE49-F238E27FC236}">
                <a16:creationId xmlns:a16="http://schemas.microsoft.com/office/drawing/2014/main" id="{22EEB41D-2142-4D54-A13F-0FC28780867F}"/>
              </a:ext>
            </a:extLst>
          </p:cNvPr>
          <p:cNvSpPr>
            <a:spLocks xmlns:a="http://schemas.openxmlformats.org/drawingml/2006/main" noGrp="1"/>
          </p:cNvSpPr>
          <p:nvPr/>
        </p:nvSpPr>
        <p:spPr>
          <a:xfrm xmlns:a="http://schemas.openxmlformats.org/drawingml/2006/main">
            <a:off x="609600" y="1724025"/>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Portable jev plugin: 13 proposed skills</a:t>
            </a:r>
          </a:p>
        </p:txBody>
      </p:sp>
      <p:sp>
        <p:nvSpPr>
          <p:cNvPr id="4" name="Bounded classification, source inspection, evidence checks and context">
            <a:extLst xmlns:a="http://schemas.openxmlformats.org/drawingml/2006/main">
              <a:ext uri="{FF2B5EF4-FFF2-40B4-BE49-F238E27FC236}">
                <a16:creationId xmlns:a16="http://schemas.microsoft.com/office/drawing/2014/main" id="{3743BA56-A9D5-4149-A1AD-F5267F00BD04}"/>
              </a:ext>
            </a:extLst>
          </p:cNvPr>
          <p:cNvSpPr>
            <a:spLocks xmlns:a="http://schemas.openxmlformats.org/drawingml/2006/main" noGrp="1"/>
          </p:cNvSpPr>
          <p:nvPr/>
        </p:nvSpPr>
        <p:spPr>
          <a:xfrm xmlns:a="http://schemas.openxmlformats.org/drawingml/2006/main">
            <a:off x="609600" y="2095500"/>
            <a:ext cx="10744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Bounded classification, source inspection, evidence checks and context selection</a:t>
            </a:r>
          </a:p>
        </p:txBody>
      </p:sp>
      <p:sp>
        <p:nvSpPr>
          <p:cNvPr id="5" name="Agentmux integrations: 10 proposed skills">
            <a:extLst xmlns:a="http://schemas.openxmlformats.org/drawingml/2006/main">
              <a:ext uri="{FF2B5EF4-FFF2-40B4-BE49-F238E27FC236}">
                <a16:creationId xmlns:a16="http://schemas.microsoft.com/office/drawing/2014/main" id="{EC39C8FB-8F10-403F-949C-A52080B3B9A7}"/>
              </a:ext>
            </a:extLst>
          </p:cNvPr>
          <p:cNvSpPr>
            <a:spLocks xmlns:a="http://schemas.openxmlformats.org/drawingml/2006/main" noGrp="1"/>
          </p:cNvSpPr>
          <p:nvPr/>
        </p:nvSpPr>
        <p:spPr>
          <a:xfrm xmlns:a="http://schemas.openxmlformats.org/drawingml/2006/main">
            <a:off x="609600" y="2933700"/>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Agentmux integrations: 10 proposed skills</a:t>
            </a:r>
          </a:p>
        </p:txBody>
      </p:sp>
      <p:sp>
        <p:nvSpPr>
          <p:cNvPr id="6" name="Task and delegation advice using scoped hub contracts">
            <a:extLst xmlns:a="http://schemas.openxmlformats.org/drawingml/2006/main">
              <a:ext uri="{FF2B5EF4-FFF2-40B4-BE49-F238E27FC236}">
                <a16:creationId xmlns:a16="http://schemas.microsoft.com/office/drawing/2014/main" id="{C37CE7CF-B329-47BA-9BB5-1AE12F42B385}"/>
              </a:ext>
            </a:extLst>
          </p:cNvPr>
          <p:cNvSpPr>
            <a:spLocks xmlns:a="http://schemas.openxmlformats.org/drawingml/2006/main" noGrp="1"/>
          </p:cNvSpPr>
          <p:nvPr/>
        </p:nvSpPr>
        <p:spPr>
          <a:xfrm xmlns:a="http://schemas.openxmlformats.org/drawingml/2006/main">
            <a:off x="609600" y="3305175"/>
            <a:ext cx="10744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Task and delegation advice using scoped hub contracts</a:t>
            </a:r>
          </a:p>
        </p:txBody>
      </p:sp>
      <p:sp>
        <p:nvSpPr>
          <p:cNvPr id="7" name="Industrial packages: 3 proposed skills">
            <a:extLst xmlns:a="http://schemas.openxmlformats.org/drawingml/2006/main">
              <a:ext uri="{FF2B5EF4-FFF2-40B4-BE49-F238E27FC236}">
                <a16:creationId xmlns:a16="http://schemas.microsoft.com/office/drawing/2014/main" id="{645EF96B-FFCA-4ADF-842B-ABB5A01760C2}"/>
              </a:ext>
            </a:extLst>
          </p:cNvPr>
          <p:cNvSpPr>
            <a:spLocks xmlns:a="http://schemas.openxmlformats.org/drawingml/2006/main" noGrp="1"/>
          </p:cNvSpPr>
          <p:nvPr/>
        </p:nvSpPr>
        <p:spPr>
          <a:xfrm xmlns:a="http://schemas.openxmlformats.org/drawingml/2006/main">
            <a:off x="609600" y="4143375"/>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Industrial packages: 3 proposed skills</a:t>
            </a:r>
          </a:p>
        </p:txBody>
      </p:sp>
      <p:sp>
        <p:nvSpPr>
          <p:cNvPr id="8" name="Engineering evidence and diagnostics within declared domain permission">
            <a:extLst xmlns:a="http://schemas.openxmlformats.org/drawingml/2006/main">
              <a:ext uri="{FF2B5EF4-FFF2-40B4-BE49-F238E27FC236}">
                <a16:creationId xmlns:a16="http://schemas.microsoft.com/office/drawing/2014/main" id="{9BCEEB3E-0AB2-46C6-BBF9-A34DC1C9990C}"/>
              </a:ext>
            </a:extLst>
          </p:cNvPr>
          <p:cNvSpPr>
            <a:spLocks xmlns:a="http://schemas.openxmlformats.org/drawingml/2006/main" noGrp="1"/>
          </p:cNvSpPr>
          <p:nvPr/>
        </p:nvSpPr>
        <p:spPr>
          <a:xfrm xmlns:a="http://schemas.openxmlformats.org/drawingml/2006/main">
            <a:off x="609600" y="4514850"/>
            <a:ext cx="10744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Engineering evidence and diagnostics within declared domain permissions</a:t>
            </a:r>
          </a:p>
        </p:txBody>
      </p:sp>
      <p:sp>
        <p:nvSpPr>
          <p:cNvPr id="9" name="Shared runtime, distinct skill triggers, host-specific packaging and a">
            <a:extLst xmlns:a="http://schemas.openxmlformats.org/drawingml/2006/main">
              <a:ext uri="{FF2B5EF4-FFF2-40B4-BE49-F238E27FC236}">
                <a16:creationId xmlns:a16="http://schemas.microsoft.com/office/drawing/2014/main" id="{92331312-098D-4D97-B1A0-5F546B71C010}"/>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Shared runtime, distinct skill triggers, host-specific packaging and actual-host evaluation.</a:t>
            </a:r>
          </a:p>
        </p:txBody>
      </p:sp>
    </p:spTree>
    <p:extLst>
      <p:ext uri="{BB962C8B-B14F-4D97-AF65-F5344CB8AC3E}">
        <p14:creationId xmlns:p14="http://schemas.microsoft.com/office/powerpoint/2010/main" val="1548703088"/>
      </p:ext>
    </p:extLst>
  </p:cSld>
</p:sld>
</file>

<file path=ppt/slides/slide2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13550A9E-E9F2-4203-81BA-C30FB01A0CFD}"/>
              </a:ext>
            </a:extLst>
          </p:cNvPr>
          <p:cNvCxnSpPr>
            <a:stCxn xmlns:a="http://schemas.openxmlformats.org/drawingml/2006/main" id="4" idx="3"/>
            <a:endCxn xmlns:a="http://schemas.openxmlformats.org/drawingml/2006/main" id="5" idx="1"/>
          </p:cNvCxnSpPr>
          <p:nvPr/>
        </p:nvCxnSpPr>
        <p:spPr>
          <a:xfrm xmlns:a="http://schemas.openxmlformats.org/drawingml/2006/main">
            <a:off x="5800725" y="3857625"/>
            <a:ext cx="1209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5A65BEA0-543B-436A-BCD1-0D061DF1AC22}"/>
              </a:ext>
            </a:extLst>
          </p:cNvPr>
          <p:cNvCxnSpPr>
            <a:stCxn xmlns:a="http://schemas.openxmlformats.org/drawingml/2006/main" id="3" idx="2"/>
            <a:endCxn xmlns:a="http://schemas.openxmlformats.org/drawingml/2006/main" id="4" idx="0"/>
          </p:cNvCxnSpPr>
          <p:nvPr/>
        </p:nvCxnSpPr>
        <p:spPr>
          <a:xfrm xmlns:a="http://schemas.openxmlformats.org/drawingml/2006/main" flipH="1">
            <a:off x="3205163" y="2419350"/>
            <a:ext cx="2890838" cy="866775"/>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0" name="Industrial extension packages">
            <a:extLst xmlns:a="http://schemas.openxmlformats.org/drawingml/2006/main">
              <a:ext uri="{FF2B5EF4-FFF2-40B4-BE49-F238E27FC236}">
                <a16:creationId xmlns:a16="http://schemas.microsoft.com/office/drawing/2014/main" id="{97DDE348-FE05-4353-8F2A-0AF70BBFAF66}"/>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Industrial extension packages</a:t>
            </a:r>
          </a:p>
        </p:txBody>
      </p:sp>
      <p:sp>
        <p:nvSpPr>
          <p:cNvPr id="2" name="17">
            <a:extLst xmlns:a="http://schemas.openxmlformats.org/drawingml/2006/main">
              <a:ext uri="{FF2B5EF4-FFF2-40B4-BE49-F238E27FC236}">
                <a16:creationId xmlns:a16="http://schemas.microsoft.com/office/drawing/2014/main" id="{3D148D36-980B-4484-A1CD-6335051ABC9A}"/>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20</a:t>
            </a:r>
          </a:p>
        </p:txBody>
      </p:sp>
      <p:sp>
        <p:nvSpPr>
          <p:cNvPr id="3" name="General orchestration contracts">
            <a:extLst xmlns:a="http://schemas.openxmlformats.org/drawingml/2006/main">
              <a:ext uri="{FF2B5EF4-FFF2-40B4-BE49-F238E27FC236}">
                <a16:creationId xmlns:a16="http://schemas.microsoft.com/office/drawing/2014/main" id="{CA746018-7397-40FF-B4C0-FC25DE293AD6}"/>
              </a:ext>
            </a:extLst>
          </p:cNvPr>
          <p:cNvSpPr>
            <a:spLocks xmlns:a="http://schemas.openxmlformats.org/drawingml/2006/main" noGrp="1"/>
          </p:cNvSpPr>
          <p:nvPr/>
        </p:nvSpPr>
        <p:spPr>
          <a:xfrm xmlns:a="http://schemas.openxmlformats.org/drawingml/2006/main">
            <a:off x="609600" y="1724025"/>
            <a:ext cx="10972800" cy="695325"/>
          </a:xfrm>
          <a:prstGeom xmlns:a="http://schemas.openxmlformats.org/drawingml/2006/main" prst="rect">
            <a:avLst/>
          </a:prstGeom>
          <a:solidFill xmlns:a="http://schemas.openxmlformats.org/drawingml/2006/main">
            <a:srgbClr val="087E83"/>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2250" b="0">
                <a:solidFill>
                  <a:srgbClr val="FFFFFF"/>
                </a:solidFill>
                <a:latin typeface="Arial"/>
                <a:ea typeface="Arial"/>
                <a:cs typeface="Arial"/>
              </a:defRPr>
            </a:defPPr>
          </a:lstStyle>
          <a:p xmlns:a="http://schemas.openxmlformats.org/drawingml/2006/main">
            <a:pPr algn="ctr">
              <a:buNone/>
              <a:defRPr sz="2250" b="0">
                <a:solidFill>
                  <a:srgbClr val="FFFFFF"/>
                </a:solidFill>
                <a:latin typeface="Arial"/>
                <a:ea typeface="Arial"/>
                <a:cs typeface="Arial"/>
              </a:defRPr>
            </a:pPr>
            <a:r>
              <a:rPr sz="2250" b="0">
                <a:solidFill>
                  <a:srgbClr val="FFFFFF"/>
                </a:solidFill>
                <a:latin typeface="Arial"/>
                <a:ea typeface="Arial"/>
                <a:cs typeface="Arial"/>
              </a:rPr>
              <a:t>General orchestration contracts</a:t>
            </a:r>
          </a:p>
        </p:txBody>
      </p:sp>
      <p:sp>
        <p:nvSpPr>
          <p:cNvPr id="4" name="Industrial engineering package&#10;Guidance, workflows and evidence rules">
            <a:extLst xmlns:a="http://schemas.openxmlformats.org/drawingml/2006/main">
              <a:ext uri="{FF2B5EF4-FFF2-40B4-BE49-F238E27FC236}">
                <a16:creationId xmlns:a16="http://schemas.microsoft.com/office/drawing/2014/main" id="{3851BD67-3286-4A02-A310-5B1280A82638}"/>
              </a:ext>
            </a:extLst>
          </p:cNvPr>
          <p:cNvSpPr>
            <a:spLocks xmlns:a="http://schemas.openxmlformats.org/drawingml/2006/main" noGrp="1"/>
          </p:cNvSpPr>
          <p:nvPr/>
        </p:nvSpPr>
        <p:spPr>
          <a:xfrm xmlns:a="http://schemas.openxmlformats.org/drawingml/2006/main">
            <a:off x="609600" y="3286125"/>
            <a:ext cx="5191125" cy="1143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Industrial engineering package</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Guidance, workflows and evidence rules</a:t>
            </a:r>
          </a:p>
        </p:txBody>
      </p:sp>
      <p:sp>
        <p:nvSpPr>
          <p:cNvPr id="5" name="Vendor and tool children&#10;CODESYS / Siemens / Rockwell">
            <a:extLst xmlns:a="http://schemas.openxmlformats.org/drawingml/2006/main">
              <a:ext uri="{FF2B5EF4-FFF2-40B4-BE49-F238E27FC236}">
                <a16:creationId xmlns:a16="http://schemas.microsoft.com/office/drawing/2014/main" id="{B224C762-E208-48AD-B1C5-647117C86B41}"/>
              </a:ext>
            </a:extLst>
          </p:cNvPr>
          <p:cNvSpPr>
            <a:spLocks xmlns:a="http://schemas.openxmlformats.org/drawingml/2006/main" noGrp="1"/>
          </p:cNvSpPr>
          <p:nvPr/>
        </p:nvSpPr>
        <p:spPr>
          <a:xfrm xmlns:a="http://schemas.openxmlformats.org/drawingml/2006/main">
            <a:off x="7010400" y="3286125"/>
            <a:ext cx="4572000" cy="1143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Vendor and tool children</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CODESYS / Siemens / Rockwell</a:t>
            </a:r>
          </a:p>
        </p:txBody>
      </p:sp>
      <p:sp>
        <p:nvSpPr>
          <p:cNvPr id="8" name="Declared execution host and tool versions">
            <a:extLst xmlns:a="http://schemas.openxmlformats.org/drawingml/2006/main">
              <a:ext uri="{FF2B5EF4-FFF2-40B4-BE49-F238E27FC236}">
                <a16:creationId xmlns:a16="http://schemas.microsoft.com/office/drawing/2014/main" id="{E90E9965-78E5-4C37-9433-14AAB8EF7279}"/>
              </a:ext>
            </a:extLst>
          </p:cNvPr>
          <p:cNvSpPr>
            <a:spLocks xmlns:a="http://schemas.openxmlformats.org/drawingml/2006/main" noGrp="1"/>
          </p:cNvSpPr>
          <p:nvPr/>
        </p:nvSpPr>
        <p:spPr>
          <a:xfrm xmlns:a="http://schemas.openxmlformats.org/drawingml/2006/main">
            <a:off x="609600" y="49911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Declared execution host and tool versions</a:t>
            </a:r>
          </a:p>
        </p:txBody>
      </p:sp>
      <p:sp>
        <p:nvSpPr>
          <p:cNvPr id="9" name="Read, validate and mutate operations have separate permissions and evi">
            <a:extLst xmlns:a="http://schemas.openxmlformats.org/drawingml/2006/main">
              <a:ext uri="{FF2B5EF4-FFF2-40B4-BE49-F238E27FC236}">
                <a16:creationId xmlns:a16="http://schemas.microsoft.com/office/drawing/2014/main" id="{79EC5732-FDD5-42CF-9417-B93AD2FFF598}"/>
              </a:ext>
            </a:extLst>
          </p:cNvPr>
          <p:cNvSpPr>
            <a:spLocks xmlns:a="http://schemas.openxmlformats.org/drawingml/2006/main" noGrp="1"/>
          </p:cNvSpPr>
          <p:nvPr/>
        </p:nvSpPr>
        <p:spPr>
          <a:xfrm xmlns:a="http://schemas.openxmlformats.org/drawingml/2006/main">
            <a:off x="609600" y="5467350"/>
            <a:ext cx="10801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Read, validate and mutate operations have separate permissions and evidence</a:t>
            </a:r>
          </a:p>
        </p:txBody>
      </p:sp>
    </p:spTree>
    <p:extLst>
      <p:ext uri="{BB962C8B-B14F-4D97-AF65-F5344CB8AC3E}">
        <p14:creationId xmlns:p14="http://schemas.microsoft.com/office/powerpoint/2010/main" val="2054007827"/>
      </p:ext>
    </p:extLst>
  </p:cSld>
</p:sld>
</file>

<file path=ppt/slides/slide2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92266EA2-F2D7-4E20-B4A1-3DA00FA9D844}"/>
              </a:ext>
            </a:extLst>
          </p:cNvPr>
          <p:cNvCxnSpPr>
            <a:stCxn xmlns:a="http://schemas.openxmlformats.org/drawingml/2006/main" id="5" idx="3"/>
            <a:endCxn xmlns:a="http://schemas.openxmlformats.org/drawingml/2006/main" id="6" idx="1"/>
          </p:cNvCxnSpPr>
          <p:nvPr/>
        </p:nvCxnSpPr>
        <p:spPr>
          <a:xfrm xmlns:a="http://schemas.openxmlformats.org/drawingml/2006/main">
            <a:off x="8724900" y="2443163"/>
            <a:ext cx="45720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8" name="">
            <a:extLst xmlns:a="http://schemas.openxmlformats.org/drawingml/2006/main">
              <a:ext uri="{FF2B5EF4-FFF2-40B4-BE49-F238E27FC236}">
                <a16:creationId xmlns:a16="http://schemas.microsoft.com/office/drawing/2014/main" id="{6708F127-6AFA-49E8-93EF-84B68303A96C}"/>
              </a:ext>
            </a:extLst>
          </p:cNvPr>
          <p:cNvCxnSpPr>
            <a:stCxn xmlns:a="http://schemas.openxmlformats.org/drawingml/2006/main" id="4" idx="3"/>
            <a:endCxn xmlns:a="http://schemas.openxmlformats.org/drawingml/2006/main" id="5" idx="1"/>
          </p:cNvCxnSpPr>
          <p:nvPr/>
        </p:nvCxnSpPr>
        <p:spPr>
          <a:xfrm xmlns:a="http://schemas.openxmlformats.org/drawingml/2006/main">
            <a:off x="5867400" y="2443163"/>
            <a:ext cx="45720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316F313A-A9B9-47F2-8B08-D2402BABCC3E}"/>
              </a:ext>
            </a:extLst>
          </p:cNvPr>
          <p:cNvCxnSpPr>
            <a:stCxn xmlns:a="http://schemas.openxmlformats.org/drawingml/2006/main" id="3" idx="3"/>
            <a:endCxn xmlns:a="http://schemas.openxmlformats.org/drawingml/2006/main" id="4" idx="1"/>
          </p:cNvCxnSpPr>
          <p:nvPr/>
        </p:nvCxnSpPr>
        <p:spPr>
          <a:xfrm xmlns:a="http://schemas.openxmlformats.org/drawingml/2006/main">
            <a:off x="3009900" y="2443163"/>
            <a:ext cx="45720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3" name="Migration with one authoritative writer">
            <a:extLst xmlns:a="http://schemas.openxmlformats.org/drawingml/2006/main">
              <a:ext uri="{FF2B5EF4-FFF2-40B4-BE49-F238E27FC236}">
                <a16:creationId xmlns:a16="http://schemas.microsoft.com/office/drawing/2014/main" id="{1D94AAD9-586F-40DE-A1BB-24EC0BBA4FAF}"/>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Migration with one authoritative writer</a:t>
            </a:r>
          </a:p>
        </p:txBody>
      </p:sp>
      <p:sp>
        <p:nvSpPr>
          <p:cNvPr id="2" name="18">
            <a:extLst xmlns:a="http://schemas.openxmlformats.org/drawingml/2006/main">
              <a:ext uri="{FF2B5EF4-FFF2-40B4-BE49-F238E27FC236}">
                <a16:creationId xmlns:a16="http://schemas.microsoft.com/office/drawing/2014/main" id="{20DF95D3-7212-4809-853E-52176BDC6E4B}"/>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21</a:t>
            </a:r>
          </a:p>
        </p:txBody>
      </p:sp>
      <p:sp>
        <p:nvSpPr>
          <p:cNvPr id="3" name="Inventory&#10;and snapshot">
            <a:extLst xmlns:a="http://schemas.openxmlformats.org/drawingml/2006/main">
              <a:ext uri="{FF2B5EF4-FFF2-40B4-BE49-F238E27FC236}">
                <a16:creationId xmlns:a16="http://schemas.microsoft.com/office/drawing/2014/main" id="{A72C741E-83D8-4467-A50B-25B4F4CCABFA}"/>
              </a:ext>
            </a:extLst>
          </p:cNvPr>
          <p:cNvSpPr>
            <a:spLocks xmlns:a="http://schemas.openxmlformats.org/drawingml/2006/main" noGrp="1"/>
          </p:cNvSpPr>
          <p:nvPr/>
        </p:nvSpPr>
        <p:spPr>
          <a:xfrm xmlns:a="http://schemas.openxmlformats.org/drawingml/2006/main">
            <a:off x="609600" y="1952625"/>
            <a:ext cx="2400300"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Inventory</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snapshot</a:t>
            </a:r>
          </a:p>
        </p:txBody>
      </p:sp>
      <p:sp>
        <p:nvSpPr>
          <p:cNvPr id="4" name="Import and&#10;reconcile">
            <a:extLst xmlns:a="http://schemas.openxmlformats.org/drawingml/2006/main">
              <a:ext uri="{FF2B5EF4-FFF2-40B4-BE49-F238E27FC236}">
                <a16:creationId xmlns:a16="http://schemas.microsoft.com/office/drawing/2014/main" id="{A1BBBB6E-4CEC-4D85-A47A-566942508453}"/>
              </a:ext>
            </a:extLst>
          </p:cNvPr>
          <p:cNvSpPr>
            <a:spLocks xmlns:a="http://schemas.openxmlformats.org/drawingml/2006/main" noGrp="1"/>
          </p:cNvSpPr>
          <p:nvPr/>
        </p:nvSpPr>
        <p:spPr>
          <a:xfrm xmlns:a="http://schemas.openxmlformats.org/drawingml/2006/main">
            <a:off x="3467100" y="1952625"/>
            <a:ext cx="2400300"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Import into NATS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reconcile</a:t>
            </a:r>
          </a:p>
        </p:txBody>
      </p:sp>
      <p:sp>
        <p:nvSpPr>
          <p:cNvPr id="5" name="Compare&#10;read-only views">
            <a:extLst xmlns:a="http://schemas.openxmlformats.org/drawingml/2006/main">
              <a:ext uri="{FF2B5EF4-FFF2-40B4-BE49-F238E27FC236}">
                <a16:creationId xmlns:a16="http://schemas.microsoft.com/office/drawing/2014/main" id="{9915675C-7FFC-4A84-81DB-F71754BDF291}"/>
              </a:ext>
            </a:extLst>
          </p:cNvPr>
          <p:cNvSpPr>
            <a:spLocks xmlns:a="http://schemas.openxmlformats.org/drawingml/2006/main" noGrp="1"/>
          </p:cNvSpPr>
          <p:nvPr/>
        </p:nvSpPr>
        <p:spPr>
          <a:xfrm xmlns:a="http://schemas.openxmlformats.org/drawingml/2006/main">
            <a:off x="6324600" y="1952625"/>
            <a:ext cx="2400300"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Compare</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read-only views</a:t>
            </a:r>
          </a:p>
        </p:txBody>
      </p:sp>
      <p:sp>
        <p:nvSpPr>
          <p:cNvPr id="6" name="Switch new&#10;operations">
            <a:extLst xmlns:a="http://schemas.openxmlformats.org/drawingml/2006/main">
              <a:ext uri="{FF2B5EF4-FFF2-40B4-BE49-F238E27FC236}">
                <a16:creationId xmlns:a16="http://schemas.microsoft.com/office/drawing/2014/main" id="{3C90423A-AB8F-4C54-891D-A72920D6D825}"/>
              </a:ext>
            </a:extLst>
          </p:cNvPr>
          <p:cNvSpPr>
            <a:spLocks xmlns:a="http://schemas.openxmlformats.org/drawingml/2006/main" noGrp="1"/>
          </p:cNvSpPr>
          <p:nvPr/>
        </p:nvSpPr>
        <p:spPr>
          <a:xfrm xmlns:a="http://schemas.openxmlformats.org/drawingml/2006/main">
            <a:off x="9182100" y="1952625"/>
            <a:ext cx="2400300"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Switch new</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operations</a:t>
            </a:r>
          </a:p>
        </p:txBody>
      </p:sp>
      <p:sp>
        <p:nvSpPr>
          <p:cNvPr id="10" name="Preserved evidence">
            <a:extLst xmlns:a="http://schemas.openxmlformats.org/drawingml/2006/main">
              <a:ext uri="{FF2B5EF4-FFF2-40B4-BE49-F238E27FC236}">
                <a16:creationId xmlns:a16="http://schemas.microsoft.com/office/drawing/2014/main" id="{5CE6A1A7-54E7-4E69-8D5D-8EAEB52EFF1B}"/>
              </a:ext>
            </a:extLst>
          </p:cNvPr>
          <p:cNvSpPr>
            <a:spLocks xmlns:a="http://schemas.openxmlformats.org/drawingml/2006/main" noGrp="1"/>
          </p:cNvSpPr>
          <p:nvPr/>
        </p:nvSpPr>
        <p:spPr>
          <a:xfrm xmlns:a="http://schemas.openxmlformats.org/drawingml/2006/main">
            <a:off x="609600" y="3886200"/>
            <a:ext cx="571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E83"/>
                </a:solidFill>
                <a:latin typeface="Arial"/>
                <a:ea typeface="Arial"/>
                <a:cs typeface="Arial"/>
              </a:defRPr>
            </a:defPPr>
          </a:lstStyle>
          <a:p xmlns:a="http://schemas.openxmlformats.org/drawingml/2006/main">
            <a:pPr algn="l">
              <a:buNone/>
              <a:defRPr sz="2250" b="1">
                <a:solidFill>
                  <a:srgbClr val="087E83"/>
                </a:solidFill>
                <a:latin typeface="Arial"/>
                <a:ea typeface="Arial"/>
                <a:cs typeface="Arial"/>
              </a:defRPr>
            </a:pPr>
            <a:r>
              <a:rPr sz="2250" b="1">
                <a:solidFill>
                  <a:srgbClr val="087E83"/>
                </a:solidFill>
                <a:latin typeface="Arial"/>
                <a:ea typeface="Arial"/>
                <a:cs typeface="Arial"/>
              </a:rPr>
              <a:t>Preserved evidence</a:t>
            </a:r>
          </a:p>
        </p:txBody>
      </p:sp>
      <p:sp>
        <p:nvSpPr>
          <p:cNvPr id="11" name="Task IDs, run history, approvals and artifacts&#10;Pending delivery and de">
            <a:extLst xmlns:a="http://schemas.openxmlformats.org/drawingml/2006/main">
              <a:ext uri="{FF2B5EF4-FFF2-40B4-BE49-F238E27FC236}">
                <a16:creationId xmlns:a16="http://schemas.microsoft.com/office/drawing/2014/main" id="{DCD471A1-29E5-4682-96EA-3069CCA717F9}"/>
              </a:ext>
            </a:extLst>
          </p:cNvPr>
          <p:cNvSpPr>
            <a:spLocks xmlns:a="http://schemas.openxmlformats.org/drawingml/2006/main" noGrp="1"/>
          </p:cNvSpPr>
          <p:nvPr/>
        </p:nvSpPr>
        <p:spPr>
          <a:xfrm xmlns:a="http://schemas.openxmlformats.org/drawingml/2006/main">
            <a:off x="609600" y="4486275"/>
            <a:ext cx="10620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Task IDs, run history, approvals and artifacts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Pending delivery and delegation state</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Dirty worktrees and unmerged branches</a:t>
            </a:r>
          </a:p>
        </p:txBody>
      </p:sp>
      <p:sp>
        <p:nvSpPr>
          <p:cNvPr id="12" name="Legacy retirement follows parity, migration rehearsal and an explicit ">
            <a:extLst xmlns:a="http://schemas.openxmlformats.org/drawingml/2006/main">
              <a:ext uri="{FF2B5EF4-FFF2-40B4-BE49-F238E27FC236}">
                <a16:creationId xmlns:a16="http://schemas.microsoft.com/office/drawing/2014/main" id="{EFEF77E5-739D-40C8-ADF0-AB91BC0F0896}"/>
              </a:ext>
            </a:extLst>
          </p:cNvPr>
          <p:cNvSpPr>
            <a:spLocks xmlns:a="http://schemas.openxmlformats.org/drawingml/2006/main" noGrp="1"/>
          </p:cNvSpPr>
          <p:nvPr/>
        </p:nvSpPr>
        <p:spPr>
          <a:xfrm xmlns:a="http://schemas.openxmlformats.org/drawingml/2006/main">
            <a:off x="609600" y="59912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Legacy retirement follows parity, migration rehearsal and an explicit recovery decision.</a:t>
            </a:r>
          </a:p>
        </p:txBody>
      </p:sp>
    </p:spTree>
    <p:extLst>
      <p:ext uri="{BB962C8B-B14F-4D97-AF65-F5344CB8AC3E}">
        <p14:creationId xmlns:p14="http://schemas.microsoft.com/office/powerpoint/2010/main" val="1129424842"/>
      </p:ext>
    </p:extLst>
  </p:cSld>
</p:sld>
</file>

<file path=ppt/slides/slide2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1D3480-0A29-476A-9AD0-EBCD4BEEFC2E}"/>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E42"/>
                </a:solidFill>
                <a:latin typeface="Arial"/>
                <a:ea typeface="Arial"/>
                <a:cs typeface="Arial"/>
              </a:defRPr>
            </a:defPPr>
          </a:lstStyle>
          <a:p xmlns:a="http://schemas.openxmlformats.org/drawingml/2006/main">
            <a:pPr>
              <a:defRPr sz="3300" b="1">
                <a:solidFill>
                  <a:srgbClr val="152E42"/>
                </a:solidFill>
                <a:latin typeface="Arial"/>
                <a:ea typeface="Arial"/>
                <a:cs typeface="Arial"/>
              </a:defRPr>
            </a:pPr>
            <a:r>
              <a:rPr sz="3300" b="1">
                <a:solidFill>
                  <a:srgbClr val="152E42"/>
                </a:solidFill>
                <a:latin typeface="Arial"/>
                <a:ea typeface="Arial"/>
                <a:cs typeface="Arial"/>
              </a:rPr>
              <a:t>Every existing component has an owner</a:t>
            </a:r>
          </a:p>
        </p:txBody>
      </p:sp>
      <p:sp>
        <p:nvSpPr>
          <p:cNvPr id="2" name="">
            <a:extLst xmlns:a="http://schemas.openxmlformats.org/drawingml/2006/main">
              <a:ext uri="{FF2B5EF4-FFF2-40B4-BE49-F238E27FC236}">
                <a16:creationId xmlns:a16="http://schemas.microsoft.com/office/drawing/2014/main" id="{1644D89C-459E-4CB2-9680-F5CF621AA49B}"/>
              </a:ext>
            </a:extLst>
          </p:cNvPr>
          <p:cNvSpPr>
            <a:spLocks xmlns:a="http://schemas.openxmlformats.org/drawingml/2006/main" noGrp="1"/>
          </p:cNvSpPr>
          <p:nvPr/>
        </p:nvSpPr>
        <p:spPr>
          <a:xfrm xmlns:a="http://schemas.openxmlformats.org/drawingml/2006/main">
            <a:off x="609600" y="17145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87E83"/>
                </a:solidFill>
                <a:latin typeface="Arial"/>
                <a:ea typeface="Arial"/>
                <a:cs typeface="Arial"/>
              </a:defRPr>
            </a:defPPr>
          </a:lstStyle>
          <a:p xmlns:a="http://schemas.openxmlformats.org/drawingml/2006/main">
            <a:pPr>
              <a:defRPr sz="2550" b="1">
                <a:solidFill>
                  <a:srgbClr val="087E83"/>
                </a:solidFill>
                <a:latin typeface="Arial"/>
                <a:ea typeface="Arial"/>
                <a:cs typeface="Arial"/>
              </a:defRPr>
            </a:pPr>
            <a:r>
              <a:rPr sz="2550" b="1">
                <a:solidFill>
                  <a:srgbClr val="087E83"/>
                </a:solidFill>
                <a:latin typeface="Arial"/>
                <a:ea typeface="Arial"/>
                <a:cs typeface="Arial"/>
              </a:rPr>
              <a:t>338 baseline files + 1 added instruction file</a:t>
            </a:r>
          </a:p>
        </p:txBody>
      </p:sp>
      <p:sp>
        <p:nvSpPr>
          <p:cNvPr id="3" name="">
            <a:extLst xmlns:a="http://schemas.openxmlformats.org/drawingml/2006/main">
              <a:ext uri="{FF2B5EF4-FFF2-40B4-BE49-F238E27FC236}">
                <a16:creationId xmlns:a16="http://schemas.microsoft.com/office/drawing/2014/main" id="{241C108F-9521-4CB4-AFEB-834DEEE90E53}"/>
              </a:ext>
            </a:extLst>
          </p:cNvPr>
          <p:cNvSpPr>
            <a:spLocks xmlns:a="http://schemas.openxmlformats.org/drawingml/2006/main" noGrp="1"/>
          </p:cNvSpPr>
          <p:nvPr/>
        </p:nvSpPr>
        <p:spPr>
          <a:xfrm xmlns:a="http://schemas.openxmlformats.org/drawingml/2006/main">
            <a:off x="609600" y="24384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87E83"/>
                </a:solidFill>
                <a:latin typeface="Arial"/>
                <a:ea typeface="Arial"/>
                <a:cs typeface="Arial"/>
              </a:defRPr>
            </a:defPPr>
          </a:lstStyle>
          <a:p xmlns:a="http://schemas.openxmlformats.org/drawingml/2006/main">
            <a:pPr>
              <a:defRPr sz="2550" b="1">
                <a:solidFill>
                  <a:srgbClr val="087E83"/>
                </a:solidFill>
                <a:latin typeface="Arial"/>
                <a:ea typeface="Arial"/>
                <a:cs typeface="Arial"/>
              </a:defRPr>
            </a:pPr>
            <a:r>
              <a:rPr sz="2550" b="1">
                <a:solidFill>
                  <a:srgbClr val="087E83"/>
                </a:solidFill>
                <a:latin typeface="Arial"/>
                <a:ea typeface="Arial"/>
                <a:cs typeface="Arial"/>
              </a:rPr>
              <a:t>93 components with 198 behavior checks</a:t>
            </a:r>
          </a:p>
        </p:txBody>
      </p:sp>
      <p:sp>
        <p:nvSpPr>
          <p:cNvPr id="4" name="">
            <a:extLst xmlns:a="http://schemas.openxmlformats.org/drawingml/2006/main">
              <a:ext uri="{FF2B5EF4-FFF2-40B4-BE49-F238E27FC236}">
                <a16:creationId xmlns:a16="http://schemas.microsoft.com/office/drawing/2014/main" id="{D76FF74F-12F7-450E-A297-0C53FDAA659C}"/>
              </a:ext>
            </a:extLst>
          </p:cNvPr>
          <p:cNvSpPr>
            <a:spLocks xmlns:a="http://schemas.openxmlformats.org/drawingml/2006/main" noGrp="1"/>
          </p:cNvSpPr>
          <p:nvPr/>
        </p:nvSpPr>
        <p:spPr>
          <a:xfrm xmlns:a="http://schemas.openxmlformats.org/drawingml/2006/main">
            <a:off x="609600" y="33242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03747"/>
                </a:solidFill>
                <a:latin typeface="Arial"/>
                <a:ea typeface="Arial"/>
                <a:cs typeface="Arial"/>
              </a:defRPr>
            </a:defPPr>
          </a:lstStyle>
          <a:p xmlns:a="http://schemas.openxmlformats.org/drawingml/2006/main">
            <a:pPr>
              <a:defRPr sz="2175" b="0">
                <a:solidFill>
                  <a:srgbClr val="203747"/>
                </a:solidFill>
                <a:latin typeface="Arial"/>
                <a:ea typeface="Arial"/>
                <a:cs typeface="Arial"/>
              </a:defRPr>
            </a:pPr>
            <a:r>
              <a:rPr sz="2175" b="0">
                <a:solidFill>
                  <a:srgbClr val="203747"/>
                </a:solidFill>
                <a:latin typeface="Arial"/>
                <a:ea typeface="Arial"/>
                <a:cs typeface="Arial"/>
              </a:rPr>
              <a:t>Harness, tasks, hub, federation, dashboard, integrations,</a:t>
            </a:r>
          </a:p>
          <a:p xmlns:a="http://schemas.openxmlformats.org/drawingml/2006/main">
            <a:pPr>
              <a:defRPr sz="2175" b="0">
                <a:solidFill>
                  <a:srgbClr val="203747"/>
                </a:solidFill>
                <a:latin typeface="Arial"/>
                <a:ea typeface="Arial"/>
                <a:cs typeface="Arial"/>
              </a:defRPr>
            </a:pPr>
            <a:r>
              <a:rPr sz="2175" b="0">
                <a:solidFill>
                  <a:srgbClr val="203747"/>
                </a:solidFill>
                <a:latin typeface="Arial"/>
                <a:ea typeface="Arial"/>
                <a:cs typeface="Arial"/>
              </a:rPr>
              <a:t>industrial tools, setup, tests, assets and historical evidence</a:t>
            </a:r>
          </a:p>
        </p:txBody>
      </p:sp>
      <p:sp>
        <p:nvSpPr>
          <p:cNvPr id="5" name="">
            <a:extLst xmlns:a="http://schemas.openxmlformats.org/drawingml/2006/main">
              <a:ext uri="{FF2B5EF4-FFF2-40B4-BE49-F238E27FC236}">
                <a16:creationId xmlns:a16="http://schemas.microsoft.com/office/drawing/2014/main" id="{729BB118-707F-4099-B184-7416F5B5EED0}"/>
              </a:ext>
            </a:extLst>
          </p:cNvPr>
          <p:cNvSpPr>
            <a:spLocks xmlns:a="http://schemas.openxmlformats.org/drawingml/2006/main" noGrp="1"/>
          </p:cNvSpPr>
          <p:nvPr/>
        </p:nvSpPr>
        <p:spPr>
          <a:xfrm xmlns:a="http://schemas.openxmlformats.org/drawingml/2006/main">
            <a:off x="609600" y="4676775"/>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03747"/>
                </a:solidFill>
                <a:latin typeface="Arial"/>
                <a:ea typeface="Arial"/>
                <a:cs typeface="Arial"/>
              </a:defRPr>
            </a:defPPr>
          </a:lstStyle>
          <a:p xmlns:a="http://schemas.openxmlformats.org/drawingml/2006/main">
            <a:pPr>
              <a:defRPr sz="2175" b="0">
                <a:solidFill>
                  <a:srgbClr val="203747"/>
                </a:solidFill>
                <a:latin typeface="Arial"/>
                <a:ea typeface="Arial"/>
                <a:cs typeface="Arial"/>
              </a:defRPr>
            </a:pPr>
            <a:r>
              <a:rPr sz="2175" b="0">
                <a:solidFill>
                  <a:srgbClr val="203747"/>
                </a:solidFill>
                <a:latin typeface="Arial"/>
                <a:ea typeface="Arial"/>
                <a:cs typeface="Arial"/>
              </a:rPr>
              <a:t>Each record links current behavior to reused code,</a:t>
            </a:r>
          </a:p>
          <a:p xmlns:a="http://schemas.openxmlformats.org/drawingml/2006/main">
            <a:pPr>
              <a:defRPr sz="2175" b="0">
                <a:solidFill>
                  <a:srgbClr val="203747"/>
                </a:solidFill>
                <a:latin typeface="Arial"/>
                <a:ea typeface="Arial"/>
                <a:cs typeface="Arial"/>
              </a:defRPr>
            </a:pPr>
            <a:r>
              <a:rPr sz="2175" b="0">
                <a:solidFill>
                  <a:srgbClr val="203747"/>
                </a:solidFill>
                <a:latin typeface="Arial"/>
                <a:ea typeface="Arial"/>
                <a:cs typeface="Arial"/>
              </a:rPr>
              <a:t>planned gains, migration checks and its owning phase.</a:t>
            </a:r>
          </a:p>
        </p:txBody>
      </p:sp>
      <p:sp>
        <p:nvSpPr>
          <p:cNvPr id="6" name="">
            <a:extLst xmlns:a="http://schemas.openxmlformats.org/drawingml/2006/main">
              <a:ext uri="{FF2B5EF4-FFF2-40B4-BE49-F238E27FC236}">
                <a16:creationId xmlns:a16="http://schemas.microsoft.com/office/drawing/2014/main" id="{5370A318-0A3F-4BA7-8330-688835A8F66A}"/>
              </a:ext>
            </a:extLst>
          </p:cNvPr>
          <p:cNvSpPr>
            <a:spLocks xmlns:a="http://schemas.openxmlformats.org/drawingml/2006/main" noGrp="1"/>
          </p:cNvSpPr>
          <p:nvPr/>
        </p:nvSpPr>
        <p:spPr>
          <a:xfrm xmlns:a="http://schemas.openxmlformats.org/drawingml/2006/main">
            <a:off x="609600" y="59150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774"/>
                </a:solidFill>
                <a:latin typeface="Arial"/>
                <a:ea typeface="Arial"/>
                <a:cs typeface="Arial"/>
              </a:defRPr>
            </a:defPPr>
          </a:lstStyle>
          <a:p xmlns:a="http://schemas.openxmlformats.org/drawingml/2006/main">
            <a:pPr>
              <a:defRPr sz="1725" b="0">
                <a:solidFill>
                  <a:srgbClr val="526774"/>
                </a:solidFill>
                <a:latin typeface="Arial"/>
                <a:ea typeface="Arial"/>
                <a:cs typeface="Arial"/>
              </a:defRPr>
            </a:pPr>
            <a:r>
              <a:rPr sz="1725" b="0">
                <a:solidFill>
                  <a:srgbClr val="526774"/>
                </a:solidFill>
                <a:latin typeface="Arial"/>
                <a:ea typeface="Arial"/>
                <a:cs typeface="Arial"/>
              </a:rPr>
              <a:t>Static source review is complete for this inventory. Runtime comparisons have not run.</a:t>
            </a:r>
          </a:p>
        </p:txBody>
      </p:sp>
      <p:sp>
        <p:nvSpPr>
          <p:cNvPr id="7" name="">
            <a:extLst xmlns:a="http://schemas.openxmlformats.org/drawingml/2006/main">
              <a:ext uri="{FF2B5EF4-FFF2-40B4-BE49-F238E27FC236}">
                <a16:creationId xmlns:a16="http://schemas.microsoft.com/office/drawing/2014/main" id="{739012AF-D650-407B-84EA-5C5DF20ACEE6}"/>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774"/>
                </a:solidFill>
                <a:latin typeface="Arial"/>
                <a:ea typeface="Arial"/>
                <a:cs typeface="Arial"/>
              </a:defRPr>
            </a:defPPr>
          </a:lstStyle>
          <a:p xmlns:a="http://schemas.openxmlformats.org/drawingml/2006/main">
            <a:pPr>
              <a:defRPr sz="1275" b="0">
                <a:solidFill>
                  <a:srgbClr val="526774"/>
                </a:solidFill>
                <a:latin typeface="Arial"/>
                <a:ea typeface="Arial"/>
                <a:cs typeface="Arial"/>
              </a:defRPr>
            </a:pPr>
            <a:r>
              <a:rPr sz="1275" b="0">
                <a:solidFill>
                  <a:srgbClr val="526774"/>
                </a:solidFill>
                <a:latin typeface="Arial"/>
                <a:ea typeface="Arial"/>
                <a:cs typeface="Arial"/>
              </a:rPr>
              <a:t>22</a:t>
            </a:r>
          </a:p>
        </p:txBody>
      </p:sp>
    </p:spTree>
    <p:extLst>
      <p:ext uri="{BB962C8B-B14F-4D97-AF65-F5344CB8AC3E}">
        <p14:creationId xmlns:p14="http://schemas.microsoft.com/office/powerpoint/2010/main" val="778969718"/>
      </p:ext>
    </p:extLst>
  </p:cSld>
</p:sld>
</file>

<file path=ppt/slides/slide2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9928FEC-98F5-4E1D-9C44-CBC8C3EA6CA1}"/>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E42"/>
                </a:solidFill>
                <a:latin typeface="Arial"/>
                <a:ea typeface="Arial"/>
                <a:cs typeface="Arial"/>
              </a:defRPr>
            </a:defPPr>
          </a:lstStyle>
          <a:p xmlns:a="http://schemas.openxmlformats.org/drawingml/2006/main">
            <a:pPr>
              <a:defRPr sz="3300" b="1">
                <a:solidFill>
                  <a:srgbClr val="152E42"/>
                </a:solidFill>
                <a:latin typeface="Arial"/>
                <a:ea typeface="Arial"/>
                <a:cs typeface="Arial"/>
              </a:defRPr>
            </a:pPr>
            <a:r>
              <a:rPr sz="3300" b="1">
                <a:solidFill>
                  <a:srgbClr val="152E42"/>
                </a:solidFill>
                <a:latin typeface="Arial"/>
                <a:ea typeface="Arial"/>
                <a:cs typeface="Arial"/>
              </a:rPr>
              <a:t>Reuse decisions precede replacement</a:t>
            </a:r>
          </a:p>
        </p:txBody>
      </p:sp>
      <p:graphicFrame>
        <p:nvGraphicFramePr>
          <p:cNvPr id="2" name="">
            <a:extLst xmlns:a="http://schemas.openxmlformats.org/drawingml/2006/main">
              <a:ext uri="{FF2B5EF4-FFF2-40B4-BE49-F238E27FC236}">
                <a16:creationId xmlns:a16="http://schemas.microsoft.com/office/drawing/2014/main" id="{011A1BB4-CEFE-4811-9CAF-70577D4DE56C}"/>
              </a:ext>
            </a:extLst>
          </p:cNvPr>
          <p:cNvGraphicFramePr/>
          <p:nvPr/>
        </p:nvGraphicFramePr>
        <p:xfrm>
          <a:off xmlns:a="http://schemas.openxmlformats.org/drawingml/2006/main" x="609600" y="1714500"/>
          <a:ext xmlns:a="http://schemas.openxmlformats.org/drawingml/2006/main" cx="10972800" cy="3695700"/>
        </p:xfrm>
        <a:graphic xmlns:a="http://schemas.openxmlformats.org/drawingml/2006/main">
          <a:graphicData uri="http://schemas.openxmlformats.org/drawingml/2006/table">
            <a:tbl>
              <a:tblPr/>
              <a:tblGrid>
                <a:gridCol w="2857500"/>
                <a:gridCol w="8115300"/>
              </a:tblGrid>
              <a:tr h="739140">
                <a:tc>
                  <a:txBody>
                    <a:bodyPr lIns="95250" tIns="95250" rIns="95250" bIns="95250"/>
                    <a:lstStyle/>
                    <a:p>
                      <a:r>
                        <a:rPr sz="1875" b="1">
                          <a:solidFill>
                            <a:srgbClr val="FFFFFF"/>
                          </a:solidFill>
                          <a:latin typeface="Arial"/>
                          <a:ea typeface="Arial"/>
                          <a:cs typeface="Arial"/>
                        </a:rPr>
                        <a:t>Approach</a:t>
                      </a:r>
                    </a:p>
                  </a:txBody>
                  <a:tcPr marL="91440" marR="91440" marT="45720" marB="45720" anchor="ctr">
                    <a:solidFill>
                      <a:srgbClr val="152E42"/>
                    </a:solidFill>
                  </a:tcPr>
                </a:tc>
                <a:tc>
                  <a:txBody>
                    <a:bodyPr lIns="95250" tIns="95250" rIns="95250" bIns="95250"/>
                    <a:lstStyle/>
                    <a:p>
                      <a:r>
                        <a:rPr sz="1875" b="1">
                          <a:solidFill>
                            <a:srgbClr val="FFFFFF"/>
                          </a:solidFill>
                          <a:latin typeface="Arial"/>
                          <a:ea typeface="Arial"/>
                          <a:cs typeface="Arial"/>
                        </a:rPr>
                        <a:t>What happens to the existing implementation</a:t>
                      </a:r>
                    </a:p>
                  </a:txBody>
                  <a:tcPr marL="91440" marR="91440" marT="45720" marB="45720" anchor="ctr">
                    <a:solidFill>
                      <a:srgbClr val="152E42"/>
                    </a:solidFill>
                  </a:tcPr>
                </a:tc>
              </a:tr>
              <a:tr h="739140">
                <a:tc>
                  <a:txBody>
                    <a:bodyPr lIns="95250" tIns="95250" rIns="95250" bIns="95250"/>
                    <a:lstStyle/>
                    <a:p>
                      <a:r>
                        <a:rPr sz="1875" b="0">
                          <a:solidFill>
                            <a:srgbClr val="203747"/>
                          </a:solidFill>
                          <a:latin typeface="Arial"/>
                          <a:ea typeface="Arial"/>
                          <a:cs typeface="Arial"/>
                        </a:rPr>
                        <a:t>Retain / extend</a:t>
                      </a:r>
                    </a:p>
                  </a:txBody>
                  <a:tcPr marL="91440" marR="91440" marT="45720" marB="45720" anchor="ctr">
                    <a:solidFill>
                      <a:srgbClr val="F8F7F2"/>
                    </a:solidFill>
                  </a:tcPr>
                </a:tc>
                <a:tc>
                  <a:txBody>
                    <a:bodyPr lIns="95250" tIns="95250" rIns="95250" bIns="95250"/>
                    <a:lstStyle/>
                    <a:p>
                      <a:r>
                        <a:rPr sz="1875" b="0">
                          <a:solidFill>
                            <a:srgbClr val="203747"/>
                          </a:solidFill>
                          <a:latin typeface="Arial"/>
                          <a:ea typeface="Arial"/>
                          <a:cs typeface="Arial"/>
                        </a:rPr>
                        <a:t>Keep proven behavior and add the required capability</a:t>
                      </a:r>
                    </a:p>
                  </a:txBody>
                  <a:tcPr marL="91440" marR="91440" marT="45720" marB="45720" anchor="ctr">
                    <a:solidFill>
                      <a:srgbClr val="F8F7F2"/>
                    </a:solidFill>
                  </a:tcPr>
                </a:tc>
              </a:tr>
              <a:tr h="739140">
                <a:tc>
                  <a:txBody>
                    <a:bodyPr lIns="95250" tIns="95250" rIns="95250" bIns="95250"/>
                    <a:lstStyle/>
                    <a:p>
                      <a:r>
                        <a:rPr sz="1875" b="0">
                          <a:solidFill>
                            <a:srgbClr val="203747"/>
                          </a:solidFill>
                          <a:latin typeface="Arial"/>
                          <a:ea typeface="Arial"/>
                          <a:cs typeface="Arial"/>
                        </a:rPr>
                        <a:t>Wrap / extract</a:t>
                      </a:r>
                    </a:p>
                  </a:txBody>
                  <a:tcPr marL="91440" marR="91440" marT="45720" marB="45720" anchor="ctr">
                    <a:solidFill>
                      <a:srgbClr val="EEF2EF"/>
                    </a:solidFill>
                  </a:tcPr>
                </a:tc>
                <a:tc>
                  <a:txBody>
                    <a:bodyPr lIns="95250" tIns="95250" rIns="95250" bIns="95250"/>
                    <a:lstStyle/>
                    <a:p>
                      <a:r>
                        <a:rPr sz="1875" b="0">
                          <a:solidFill>
                            <a:srgbClr val="203747"/>
                          </a:solidFill>
                          <a:latin typeface="Arial"/>
                          <a:ea typeface="Arial"/>
                          <a:cs typeface="Arial"/>
                        </a:rPr>
                        <a:t>Move or expose working code through owned contracts</a:t>
                      </a:r>
                    </a:p>
                  </a:txBody>
                  <a:tcPr marL="91440" marR="91440" marT="45720" marB="45720" anchor="ctr">
                    <a:solidFill>
                      <a:srgbClr val="EEF2EF"/>
                    </a:solidFill>
                  </a:tcPr>
                </a:tc>
              </a:tr>
              <a:tr h="739140">
                <a:tc>
                  <a:txBody>
                    <a:bodyPr lIns="95250" tIns="95250" rIns="95250" bIns="95250"/>
                    <a:lstStyle/>
                    <a:p>
                      <a:r>
                        <a:rPr sz="1875" b="0">
                          <a:solidFill>
                            <a:srgbClr val="203747"/>
                          </a:solidFill>
                          <a:latin typeface="Arial"/>
                          <a:ea typeface="Arial"/>
                          <a:cs typeface="Arial"/>
                        </a:rPr>
                        <a:t>Replace</a:t>
                      </a:r>
                    </a:p>
                  </a:txBody>
                  <a:tcPr marL="91440" marR="91440" marT="45720" marB="45720" anchor="ctr">
                    <a:solidFill>
                      <a:srgbClr val="F8F7F2"/>
                    </a:solidFill>
                  </a:tcPr>
                </a:tc>
                <a:tc>
                  <a:txBody>
                    <a:bodyPr lIns="95250" tIns="95250" rIns="95250" bIns="95250"/>
                    <a:lstStyle/>
                    <a:p>
                      <a:r>
                        <a:rPr sz="1875" b="0">
                          <a:solidFill>
                            <a:srgbClr val="203747"/>
                          </a:solidFill>
                          <a:latin typeface="Arial"/>
                          <a:ea typeface="Arial"/>
                          <a:cs typeface="Arial"/>
                        </a:rPr>
                        <a:t>Explain why reuse cannot meet a concrete requirement</a:t>
                      </a:r>
                    </a:p>
                  </a:txBody>
                  <a:tcPr marL="91440" marR="91440" marT="45720" marB="45720" anchor="ctr">
                    <a:solidFill>
                      <a:srgbClr val="F8F7F2"/>
                    </a:solidFill>
                  </a:tcPr>
                </a:tc>
              </a:tr>
              <a:tr h="739140">
                <a:tc>
                  <a:txBody>
                    <a:bodyPr lIns="95250" tIns="95250" rIns="95250" bIns="95250"/>
                    <a:lstStyle/>
                    <a:p>
                      <a:r>
                        <a:rPr sz="1875" b="0">
                          <a:solidFill>
                            <a:srgbClr val="203747"/>
                          </a:solidFill>
                          <a:latin typeface="Arial"/>
                          <a:ea typeface="Arial"/>
                          <a:cs typeface="Arial"/>
                        </a:rPr>
                        <a:t>Retire or reduce</a:t>
                      </a:r>
                    </a:p>
                  </a:txBody>
                  <a:tcPr marL="91440" marR="91440" marT="45720" marB="45720" anchor="ctr">
                    <a:solidFill>
                      <a:srgbClr val="EEF2EF"/>
                    </a:solidFill>
                  </a:tcPr>
                </a:tc>
                <a:tc>
                  <a:txBody>
                    <a:bodyPr lIns="95250" tIns="95250" rIns="95250" bIns="95250"/>
                    <a:lstStyle/>
                    <a:p>
                      <a:r>
                        <a:rPr sz="1875" b="0">
                          <a:solidFill>
                            <a:srgbClr val="203747"/>
                          </a:solidFill>
                          <a:latin typeface="Arial"/>
                          <a:ea typeface="Arial"/>
                          <a:cs typeface="Arial"/>
                        </a:rPr>
                        <a:t>Requires Ryan’s approval after review with Nick</a:t>
                      </a:r>
                    </a:p>
                  </a:txBody>
                  <a:tcPr marL="91440" marR="91440" marT="45720" marB="45720" anchor="ctr">
                    <a:solidFill>
                      <a:srgbClr val="EEF2EF"/>
                    </a:solidFill>
                  </a:tcPr>
                </a:tc>
              </a:tr>
            </a:tbl>
          </a:graphicData>
        </a:graphic>
      </p:graphicFrame>
      <p:sp>
        <p:nvSpPr>
          <p:cNvPr id="3" name="">
            <a:extLst xmlns:a="http://schemas.openxmlformats.org/drawingml/2006/main">
              <a:ext uri="{FF2B5EF4-FFF2-40B4-BE49-F238E27FC236}">
                <a16:creationId xmlns:a16="http://schemas.microsoft.com/office/drawing/2014/main" id="{5A7343B7-68AE-4D0B-8AEE-F4DC3620E7D4}"/>
              </a:ext>
            </a:extLst>
          </p:cNvPr>
          <p:cNvSpPr>
            <a:spLocks xmlns:a="http://schemas.openxmlformats.org/drawingml/2006/main" noGrp="1"/>
          </p:cNvSpPr>
          <p:nvPr/>
        </p:nvSpPr>
        <p:spPr>
          <a:xfrm xmlns:a="http://schemas.openxmlformats.org/drawingml/2006/main">
            <a:off x="609600" y="58102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774"/>
                </a:solidFill>
                <a:latin typeface="Arial"/>
                <a:ea typeface="Arial"/>
                <a:cs typeface="Arial"/>
              </a:defRPr>
            </a:defPPr>
          </a:lstStyle>
          <a:p xmlns:a="http://schemas.openxmlformats.org/drawingml/2006/main">
            <a:pPr>
              <a:defRPr sz="1950" b="0">
                <a:solidFill>
                  <a:srgbClr val="526774"/>
                </a:solidFill>
                <a:latin typeface="Arial"/>
                <a:ea typeface="Arial"/>
                <a:cs typeface="Arial"/>
              </a:defRPr>
            </a:pPr>
            <a:r>
              <a:rPr sz="1950" b="0">
                <a:solidFill>
                  <a:srgbClr val="526774"/>
                </a:solidFill>
                <a:latin typeface="Arial"/>
                <a:ea typeface="Arial"/>
                <a:cs typeface="Arial"/>
              </a:rPr>
              <a:t>A new language, framework or UI library alone does not justify a rewrite.</a:t>
            </a:r>
          </a:p>
        </p:txBody>
      </p:sp>
      <p:sp>
        <p:nvSpPr>
          <p:cNvPr id="4" name="">
            <a:extLst xmlns:a="http://schemas.openxmlformats.org/drawingml/2006/main">
              <a:ext uri="{FF2B5EF4-FFF2-40B4-BE49-F238E27FC236}">
                <a16:creationId xmlns:a16="http://schemas.microsoft.com/office/drawing/2014/main" id="{55215005-125A-47AD-88C3-B2FFBF87D1BA}"/>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774"/>
                </a:solidFill>
                <a:latin typeface="Arial"/>
                <a:ea typeface="Arial"/>
                <a:cs typeface="Arial"/>
              </a:defRPr>
            </a:defPPr>
          </a:lstStyle>
          <a:p xmlns:a="http://schemas.openxmlformats.org/drawingml/2006/main">
            <a:pPr>
              <a:defRPr sz="1275" b="0">
                <a:solidFill>
                  <a:srgbClr val="526774"/>
                </a:solidFill>
                <a:latin typeface="Arial"/>
                <a:ea typeface="Arial"/>
                <a:cs typeface="Arial"/>
              </a:defRPr>
            </a:pPr>
            <a:r>
              <a:rPr sz="1275" b="0">
                <a:solidFill>
                  <a:srgbClr val="526774"/>
                </a:solidFill>
                <a:latin typeface="Arial"/>
                <a:ea typeface="Arial"/>
                <a:cs typeface="Arial"/>
              </a:rPr>
              <a:t>23</a:t>
            </a:r>
          </a:p>
        </p:txBody>
      </p:sp>
    </p:spTree>
    <p:extLst>
      <p:ext uri="{BB962C8B-B14F-4D97-AF65-F5344CB8AC3E}">
        <p14:creationId xmlns:p14="http://schemas.microsoft.com/office/powerpoint/2010/main" val="87323438"/>
      </p:ext>
    </p:extLst>
  </p:cSld>
</p:sld>
</file>

<file path=ppt/slides/slide2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9124F9E-22F2-48B3-A677-5734ED126B86}"/>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E42"/>
                </a:solidFill>
                <a:latin typeface="Arial"/>
                <a:ea typeface="Arial"/>
                <a:cs typeface="Arial"/>
              </a:defRPr>
            </a:defPPr>
          </a:lstStyle>
          <a:p xmlns:a="http://schemas.openxmlformats.org/drawingml/2006/main">
            <a:pPr>
              <a:defRPr sz="3300" b="1">
                <a:solidFill>
                  <a:srgbClr val="152E42"/>
                </a:solidFill>
                <a:latin typeface="Arial"/>
                <a:ea typeface="Arial"/>
                <a:cs typeface="Arial"/>
              </a:defRPr>
            </a:pPr>
            <a:r>
              <a:rPr sz="3300" b="1">
                <a:solidFill>
                  <a:srgbClr val="152E42"/>
                </a:solidFill>
                <a:latin typeface="Arial"/>
                <a:ea typeface="Arial"/>
                <a:cs typeface="Arial"/>
              </a:rPr>
              <a:t>Existing capabilities gain new reach</a:t>
            </a:r>
          </a:p>
        </p:txBody>
      </p:sp>
      <p:graphicFrame>
        <p:nvGraphicFramePr>
          <p:cNvPr id="2" name="">
            <a:extLst xmlns:a="http://schemas.openxmlformats.org/drawingml/2006/main">
              <a:ext uri="{FF2B5EF4-FFF2-40B4-BE49-F238E27FC236}">
                <a16:creationId xmlns:a16="http://schemas.microsoft.com/office/drawing/2014/main" id="{F366E381-40AF-4507-979A-75BC1D312DC9}"/>
              </a:ext>
            </a:extLst>
          </p:cNvPr>
          <p:cNvGraphicFramePr/>
          <p:nvPr/>
        </p:nvGraphicFramePr>
        <p:xfrm>
          <a:off xmlns:a="http://schemas.openxmlformats.org/drawingml/2006/main" x="609600" y="1714500"/>
          <a:ext xmlns:a="http://schemas.openxmlformats.org/drawingml/2006/main" cx="10972800" cy="3952875"/>
        </p:xfrm>
        <a:graphic xmlns:a="http://schemas.openxmlformats.org/drawingml/2006/main">
          <a:graphicData uri="http://schemas.openxmlformats.org/drawingml/2006/table">
            <a:tbl>
              <a:tblPr/>
              <a:tblGrid>
                <a:gridCol w="5191125"/>
                <a:gridCol w="5781675"/>
              </a:tblGrid>
              <a:tr h="658813">
                <a:tc>
                  <a:txBody>
                    <a:bodyPr lIns="95250" tIns="95250" rIns="95250" bIns="95250"/>
                    <a:lstStyle/>
                    <a:p>
                      <a:r>
                        <a:rPr sz="1800" b="1">
                          <a:solidFill>
                            <a:srgbClr val="FFFFFF"/>
                          </a:solidFill>
                          <a:latin typeface="Arial"/>
                          <a:ea typeface="Arial"/>
                          <a:cs typeface="Arial"/>
                        </a:rPr>
                        <a:t>Existing capability to preserve</a:t>
                      </a:r>
                    </a:p>
                  </a:txBody>
                  <a:tcPr marL="91440" marR="91440" marT="45720" marB="45720" anchor="ctr">
                    <a:solidFill>
                      <a:srgbClr val="152E42"/>
                    </a:solidFill>
                  </a:tcPr>
                </a:tc>
                <a:tc>
                  <a:txBody>
                    <a:bodyPr lIns="95250" tIns="95250" rIns="95250" bIns="95250"/>
                    <a:lstStyle/>
                    <a:p>
                      <a:r>
                        <a:rPr sz="1800" b="1">
                          <a:solidFill>
                            <a:srgbClr val="FFFFFF"/>
                          </a:solidFill>
                          <a:latin typeface="Arial"/>
                          <a:ea typeface="Arial"/>
                          <a:cs typeface="Arial"/>
                        </a:rPr>
                        <a:t>Planned gain</a:t>
                      </a:r>
                    </a:p>
                  </a:txBody>
                  <a:tcPr marL="91440" marR="91440" marT="45720" marB="45720" anchor="ctr">
                    <a:solidFill>
                      <a:srgbClr val="152E42"/>
                    </a:solidFill>
                  </a:tcPr>
                </a:tc>
              </a:tr>
              <a:tr h="658813">
                <a:tc>
                  <a:txBody>
                    <a:bodyPr lIns="95250" tIns="95250" rIns="95250" bIns="95250"/>
                    <a:lstStyle/>
                    <a:p>
                      <a:r>
                        <a:rPr sz="1800" b="0">
                          <a:solidFill>
                            <a:srgbClr val="203747"/>
                          </a:solidFill>
                          <a:latin typeface="Arial"/>
                          <a:ea typeface="Arial"/>
                          <a:cs typeface="Arial"/>
                        </a:rPr>
                        <a:t>CLI sessions, task board and runs</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Scoped workers across users and projects</a:t>
                      </a:r>
                    </a:p>
                  </a:txBody>
                  <a:tcPr marL="91440" marR="91440" marT="45720" marB="45720" anchor="ctr">
                    <a:solidFill>
                      <a:srgbClr val="F8F7F2"/>
                    </a:solidFill>
                  </a:tcPr>
                </a:tc>
              </a:tr>
              <a:tr h="658813">
                <a:tc>
                  <a:txBody>
                    <a:bodyPr lIns="95250" tIns="95250" rIns="95250" bIns="95250"/>
                    <a:lstStyle/>
                    <a:p>
                      <a:r>
                        <a:rPr sz="1800" b="0">
                          <a:solidFill>
                            <a:srgbClr val="203747"/>
                          </a:solidFill>
                          <a:latin typeface="Arial"/>
                          <a:ea typeface="Arial"/>
                          <a:cs typeface="Arial"/>
                        </a:rPr>
                        <a:t>Five hub plugins and shared work</a:t>
                      </a:r>
                    </a:p>
                  </a:txBody>
                  <a:tcPr marL="91440" marR="91440" marT="45720" marB="45720" anchor="ctr">
                    <a:solidFill>
                      <a:srgbClr val="EEF2EF"/>
                    </a:solidFill>
                  </a:tcPr>
                </a:tc>
                <a:tc>
                  <a:txBody>
                    <a:bodyPr lIns="95250" tIns="95250" rIns="95250" bIns="95250"/>
                    <a:lstStyle/>
                    <a:p>
                      <a:r>
                        <a:rPr sz="1800" b="0">
                          <a:solidFill>
                            <a:srgbClr val="203747"/>
                          </a:solidFill>
                          <a:latin typeface="Arial"/>
                          <a:ea typeface="Arial"/>
                          <a:cs typeface="Arial"/>
                        </a:rPr>
                        <a:t>Independent hubs with recoverable delegation</a:t>
                      </a:r>
                    </a:p>
                  </a:txBody>
                  <a:tcPr marL="91440" marR="91440" marT="45720" marB="45720" anchor="ctr">
                    <a:solidFill>
                      <a:srgbClr val="EEF2EF"/>
                    </a:solidFill>
                  </a:tcPr>
                </a:tc>
              </a:tr>
              <a:tr h="658813">
                <a:tc>
                  <a:txBody>
                    <a:bodyPr lIns="95250" tIns="95250" rIns="95250" bIns="95250"/>
                    <a:lstStyle/>
                    <a:p>
                      <a:r>
                        <a:rPr sz="1800" b="0">
                          <a:solidFill>
                            <a:srgbClr val="203747"/>
                          </a:solidFill>
                          <a:latin typeface="Arial"/>
                          <a:ea typeface="Arial"/>
                          <a:cs typeface="Arial"/>
                        </a:rPr>
                        <a:t>Ten dashboard views and controls</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Authorized history, replay and domain extensions</a:t>
                      </a:r>
                    </a:p>
                  </a:txBody>
                  <a:tcPr marL="91440" marR="91440" marT="45720" marB="45720" anchor="ctr">
                    <a:solidFill>
                      <a:srgbClr val="F8F7F2"/>
                    </a:solidFill>
                  </a:tcPr>
                </a:tc>
              </a:tr>
              <a:tr h="658813">
                <a:tc>
                  <a:txBody>
                    <a:bodyPr lIns="95250" tIns="95250" rIns="95250" bIns="95250"/>
                    <a:lstStyle/>
                    <a:p>
                      <a:r>
                        <a:rPr sz="1800" b="0">
                          <a:solidFill>
                            <a:srgbClr val="203747"/>
                          </a:solidFill>
                          <a:latin typeface="Arial"/>
                          <a:ea typeface="Arial"/>
                          <a:cs typeface="Arial"/>
                        </a:rPr>
                        <a:t>Industrial protocols and tools</a:t>
                      </a:r>
                    </a:p>
                  </a:txBody>
                  <a:tcPr marL="91440" marR="91440" marT="45720" marB="45720" anchor="ctr">
                    <a:solidFill>
                      <a:srgbClr val="EEF2EF"/>
                    </a:solidFill>
                  </a:tcPr>
                </a:tc>
                <a:tc>
                  <a:txBody>
                    <a:bodyPr lIns="95250" tIns="95250" rIns="95250" bIns="95250"/>
                    <a:lstStyle/>
                    <a:p>
                      <a:r>
                        <a:rPr sz="1800" b="0">
                          <a:solidFill>
                            <a:srgbClr val="203747"/>
                          </a:solidFill>
                          <a:latin typeface="Arial"/>
                          <a:ea typeface="Arial"/>
                          <a:cs typeface="Arial"/>
                        </a:rPr>
                        <a:t>Installable packages with qualified vendor support</a:t>
                      </a:r>
                    </a:p>
                  </a:txBody>
                  <a:tcPr marL="91440" marR="91440" marT="45720" marB="45720" anchor="ctr">
                    <a:solidFill>
                      <a:srgbClr val="EEF2EF"/>
                    </a:solidFill>
                  </a:tcPr>
                </a:tc>
              </a:tr>
              <a:tr h="658813">
                <a:tc>
                  <a:txBody>
                    <a:bodyPr lIns="95250" tIns="95250" rIns="95250" bIns="95250"/>
                    <a:lstStyle/>
                    <a:p>
                      <a:r>
                        <a:rPr sz="1800" b="0">
                          <a:solidFill>
                            <a:srgbClr val="203747"/>
                          </a:solidFill>
                          <a:latin typeface="Arial"/>
                          <a:ea typeface="Arial"/>
                          <a:cs typeface="Arial"/>
                        </a:rPr>
                        <a:t>Existing regression and evaluation evidence</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Required baseline/candidate comparisons per phase</a:t>
                      </a:r>
                    </a:p>
                  </a:txBody>
                  <a:tcPr marL="91440" marR="91440" marT="45720" marB="45720" anchor="ctr">
                    <a:solidFill>
                      <a:srgbClr val="F8F7F2"/>
                    </a:solidFill>
                  </a:tcPr>
                </a:tc>
              </a:tr>
            </a:tbl>
          </a:graphicData>
        </a:graphic>
      </p:graphicFrame>
      <p:sp>
        <p:nvSpPr>
          <p:cNvPr id="3" name="">
            <a:extLst xmlns:a="http://schemas.openxmlformats.org/drawingml/2006/main">
              <a:ext uri="{FF2B5EF4-FFF2-40B4-BE49-F238E27FC236}">
                <a16:creationId xmlns:a16="http://schemas.microsoft.com/office/drawing/2014/main" id="{D7BCE977-BF56-4832-9AFA-B740A2312302}"/>
              </a:ext>
            </a:extLst>
          </p:cNvPr>
          <p:cNvSpPr>
            <a:spLocks xmlns:a="http://schemas.openxmlformats.org/drawingml/2006/main" noGrp="1"/>
          </p:cNvSpPr>
          <p:nvPr/>
        </p:nvSpPr>
        <p:spPr>
          <a:xfrm xmlns:a="http://schemas.openxmlformats.org/drawingml/2006/main">
            <a:off x="609600" y="59150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774"/>
                </a:solidFill>
                <a:latin typeface="Arial"/>
                <a:ea typeface="Arial"/>
                <a:cs typeface="Arial"/>
              </a:defRPr>
            </a:defPPr>
          </a:lstStyle>
          <a:p xmlns:a="http://schemas.openxmlformats.org/drawingml/2006/main">
            <a:pPr>
              <a:defRPr sz="1800" b="0">
                <a:solidFill>
                  <a:srgbClr val="526774"/>
                </a:solidFill>
                <a:latin typeface="Arial"/>
                <a:ea typeface="Arial"/>
                <a:cs typeface="Arial"/>
              </a:defRPr>
            </a:pPr>
            <a:r>
              <a:rPr sz="1800" b="0">
                <a:solidFill>
                  <a:srgbClr val="526774"/>
                </a:solidFill>
                <a:latin typeface="Arial"/>
                <a:ea typeface="Arial"/>
                <a:cs typeface="Arial"/>
              </a:rPr>
              <a:t>Each gain needs evidence. It cannot offset the loss of an existing workflow.</a:t>
            </a:r>
          </a:p>
        </p:txBody>
      </p:sp>
      <p:sp>
        <p:nvSpPr>
          <p:cNvPr id="4" name="">
            <a:extLst xmlns:a="http://schemas.openxmlformats.org/drawingml/2006/main">
              <a:ext uri="{FF2B5EF4-FFF2-40B4-BE49-F238E27FC236}">
                <a16:creationId xmlns:a16="http://schemas.microsoft.com/office/drawing/2014/main" id="{6156B81A-E0AD-4328-9D38-6BF7B08690F8}"/>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774"/>
                </a:solidFill>
                <a:latin typeface="Arial"/>
                <a:ea typeface="Arial"/>
                <a:cs typeface="Arial"/>
              </a:defRPr>
            </a:defPPr>
          </a:lstStyle>
          <a:p xmlns:a="http://schemas.openxmlformats.org/drawingml/2006/main">
            <a:pPr>
              <a:defRPr sz="1275" b="0">
                <a:solidFill>
                  <a:srgbClr val="526774"/>
                </a:solidFill>
                <a:latin typeface="Arial"/>
                <a:ea typeface="Arial"/>
                <a:cs typeface="Arial"/>
              </a:defRPr>
            </a:pPr>
            <a:r>
              <a:rPr sz="1275" b="0">
                <a:solidFill>
                  <a:srgbClr val="526774"/>
                </a:solidFill>
                <a:latin typeface="Arial"/>
                <a:ea typeface="Arial"/>
                <a:cs typeface="Arial"/>
              </a:rPr>
              <a:t>24</a:t>
            </a:r>
          </a:p>
        </p:txBody>
      </p:sp>
    </p:spTree>
    <p:extLst>
      <p:ext uri="{BB962C8B-B14F-4D97-AF65-F5344CB8AC3E}">
        <p14:creationId xmlns:p14="http://schemas.microsoft.com/office/powerpoint/2010/main" val="788625928"/>
      </p:ext>
    </p:extLst>
  </p:cSld>
</p:sld>
</file>

<file path=ppt/slides/slide2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05E0115-6851-4093-A396-2DA99E2E4EA8}"/>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E42"/>
                </a:solidFill>
                <a:latin typeface="Arial"/>
                <a:ea typeface="Arial"/>
                <a:cs typeface="Arial"/>
              </a:defRPr>
            </a:defPPr>
          </a:lstStyle>
          <a:p xmlns:a="http://schemas.openxmlformats.org/drawingml/2006/main">
            <a:pPr>
              <a:defRPr sz="3300" b="1">
                <a:solidFill>
                  <a:srgbClr val="152E42"/>
                </a:solidFill>
                <a:latin typeface="Arial"/>
                <a:ea typeface="Arial"/>
                <a:cs typeface="Arial"/>
              </a:defRPr>
            </a:pPr>
            <a:r>
              <a:rPr sz="3300" b="1">
                <a:solidFill>
                  <a:srgbClr val="152E42"/>
                </a:solidFill>
                <a:latin typeface="Arial"/>
                <a:ea typeface="Arial"/>
                <a:cs typeface="Arial"/>
              </a:rPr>
              <a:t>Each phase must prove preservation</a:t>
            </a:r>
          </a:p>
        </p:txBody>
      </p:sp>
      <p:sp>
        <p:nvSpPr>
          <p:cNvPr id="2" name="">
            <a:extLst xmlns:a="http://schemas.openxmlformats.org/drawingml/2006/main">
              <a:ext uri="{FF2B5EF4-FFF2-40B4-BE49-F238E27FC236}">
                <a16:creationId xmlns:a16="http://schemas.microsoft.com/office/drawing/2014/main" id="{20BFD184-4BAF-4866-9694-91EEB11B2418}"/>
              </a:ext>
            </a:extLst>
          </p:cNvPr>
          <p:cNvSpPr>
            <a:spLocks xmlns:a="http://schemas.openxmlformats.org/drawingml/2006/main" noGrp="1"/>
          </p:cNvSpPr>
          <p:nvPr/>
        </p:nvSpPr>
        <p:spPr>
          <a:xfrm xmlns:a="http://schemas.openxmlformats.org/drawingml/2006/main">
            <a:off x="609600" y="16859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Arial"/>
                <a:ea typeface="Arial"/>
                <a:cs typeface="Arial"/>
              </a:defRPr>
            </a:defPPr>
          </a:lstStyle>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Before editing</a:t>
            </a:r>
          </a:p>
        </p:txBody>
      </p:sp>
      <p:sp>
        <p:nvSpPr>
          <p:cNvPr id="3" name="">
            <a:extLst xmlns:a="http://schemas.openxmlformats.org/drawingml/2006/main">
              <a:ext uri="{FF2B5EF4-FFF2-40B4-BE49-F238E27FC236}">
                <a16:creationId xmlns:a16="http://schemas.microsoft.com/office/drawing/2014/main" id="{293D8095-950B-4D7E-B7E6-2D02935EDED3}"/>
              </a:ext>
            </a:extLst>
          </p:cNvPr>
          <p:cNvSpPr>
            <a:spLocks xmlns:a="http://schemas.openxmlformats.org/drawingml/2006/main" noGrp="1"/>
          </p:cNvSpPr>
          <p:nvPr/>
        </p:nvSpPr>
        <p:spPr>
          <a:xfrm xmlns:a="http://schemas.openxmlformats.org/drawingml/2006/main">
            <a:off x="609600" y="20764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03747"/>
                </a:solidFill>
                <a:latin typeface="Arial"/>
                <a:ea typeface="Arial"/>
                <a:cs typeface="Arial"/>
              </a:defRPr>
            </a:defPPr>
          </a:lstStyle>
          <a:p xmlns:a="http://schemas.openxmlformats.org/drawingml/2006/main">
            <a:pPr>
              <a:defRPr sz="2025" b="0">
                <a:solidFill>
                  <a:srgbClr val="203747"/>
                </a:solidFill>
                <a:latin typeface="Arial"/>
                <a:ea typeface="Arial"/>
                <a:cs typeface="Arial"/>
              </a:defRPr>
            </a:pPr>
            <a:r>
              <a:rPr sz="2025" b="0">
                <a:solidFill>
                  <a:srgbClr val="203747"/>
                </a:solidFill>
                <a:latin typeface="Arial"/>
                <a:ea typeface="Arial"/>
                <a:cs typeface="Arial"/>
              </a:rPr>
              <a:t>Record affected components, current behavior and planned gains.</a:t>
            </a:r>
          </a:p>
        </p:txBody>
      </p:sp>
      <p:sp>
        <p:nvSpPr>
          <p:cNvPr id="4" name="">
            <a:extLst xmlns:a="http://schemas.openxmlformats.org/drawingml/2006/main">
              <a:ext uri="{FF2B5EF4-FFF2-40B4-BE49-F238E27FC236}">
                <a16:creationId xmlns:a16="http://schemas.microsoft.com/office/drawing/2014/main" id="{1A1EA371-2F5D-4DD9-8814-BC948CCED530}"/>
              </a:ext>
            </a:extLst>
          </p:cNvPr>
          <p:cNvSpPr>
            <a:spLocks xmlns:a="http://schemas.openxmlformats.org/drawingml/2006/main" noGrp="1"/>
          </p:cNvSpPr>
          <p:nvPr/>
        </p:nvSpPr>
        <p:spPr>
          <a:xfrm xmlns:a="http://schemas.openxmlformats.org/drawingml/2006/main">
            <a:off x="609600" y="26574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Arial"/>
                <a:ea typeface="Arial"/>
                <a:cs typeface="Arial"/>
              </a:defRPr>
            </a:defPPr>
          </a:lstStyle>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Before refactoring</a:t>
            </a:r>
          </a:p>
        </p:txBody>
      </p:sp>
      <p:sp>
        <p:nvSpPr>
          <p:cNvPr id="5" name="">
            <a:extLst xmlns:a="http://schemas.openxmlformats.org/drawingml/2006/main">
              <a:ext uri="{FF2B5EF4-FFF2-40B4-BE49-F238E27FC236}">
                <a16:creationId xmlns:a16="http://schemas.microsoft.com/office/drawing/2014/main" id="{7356CFDE-30E4-4A8E-A9AD-082F0856D84A}"/>
              </a:ext>
            </a:extLst>
          </p:cNvPr>
          <p:cNvSpPr>
            <a:spLocks xmlns:a="http://schemas.openxmlformats.org/drawingml/2006/main" noGrp="1"/>
          </p:cNvSpPr>
          <p:nvPr/>
        </p:nvSpPr>
        <p:spPr>
          <a:xfrm xmlns:a="http://schemas.openxmlformats.org/drawingml/2006/main">
            <a:off x="609600" y="30480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03747"/>
                </a:solidFill>
                <a:latin typeface="Arial"/>
                <a:ea typeface="Arial"/>
                <a:cs typeface="Arial"/>
              </a:defRPr>
            </a:defPPr>
          </a:lstStyle>
          <a:p xmlns:a="http://schemas.openxmlformats.org/drawingml/2006/main">
            <a:pPr>
              <a:defRPr sz="2025" b="0">
                <a:solidFill>
                  <a:srgbClr val="203747"/>
                </a:solidFill>
                <a:latin typeface="Arial"/>
                <a:ea typeface="Arial"/>
                <a:cs typeface="Arial"/>
              </a:defRPr>
            </a:pPr>
            <a:r>
              <a:rPr sz="2025" b="0">
                <a:solidFill>
                  <a:srgbClr val="203747"/>
                </a:solidFill>
                <a:latin typeface="Arial"/>
                <a:ea typeface="Arial"/>
                <a:cs typeface="Arial"/>
              </a:rPr>
              <a:t>Capture baseline results and add missing behavior fixtures.</a:t>
            </a:r>
          </a:p>
        </p:txBody>
      </p:sp>
      <p:sp>
        <p:nvSpPr>
          <p:cNvPr id="6" name="">
            <a:extLst xmlns:a="http://schemas.openxmlformats.org/drawingml/2006/main">
              <a:ext uri="{FF2B5EF4-FFF2-40B4-BE49-F238E27FC236}">
                <a16:creationId xmlns:a16="http://schemas.microsoft.com/office/drawing/2014/main" id="{F656D480-21CC-4366-A927-F1DDBFE4A6AD}"/>
              </a:ext>
            </a:extLst>
          </p:cNvPr>
          <p:cNvSpPr>
            <a:spLocks xmlns:a="http://schemas.openxmlformats.org/drawingml/2006/main" noGrp="1"/>
          </p:cNvSpPr>
          <p:nvPr/>
        </p:nvSpPr>
        <p:spPr>
          <a:xfrm xmlns:a="http://schemas.openxmlformats.org/drawingml/2006/main">
            <a:off x="609600" y="36290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Arial"/>
                <a:ea typeface="Arial"/>
                <a:cs typeface="Arial"/>
              </a:defRPr>
            </a:defPPr>
          </a:lstStyle>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Before cutover</a:t>
            </a:r>
          </a:p>
        </p:txBody>
      </p:sp>
      <p:sp>
        <p:nvSpPr>
          <p:cNvPr id="7" name="">
            <a:extLst xmlns:a="http://schemas.openxmlformats.org/drawingml/2006/main">
              <a:ext uri="{FF2B5EF4-FFF2-40B4-BE49-F238E27FC236}">
                <a16:creationId xmlns:a16="http://schemas.microsoft.com/office/drawing/2014/main" id="{DAB0D44B-6AD4-4AF9-846E-49BB27A7B245}"/>
              </a:ext>
            </a:extLst>
          </p:cNvPr>
          <p:cNvSpPr>
            <a:spLocks xmlns:a="http://schemas.openxmlformats.org/drawingml/2006/main" noGrp="1"/>
          </p:cNvSpPr>
          <p:nvPr/>
        </p:nvSpPr>
        <p:spPr>
          <a:xfrm xmlns:a="http://schemas.openxmlformats.org/drawingml/2006/main">
            <a:off x="609600" y="40195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03747"/>
                </a:solidFill>
                <a:latin typeface="Arial"/>
                <a:ea typeface="Arial"/>
                <a:cs typeface="Arial"/>
              </a:defRPr>
            </a:defPPr>
          </a:lstStyle>
          <a:p xmlns:a="http://schemas.openxmlformats.org/drawingml/2006/main">
            <a:pPr>
              <a:defRPr sz="2025" b="0">
                <a:solidFill>
                  <a:srgbClr val="203747"/>
                </a:solidFill>
                <a:latin typeface="Arial"/>
                <a:ea typeface="Arial"/>
                <a:cs typeface="Arial"/>
              </a:defRPr>
            </a:pPr>
            <a:r>
              <a:rPr sz="2025" b="0">
                <a:solidFill>
                  <a:srgbClr val="203747"/>
                </a:solidFill>
                <a:latin typeface="Arial"/>
                <a:ea typeface="Arial"/>
                <a:cs typeface="Arial"/>
              </a:rPr>
              <a:t>Compare the candidate, migrate safely and rehearse recovery.</a:t>
            </a:r>
          </a:p>
        </p:txBody>
      </p:sp>
      <p:sp>
        <p:nvSpPr>
          <p:cNvPr id="8" name="">
            <a:extLst xmlns:a="http://schemas.openxmlformats.org/drawingml/2006/main">
              <a:ext uri="{FF2B5EF4-FFF2-40B4-BE49-F238E27FC236}">
                <a16:creationId xmlns:a16="http://schemas.microsoft.com/office/drawing/2014/main" id="{D32E18FA-548B-48AE-98D2-178193F0ED7C}"/>
              </a:ext>
            </a:extLst>
          </p:cNvPr>
          <p:cNvSpPr>
            <a:spLocks xmlns:a="http://schemas.openxmlformats.org/drawingml/2006/main" noGrp="1"/>
          </p:cNvSpPr>
          <p:nvPr/>
        </p:nvSpPr>
        <p:spPr>
          <a:xfrm xmlns:a="http://schemas.openxmlformats.org/drawingml/2006/main">
            <a:off x="609600" y="4600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Arial"/>
                <a:ea typeface="Arial"/>
                <a:cs typeface="Arial"/>
              </a:defRPr>
            </a:defPPr>
          </a:lstStyle>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Before advancement</a:t>
            </a:r>
          </a:p>
        </p:txBody>
      </p:sp>
      <p:sp>
        <p:nvSpPr>
          <p:cNvPr id="9" name="">
            <a:extLst xmlns:a="http://schemas.openxmlformats.org/drawingml/2006/main">
              <a:ext uri="{FF2B5EF4-FFF2-40B4-BE49-F238E27FC236}">
                <a16:creationId xmlns:a16="http://schemas.microsoft.com/office/drawing/2014/main" id="{2811853D-C01E-473C-9B7F-383A4BAC92E7}"/>
              </a:ext>
            </a:extLst>
          </p:cNvPr>
          <p:cNvSpPr>
            <a:spLocks xmlns:a="http://schemas.openxmlformats.org/drawingml/2006/main" noGrp="1"/>
          </p:cNvSpPr>
          <p:nvPr/>
        </p:nvSpPr>
        <p:spPr>
          <a:xfrm xmlns:a="http://schemas.openxmlformats.org/drawingml/2006/main">
            <a:off x="609600" y="49911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03747"/>
                </a:solidFill>
                <a:latin typeface="Arial"/>
                <a:ea typeface="Arial"/>
                <a:cs typeface="Arial"/>
              </a:defRPr>
            </a:defPPr>
          </a:lstStyle>
          <a:p xmlns:a="http://schemas.openxmlformats.org/drawingml/2006/main">
            <a:pPr>
              <a:defRPr sz="2025" b="0">
                <a:solidFill>
                  <a:srgbClr val="203747"/>
                </a:solidFill>
                <a:latin typeface="Arial"/>
                <a:ea typeface="Arial"/>
                <a:cs typeface="Arial"/>
              </a:defRPr>
            </a:pPr>
            <a:r>
              <a:rPr sz="2025" b="0">
                <a:solidFill>
                  <a:srgbClr val="203747"/>
                </a:solidFill>
                <a:latin typeface="Arial"/>
                <a:ea typeface="Arial"/>
                <a:cs typeface="Arial"/>
              </a:rPr>
              <a:t>Review exact evidence, remaining gaps and approved changes.</a:t>
            </a:r>
          </a:p>
        </p:txBody>
      </p:sp>
      <p:sp>
        <p:nvSpPr>
          <p:cNvPr id="10" name="">
            <a:extLst xmlns:a="http://schemas.openxmlformats.org/drawingml/2006/main">
              <a:ext uri="{FF2B5EF4-FFF2-40B4-BE49-F238E27FC236}">
                <a16:creationId xmlns:a16="http://schemas.microsoft.com/office/drawing/2014/main" id="{EDC35B34-A5C6-46AD-8996-BAD5CABCBBE7}"/>
              </a:ext>
            </a:extLst>
          </p:cNvPr>
          <p:cNvSpPr>
            <a:spLocks xmlns:a="http://schemas.openxmlformats.org/drawingml/2006/main" noGrp="1"/>
          </p:cNvSpPr>
          <p:nvPr/>
        </p:nvSpPr>
        <p:spPr>
          <a:xfrm xmlns:a="http://schemas.openxmlformats.org/drawingml/2006/main">
            <a:off x="609600" y="58959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774"/>
                </a:solidFill>
                <a:latin typeface="Arial"/>
                <a:ea typeface="Arial"/>
                <a:cs typeface="Arial"/>
              </a:defRPr>
            </a:defPPr>
          </a:lstStyle>
          <a:p xmlns:a="http://schemas.openxmlformats.org/drawingml/2006/main">
            <a:pPr>
              <a:defRPr sz="1725" b="0">
                <a:solidFill>
                  <a:srgbClr val="526774"/>
                </a:solidFill>
                <a:latin typeface="Arial"/>
                <a:ea typeface="Arial"/>
                <a:cs typeface="Arial"/>
              </a:defRPr>
            </a:pPr>
            <a:r>
              <a:rPr sz="1725" b="0">
                <a:solidFill>
                  <a:srgbClr val="526774"/>
                </a:solidFill>
                <a:latin typeface="Arial"/>
                <a:ea typeface="Arial"/>
                <a:cs typeface="Arial"/>
              </a:rPr>
              <a:t>Missing environments, skipped tests and unapproved removals block the affected claim.</a:t>
            </a:r>
          </a:p>
        </p:txBody>
      </p:sp>
      <p:sp>
        <p:nvSpPr>
          <p:cNvPr id="11" name="">
            <a:extLst xmlns:a="http://schemas.openxmlformats.org/drawingml/2006/main">
              <a:ext uri="{FF2B5EF4-FFF2-40B4-BE49-F238E27FC236}">
                <a16:creationId xmlns:a16="http://schemas.microsoft.com/office/drawing/2014/main" id="{E25D0FEB-8612-43A6-8B85-795A6EB43CDC}"/>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774"/>
                </a:solidFill>
                <a:latin typeface="Arial"/>
                <a:ea typeface="Arial"/>
                <a:cs typeface="Arial"/>
              </a:defRPr>
            </a:defPPr>
          </a:lstStyle>
          <a:p xmlns:a="http://schemas.openxmlformats.org/drawingml/2006/main">
            <a:pPr>
              <a:defRPr sz="1275" b="0">
                <a:solidFill>
                  <a:srgbClr val="526774"/>
                </a:solidFill>
                <a:latin typeface="Arial"/>
                <a:ea typeface="Arial"/>
                <a:cs typeface="Arial"/>
              </a:defRPr>
            </a:pPr>
            <a:r>
              <a:rPr sz="1275" b="0">
                <a:solidFill>
                  <a:srgbClr val="526774"/>
                </a:solidFill>
                <a:latin typeface="Arial"/>
                <a:ea typeface="Arial"/>
                <a:cs typeface="Arial"/>
              </a:rPr>
              <a:t>25</a:t>
            </a:r>
          </a:p>
        </p:txBody>
      </p:sp>
    </p:spTree>
    <p:extLst>
      <p:ext uri="{BB962C8B-B14F-4D97-AF65-F5344CB8AC3E}">
        <p14:creationId xmlns:p14="http://schemas.microsoft.com/office/powerpoint/2010/main" val="446845536"/>
      </p:ext>
    </p:extLst>
  </p:cSld>
</p:sld>
</file>

<file path=ppt/slides/slide2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87D3F6BB-519B-4E85-A54C-C13F42561459}"/>
              </a:ext>
            </a:extLst>
          </p:cNvPr>
          <p:cNvCxnSpPr>
            <a:stCxn xmlns:a="http://schemas.openxmlformats.org/drawingml/2006/main" id="5" idx="3"/>
            <a:endCxn xmlns:a="http://schemas.openxmlformats.org/drawingml/2006/main" id="6" idx="1"/>
          </p:cNvCxnSpPr>
          <p:nvPr/>
        </p:nvCxnSpPr>
        <p:spPr>
          <a:xfrm xmlns:a="http://schemas.openxmlformats.org/drawingml/2006/main">
            <a:off x="8734425" y="2457450"/>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8" name="">
            <a:extLst xmlns:a="http://schemas.openxmlformats.org/drawingml/2006/main">
              <a:ext uri="{FF2B5EF4-FFF2-40B4-BE49-F238E27FC236}">
                <a16:creationId xmlns:a16="http://schemas.microsoft.com/office/drawing/2014/main" id="{B9E3235A-6129-467A-9F91-F3FB5BD7D56B}"/>
              </a:ext>
            </a:extLst>
          </p:cNvPr>
          <p:cNvCxnSpPr>
            <a:stCxn xmlns:a="http://schemas.openxmlformats.org/drawingml/2006/main" id="4" idx="3"/>
            <a:endCxn xmlns:a="http://schemas.openxmlformats.org/drawingml/2006/main" id="5" idx="1"/>
          </p:cNvCxnSpPr>
          <p:nvPr/>
        </p:nvCxnSpPr>
        <p:spPr>
          <a:xfrm xmlns:a="http://schemas.openxmlformats.org/drawingml/2006/main">
            <a:off x="5876925" y="2457450"/>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77149EFB-035C-4C35-A6F3-75D5F4F16B83}"/>
              </a:ext>
            </a:extLst>
          </p:cNvPr>
          <p:cNvCxnSpPr>
            <a:stCxn xmlns:a="http://schemas.openxmlformats.org/drawingml/2006/main" id="3" idx="3"/>
            <a:endCxn xmlns:a="http://schemas.openxmlformats.org/drawingml/2006/main" id="4" idx="1"/>
          </p:cNvCxnSpPr>
          <p:nvPr/>
        </p:nvCxnSpPr>
        <p:spPr>
          <a:xfrm xmlns:a="http://schemas.openxmlformats.org/drawingml/2006/main">
            <a:off x="3019425" y="2457450"/>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5" name="Phase acceptance and evidence">
            <a:extLst xmlns:a="http://schemas.openxmlformats.org/drawingml/2006/main">
              <a:ext uri="{FF2B5EF4-FFF2-40B4-BE49-F238E27FC236}">
                <a16:creationId xmlns:a16="http://schemas.microsoft.com/office/drawing/2014/main" id="{025A72F1-CF2F-4F76-ACA6-BA9E36A81514}"/>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Phase acceptance and evidence</a:t>
            </a:r>
          </a:p>
        </p:txBody>
      </p:sp>
      <p:sp>
        <p:nvSpPr>
          <p:cNvPr id="2" name="19">
            <a:extLst xmlns:a="http://schemas.openxmlformats.org/drawingml/2006/main">
              <a:ext uri="{FF2B5EF4-FFF2-40B4-BE49-F238E27FC236}">
                <a16:creationId xmlns:a16="http://schemas.microsoft.com/office/drawing/2014/main" id="{A89085AE-F010-410F-B1AF-3B6E2FB9B1F3}"/>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26</a:t>
            </a:r>
          </a:p>
        </p:txBody>
      </p:sp>
      <p:sp>
        <p:nvSpPr>
          <p:cNvPr id="3" name="Implement">
            <a:extLst xmlns:a="http://schemas.openxmlformats.org/drawingml/2006/main">
              <a:ext uri="{FF2B5EF4-FFF2-40B4-BE49-F238E27FC236}">
                <a16:creationId xmlns:a16="http://schemas.microsoft.com/office/drawing/2014/main" id="{F72EF9D7-4950-4631-A812-0D9BA86178B8}"/>
              </a:ext>
            </a:extLst>
          </p:cNvPr>
          <p:cNvSpPr>
            <a:spLocks xmlns:a="http://schemas.openxmlformats.org/drawingml/2006/main" noGrp="1"/>
          </p:cNvSpPr>
          <p:nvPr/>
        </p:nvSpPr>
        <p:spPr>
          <a:xfrm xmlns:a="http://schemas.openxmlformats.org/drawingml/2006/main">
            <a:off x="609600" y="2047875"/>
            <a:ext cx="2409825" cy="8191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Implement</a:t>
            </a:r>
          </a:p>
        </p:txBody>
      </p:sp>
      <p:sp>
        <p:nvSpPr>
          <p:cNvPr id="4" name="Verify criteria">
            <a:extLst xmlns:a="http://schemas.openxmlformats.org/drawingml/2006/main">
              <a:ext uri="{FF2B5EF4-FFF2-40B4-BE49-F238E27FC236}">
                <a16:creationId xmlns:a16="http://schemas.microsoft.com/office/drawing/2014/main" id="{D6DB914B-EACD-4B93-BA57-9122C8D46E11}"/>
              </a:ext>
            </a:extLst>
          </p:cNvPr>
          <p:cNvSpPr>
            <a:spLocks xmlns:a="http://schemas.openxmlformats.org/drawingml/2006/main" noGrp="1"/>
          </p:cNvSpPr>
          <p:nvPr/>
        </p:nvSpPr>
        <p:spPr>
          <a:xfrm xmlns:a="http://schemas.openxmlformats.org/drawingml/2006/main">
            <a:off x="3467100" y="2047875"/>
            <a:ext cx="2409825" cy="8191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Verify criteria</a:t>
            </a:r>
          </a:p>
        </p:txBody>
      </p:sp>
      <p:sp>
        <p:nvSpPr>
          <p:cNvPr id="5" name="Independent&#10;review">
            <a:extLst xmlns:a="http://schemas.openxmlformats.org/drawingml/2006/main">
              <a:ext uri="{FF2B5EF4-FFF2-40B4-BE49-F238E27FC236}">
                <a16:creationId xmlns:a16="http://schemas.microsoft.com/office/drawing/2014/main" id="{5EE223B7-192E-49FF-8B7B-DEAB436A6BD6}"/>
              </a:ext>
            </a:extLst>
          </p:cNvPr>
          <p:cNvSpPr>
            <a:spLocks xmlns:a="http://schemas.openxmlformats.org/drawingml/2006/main" noGrp="1"/>
          </p:cNvSpPr>
          <p:nvPr/>
        </p:nvSpPr>
        <p:spPr>
          <a:xfrm xmlns:a="http://schemas.openxmlformats.org/drawingml/2006/main">
            <a:off x="6324600" y="2047875"/>
            <a:ext cx="2409825" cy="8191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Independent</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review</a:t>
            </a:r>
          </a:p>
        </p:txBody>
      </p:sp>
      <p:sp>
        <p:nvSpPr>
          <p:cNvPr id="6" name="Authorize&#10;advancement">
            <a:extLst xmlns:a="http://schemas.openxmlformats.org/drawingml/2006/main">
              <a:ext uri="{FF2B5EF4-FFF2-40B4-BE49-F238E27FC236}">
                <a16:creationId xmlns:a16="http://schemas.microsoft.com/office/drawing/2014/main" id="{F2250BD0-83D4-405B-BA29-BA045295B88E}"/>
              </a:ext>
            </a:extLst>
          </p:cNvPr>
          <p:cNvSpPr>
            <a:spLocks xmlns:a="http://schemas.openxmlformats.org/drawingml/2006/main" noGrp="1"/>
          </p:cNvSpPr>
          <p:nvPr/>
        </p:nvSpPr>
        <p:spPr>
          <a:xfrm xmlns:a="http://schemas.openxmlformats.org/drawingml/2006/main">
            <a:off x="9182100" y="2047875"/>
            <a:ext cx="2400300" cy="8191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Authorize</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advancement</a:t>
            </a:r>
          </a:p>
        </p:txBody>
      </p:sp>
      <p:sp>
        <p:nvSpPr>
          <p:cNvPr id="10" name="Evidence belongs to an exact revision">
            <a:extLst xmlns:a="http://schemas.openxmlformats.org/drawingml/2006/main">
              <a:ext uri="{FF2B5EF4-FFF2-40B4-BE49-F238E27FC236}">
                <a16:creationId xmlns:a16="http://schemas.microsoft.com/office/drawing/2014/main" id="{F2940F01-D2B2-4007-B456-0D7F4587413B}"/>
              </a:ext>
            </a:extLst>
          </p:cNvPr>
          <p:cNvSpPr>
            <a:spLocks xmlns:a="http://schemas.openxmlformats.org/drawingml/2006/main" noGrp="1"/>
          </p:cNvSpPr>
          <p:nvPr/>
        </p:nvSpPr>
        <p:spPr>
          <a:xfrm xmlns:a="http://schemas.openxmlformats.org/drawingml/2006/main">
            <a:off x="609600" y="36957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Evidence belongs to an exact revision</a:t>
            </a:r>
          </a:p>
        </p:txBody>
      </p:sp>
      <p:sp>
        <p:nvSpPr>
          <p:cNvPr id="11" name="Source, contracts, environments, commands, results and rollback rehear">
            <a:extLst xmlns:a="http://schemas.openxmlformats.org/drawingml/2006/main">
              <a:ext uri="{FF2B5EF4-FFF2-40B4-BE49-F238E27FC236}">
                <a16:creationId xmlns:a16="http://schemas.microsoft.com/office/drawing/2014/main" id="{417EAA22-8C6D-499A-809E-2EABAAE23C7B}"/>
              </a:ext>
            </a:extLst>
          </p:cNvPr>
          <p:cNvSpPr>
            <a:spLocks xmlns:a="http://schemas.openxmlformats.org/drawingml/2006/main" noGrp="1"/>
          </p:cNvSpPr>
          <p:nvPr/>
        </p:nvSpPr>
        <p:spPr>
          <a:xfrm xmlns:a="http://schemas.openxmlformats.org/drawingml/2006/main">
            <a:off x="609600" y="4067175"/>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Source, contracts, environments, commands, results and rollback rehearsal</a:t>
            </a:r>
          </a:p>
        </p:txBody>
      </p:sp>
      <p:sp>
        <p:nvSpPr>
          <p:cNvPr id="12" name="Unverified stays visible">
            <a:extLst xmlns:a="http://schemas.openxmlformats.org/drawingml/2006/main">
              <a:ext uri="{FF2B5EF4-FFF2-40B4-BE49-F238E27FC236}">
                <a16:creationId xmlns:a16="http://schemas.microsoft.com/office/drawing/2014/main" id="{FD8681B6-1D41-4797-AE15-3CC02A170E71}"/>
              </a:ext>
            </a:extLst>
          </p:cNvPr>
          <p:cNvSpPr>
            <a:spLocks xmlns:a="http://schemas.openxmlformats.org/drawingml/2006/main" noGrp="1"/>
          </p:cNvSpPr>
          <p:nvPr/>
        </p:nvSpPr>
        <p:spPr>
          <a:xfrm xmlns:a="http://schemas.openxmlformats.org/drawingml/2006/main">
            <a:off x="609600" y="475297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Unverified stays visible</a:t>
            </a:r>
          </a:p>
        </p:txBody>
      </p:sp>
      <p:sp>
        <p:nvSpPr>
          <p:cNvPr id="13" name="A skipped environment or agent “done” message does not pass a gate">
            <a:extLst xmlns:a="http://schemas.openxmlformats.org/drawingml/2006/main">
              <a:ext uri="{FF2B5EF4-FFF2-40B4-BE49-F238E27FC236}">
                <a16:creationId xmlns:a16="http://schemas.microsoft.com/office/drawing/2014/main" id="{B78B8800-413C-442D-8549-5FEC7DAC37F4}"/>
              </a:ext>
            </a:extLst>
          </p:cNvPr>
          <p:cNvSpPr>
            <a:spLocks xmlns:a="http://schemas.openxmlformats.org/drawingml/2006/main" noGrp="1"/>
          </p:cNvSpPr>
          <p:nvPr/>
        </p:nvSpPr>
        <p:spPr>
          <a:xfrm xmlns:a="http://schemas.openxmlformats.org/drawingml/2006/main">
            <a:off x="609600" y="5124450"/>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A skipped environment or agent “done” message does not pass a gate</a:t>
            </a:r>
          </a:p>
        </p:txBody>
      </p:sp>
      <p:sp>
        <p:nvSpPr>
          <p:cNvPr id="14" name="Merge and release require the separate Ryan/Nick review and Ryan’s exp">
            <a:extLst xmlns:a="http://schemas.openxmlformats.org/drawingml/2006/main">
              <a:ext uri="{FF2B5EF4-FFF2-40B4-BE49-F238E27FC236}">
                <a16:creationId xmlns:a16="http://schemas.microsoft.com/office/drawing/2014/main" id="{8AC0B537-4D64-4BF8-9987-2A25AEFFC5DD}"/>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Merge and release require the separate Ryan/Nick review and Ryan’s explicit authorization.</a:t>
            </a:r>
          </a:p>
        </p:txBody>
      </p:sp>
    </p:spTree>
    <p:extLst>
      <p:ext uri="{BB962C8B-B14F-4D97-AF65-F5344CB8AC3E}">
        <p14:creationId xmlns:p14="http://schemas.microsoft.com/office/powerpoint/2010/main" val="894553880"/>
      </p:ext>
    </p:extLst>
  </p:cSld>
</p:sld>
</file>

<file path=ppt/slides/slide2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5" name="Proposed delivery sequence">
            <a:extLst xmlns:a="http://schemas.openxmlformats.org/drawingml/2006/main">
              <a:ext uri="{FF2B5EF4-FFF2-40B4-BE49-F238E27FC236}">
                <a16:creationId xmlns:a16="http://schemas.microsoft.com/office/drawing/2014/main" id="{ED0AA74A-91BC-4BDD-BC34-B17E0BEE7552}"/>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Proposed delivery sequence</a:t>
            </a:r>
          </a:p>
        </p:txBody>
      </p:sp>
      <p:sp>
        <p:nvSpPr>
          <p:cNvPr id="2" name="20">
            <a:extLst xmlns:a="http://schemas.openxmlformats.org/drawingml/2006/main">
              <a:ext uri="{FF2B5EF4-FFF2-40B4-BE49-F238E27FC236}">
                <a16:creationId xmlns:a16="http://schemas.microsoft.com/office/drawing/2014/main" id="{3FD2DAC5-D0BB-4EBF-9DD2-88367231DAEB}"/>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27</a:t>
            </a:r>
          </a:p>
        </p:txBody>
      </p:sp>
      <p:graphicFrame>
        <p:nvGraphicFramePr>
          <p:cNvPr id="3" name="">
            <a:extLst xmlns:a="http://schemas.openxmlformats.org/drawingml/2006/main">
              <a:ext uri="{FF2B5EF4-FFF2-40B4-BE49-F238E27FC236}">
                <a16:creationId xmlns:a16="http://schemas.microsoft.com/office/drawing/2014/main" id="{7040BFAE-D26F-4EC2-A181-1C9996894538}"/>
              </a:ext>
            </a:extLst>
          </p:cNvPr>
          <p:cNvGraphicFramePr/>
          <p:nvPr/>
        </p:nvGraphicFramePr>
        <p:xfrm>
          <a:off xmlns:a="http://schemas.openxmlformats.org/drawingml/2006/main" x="609600" y="1752600"/>
          <a:ext xmlns:a="http://schemas.openxmlformats.org/drawingml/2006/main" cx="10972800" cy="3819525"/>
        </p:xfrm>
        <a:graphic xmlns:a="http://schemas.openxmlformats.org/drawingml/2006/main">
          <a:graphicData uri="http://schemas.openxmlformats.org/drawingml/2006/table">
            <a:tbl>
              <a:tblPr/>
              <a:tblGrid>
                <a:gridCol w="2543175"/>
                <a:gridCol w="8429625"/>
              </a:tblGrid>
              <a:tr h="636588">
                <a:tc>
                  <a:txBody>
                    <a:bodyPr lIns="95250" tIns="95250" rIns="95250" bIns="95250"/>
                    <a:lstStyle/>
                    <a:p>
                      <a:r>
                        <a:rPr sz="1950" b="1">
                          <a:solidFill>
                            <a:srgbClr val="FFFFFF"/>
                          </a:solidFill>
                          <a:latin typeface="Arial"/>
                          <a:ea typeface="Arial"/>
                          <a:cs typeface="Arial"/>
                        </a:rPr>
                        <a:t>Phases</a:t>
                      </a:r>
                    </a:p>
                  </a:txBody>
                  <a:tcPr marL="91440" marR="91440" marT="45720" marB="45720" anchor="ctr">
                    <a:solidFill>
                      <a:srgbClr val="152E42"/>
                    </a:solidFill>
                  </a:tcPr>
                </a:tc>
                <a:tc>
                  <a:txBody>
                    <a:bodyPr lIns="95250" tIns="95250" rIns="95250" bIns="95250"/>
                    <a:lstStyle/>
                    <a:p>
                      <a:r>
                        <a:rPr sz="1950" b="1">
                          <a:solidFill>
                            <a:srgbClr val="FFFFFF"/>
                          </a:solidFill>
                          <a:latin typeface="Arial"/>
                          <a:ea typeface="Arial"/>
                          <a:cs typeface="Arial"/>
                        </a:rPr>
                        <a:t>Primary outcome</a:t>
                      </a:r>
                    </a:p>
                  </a:txBody>
                  <a:tcPr marL="91440" marR="91440" marT="45720" marB="45720" anchor="ctr">
                    <a:solidFill>
                      <a:srgbClr val="152E42"/>
                    </a:solidFill>
                  </a:tcPr>
                </a:tc>
              </a:tr>
              <a:tr h="636588">
                <a:tc>
                  <a:txBody>
                    <a:bodyPr lIns="95250" tIns="95250" rIns="95250" bIns="95250"/>
                    <a:lstStyle/>
                    <a:p>
                      <a:r>
                        <a:rPr sz="1950" b="0">
                          <a:solidFill>
                            <a:srgbClr val="203747"/>
                          </a:solidFill>
                          <a:latin typeface="Arial"/>
                          <a:ea typeface="Arial"/>
                          <a:cs typeface="Arial"/>
                        </a:rPr>
                        <a:t>P00–P04</a:t>
                      </a:r>
                    </a:p>
                  </a:txBody>
                  <a:tcPr marL="91440" marR="91440" marT="45720" marB="45720" anchor="ctr">
                    <a:solidFill>
                      <a:srgbClr val="F8F7F2"/>
                    </a:solidFill>
                  </a:tcPr>
                </a:tc>
                <a:tc>
                  <a:txBody>
                    <a:bodyPr lIns="95250" tIns="95250" rIns="95250" bIns="95250"/>
                    <a:lstStyle/>
                    <a:p>
                      <a:r>
                        <a:rPr sz="1950" b="0">
                          <a:solidFill>
                            <a:srgbClr val="203747"/>
                          </a:solidFill>
                          <a:latin typeface="Arial"/>
                          <a:ea typeface="Arial"/>
                          <a:cs typeface="Arial"/>
                        </a:rPr>
                        <a:t>Decisions, contracts, boot, plugins and scoped ownership</a:t>
                      </a:r>
                    </a:p>
                  </a:txBody>
                  <a:tcPr marL="91440" marR="91440" marT="45720" marB="45720" anchor="ctr">
                    <a:solidFill>
                      <a:srgbClr val="F8F7F2"/>
                    </a:solidFill>
                  </a:tcPr>
                </a:tc>
              </a:tr>
              <a:tr h="636588">
                <a:tc>
                  <a:txBody>
                    <a:bodyPr lIns="95250" tIns="95250" rIns="95250" bIns="95250"/>
                    <a:lstStyle/>
                    <a:p>
                      <a:r>
                        <a:rPr sz="1950" b="0">
                          <a:solidFill>
                            <a:srgbClr val="203747"/>
                          </a:solidFill>
                          <a:latin typeface="Arial"/>
                          <a:ea typeface="Arial"/>
                          <a:cs typeface="Arial"/>
                        </a:rPr>
                        <a:t>P05–P07</a:t>
                      </a:r>
                    </a:p>
                  </a:txBody>
                  <a:tcPr marL="91440" marR="91440" marT="45720" marB="45720" anchor="ctr">
                    <a:solidFill>
                      <a:srgbClr val="EEF2EF"/>
                    </a:solidFill>
                  </a:tcPr>
                </a:tc>
                <a:tc>
                  <a:txBody>
                    <a:bodyPr lIns="95250" tIns="95250" rIns="95250" bIns="95250"/>
                    <a:lstStyle/>
                    <a:p>
                      <a:r>
                        <a:rPr sz="1950" b="0">
                          <a:solidFill>
                            <a:srgbClr val="203747"/>
                          </a:solidFill>
                          <a:latin typeface="Arial"/>
                          <a:ea typeface="Arial"/>
                          <a:cs typeface="Arial"/>
                        </a:rPr>
                        <a:t>Local workflow, supported clients and dashboard</a:t>
                      </a:r>
                    </a:p>
                  </a:txBody>
                  <a:tcPr marL="91440" marR="91440" marT="45720" marB="45720" anchor="ctr">
                    <a:solidFill>
                      <a:srgbClr val="EEF2EF"/>
                    </a:solidFill>
                  </a:tcPr>
                </a:tc>
              </a:tr>
              <a:tr h="636588">
                <a:tc>
                  <a:txBody>
                    <a:bodyPr lIns="95250" tIns="95250" rIns="95250" bIns="95250"/>
                    <a:lstStyle/>
                    <a:p>
                      <a:r>
                        <a:rPr sz="1950" b="0">
                          <a:solidFill>
                            <a:srgbClr val="203747"/>
                          </a:solidFill>
                          <a:latin typeface="Arial"/>
                          <a:ea typeface="Arial"/>
                          <a:cs typeface="Arial"/>
                        </a:rPr>
                        <a:t>P08–P09</a:t>
                      </a:r>
                    </a:p>
                  </a:txBody>
                  <a:tcPr marL="91440" marR="91440" marT="45720" marB="45720" anchor="ctr">
                    <a:solidFill>
                      <a:srgbClr val="F8F7F2"/>
                    </a:solidFill>
                  </a:tcPr>
                </a:tc>
                <a:tc>
                  <a:txBody>
                    <a:bodyPr lIns="95250" tIns="95250" rIns="95250" bIns="95250"/>
                    <a:lstStyle/>
                    <a:p>
                      <a:r>
                        <a:rPr sz="1950" b="0">
                          <a:solidFill>
                            <a:srgbClr val="203747"/>
                          </a:solidFill>
                          <a:latin typeface="Arial"/>
                          <a:ea typeface="Arial"/>
                          <a:cs typeface="Arial"/>
                        </a:rPr>
                        <a:t>Evaluated Jev services and portable skills</a:t>
                      </a:r>
                    </a:p>
                  </a:txBody>
                  <a:tcPr marL="91440" marR="91440" marT="45720" marB="45720" anchor="ctr">
                    <a:solidFill>
                      <a:srgbClr val="F8F7F2"/>
                    </a:solidFill>
                  </a:tcPr>
                </a:tc>
              </a:tr>
              <a:tr h="636588">
                <a:tc>
                  <a:txBody>
                    <a:bodyPr lIns="95250" tIns="95250" rIns="95250" bIns="95250"/>
                    <a:lstStyle/>
                    <a:p>
                      <a:r>
                        <a:rPr sz="1950" b="0">
                          <a:solidFill>
                            <a:srgbClr val="203747"/>
                          </a:solidFill>
                          <a:latin typeface="Arial"/>
                          <a:ea typeface="Arial"/>
                          <a:cs typeface="Arial"/>
                        </a:rPr>
                        <a:t>P10–P12</a:t>
                      </a:r>
                    </a:p>
                  </a:txBody>
                  <a:tcPr marL="91440" marR="91440" marT="45720" marB="45720" anchor="ctr">
                    <a:solidFill>
                      <a:srgbClr val="EEF2EF"/>
                    </a:solidFill>
                  </a:tcPr>
                </a:tc>
                <a:tc>
                  <a:txBody>
                    <a:bodyPr lIns="95250" tIns="95250" rIns="95250" bIns="95250"/>
                    <a:lstStyle/>
                    <a:p>
                      <a:r>
                        <a:rPr sz="1950" b="0">
                          <a:solidFill>
                            <a:srgbClr val="203747"/>
                          </a:solidFill>
                          <a:latin typeface="Arial"/>
                          <a:ea typeface="Arial"/>
                          <a:cs typeface="Arial"/>
                        </a:rPr>
                        <a:t>Connected hubs, industrial packages and release evidence</a:t>
                      </a:r>
                    </a:p>
                  </a:txBody>
                  <a:tcPr marL="91440" marR="91440" marT="45720" marB="45720" anchor="ctr">
                    <a:solidFill>
                      <a:srgbClr val="EEF2EF"/>
                    </a:solidFill>
                  </a:tcPr>
                </a:tc>
              </a:tr>
              <a:tr h="636588">
                <a:tc>
                  <a:txBody>
                    <a:bodyPr lIns="95250" tIns="95250" rIns="95250" bIns="95250"/>
                    <a:lstStyle/>
                    <a:p>
                      <a:r>
                        <a:rPr sz="1950" b="0">
                          <a:solidFill>
                            <a:srgbClr val="203747"/>
                          </a:solidFill>
                          <a:latin typeface="Arial"/>
                          <a:ea typeface="Arial"/>
                          <a:cs typeface="Arial"/>
                        </a:rPr>
                        <a:t>P13–P14</a:t>
                      </a:r>
                    </a:p>
                  </a:txBody>
                  <a:tcPr marL="91440" marR="91440" marT="45720" marB="45720" anchor="ctr">
                    <a:solidFill>
                      <a:srgbClr val="F8F7F2"/>
                    </a:solidFill>
                  </a:tcPr>
                </a:tc>
                <a:tc>
                  <a:txBody>
                    <a:bodyPr lIns="95250" tIns="95250" rIns="95250" bIns="95250"/>
                    <a:lstStyle/>
                    <a:p>
                      <a:r>
                        <a:rPr sz="1950" b="0">
                          <a:solidFill>
                            <a:srgbClr val="203747"/>
                          </a:solidFill>
                          <a:latin typeface="Arial"/>
                          <a:ea typeface="Arial"/>
                          <a:cs typeface="Arial"/>
                        </a:rPr>
                        <a:t>Remaining experiments and sandbox qualification</a:t>
                      </a:r>
                    </a:p>
                  </a:txBody>
                  <a:tcPr marL="91440" marR="91440" marT="45720" marB="45720" anchor="ctr">
                    <a:solidFill>
                      <a:srgbClr val="F8F7F2"/>
                    </a:solidFill>
                  </a:tcPr>
                </a:tc>
              </a:tr>
            </a:tbl>
          </a:graphicData>
        </a:graphic>
      </p:graphicFrame>
      <p:sp>
        <p:nvSpPr>
          <p:cNvPr id="4" name="Launch recommendation: P00–P12. No dates or staffing commitments are i">
            <a:extLst xmlns:a="http://schemas.openxmlformats.org/drawingml/2006/main">
              <a:ext uri="{FF2B5EF4-FFF2-40B4-BE49-F238E27FC236}">
                <a16:creationId xmlns:a16="http://schemas.microsoft.com/office/drawing/2014/main" id="{5391A9C9-5103-4828-AE16-ACA092DF447C}"/>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Launch recommendation: P00–P12. No dates or staffing commitments are implied.</a:t>
            </a:r>
          </a:p>
        </p:txBody>
      </p:sp>
    </p:spTree>
    <p:extLst>
      <p:ext uri="{BB962C8B-B14F-4D97-AF65-F5344CB8AC3E}">
        <p14:creationId xmlns:p14="http://schemas.microsoft.com/office/powerpoint/2010/main" val="1947904003"/>
      </p:ext>
    </p:extLst>
  </p:cSld>
</p:sld>
</file>

<file path=ppt/slides/slide2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0  Scope and baseline">
            <a:extLst xmlns:a="http://schemas.openxmlformats.org/drawingml/2006/main">
              <a:ext uri="{FF2B5EF4-FFF2-40B4-BE49-F238E27FC236}">
                <a16:creationId xmlns:a16="http://schemas.microsoft.com/office/drawing/2014/main" id="{B33C1E89-DBD0-4124-A445-5519A4C48251}"/>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P00  Scope and baseline</a:t>
            </a:r>
          </a:p>
        </p:txBody>
      </p:sp>
      <p:sp>
        <p:nvSpPr>
          <p:cNvPr id="2" name="21">
            <a:extLst xmlns:a="http://schemas.openxmlformats.org/drawingml/2006/main">
              <a:ext uri="{FF2B5EF4-FFF2-40B4-BE49-F238E27FC236}">
                <a16:creationId xmlns:a16="http://schemas.microsoft.com/office/drawing/2014/main" id="{F79B6D78-51E4-42FE-BFB0-E5A69B799933}"/>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28</a:t>
            </a:r>
          </a:p>
        </p:txBody>
      </p:sp>
      <p:sp>
        <p:nvSpPr>
          <p:cNvPr id="3" name="An approved implementation contract with no unresolved decision hidden">
            <a:extLst xmlns:a="http://schemas.openxmlformats.org/drawingml/2006/main">
              <a:ext uri="{FF2B5EF4-FFF2-40B4-BE49-F238E27FC236}">
                <a16:creationId xmlns:a16="http://schemas.microsoft.com/office/drawing/2014/main" id="{726EC300-42CC-46B1-908E-4A6C1D4C8434}"/>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An approved implementation contract with no unresolved decision hidden in code.</a:t>
            </a:r>
          </a:p>
        </p:txBody>
      </p:sp>
      <p:sp>
        <p:nvSpPr>
          <p:cNvPr id="4" name="">
            <a:extLst xmlns:a="http://schemas.openxmlformats.org/drawingml/2006/main">
              <a:ext uri="{FF2B5EF4-FFF2-40B4-BE49-F238E27FC236}">
                <a16:creationId xmlns:a16="http://schemas.microsoft.com/office/drawing/2014/main" id="{FE849DFC-B2BB-43D4-A97D-B1D0E32CF1F1}"/>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FE906BEF-C944-47A4-9286-D0ED2AC5FEAE}"/>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Resolve workflow, stack, storage and support decisions.&#10;Inventory beha">
            <a:extLst xmlns:a="http://schemas.openxmlformats.org/drawingml/2006/main">
              <a:ext uri="{FF2B5EF4-FFF2-40B4-BE49-F238E27FC236}">
                <a16:creationId xmlns:a16="http://schemas.microsoft.com/office/drawing/2014/main" id="{378A2ED7-D725-41CD-9346-00BAC5209CC7}"/>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Review every component and public entry point.</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Approve reuse, gains and compatibility checks.</a:t>
            </a:r>
          </a:p>
        </p:txBody>
      </p:sp>
      <p:sp>
        <p:nvSpPr>
          <p:cNvPr id="7" name="Acceptance gate">
            <a:extLst xmlns:a="http://schemas.openxmlformats.org/drawingml/2006/main">
              <a:ext uri="{FF2B5EF4-FFF2-40B4-BE49-F238E27FC236}">
                <a16:creationId xmlns:a16="http://schemas.microsoft.com/office/drawing/2014/main" id="{9DA106CB-6298-4D64-8052-820D7D524662}"/>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Reviewed plan and traceability.&#10;Ryan authorizes implementation.">
            <a:extLst xmlns:a="http://schemas.openxmlformats.org/drawingml/2006/main">
              <a:ext uri="{FF2B5EF4-FFF2-40B4-BE49-F238E27FC236}">
                <a16:creationId xmlns:a16="http://schemas.microsoft.com/office/drawing/2014/main" id="{1A32A9BE-8CA6-4E44-B2A2-CCC8D8DA7DE9}"/>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No unowned component or hidden removal.</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Ryan authorizes implementation.</a:t>
            </a:r>
          </a:p>
        </p:txBody>
      </p:sp>
      <p:sp>
        <p:nvSpPr>
          <p:cNvPr id="9" name="P00-AC01 through P00-AC04">
            <a:extLst xmlns:a="http://schemas.openxmlformats.org/drawingml/2006/main">
              <a:ext uri="{FF2B5EF4-FFF2-40B4-BE49-F238E27FC236}">
                <a16:creationId xmlns:a16="http://schemas.microsoft.com/office/drawing/2014/main" id="{5381D9B9-5165-402A-8BB1-A351B19F902D}"/>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P00-AC01 through P00-AC05</a:t>
            </a:r>
          </a:p>
        </p:txBody>
      </p:sp>
      <p:sp>
        <p:nvSpPr>
          <p:cNvPr id="10" name="Owner: Product + architecture">
            <a:extLst xmlns:a="http://schemas.openxmlformats.org/drawingml/2006/main">
              <a:ext uri="{FF2B5EF4-FFF2-40B4-BE49-F238E27FC236}">
                <a16:creationId xmlns:a16="http://schemas.microsoft.com/office/drawing/2014/main" id="{3461B56E-4ED9-4CEA-A6AF-9C1935DDA2B9}"/>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Product + architecture</a:t>
            </a:r>
          </a:p>
        </p:txBody>
      </p:sp>
    </p:spTree>
    <p:extLst>
      <p:ext uri="{BB962C8B-B14F-4D97-AF65-F5344CB8AC3E}">
        <p14:creationId xmlns:p14="http://schemas.microsoft.com/office/powerpoint/2010/main" val="1403746341"/>
      </p:ext>
    </p:extLst>
  </p:cSld>
</p:sld>
</file>

<file path=ppt/slides/slide2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1  Contracts and verification">
            <a:extLst xmlns:a="http://schemas.openxmlformats.org/drawingml/2006/main">
              <a:ext uri="{FF2B5EF4-FFF2-40B4-BE49-F238E27FC236}">
                <a16:creationId xmlns:a16="http://schemas.microsoft.com/office/drawing/2014/main" id="{B5973D84-D4CB-40AB-835F-76008DE7DAF9}"/>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P01  Contracts and verification</a:t>
            </a:r>
          </a:p>
        </p:txBody>
      </p:sp>
      <p:sp>
        <p:nvSpPr>
          <p:cNvPr id="2" name="22">
            <a:extLst xmlns:a="http://schemas.openxmlformats.org/drawingml/2006/main">
              <a:ext uri="{FF2B5EF4-FFF2-40B4-BE49-F238E27FC236}">
                <a16:creationId xmlns:a16="http://schemas.microsoft.com/office/drawing/2014/main" id="{C203C183-200B-41F7-B860-5864487CF3F4}"/>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29</a:t>
            </a:r>
          </a:p>
        </p:txBody>
      </p:sp>
      <p:sp>
        <p:nvSpPr>
          <p:cNvPr id="3" name="Contracts and failure scenarios can be tested before business plugins ">
            <a:extLst xmlns:a="http://schemas.openxmlformats.org/drawingml/2006/main">
              <a:ext uri="{FF2B5EF4-FFF2-40B4-BE49-F238E27FC236}">
                <a16:creationId xmlns:a16="http://schemas.microsoft.com/office/drawing/2014/main" id="{D35D7B09-6AE0-48F8-ABF8-B9D1747B0578}"/>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Contracts and failure scenarios can be tested before business plugins grow.</a:t>
            </a:r>
          </a:p>
        </p:txBody>
      </p:sp>
      <p:sp>
        <p:nvSpPr>
          <p:cNvPr id="4" name="">
            <a:extLst xmlns:a="http://schemas.openxmlformats.org/drawingml/2006/main">
              <a:ext uri="{FF2B5EF4-FFF2-40B4-BE49-F238E27FC236}">
                <a16:creationId xmlns:a16="http://schemas.microsoft.com/office/drawing/2014/main" id="{22004DAE-DE34-4DDE-8454-00127660E87B}"/>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D40494DD-4C6A-4339-A8E6-BC6F79A3B77A}"/>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Version contracts and repair inherited correctness blockers.&#10;Build fau">
            <a:extLst xmlns:a="http://schemas.openxmlformats.org/drawingml/2006/main">
              <a:ext uri="{FF2B5EF4-FFF2-40B4-BE49-F238E27FC236}">
                <a16:creationId xmlns:a16="http://schemas.microsoft.com/office/drawing/2014/main" id="{5E37802E-2765-476E-8FD4-7574EC41887D}"/>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Repair inherited correctness blockers.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Prove NATS commit boundaries and two-hub reservations.</a:t>
            </a:r>
          </a:p>
        </p:txBody>
      </p:sp>
      <p:sp>
        <p:nvSpPr>
          <p:cNvPr id="7" name="Acceptance gate">
            <a:extLst xmlns:a="http://schemas.openxmlformats.org/drawingml/2006/main">
              <a:ext uri="{FF2B5EF4-FFF2-40B4-BE49-F238E27FC236}">
                <a16:creationId xmlns:a16="http://schemas.microsoft.com/office/drawing/2014/main" id="{C1A2DC0D-8448-4203-8F32-74F1679D06A9}"/>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Independent clients interoperate.&#10;Required regressions and governance ">
            <a:extLst xmlns:a="http://schemas.openxmlformats.org/drawingml/2006/main">
              <a:ext uri="{FF2B5EF4-FFF2-40B4-BE49-F238E27FC236}">
                <a16:creationId xmlns:a16="http://schemas.microsoft.com/office/drawing/2014/main" id="{A5E8B066-4025-4F0F-AA1D-1F24EBCC05EF}"/>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Independent clients interoperate.</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Required regressions and governance checks pass.</a:t>
            </a:r>
          </a:p>
        </p:txBody>
      </p:sp>
      <p:sp>
        <p:nvSpPr>
          <p:cNvPr id="9" name="P01-AC01 through P01-AC04">
            <a:extLst xmlns:a="http://schemas.openxmlformats.org/drawingml/2006/main">
              <a:ext uri="{FF2B5EF4-FFF2-40B4-BE49-F238E27FC236}">
                <a16:creationId xmlns:a16="http://schemas.microsoft.com/office/drawing/2014/main" id="{E8996467-7BC5-40DC-BB84-0C8DFF1542D3}"/>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P01-AC01 through P01-AC06</a:t>
            </a:r>
          </a:p>
        </p:txBody>
      </p:sp>
      <p:sp>
        <p:nvSpPr>
          <p:cNvPr id="10" name="Owner: Architecture + quality">
            <a:extLst xmlns:a="http://schemas.openxmlformats.org/drawingml/2006/main">
              <a:ext uri="{FF2B5EF4-FFF2-40B4-BE49-F238E27FC236}">
                <a16:creationId xmlns:a16="http://schemas.microsoft.com/office/drawing/2014/main" id="{3B3EEC8B-B485-45AB-9BE5-39DA66444749}"/>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Architecture + quality</a:t>
            </a:r>
          </a:p>
        </p:txBody>
      </p:sp>
    </p:spTree>
    <p:extLst>
      <p:ext uri="{BB962C8B-B14F-4D97-AF65-F5344CB8AC3E}">
        <p14:creationId xmlns:p14="http://schemas.microsoft.com/office/powerpoint/2010/main" val="1102681035"/>
      </p:ext>
    </p:extLst>
  </p:cSld>
</p:sld>
</file>

<file path=ppt/slides/slide3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2  Protected boot and NATS">
            <a:extLst xmlns:a="http://schemas.openxmlformats.org/drawingml/2006/main">
              <a:ext uri="{FF2B5EF4-FFF2-40B4-BE49-F238E27FC236}">
                <a16:creationId xmlns:a16="http://schemas.microsoft.com/office/drawing/2014/main" id="{8814241A-5401-4BD8-B63A-82AB2B07A7DA}"/>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P02  Protected boot and NATS</a:t>
            </a:r>
          </a:p>
        </p:txBody>
      </p:sp>
      <p:sp>
        <p:nvSpPr>
          <p:cNvPr id="2" name="23">
            <a:extLst xmlns:a="http://schemas.openxmlformats.org/drawingml/2006/main">
              <a:ext uri="{FF2B5EF4-FFF2-40B4-BE49-F238E27FC236}">
                <a16:creationId xmlns:a16="http://schemas.microsoft.com/office/drawing/2014/main" id="{CAC1FD12-80A2-4630-B5D7-1B45FAE45D9F}"/>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30</a:t>
            </a:r>
          </a:p>
        </p:txBody>
      </p:sp>
      <p:sp>
        <p:nvSpPr>
          <p:cNvPr id="3" name="A local installation boots deterministically with protected kernel plu">
            <a:extLst xmlns:a="http://schemas.openxmlformats.org/drawingml/2006/main">
              <a:ext uri="{FF2B5EF4-FFF2-40B4-BE49-F238E27FC236}">
                <a16:creationId xmlns:a16="http://schemas.microsoft.com/office/drawing/2014/main" id="{370364A5-C98A-47E4-BA2A-EF0A009CFB72}"/>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A local installation boots deterministically with protected kernel plugins.</a:t>
            </a:r>
          </a:p>
        </p:txBody>
      </p:sp>
      <p:sp>
        <p:nvSpPr>
          <p:cNvPr id="4" name="">
            <a:extLst xmlns:a="http://schemas.openxmlformats.org/drawingml/2006/main">
              <a:ext uri="{FF2B5EF4-FFF2-40B4-BE49-F238E27FC236}">
                <a16:creationId xmlns:a16="http://schemas.microsoft.com/office/drawing/2014/main" id="{AB818FDE-B669-4838-9218-68107021E802}"/>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090AD0EC-EC46-4CF6-B3D3-48B0511BE6E2}"/>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Bootstrap broker access and protected plugins.&#10;Publish status with bou">
            <a:extLst xmlns:a="http://schemas.openxmlformats.org/drawingml/2006/main">
              <a:ext uri="{FF2B5EF4-FFF2-40B4-BE49-F238E27FC236}">
                <a16:creationId xmlns:a16="http://schemas.microsoft.com/office/drawing/2014/main" id="{A6060F93-61C4-4912-98DB-105C3A5FD8A0}"/>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Bootstrap broker access and protected plugins.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Pin persistence profiles, versions and recovery behavior.</a:t>
            </a:r>
          </a:p>
        </p:txBody>
      </p:sp>
      <p:sp>
        <p:nvSpPr>
          <p:cNvPr id="7" name="Acceptance gate">
            <a:extLst xmlns:a="http://schemas.openxmlformats.org/drawingml/2006/main">
              <a:ext uri="{FF2B5EF4-FFF2-40B4-BE49-F238E27FC236}">
                <a16:creationId xmlns:a16="http://schemas.microsoft.com/office/drawing/2014/main" id="{7D9CFE95-9890-4C5B-B32A-63F98FE03E74}"/>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Boot without hosted inference.&#10;Outside plugins cannot write into the k">
            <a:extLst xmlns:a="http://schemas.openxmlformats.org/drawingml/2006/main">
              <a:ext uri="{FF2B5EF4-FFF2-40B4-BE49-F238E27FC236}">
                <a16:creationId xmlns:a16="http://schemas.microsoft.com/office/drawing/2014/main" id="{DA3B6310-7473-46C4-A787-ADF33FD595EB}"/>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Boot without hosted inference.</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Outside plugins cannot write into the kernel.</a:t>
            </a:r>
          </a:p>
        </p:txBody>
      </p:sp>
      <p:sp>
        <p:nvSpPr>
          <p:cNvPr id="9" name="P02-AC01 through P02-AC04">
            <a:extLst xmlns:a="http://schemas.openxmlformats.org/drawingml/2006/main">
              <a:ext uri="{FF2B5EF4-FFF2-40B4-BE49-F238E27FC236}">
                <a16:creationId xmlns:a16="http://schemas.microsoft.com/office/drawing/2014/main" id="{01556A86-CB8C-4BF8-8A56-31676C27C46E}"/>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P02-AC01 through P02-AC05</a:t>
            </a:r>
          </a:p>
        </p:txBody>
      </p:sp>
      <p:sp>
        <p:nvSpPr>
          <p:cNvPr id="10" name="Owner: Runtime + messaging">
            <a:extLst xmlns:a="http://schemas.openxmlformats.org/drawingml/2006/main">
              <a:ext uri="{FF2B5EF4-FFF2-40B4-BE49-F238E27FC236}">
                <a16:creationId xmlns:a16="http://schemas.microsoft.com/office/drawing/2014/main" id="{7BCDF544-6DD1-40CE-9580-7F46A3CAF075}"/>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Runtime + messaging</a:t>
            </a:r>
          </a:p>
        </p:txBody>
      </p:sp>
    </p:spTree>
    <p:extLst>
      <p:ext uri="{BB962C8B-B14F-4D97-AF65-F5344CB8AC3E}">
        <p14:creationId xmlns:p14="http://schemas.microsoft.com/office/powerpoint/2010/main" val="528401178"/>
      </p:ext>
    </p:extLst>
  </p:cSld>
</p:sld>
</file>

<file path=ppt/slides/slide3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3  Plugin framework and context">
            <a:extLst xmlns:a="http://schemas.openxmlformats.org/drawingml/2006/main">
              <a:ext uri="{FF2B5EF4-FFF2-40B4-BE49-F238E27FC236}">
                <a16:creationId xmlns:a16="http://schemas.microsoft.com/office/drawing/2014/main" id="{8B8907C5-4769-47F3-BD92-4E3E9362BC39}"/>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P03  Plugin framework and context</a:t>
            </a:r>
          </a:p>
        </p:txBody>
      </p:sp>
      <p:sp>
        <p:nvSpPr>
          <p:cNvPr id="2" name="24">
            <a:extLst xmlns:a="http://schemas.openxmlformats.org/drawingml/2006/main">
              <a:ext uri="{FF2B5EF4-FFF2-40B4-BE49-F238E27FC236}">
                <a16:creationId xmlns:a16="http://schemas.microsoft.com/office/drawing/2014/main" id="{3FDBF3E5-5EBB-48A3-A2F5-66FCE090B0A8}"/>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31</a:t>
            </a:r>
          </a:p>
        </p:txBody>
      </p:sp>
      <p:sp>
        <p:nvSpPr>
          <p:cNvPr id="3" name="A third-party author can build a compatible trusted plugin without cha">
            <a:extLst xmlns:a="http://schemas.openxmlformats.org/drawingml/2006/main">
              <a:ext uri="{FF2B5EF4-FFF2-40B4-BE49-F238E27FC236}">
                <a16:creationId xmlns:a16="http://schemas.microsoft.com/office/drawing/2014/main" id="{2A9717F6-D738-4EC3-8501-377FD0E84495}"/>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A third-party author can build a compatible trusted plugin without changing the kernel.</a:t>
            </a:r>
          </a:p>
        </p:txBody>
      </p:sp>
      <p:sp>
        <p:nvSpPr>
          <p:cNvPr id="4" name="">
            <a:extLst xmlns:a="http://schemas.openxmlformats.org/drawingml/2006/main">
              <a:ext uri="{FF2B5EF4-FFF2-40B4-BE49-F238E27FC236}">
                <a16:creationId xmlns:a16="http://schemas.microsoft.com/office/drawing/2014/main" id="{59E7AE1E-2B3B-495D-9A2D-A57D24552D8D}"/>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E531BB2F-BBC5-40A5-A177-D16B71FE3399}"/>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Implement package lifecycle and both child modes.&#10;Supply scoped contex">
            <a:extLst xmlns:a="http://schemas.openxmlformats.org/drawingml/2006/main">
              <a:ext uri="{FF2B5EF4-FFF2-40B4-BE49-F238E27FC236}">
                <a16:creationId xmlns:a16="http://schemas.microsoft.com/office/drawing/2014/main" id="{5D2EE97A-94E9-42BC-8A52-FED7484C8A6D}"/>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Reuse existing plugin behavior and lifecycle.</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Add scoped contracts and interoperable SDKs.</a:t>
            </a:r>
          </a:p>
        </p:txBody>
      </p:sp>
      <p:sp>
        <p:nvSpPr>
          <p:cNvPr id="7" name="Acceptance gate">
            <a:extLst xmlns:a="http://schemas.openxmlformats.org/drawingml/2006/main">
              <a:ext uri="{FF2B5EF4-FFF2-40B4-BE49-F238E27FC236}">
                <a16:creationId xmlns:a16="http://schemas.microsoft.com/office/drawing/2014/main" id="{16A3996F-C4C4-45E0-B4E7-AAFFC6F9070A}"/>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Children cannot widen authority.&#10;Two languages pass shared contracts.">
            <a:extLst xmlns:a="http://schemas.openxmlformats.org/drawingml/2006/main">
              <a:ext uri="{FF2B5EF4-FFF2-40B4-BE49-F238E27FC236}">
                <a16:creationId xmlns:a16="http://schemas.microsoft.com/office/drawing/2014/main" id="{5CDC4758-D3E7-40C7-A372-122BB7957C2D}"/>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Children cannot widen authority.</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Two languages pass shared contracts.</a:t>
            </a:r>
          </a:p>
        </p:txBody>
      </p:sp>
      <p:sp>
        <p:nvSpPr>
          <p:cNvPr id="9" name="P03-AC01 through P03-AC05">
            <a:extLst xmlns:a="http://schemas.openxmlformats.org/drawingml/2006/main">
              <a:ext uri="{FF2B5EF4-FFF2-40B4-BE49-F238E27FC236}">
                <a16:creationId xmlns:a16="http://schemas.microsoft.com/office/drawing/2014/main" id="{44EEE436-CFD6-4462-A4A0-93B0EEFDE2AA}"/>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P03-AC01 through P03-AC06</a:t>
            </a:r>
          </a:p>
        </p:txBody>
      </p:sp>
      <p:sp>
        <p:nvSpPr>
          <p:cNvPr id="10" name="Owner: Plugin platform + SDK">
            <a:extLst xmlns:a="http://schemas.openxmlformats.org/drawingml/2006/main">
              <a:ext uri="{FF2B5EF4-FFF2-40B4-BE49-F238E27FC236}">
                <a16:creationId xmlns:a16="http://schemas.microsoft.com/office/drawing/2014/main" id="{4738A672-CE93-4C92-BE4F-0ED15A0D9787}"/>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Plugin platform + SDK</a:t>
            </a:r>
          </a:p>
        </p:txBody>
      </p:sp>
    </p:spTree>
    <p:extLst>
      <p:ext uri="{BB962C8B-B14F-4D97-AF65-F5344CB8AC3E}">
        <p14:creationId xmlns:p14="http://schemas.microsoft.com/office/powerpoint/2010/main" val="114506416"/>
      </p:ext>
    </p:extLst>
  </p:cSld>
</p:sld>
</file>

<file path=ppt/slides/slide3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4  Identity, state and workspaces">
            <a:extLst xmlns:a="http://schemas.openxmlformats.org/drawingml/2006/main">
              <a:ext uri="{FF2B5EF4-FFF2-40B4-BE49-F238E27FC236}">
                <a16:creationId xmlns:a16="http://schemas.microsoft.com/office/drawing/2014/main" id="{76BE3C23-5D9F-4824-A51A-B9D0100563FD}"/>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P04  Identity, state and workspaces</a:t>
            </a:r>
          </a:p>
        </p:txBody>
      </p:sp>
      <p:sp>
        <p:nvSpPr>
          <p:cNvPr id="2" name="25">
            <a:extLst xmlns:a="http://schemas.openxmlformats.org/drawingml/2006/main">
              <a:ext uri="{FF2B5EF4-FFF2-40B4-BE49-F238E27FC236}">
                <a16:creationId xmlns:a16="http://schemas.microsoft.com/office/drawing/2014/main" id="{554D69A9-F711-43B3-B622-6FA062B75ACB}"/>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32</a:t>
            </a:r>
          </a:p>
        </p:txBody>
      </p:sp>
      <p:sp>
        <p:nvSpPr>
          <p:cNvPr id="3" name="Multiple users and projects share a hub with explicit authority and du">
            <a:extLst xmlns:a="http://schemas.openxmlformats.org/drawingml/2006/main">
              <a:ext uri="{FF2B5EF4-FFF2-40B4-BE49-F238E27FC236}">
                <a16:creationId xmlns:a16="http://schemas.microsoft.com/office/drawing/2014/main" id="{E7679BC1-75DE-4926-9BAE-CFE001C614FC}"/>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Multiple users and projects share a hub with explicit authority and durable ownership.</a:t>
            </a:r>
          </a:p>
        </p:txBody>
      </p:sp>
      <p:sp>
        <p:nvSpPr>
          <p:cNvPr id="4" name="">
            <a:extLst xmlns:a="http://schemas.openxmlformats.org/drawingml/2006/main">
              <a:ext uri="{FF2B5EF4-FFF2-40B4-BE49-F238E27FC236}">
                <a16:creationId xmlns:a16="http://schemas.microsoft.com/office/drawing/2014/main" id="{5D967B9A-AD48-480A-9E88-217D4D3F3219}"/>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6858E756-4A3E-43C4-AE7C-E24EFBDF06D3}"/>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Enroll identities and persist scoped ownership.&#10;Qualify worker OS/cont">
            <a:extLst xmlns:a="http://schemas.openxmlformats.org/drawingml/2006/main">
              <a:ext uri="{FF2B5EF4-FFF2-40B4-BE49-F238E27FC236}">
                <a16:creationId xmlns:a16="http://schemas.microsoft.com/office/drawing/2014/main" id="{9179FF04-6DF8-4B9A-82C9-9302030C43F1}"/>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Persist scoped state through NATS owners.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Qualify worker isolation, replay and projection rebuilds.</a:t>
            </a:r>
          </a:p>
        </p:txBody>
      </p:sp>
      <p:sp>
        <p:nvSpPr>
          <p:cNvPr id="7" name="Acceptance gate">
            <a:extLst xmlns:a="http://schemas.openxmlformats.org/drawingml/2006/main">
              <a:ext uri="{FF2B5EF4-FFF2-40B4-BE49-F238E27FC236}">
                <a16:creationId xmlns:a16="http://schemas.microsoft.com/office/drawing/2014/main" id="{5814B772-E89E-4E2B-9AB0-A583E298495B}"/>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Cross-scope access fails.&#10;Crashes, duplicate requests and restores pre">
            <a:extLst xmlns:a="http://schemas.openxmlformats.org/drawingml/2006/main">
              <a:ext uri="{FF2B5EF4-FFF2-40B4-BE49-F238E27FC236}">
                <a16:creationId xmlns:a16="http://schemas.microsoft.com/office/drawing/2014/main" id="{53E71B9C-0904-4E64-A720-ECB80358B860}"/>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Cross-scope writes fail.</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Lost replies and stale views cannot grant new work.</a:t>
            </a:r>
          </a:p>
        </p:txBody>
      </p:sp>
      <p:sp>
        <p:nvSpPr>
          <p:cNvPr id="9" name="P04-AC01 through P04-AC05">
            <a:extLst xmlns:a="http://schemas.openxmlformats.org/drawingml/2006/main">
              <a:ext uri="{FF2B5EF4-FFF2-40B4-BE49-F238E27FC236}">
                <a16:creationId xmlns:a16="http://schemas.microsoft.com/office/drawing/2014/main" id="{D826B6CD-663B-46E9-A79A-44CE1459D8FB}"/>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P04-AC01 through P04-AC08</a:t>
            </a:r>
          </a:p>
        </p:txBody>
      </p:sp>
      <p:sp>
        <p:nvSpPr>
          <p:cNvPr id="10" name="Owner: Security + data platform">
            <a:extLst xmlns:a="http://schemas.openxmlformats.org/drawingml/2006/main">
              <a:ext uri="{FF2B5EF4-FFF2-40B4-BE49-F238E27FC236}">
                <a16:creationId xmlns:a16="http://schemas.microsoft.com/office/drawing/2014/main" id="{C57F6346-AFAE-4D91-970B-EC1D9DFDF9A2}"/>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Security + data platform</a:t>
            </a:r>
          </a:p>
        </p:txBody>
      </p:sp>
    </p:spTree>
    <p:extLst>
      <p:ext uri="{BB962C8B-B14F-4D97-AF65-F5344CB8AC3E}">
        <p14:creationId xmlns:p14="http://schemas.microsoft.com/office/powerpoint/2010/main" val="1340918187"/>
      </p:ext>
    </p:extLst>
  </p:cSld>
</p:sld>
</file>

<file path=ppt/slides/slide3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5  Local orchestration">
            <a:extLst xmlns:a="http://schemas.openxmlformats.org/drawingml/2006/main">
              <a:ext uri="{FF2B5EF4-FFF2-40B4-BE49-F238E27FC236}">
                <a16:creationId xmlns:a16="http://schemas.microsoft.com/office/drawing/2014/main" id="{F95513EC-A1F7-4FBD-A973-B253E726FC2C}"/>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P05  Local orchestration</a:t>
            </a:r>
          </a:p>
        </p:txBody>
      </p:sp>
      <p:sp>
        <p:nvSpPr>
          <p:cNvPr id="2" name="26">
            <a:extLst xmlns:a="http://schemas.openxmlformats.org/drawingml/2006/main">
              <a:ext uri="{FF2B5EF4-FFF2-40B4-BE49-F238E27FC236}">
                <a16:creationId xmlns:a16="http://schemas.microsoft.com/office/drawing/2014/main" id="{81879805-08E1-4085-8142-9AB1FD14D413}"/>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33</a:t>
            </a:r>
          </a:p>
        </p:txBody>
      </p:sp>
      <p:sp>
        <p:nvSpPr>
          <p:cNvPr id="3" name="A developer can finish a reviewable software task through durable coor">
            <a:extLst xmlns:a="http://schemas.openxmlformats.org/drawingml/2006/main">
              <a:ext uri="{FF2B5EF4-FFF2-40B4-BE49-F238E27FC236}">
                <a16:creationId xmlns:a16="http://schemas.microsoft.com/office/drawing/2014/main" id="{469AFD1B-48F8-4118-830F-BC29EF081A32}"/>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A developer can finish a reviewable software task through durable coordinated work.</a:t>
            </a:r>
          </a:p>
        </p:txBody>
      </p:sp>
      <p:sp>
        <p:nvSpPr>
          <p:cNvPr id="4" name="">
            <a:extLst xmlns:a="http://schemas.openxmlformats.org/drawingml/2006/main">
              <a:ext uri="{FF2B5EF4-FFF2-40B4-BE49-F238E27FC236}">
                <a16:creationId xmlns:a16="http://schemas.microsoft.com/office/drawing/2014/main" id="{785F585E-10F4-4F33-84C2-8E2E7B73FFEF}"/>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A5CB7A54-E72A-4F3E-8463-9E9933DA9C3C}"/>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Implement plans, assignments and supervised attempts.&#10;Deliver software">
            <a:extLst xmlns:a="http://schemas.openxmlformats.org/drawingml/2006/main">
              <a:ext uri="{FF2B5EF4-FFF2-40B4-BE49-F238E27FC236}">
                <a16:creationId xmlns:a16="http://schemas.microsoft.com/office/drawing/2014/main" id="{40C91F2F-0624-4873-92B7-C6160A4C6AD2}"/>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Extend current task, run and dispatch behavior.</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Move state through reviewed ownership boundaries.</a:t>
            </a:r>
          </a:p>
        </p:txBody>
      </p:sp>
      <p:sp>
        <p:nvSpPr>
          <p:cNvPr id="7" name="Acceptance gate">
            <a:extLst xmlns:a="http://schemas.openxmlformats.org/drawingml/2006/main">
              <a:ext uri="{FF2B5EF4-FFF2-40B4-BE49-F238E27FC236}">
                <a16:creationId xmlns:a16="http://schemas.microsoft.com/office/drawing/2014/main" id="{1D0EFAE3-A039-40F9-A353-FDE59CE60F8B}"/>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Complete reference workflow.&#10;Acceptance requires owner review, not ter">
            <a:extLst xmlns:a="http://schemas.openxmlformats.org/drawingml/2006/main">
              <a:ext uri="{FF2B5EF4-FFF2-40B4-BE49-F238E27FC236}">
                <a16:creationId xmlns:a16="http://schemas.microsoft.com/office/drawing/2014/main" id="{EB364363-55D5-4CE7-AB6B-32BFD1FAF05D}"/>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Complete reference workflow.</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Acceptance requires owner review, not terminal text.</a:t>
            </a:r>
          </a:p>
        </p:txBody>
      </p:sp>
      <p:sp>
        <p:nvSpPr>
          <p:cNvPr id="9" name="P05-AC01 through P05-AC05">
            <a:extLst xmlns:a="http://schemas.openxmlformats.org/drawingml/2006/main">
              <a:ext uri="{FF2B5EF4-FFF2-40B4-BE49-F238E27FC236}">
                <a16:creationId xmlns:a16="http://schemas.microsoft.com/office/drawing/2014/main" id="{B7D60607-AC5C-4061-8F4F-B8D8A0AD762A}"/>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P05-AC01 through P05-AC06</a:t>
            </a:r>
          </a:p>
        </p:txBody>
      </p:sp>
      <p:sp>
        <p:nvSpPr>
          <p:cNvPr id="10" name="Owner: Orchestration + developer workflow">
            <a:extLst xmlns:a="http://schemas.openxmlformats.org/drawingml/2006/main">
              <a:ext uri="{FF2B5EF4-FFF2-40B4-BE49-F238E27FC236}">
                <a16:creationId xmlns:a16="http://schemas.microsoft.com/office/drawing/2014/main" id="{313F9C5B-EC1B-4AC6-AD24-5D9022D5EF48}"/>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Orchestration + developer workflow</a:t>
            </a:r>
          </a:p>
        </p:txBody>
      </p:sp>
    </p:spTree>
    <p:extLst>
      <p:ext uri="{BB962C8B-B14F-4D97-AF65-F5344CB8AC3E}">
        <p14:creationId xmlns:p14="http://schemas.microsoft.com/office/powerpoint/2010/main" val="1698018135"/>
      </p:ext>
    </p:extLst>
  </p:cSld>
</p:sld>
</file>

<file path=ppt/slides/slide3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6  Supported client entry points">
            <a:extLst xmlns:a="http://schemas.openxmlformats.org/drawingml/2006/main">
              <a:ext uri="{FF2B5EF4-FFF2-40B4-BE49-F238E27FC236}">
                <a16:creationId xmlns:a16="http://schemas.microsoft.com/office/drawing/2014/main" id="{13C7C470-DF3F-4BCD-AC9C-1950BA46712E}"/>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P06  Supported client entry points</a:t>
            </a:r>
          </a:p>
        </p:txBody>
      </p:sp>
      <p:sp>
        <p:nvSpPr>
          <p:cNvPr id="2" name="27">
            <a:extLst xmlns:a="http://schemas.openxmlformats.org/drawingml/2006/main">
              <a:ext uri="{FF2B5EF4-FFF2-40B4-BE49-F238E27FC236}">
                <a16:creationId xmlns:a16="http://schemas.microsoft.com/office/drawing/2014/main" id="{8461D089-D977-4060-A6E9-C61912E9AB2E}"/>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34</a:t>
            </a:r>
          </a:p>
        </p:txBody>
      </p:sp>
      <p:sp>
        <p:nvSpPr>
          <p:cNvPr id="3" name="Developers use Agentmux from their preferred supported client.">
            <a:extLst xmlns:a="http://schemas.openxmlformats.org/drawingml/2006/main">
              <a:ext uri="{FF2B5EF4-FFF2-40B4-BE49-F238E27FC236}">
                <a16:creationId xmlns:a16="http://schemas.microsoft.com/office/drawing/2014/main" id="{5FD4624C-7929-46BB-BA2E-07BD545B16D2}"/>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Developers use Agentmux from their preferred supported client.</a:t>
            </a:r>
          </a:p>
        </p:txBody>
      </p:sp>
      <p:sp>
        <p:nvSpPr>
          <p:cNvPr id="4" name="">
            <a:extLst xmlns:a="http://schemas.openxmlformats.org/drawingml/2006/main">
              <a:ext uri="{FF2B5EF4-FFF2-40B4-BE49-F238E27FC236}">
                <a16:creationId xmlns:a16="http://schemas.microsoft.com/office/drawing/2014/main" id="{1FC235DD-3906-4160-BEFB-1D81BC8A5EDC}"/>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10F2D973-D8F2-46AC-9394-653ECAC61421}"/>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Package CLI/MCP integrations for selected hosts.&#10;Declare control, even">
            <a:extLst xmlns:a="http://schemas.openxmlformats.org/drawingml/2006/main">
              <a:ext uri="{FF2B5EF4-FFF2-40B4-BE49-F238E27FC236}">
                <a16:creationId xmlns:a16="http://schemas.microsoft.com/office/drawing/2014/main" id="{CD50F09E-7987-496D-A1DB-915A83D8CF94}"/>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Extend current CLI, MCP and provider tooling.</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Retain safeguards and qualify each supported host.</a:t>
            </a:r>
          </a:p>
        </p:txBody>
      </p:sp>
      <p:sp>
        <p:nvSpPr>
          <p:cNvPr id="7" name="Acceptance gate">
            <a:extLst xmlns:a="http://schemas.openxmlformats.org/drawingml/2006/main">
              <a:ext uri="{FF2B5EF4-FFF2-40B4-BE49-F238E27FC236}">
                <a16:creationId xmlns:a16="http://schemas.microsoft.com/office/drawing/2014/main" id="{01927425-904B-42AE-9C77-195E3A27B639}"/>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Actual-host reference workflows pass.&#10;Unsupported capabilities remain ">
            <a:extLst xmlns:a="http://schemas.openxmlformats.org/drawingml/2006/main">
              <a:ext uri="{FF2B5EF4-FFF2-40B4-BE49-F238E27FC236}">
                <a16:creationId xmlns:a16="http://schemas.microsoft.com/office/drawing/2014/main" id="{F33EA564-5932-467C-B719-05E010A71714}"/>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Actual-host reference workflows pass.</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Unsupported capabilities remain explicit.</a:t>
            </a:r>
          </a:p>
        </p:txBody>
      </p:sp>
      <p:sp>
        <p:nvSpPr>
          <p:cNvPr id="9" name="P06-AC01 through P06-AC04">
            <a:extLst xmlns:a="http://schemas.openxmlformats.org/drawingml/2006/main">
              <a:ext uri="{FF2B5EF4-FFF2-40B4-BE49-F238E27FC236}">
                <a16:creationId xmlns:a16="http://schemas.microsoft.com/office/drawing/2014/main" id="{41CF8293-749C-41E7-B41F-1EC63EE1904E}"/>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P06-AC01 through P06-AC05</a:t>
            </a:r>
          </a:p>
        </p:txBody>
      </p:sp>
      <p:sp>
        <p:nvSpPr>
          <p:cNvPr id="10" name="Owner: Integrations + developer experience">
            <a:extLst xmlns:a="http://schemas.openxmlformats.org/drawingml/2006/main">
              <a:ext uri="{FF2B5EF4-FFF2-40B4-BE49-F238E27FC236}">
                <a16:creationId xmlns:a16="http://schemas.microsoft.com/office/drawing/2014/main" id="{144C3C28-9C20-4C6A-8BAC-E1EE5E5D8CA6}"/>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Integrations + developer experience</a:t>
            </a:r>
          </a:p>
        </p:txBody>
      </p:sp>
    </p:spTree>
    <p:extLst>
      <p:ext uri="{BB962C8B-B14F-4D97-AF65-F5344CB8AC3E}">
        <p14:creationId xmlns:p14="http://schemas.microsoft.com/office/powerpoint/2010/main" val="2124718503"/>
      </p:ext>
    </p:extLst>
  </p:cSld>
</p:sld>
</file>

<file path=ppt/slides/slide3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7  AG-UI and Atomic Design">
            <a:extLst xmlns:a="http://schemas.openxmlformats.org/drawingml/2006/main">
              <a:ext uri="{FF2B5EF4-FFF2-40B4-BE49-F238E27FC236}">
                <a16:creationId xmlns:a16="http://schemas.microsoft.com/office/drawing/2014/main" id="{D6FF0085-82CE-4052-B01B-2BB2A13996D6}"/>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P07  Existing dashboard migration</a:t>
            </a:r>
          </a:p>
        </p:txBody>
      </p:sp>
      <p:sp>
        <p:nvSpPr>
          <p:cNvPr id="2" name="28">
            <a:extLst xmlns:a="http://schemas.openxmlformats.org/drawingml/2006/main">
              <a:ext uri="{FF2B5EF4-FFF2-40B4-BE49-F238E27FC236}">
                <a16:creationId xmlns:a16="http://schemas.microsoft.com/office/drawing/2014/main" id="{E732562D-D823-4B54-A050-DA2D97FC4DA4}"/>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35</a:t>
            </a:r>
          </a:p>
        </p:txBody>
      </p:sp>
      <p:sp>
        <p:nvSpPr>
          <p:cNvPr id="3" name="Authorized users can understand work across agents, projects, and hubs">
            <a:extLst xmlns:a="http://schemas.openxmlformats.org/drawingml/2006/main">
              <a:ext uri="{FF2B5EF4-FFF2-40B4-BE49-F238E27FC236}">
                <a16:creationId xmlns:a16="http://schemas.microsoft.com/office/drawing/2014/main" id="{9F27772E-BFFA-44C4-98A7-F672405412F8}"/>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Authorized users can understand work across agents, projects, and hubs.</a:t>
            </a:r>
          </a:p>
        </p:txBody>
      </p:sp>
      <p:sp>
        <p:nvSpPr>
          <p:cNvPr id="4" name="">
            <a:extLst xmlns:a="http://schemas.openxmlformats.org/drawingml/2006/main">
              <a:ext uri="{FF2B5EF4-FFF2-40B4-BE49-F238E27FC236}">
                <a16:creationId xmlns:a16="http://schemas.microsoft.com/office/drawing/2014/main" id="{72B1E324-6DF3-4FDE-B1B5-445E00706D58}"/>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1F735B90-2A1A-4D02-BA83-C385B23F9827}"/>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Project authorized NATS state into CopilotKit.&#10;Implement views, replay">
            <a:extLst xmlns:a="http://schemas.openxmlformats.org/drawingml/2006/main">
              <a:ext uri="{FF2B5EF4-FFF2-40B4-BE49-F238E27FC236}">
                <a16:creationId xmlns:a16="http://schemas.microsoft.com/office/drawing/2014/main" id="{86C6C390-55D1-4FBE-BB0C-2EF33216B3A0}"/>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Migrate the existing dashboard in slices.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Retain ten views, actions and saved preferences.</a:t>
            </a:r>
          </a:p>
        </p:txBody>
      </p:sp>
      <p:sp>
        <p:nvSpPr>
          <p:cNvPr id="7" name="Acceptance gate">
            <a:extLst xmlns:a="http://schemas.openxmlformats.org/drawingml/2006/main">
              <a:ext uri="{FF2B5EF4-FFF2-40B4-BE49-F238E27FC236}">
                <a16:creationId xmlns:a16="http://schemas.microsoft.com/office/drawing/2014/main" id="{5B398E83-2E33-4816-B9DB-EFC9C262A0CC}"/>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Viewers converge after reconnect.&#10;No cross-project leaks or duplicate ">
            <a:extLst xmlns:a="http://schemas.openxmlformats.org/drawingml/2006/main">
              <a:ext uri="{FF2B5EF4-FFF2-40B4-BE49-F238E27FC236}">
                <a16:creationId xmlns:a16="http://schemas.microsoft.com/office/drawing/2014/main" id="{9A96AEC6-3858-4003-83D4-8684E7FFF22E}"/>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Existing workflows pass comparisons.</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Views remain scoped and recover after reconnect.</a:t>
            </a:r>
          </a:p>
        </p:txBody>
      </p:sp>
      <p:sp>
        <p:nvSpPr>
          <p:cNvPr id="9" name="P07-AC01 through P07-AC05">
            <a:extLst xmlns:a="http://schemas.openxmlformats.org/drawingml/2006/main">
              <a:ext uri="{FF2B5EF4-FFF2-40B4-BE49-F238E27FC236}">
                <a16:creationId xmlns:a16="http://schemas.microsoft.com/office/drawing/2014/main" id="{AEE9F7BD-9917-4012-9E2C-623A0E45567C}"/>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P07-AC01 through P07-AC06</a:t>
            </a:r>
          </a:p>
        </p:txBody>
      </p:sp>
      <p:sp>
        <p:nvSpPr>
          <p:cNvPr id="10" name="Owner: Frontend + interface platform">
            <a:extLst xmlns:a="http://schemas.openxmlformats.org/drawingml/2006/main">
              <a:ext uri="{FF2B5EF4-FFF2-40B4-BE49-F238E27FC236}">
                <a16:creationId xmlns:a16="http://schemas.microsoft.com/office/drawing/2014/main" id="{D1BF0665-E397-4DA2-B572-E081D9A0EC3F}"/>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Frontend + interface platform</a:t>
            </a:r>
          </a:p>
        </p:txBody>
      </p:sp>
    </p:spTree>
    <p:extLst>
      <p:ext uri="{BB962C8B-B14F-4D97-AF65-F5344CB8AC3E}">
        <p14:creationId xmlns:p14="http://schemas.microsoft.com/office/powerpoint/2010/main" val="458958849"/>
      </p:ext>
    </p:extLst>
  </p:cSld>
</p:sld>
</file>

<file path=ppt/slides/slide3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8  Jev decision services">
            <a:extLst xmlns:a="http://schemas.openxmlformats.org/drawingml/2006/main">
              <a:ext uri="{FF2B5EF4-FFF2-40B4-BE49-F238E27FC236}">
                <a16:creationId xmlns:a16="http://schemas.microsoft.com/office/drawing/2014/main" id="{A5BFA36F-6BD7-4F9A-AF60-24F1EF041BBC}"/>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P08  Jev decision services</a:t>
            </a:r>
          </a:p>
        </p:txBody>
      </p:sp>
      <p:sp>
        <p:nvSpPr>
          <p:cNvPr id="2" name="29">
            <a:extLst xmlns:a="http://schemas.openxmlformats.org/drawingml/2006/main">
              <a:ext uri="{FF2B5EF4-FFF2-40B4-BE49-F238E27FC236}">
                <a16:creationId xmlns:a16="http://schemas.microsoft.com/office/drawing/2014/main" id="{B5539D8B-BCE1-47B1-BEA8-6A33382A3473}"/>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36</a:t>
            </a:r>
          </a:p>
        </p:txBody>
      </p:sp>
      <p:sp>
        <p:nvSpPr>
          <p:cNvPr id="3" name="Plugins request bounded semantic advice with traceable evidence and sa">
            <a:extLst xmlns:a="http://schemas.openxmlformats.org/drawingml/2006/main">
              <a:ext uri="{FF2B5EF4-FFF2-40B4-BE49-F238E27FC236}">
                <a16:creationId xmlns:a16="http://schemas.microsoft.com/office/drawing/2014/main" id="{BDA78FAF-2B07-462B-961D-601DDDFDE4EE}"/>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Plugins request bounded semantic advice with traceable evidence and safe fallback.</a:t>
            </a:r>
          </a:p>
        </p:txBody>
      </p:sp>
      <p:sp>
        <p:nvSpPr>
          <p:cNvPr id="4" name="">
            <a:extLst xmlns:a="http://schemas.openxmlformats.org/drawingml/2006/main">
              <a:ext uri="{FF2B5EF4-FFF2-40B4-BE49-F238E27FC236}">
                <a16:creationId xmlns:a16="http://schemas.microsoft.com/office/drawing/2014/main" id="{E9C723E9-95FC-4FA8-B175-305FA2DB1498}"/>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62745351-6724-471E-8C11-802D7B797656}"/>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Implement scoped definitions, cache, budgets and fallback.&#10;Compare sem">
            <a:extLst xmlns:a="http://schemas.openxmlformats.org/drawingml/2006/main">
              <a:ext uri="{FF2B5EF4-FFF2-40B4-BE49-F238E27FC236}">
                <a16:creationId xmlns:a16="http://schemas.microsoft.com/office/drawing/2014/main" id="{0BFA443C-C476-4DA9-9736-631CAD31449D}"/>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Implement scoped definitions, cache, budgets and fallback.</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Compare semantic quality and total workflow cost.</a:t>
            </a:r>
          </a:p>
        </p:txBody>
      </p:sp>
      <p:sp>
        <p:nvSpPr>
          <p:cNvPr id="7" name="Acceptance gate">
            <a:extLst xmlns:a="http://schemas.openxmlformats.org/drawingml/2006/main">
              <a:ext uri="{FF2B5EF4-FFF2-40B4-BE49-F238E27FC236}">
                <a16:creationId xmlns:a16="http://schemas.microsoft.com/office/drawing/2014/main" id="{87BF07BC-B98B-4A18-8F30-1D440A51ECD1}"/>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Jev cannot create authority.&#10;Holdout and cost gates pass per definitio">
            <a:extLst xmlns:a="http://schemas.openxmlformats.org/drawingml/2006/main">
              <a:ext uri="{FF2B5EF4-FFF2-40B4-BE49-F238E27FC236}">
                <a16:creationId xmlns:a16="http://schemas.microsoft.com/office/drawing/2014/main" id="{4E50D3CF-6BBE-48FB-B2B4-D211B90FB1EC}"/>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Jev cannot create authority.</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Holdout and cost gates pass per definition.</a:t>
            </a:r>
          </a:p>
        </p:txBody>
      </p:sp>
      <p:sp>
        <p:nvSpPr>
          <p:cNvPr id="9" name="P08-AC01 through P08-AC05">
            <a:extLst xmlns:a="http://schemas.openxmlformats.org/drawingml/2006/main">
              <a:ext uri="{FF2B5EF4-FFF2-40B4-BE49-F238E27FC236}">
                <a16:creationId xmlns:a16="http://schemas.microsoft.com/office/drawing/2014/main" id="{6B34CAFB-E74E-4A08-9F76-A1461EF49D33}"/>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P08-AC01 through P08-AC06</a:t>
            </a:r>
          </a:p>
        </p:txBody>
      </p:sp>
      <p:sp>
        <p:nvSpPr>
          <p:cNvPr id="10" name="Owner: Decision platform + evaluation">
            <a:extLst xmlns:a="http://schemas.openxmlformats.org/drawingml/2006/main">
              <a:ext uri="{FF2B5EF4-FFF2-40B4-BE49-F238E27FC236}">
                <a16:creationId xmlns:a16="http://schemas.microsoft.com/office/drawing/2014/main" id="{B965C327-2EEE-4FEC-A9C3-EEFAB3F825B0}"/>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Decision platform + evaluation</a:t>
            </a:r>
          </a:p>
        </p:txBody>
      </p:sp>
    </p:spTree>
    <p:extLst>
      <p:ext uri="{BB962C8B-B14F-4D97-AF65-F5344CB8AC3E}">
        <p14:creationId xmlns:p14="http://schemas.microsoft.com/office/powerpoint/2010/main" val="1185133382"/>
      </p:ext>
    </p:extLst>
  </p:cSld>
</p:sld>
</file>

<file path=ppt/slides/slide3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9  Portable Jev and first skills">
            <a:extLst xmlns:a="http://schemas.openxmlformats.org/drawingml/2006/main">
              <a:ext uri="{FF2B5EF4-FFF2-40B4-BE49-F238E27FC236}">
                <a16:creationId xmlns:a16="http://schemas.microsoft.com/office/drawing/2014/main" id="{189F8CBC-D63B-4FC8-A66B-6BF22EDC38F4}"/>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P09  Portable Jev and first skills</a:t>
            </a:r>
          </a:p>
        </p:txBody>
      </p:sp>
      <p:sp>
        <p:nvSpPr>
          <p:cNvPr id="2" name="30">
            <a:extLst xmlns:a="http://schemas.openxmlformats.org/drawingml/2006/main">
              <a:ext uri="{FF2B5EF4-FFF2-40B4-BE49-F238E27FC236}">
                <a16:creationId xmlns:a16="http://schemas.microsoft.com/office/drawing/2014/main" id="{C4870250-7336-4788-AF46-9E6866CD784A}"/>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37</a:t>
            </a:r>
          </a:p>
        </p:txBody>
      </p:sp>
      <p:sp>
        <p:nvSpPr>
          <p:cNvPr id="3" name="The same Jev capabilities improve supported clients with host-specific">
            <a:extLst xmlns:a="http://schemas.openxmlformats.org/drawingml/2006/main">
              <a:ext uri="{FF2B5EF4-FFF2-40B4-BE49-F238E27FC236}">
                <a16:creationId xmlns:a16="http://schemas.microsoft.com/office/drawing/2014/main" id="{BA44E2E5-A6A5-485B-9BC5-3F47755B4ED4}"/>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The same Jev capabilities improve supported clients with host-specific packaging.</a:t>
            </a:r>
          </a:p>
        </p:txBody>
      </p:sp>
      <p:sp>
        <p:nvSpPr>
          <p:cNvPr id="4" name="">
            <a:extLst xmlns:a="http://schemas.openxmlformats.org/drawingml/2006/main">
              <a:ext uri="{FF2B5EF4-FFF2-40B4-BE49-F238E27FC236}">
                <a16:creationId xmlns:a16="http://schemas.microsoft.com/office/drawing/2014/main" id="{0865AD41-AA5D-4D75-9AEE-298F45A32C0B}"/>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ADF93E27-0924-4C67-8361-762BE01B7C68}"/>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Package tools and evaluate triggers and obligations.&#10;Qualify local mod">
            <a:extLst xmlns:a="http://schemas.openxmlformats.org/drawingml/2006/main">
              <a:ext uri="{FF2B5EF4-FFF2-40B4-BE49-F238E27FC236}">
                <a16:creationId xmlns:a16="http://schemas.microsoft.com/office/drawing/2014/main" id="{8AF9E431-51DA-470B-91D9-34348F0F8B76}"/>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Package tools and evaluate triggers and obligations.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Qualify local modes. Remote modes wait for P10.</a:t>
            </a:r>
          </a:p>
        </p:txBody>
      </p:sp>
      <p:sp>
        <p:nvSpPr>
          <p:cNvPr id="7" name="Acceptance gate">
            <a:extLst xmlns:a="http://schemas.openxmlformats.org/drawingml/2006/main">
              <a:ext uri="{FF2B5EF4-FFF2-40B4-BE49-F238E27FC236}">
                <a16:creationId xmlns:a16="http://schemas.microsoft.com/office/drawing/2014/main" id="{0A1ABA53-3C6A-4749-8C84-0B3121003D73}"/>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Whole-suite near misses pass.&#10;Actual-host, semantic and cost evidence ">
            <a:extLst xmlns:a="http://schemas.openxmlformats.org/drawingml/2006/main">
              <a:ext uri="{FF2B5EF4-FFF2-40B4-BE49-F238E27FC236}">
                <a16:creationId xmlns:a16="http://schemas.microsoft.com/office/drawing/2014/main" id="{E5C3BEA1-342F-46F8-88D1-0A83F66A74BA}"/>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Whole-suite near misses pass.</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Actual-host, semantic and cost evidence support defaults.</a:t>
            </a:r>
          </a:p>
        </p:txBody>
      </p:sp>
      <p:sp>
        <p:nvSpPr>
          <p:cNvPr id="9" name="P09-AC01 through P09-AC05">
            <a:extLst xmlns:a="http://schemas.openxmlformats.org/drawingml/2006/main">
              <a:ext uri="{FF2B5EF4-FFF2-40B4-BE49-F238E27FC236}">
                <a16:creationId xmlns:a16="http://schemas.microsoft.com/office/drawing/2014/main" id="{D5DE0884-B28D-4629-9FBE-419F85360EF8}"/>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P09-AC01 through P09-AC06</a:t>
            </a:r>
          </a:p>
        </p:txBody>
      </p:sp>
      <p:sp>
        <p:nvSpPr>
          <p:cNvPr id="10" name="Owner: Skills + client integrations">
            <a:extLst xmlns:a="http://schemas.openxmlformats.org/drawingml/2006/main">
              <a:ext uri="{FF2B5EF4-FFF2-40B4-BE49-F238E27FC236}">
                <a16:creationId xmlns:a16="http://schemas.microsoft.com/office/drawing/2014/main" id="{099DE971-704F-4775-B502-8E6BDB36206E}"/>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Skills + client integrations</a:t>
            </a:r>
          </a:p>
        </p:txBody>
      </p:sp>
    </p:spTree>
    <p:extLst>
      <p:ext uri="{BB962C8B-B14F-4D97-AF65-F5344CB8AC3E}">
        <p14:creationId xmlns:p14="http://schemas.microsoft.com/office/powerpoint/2010/main" val="2138338884"/>
      </p:ext>
    </p:extLst>
  </p:cSld>
</p:sld>
</file>

<file path=ppt/slides/slide3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10  Connected hubs and leaf nodes">
            <a:extLst xmlns:a="http://schemas.openxmlformats.org/drawingml/2006/main">
              <a:ext uri="{FF2B5EF4-FFF2-40B4-BE49-F238E27FC236}">
                <a16:creationId xmlns:a16="http://schemas.microsoft.com/office/drawing/2014/main" id="{0AFF34AF-19F9-454C-A4C0-4287513EDC6E}"/>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P10  Connected hubs and leaf nodes</a:t>
            </a:r>
          </a:p>
        </p:txBody>
      </p:sp>
      <p:sp>
        <p:nvSpPr>
          <p:cNvPr id="2" name="31">
            <a:extLst xmlns:a="http://schemas.openxmlformats.org/drawingml/2006/main">
              <a:ext uri="{FF2B5EF4-FFF2-40B4-BE49-F238E27FC236}">
                <a16:creationId xmlns:a16="http://schemas.microsoft.com/office/drawing/2014/main" id="{7A3D7860-5B96-4790-89ED-FD8307F1DC6E}"/>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38</a:t>
            </a:r>
          </a:p>
        </p:txBody>
      </p:sp>
      <p:sp>
        <p:nvSpPr>
          <p:cNvPr id="3" name="Independent teams share authorized work while retaining their own auth">
            <a:extLst xmlns:a="http://schemas.openxmlformats.org/drawingml/2006/main">
              <a:ext uri="{FF2B5EF4-FFF2-40B4-BE49-F238E27FC236}">
                <a16:creationId xmlns:a16="http://schemas.microsoft.com/office/drawing/2014/main" id="{70EF5D78-E339-411C-873B-E46814781E5F}"/>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Independent teams share authorized work while retaining their own authority.</a:t>
            </a:r>
          </a:p>
        </p:txBody>
      </p:sp>
      <p:sp>
        <p:nvSpPr>
          <p:cNvPr id="4" name="">
            <a:extLst xmlns:a="http://schemas.openxmlformats.org/drawingml/2006/main">
              <a:ext uri="{FF2B5EF4-FFF2-40B4-BE49-F238E27FC236}">
                <a16:creationId xmlns:a16="http://schemas.microsoft.com/office/drawing/2014/main" id="{84A47164-3270-46F9-BE35-7BC05E91D52F}"/>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FA8E76C3-4126-42EC-B912-58EB50236314}"/>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Delegate across organizations and qualify remote skills.&#10;Test partitio">
            <a:extLst xmlns:a="http://schemas.openxmlformats.org/drawingml/2006/main">
              <a:ext uri="{FF2B5EF4-FFF2-40B4-BE49-F238E27FC236}">
                <a16:creationId xmlns:a16="http://schemas.microsoft.com/office/drawing/2014/main" id="{1A49223D-4C08-4DED-8FC9-CED711F877A0}"/>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Extend current federation and deployed circles.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Preserve backlog, identity and sharing behavior.</a:t>
            </a:r>
          </a:p>
        </p:txBody>
      </p:sp>
      <p:sp>
        <p:nvSpPr>
          <p:cNvPr id="7" name="Acceptance gate">
            <a:extLst xmlns:a="http://schemas.openxmlformats.org/drawingml/2006/main">
              <a:ext uri="{FF2B5EF4-FFF2-40B4-BE49-F238E27FC236}">
                <a16:creationId xmlns:a16="http://schemas.microsoft.com/office/drawing/2014/main" id="{B338CEBD-C40C-4884-B1D8-2686760FF05E}"/>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Origin owns acceptance.&#10;Lost acceptance replies and outages never caus">
            <a:extLst xmlns:a="http://schemas.openxmlformats.org/drawingml/2006/main">
              <a:ext uri="{FF2B5EF4-FFF2-40B4-BE49-F238E27FC236}">
                <a16:creationId xmlns:a16="http://schemas.microsoft.com/office/drawing/2014/main" id="{D3A6BADE-1BB7-451D-AA5E-58D07AA40E42}"/>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Origin owns acceptance.</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Lost acceptance replies and outages never cause blind redispatch.</a:t>
            </a:r>
          </a:p>
        </p:txBody>
      </p:sp>
      <p:sp>
        <p:nvSpPr>
          <p:cNvPr id="9" name="P10-AC01 through P10-AC06">
            <a:extLst xmlns:a="http://schemas.openxmlformats.org/drawingml/2006/main">
              <a:ext uri="{FF2B5EF4-FFF2-40B4-BE49-F238E27FC236}">
                <a16:creationId xmlns:a16="http://schemas.microsoft.com/office/drawing/2014/main" id="{2EEDB706-9879-4C50-998F-509E5976DDE7}"/>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P10-AC01 through P10-AC08</a:t>
            </a:r>
          </a:p>
        </p:txBody>
      </p:sp>
      <p:sp>
        <p:nvSpPr>
          <p:cNvPr id="10" name="Owner: Federation + security + reliability">
            <a:extLst xmlns:a="http://schemas.openxmlformats.org/drawingml/2006/main">
              <a:ext uri="{FF2B5EF4-FFF2-40B4-BE49-F238E27FC236}">
                <a16:creationId xmlns:a16="http://schemas.microsoft.com/office/drawing/2014/main" id="{F6C99BB8-B8BB-4E40-AC65-51D8CFCF72C9}"/>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Federation + security + reliability</a:t>
            </a:r>
          </a:p>
        </p:txBody>
      </p:sp>
    </p:spTree>
    <p:extLst>
      <p:ext uri="{BB962C8B-B14F-4D97-AF65-F5344CB8AC3E}">
        <p14:creationId xmlns:p14="http://schemas.microsoft.com/office/powerpoint/2010/main" val="684581153"/>
      </p:ext>
    </p:extLst>
  </p:cSld>
</p:sld>
</file>

<file path=ppt/slides/slide3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11  Industrial packages">
            <a:extLst xmlns:a="http://schemas.openxmlformats.org/drawingml/2006/main">
              <a:ext uri="{FF2B5EF4-FFF2-40B4-BE49-F238E27FC236}">
                <a16:creationId xmlns:a16="http://schemas.microsoft.com/office/drawing/2014/main" id="{9622F755-B758-4751-9704-F7BE4B55A2C1}"/>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P11  Industrial packages</a:t>
            </a:r>
          </a:p>
        </p:txBody>
      </p:sp>
      <p:sp>
        <p:nvSpPr>
          <p:cNvPr id="2" name="32">
            <a:extLst xmlns:a="http://schemas.openxmlformats.org/drawingml/2006/main">
              <a:ext uri="{FF2B5EF4-FFF2-40B4-BE49-F238E27FC236}">
                <a16:creationId xmlns:a16="http://schemas.microsoft.com/office/drawing/2014/main" id="{16020DD8-A044-4AB8-96FA-11593A76961B}"/>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39</a:t>
            </a:r>
          </a:p>
        </p:txBody>
      </p:sp>
      <p:sp>
        <p:nvSpPr>
          <p:cNvPr id="3" name="Industrial workflows extend Agentmux through the same contracts as oth">
            <a:extLst xmlns:a="http://schemas.openxmlformats.org/drawingml/2006/main">
              <a:ext uri="{FF2B5EF4-FFF2-40B4-BE49-F238E27FC236}">
                <a16:creationId xmlns:a16="http://schemas.microsoft.com/office/drawing/2014/main" id="{9DD08E85-9150-4628-A646-E85DCF4BCF67}"/>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Industrial workflows extend Agentmux through the same contracts as other domains.</a:t>
            </a:r>
          </a:p>
        </p:txBody>
      </p:sp>
      <p:sp>
        <p:nvSpPr>
          <p:cNvPr id="4" name="">
            <a:extLst xmlns:a="http://schemas.openxmlformats.org/drawingml/2006/main">
              <a:ext uri="{FF2B5EF4-FFF2-40B4-BE49-F238E27FC236}">
                <a16:creationId xmlns:a16="http://schemas.microsoft.com/office/drawing/2014/main" id="{B868ABF5-527B-49E2-A89A-BB625656B75E}"/>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FF9E31ED-66FD-4F4A-9F4D-D73EAE357F8A}"/>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Port domain and vendor behavior through plugin contracts.&#10;Declare host">
            <a:extLst xmlns:a="http://schemas.openxmlformats.org/drawingml/2006/main">
              <a:ext uri="{FF2B5EF4-FFF2-40B4-BE49-F238E27FC236}">
                <a16:creationId xmlns:a16="http://schemas.microsoft.com/office/drawing/2014/main" id="{498E4496-573C-4610-8E8F-D66A80CA2866}"/>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Package current protocols and standalone tools.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Add vendor capabilities with qualified evidence.</a:t>
            </a:r>
          </a:p>
        </p:txBody>
      </p:sp>
      <p:sp>
        <p:nvSpPr>
          <p:cNvPr id="7" name="Acceptance gate">
            <a:extLst xmlns:a="http://schemas.openxmlformats.org/drawingml/2006/main">
              <a:ext uri="{FF2B5EF4-FFF2-40B4-BE49-F238E27FC236}">
                <a16:creationId xmlns:a16="http://schemas.microsoft.com/office/drawing/2014/main" id="{77718D75-F8E5-4845-9E85-FBA9BD919607}"/>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Selected reference workflow passes.&#10;Simulator claims stay separate fro">
            <a:extLst xmlns:a="http://schemas.openxmlformats.org/drawingml/2006/main">
              <a:ext uri="{FF2B5EF4-FFF2-40B4-BE49-F238E27FC236}">
                <a16:creationId xmlns:a16="http://schemas.microsoft.com/office/drawing/2014/main" id="{33806289-370E-4D8E-8FCA-C731D79D56C0}"/>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Selected reference workflow passes.</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Simulator claims stay separate from hardware qualification.</a:t>
            </a:r>
          </a:p>
        </p:txBody>
      </p:sp>
      <p:sp>
        <p:nvSpPr>
          <p:cNvPr id="9" name="P11-AC01 through P11-AC05">
            <a:extLst xmlns:a="http://schemas.openxmlformats.org/drawingml/2006/main">
              <a:ext uri="{FF2B5EF4-FFF2-40B4-BE49-F238E27FC236}">
                <a16:creationId xmlns:a16="http://schemas.microsoft.com/office/drawing/2014/main" id="{077F0228-9585-491E-BA96-CC7F4CDCE553}"/>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P11-AC01 through P11-AC06</a:t>
            </a:r>
          </a:p>
        </p:txBody>
      </p:sp>
      <p:sp>
        <p:nvSpPr>
          <p:cNvPr id="10" name="Owner: Domain engineering + plugin SDK">
            <a:extLst xmlns:a="http://schemas.openxmlformats.org/drawingml/2006/main">
              <a:ext uri="{FF2B5EF4-FFF2-40B4-BE49-F238E27FC236}">
                <a16:creationId xmlns:a16="http://schemas.microsoft.com/office/drawing/2014/main" id="{D8B8EF92-5A25-4DD2-9ED2-038366ED543E}"/>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Domain engineering + plugin SDK</a:t>
            </a:r>
          </a:p>
        </p:txBody>
      </p:sp>
    </p:spTree>
    <p:extLst>
      <p:ext uri="{BB962C8B-B14F-4D97-AF65-F5344CB8AC3E}">
        <p14:creationId xmlns:p14="http://schemas.microsoft.com/office/powerpoint/2010/main" val="944879583"/>
      </p:ext>
    </p:extLst>
  </p:cSld>
</p:sld>
</file>

<file path=ppt/slides/slide4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12  Production qualification">
            <a:extLst xmlns:a="http://schemas.openxmlformats.org/drawingml/2006/main">
              <a:ext uri="{FF2B5EF4-FFF2-40B4-BE49-F238E27FC236}">
                <a16:creationId xmlns:a16="http://schemas.microsoft.com/office/drawing/2014/main" id="{D70F411C-F7D7-4DC1-9D4E-2CF4FC621741}"/>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P12  Production qualification</a:t>
            </a:r>
          </a:p>
        </p:txBody>
      </p:sp>
      <p:sp>
        <p:nvSpPr>
          <p:cNvPr id="2" name="33">
            <a:extLst xmlns:a="http://schemas.openxmlformats.org/drawingml/2006/main">
              <a:ext uri="{FF2B5EF4-FFF2-40B4-BE49-F238E27FC236}">
                <a16:creationId xmlns:a16="http://schemas.microsoft.com/office/drawing/2014/main" id="{D1A20E96-DAF9-47C4-8D92-F964A2AB0F43}"/>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40</a:t>
            </a:r>
          </a:p>
        </p:txBody>
      </p:sp>
      <p:sp>
        <p:nvSpPr>
          <p:cNvPr id="3" name="Customers can install, operate, recover, and support the complete laun">
            <a:extLst xmlns:a="http://schemas.openxmlformats.org/drawingml/2006/main">
              <a:ext uri="{FF2B5EF4-FFF2-40B4-BE49-F238E27FC236}">
                <a16:creationId xmlns:a16="http://schemas.microsoft.com/office/drawing/2014/main" id="{CF1339D6-1C6B-4A27-9917-2EC743BECAC6}"/>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Customers can install, operate, recover, and support the complete launch product.</a:t>
            </a:r>
          </a:p>
        </p:txBody>
      </p:sp>
      <p:sp>
        <p:nvSpPr>
          <p:cNvPr id="4" name="">
            <a:extLst xmlns:a="http://schemas.openxmlformats.org/drawingml/2006/main">
              <a:ext uri="{FF2B5EF4-FFF2-40B4-BE49-F238E27FC236}">
                <a16:creationId xmlns:a16="http://schemas.microsoft.com/office/drawing/2014/main" id="{C960CD0C-8C4E-4B3B-9136-B40F93B42389}"/>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80966873-0F37-4F9F-B4A1-18DE0DBAF05C}"/>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Qualify install, upgrades, support and recovery.&#10;Prove capacity, two-o">
            <a:extLst xmlns:a="http://schemas.openxmlformats.org/drawingml/2006/main">
              <a:ext uri="{FF2B5EF4-FFF2-40B4-BE49-F238E27FC236}">
                <a16:creationId xmlns:a16="http://schemas.microsoft.com/office/drawing/2014/main" id="{3B84F998-1211-4509-B694-DB2D06919A80}"/>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Prove preservation and gains for every component.</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Rehearse migration, restore and supported installs.</a:t>
            </a:r>
          </a:p>
        </p:txBody>
      </p:sp>
      <p:sp>
        <p:nvSpPr>
          <p:cNvPr id="7" name="Acceptance gate">
            <a:extLst xmlns:a="http://schemas.openxmlformats.org/drawingml/2006/main">
              <a:ext uri="{FF2B5EF4-FFF2-40B4-BE49-F238E27FC236}">
                <a16:creationId xmlns:a16="http://schemas.microsoft.com/office/drawing/2014/main" id="{35401680-5EA9-46DC-86FD-B2208D23A2E4}"/>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All launch evidence matches the candidate.&#10;Ryan authorizes merge/relea">
            <a:extLst xmlns:a="http://schemas.openxmlformats.org/drawingml/2006/main">
              <a:ext uri="{FF2B5EF4-FFF2-40B4-BE49-F238E27FC236}">
                <a16:creationId xmlns:a16="http://schemas.microsoft.com/office/drawing/2014/main" id="{4BD2903D-B2DB-430A-9B6B-15E81D943D55}"/>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All required comparisons pass.</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Ryan reviews with Nick before merge or release.</a:t>
            </a:r>
          </a:p>
        </p:txBody>
      </p:sp>
      <p:sp>
        <p:nvSpPr>
          <p:cNvPr id="9" name="P12-AC01 through P12-AC05">
            <a:extLst xmlns:a="http://schemas.openxmlformats.org/drawingml/2006/main">
              <a:ext uri="{FF2B5EF4-FFF2-40B4-BE49-F238E27FC236}">
                <a16:creationId xmlns:a16="http://schemas.microsoft.com/office/drawing/2014/main" id="{7C0B24EB-46A3-44DD-A3C2-F020AEFB9281}"/>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P12-AC01 through P12-AC07</a:t>
            </a:r>
          </a:p>
        </p:txBody>
      </p:sp>
      <p:sp>
        <p:nvSpPr>
          <p:cNvPr id="10" name="Owner: Release + operations + product">
            <a:extLst xmlns:a="http://schemas.openxmlformats.org/drawingml/2006/main">
              <a:ext uri="{FF2B5EF4-FFF2-40B4-BE49-F238E27FC236}">
                <a16:creationId xmlns:a16="http://schemas.microsoft.com/office/drawing/2014/main" id="{A04991CA-EAA9-43C8-B557-D7930230672F}"/>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Release + operations + product</a:t>
            </a:r>
          </a:p>
        </p:txBody>
      </p:sp>
    </p:spTree>
    <p:extLst>
      <p:ext uri="{BB962C8B-B14F-4D97-AF65-F5344CB8AC3E}">
        <p14:creationId xmlns:p14="http://schemas.microsoft.com/office/powerpoint/2010/main" val="1438520457"/>
      </p:ext>
    </p:extLst>
  </p:cSld>
</p:sld>
</file>

<file path=ppt/slides/slide4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13  Remaining Jev and skills">
            <a:extLst xmlns:a="http://schemas.openxmlformats.org/drawingml/2006/main">
              <a:ext uri="{FF2B5EF4-FFF2-40B4-BE49-F238E27FC236}">
                <a16:creationId xmlns:a16="http://schemas.microsoft.com/office/drawing/2014/main" id="{6143E25F-24D0-4047-AC91-5EA36A1721CC}"/>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P13  Remaining Jev and skills</a:t>
            </a:r>
          </a:p>
        </p:txBody>
      </p:sp>
      <p:sp>
        <p:nvSpPr>
          <p:cNvPr id="2" name="34">
            <a:extLst xmlns:a="http://schemas.openxmlformats.org/drawingml/2006/main">
              <a:ext uri="{FF2B5EF4-FFF2-40B4-BE49-F238E27FC236}">
                <a16:creationId xmlns:a16="http://schemas.microsoft.com/office/drawing/2014/main" id="{6CFED313-9C7D-4BED-A42B-A78D3AEC01EF}"/>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41</a:t>
            </a:r>
          </a:p>
        </p:txBody>
      </p:sp>
      <p:sp>
        <p:nvSpPr>
          <p:cNvPr id="3" name="Every remaining research proposal receives a measured implementation d">
            <a:extLst xmlns:a="http://schemas.openxmlformats.org/drawingml/2006/main">
              <a:ext uri="{FF2B5EF4-FFF2-40B4-BE49-F238E27FC236}">
                <a16:creationId xmlns:a16="http://schemas.microsoft.com/office/drawing/2014/main" id="{75D65A11-E834-4DE6-B1FA-6724DC394F4A}"/>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Every remaining research proposal receives a measured implementation decision.</a:t>
            </a:r>
          </a:p>
        </p:txBody>
      </p:sp>
      <p:sp>
        <p:nvSpPr>
          <p:cNvPr id="4" name="">
            <a:extLst xmlns:a="http://schemas.openxmlformats.org/drawingml/2006/main">
              <a:ext uri="{FF2B5EF4-FFF2-40B4-BE49-F238E27FC236}">
                <a16:creationId xmlns:a16="http://schemas.microsoft.com/office/drawing/2014/main" id="{D15F9608-23E6-4FF9-9631-4F38F49BFA23}"/>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197FEBB6-AB0A-4719-9BF9-7BADD0D54340}"/>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Evaluate remaining catalog ideas in bounded batches.&#10;Qualify advanced ">
            <a:extLst xmlns:a="http://schemas.openxmlformats.org/drawingml/2006/main">
              <a:ext uri="{FF2B5EF4-FFF2-40B4-BE49-F238E27FC236}">
                <a16:creationId xmlns:a16="http://schemas.microsoft.com/office/drawing/2014/main" id="{D7B9C27B-572A-45C2-87EA-CA63C1148C6D}"/>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Evaluate remaining catalog ideas in bounded batches.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Qualify advanced context and supported compaction controls.</a:t>
            </a:r>
          </a:p>
        </p:txBody>
      </p:sp>
      <p:sp>
        <p:nvSpPr>
          <p:cNvPr id="7" name="Acceptance gate">
            <a:extLst xmlns:a="http://schemas.openxmlformats.org/drawingml/2006/main">
              <a:ext uri="{FF2B5EF4-FFF2-40B4-BE49-F238E27FC236}">
                <a16:creationId xmlns:a16="http://schemas.microsoft.com/office/drawing/2014/main" id="{57A420C8-4221-4EC5-AE26-FF4A6F60ADB0}"/>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Every proposal retains a disposition.&#10;Quality and full economics suppo">
            <a:extLst xmlns:a="http://schemas.openxmlformats.org/drawingml/2006/main">
              <a:ext uri="{FF2B5EF4-FFF2-40B4-BE49-F238E27FC236}">
                <a16:creationId xmlns:a16="http://schemas.microsoft.com/office/drawing/2014/main" id="{6C91B374-C509-4A5B-82CD-5928E983B092}"/>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Every proposal retains a disposition.</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Quality and full economics support each activation.</a:t>
            </a:r>
          </a:p>
        </p:txBody>
      </p:sp>
      <p:sp>
        <p:nvSpPr>
          <p:cNvPr id="9" name="P13-AC01 through P13-AC04">
            <a:extLst xmlns:a="http://schemas.openxmlformats.org/drawingml/2006/main">
              <a:ext uri="{FF2B5EF4-FFF2-40B4-BE49-F238E27FC236}">
                <a16:creationId xmlns:a16="http://schemas.microsoft.com/office/drawing/2014/main" id="{860D92C7-B325-4DDF-987C-289F56EC2E20}"/>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P13-AC01 through P13-AC05</a:t>
            </a:r>
          </a:p>
        </p:txBody>
      </p:sp>
      <p:sp>
        <p:nvSpPr>
          <p:cNvPr id="10" name="Owner: Decision platform + domain owners">
            <a:extLst xmlns:a="http://schemas.openxmlformats.org/drawingml/2006/main">
              <a:ext uri="{FF2B5EF4-FFF2-40B4-BE49-F238E27FC236}">
                <a16:creationId xmlns:a16="http://schemas.microsoft.com/office/drawing/2014/main" id="{89C585D5-901D-48B7-BD5C-E8CB8C88A218}"/>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Decision platform + domain owners</a:t>
            </a:r>
          </a:p>
        </p:txBody>
      </p:sp>
    </p:spTree>
    <p:extLst>
      <p:ext uri="{BB962C8B-B14F-4D97-AF65-F5344CB8AC3E}">
        <p14:creationId xmlns:p14="http://schemas.microsoft.com/office/powerpoint/2010/main" val="875379635"/>
      </p:ext>
    </p:extLst>
  </p:cSld>
</p:sld>
</file>

<file path=ppt/slides/slide4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14  Sandboxed plugins">
            <a:extLst xmlns:a="http://schemas.openxmlformats.org/drawingml/2006/main">
              <a:ext uri="{FF2B5EF4-FFF2-40B4-BE49-F238E27FC236}">
                <a16:creationId xmlns:a16="http://schemas.microsoft.com/office/drawing/2014/main" id="{C9F7C2B0-CF89-4B94-9031-AE68B99109A8}"/>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P14  Sandboxed plugins</a:t>
            </a:r>
          </a:p>
        </p:txBody>
      </p:sp>
      <p:sp>
        <p:nvSpPr>
          <p:cNvPr id="2" name="35">
            <a:extLst xmlns:a="http://schemas.openxmlformats.org/drawingml/2006/main">
              <a:ext uri="{FF2B5EF4-FFF2-40B4-BE49-F238E27FC236}">
                <a16:creationId xmlns:a16="http://schemas.microsoft.com/office/drawing/2014/main" id="{084FE64E-BF2A-4E1E-941F-BEB896178C3D}"/>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42</a:t>
            </a:r>
          </a:p>
        </p:txBody>
      </p:sp>
      <p:sp>
        <p:nvSpPr>
          <p:cNvPr id="3" name="Untrusted third-party plugins gain a tested containment option.">
            <a:extLst xmlns:a="http://schemas.openxmlformats.org/drawingml/2006/main">
              <a:ext uri="{FF2B5EF4-FFF2-40B4-BE49-F238E27FC236}">
                <a16:creationId xmlns:a16="http://schemas.microsoft.com/office/drawing/2014/main" id="{AF216B23-0F53-4FCE-9F14-F990E7F20833}"/>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Untrusted third-party plugins gain a tested containment option.</a:t>
            </a:r>
          </a:p>
        </p:txBody>
      </p:sp>
      <p:sp>
        <p:nvSpPr>
          <p:cNvPr id="4" name="">
            <a:extLst xmlns:a="http://schemas.openxmlformats.org/drawingml/2006/main">
              <a:ext uri="{FF2B5EF4-FFF2-40B4-BE49-F238E27FC236}">
                <a16:creationId xmlns:a16="http://schemas.microsoft.com/office/drawing/2014/main" id="{D7D1077B-6C3E-4F64-A54B-FF3F578F7C1D}"/>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840053B9-04F5-4EC6-B9A2-78E5D2A48DEE}"/>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Define and enforce per-platform containment profiles.&#10;Retain compatibl">
            <a:extLst xmlns:a="http://schemas.openxmlformats.org/drawingml/2006/main">
              <a:ext uri="{FF2B5EF4-FFF2-40B4-BE49-F238E27FC236}">
                <a16:creationId xmlns:a16="http://schemas.microsoft.com/office/drawing/2014/main" id="{115FF65D-B543-4818-841F-5619EEF2D6B3}"/>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Define and enforce per-platform containment profiles.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Retain compatible contracts and explicit trusted exceptions.</a:t>
            </a:r>
          </a:p>
        </p:txBody>
      </p:sp>
      <p:sp>
        <p:nvSpPr>
          <p:cNvPr id="7" name="Acceptance gate">
            <a:extLst xmlns:a="http://schemas.openxmlformats.org/drawingml/2006/main">
              <a:ext uri="{FF2B5EF4-FFF2-40B4-BE49-F238E27FC236}">
                <a16:creationId xmlns:a16="http://schemas.microsoft.com/office/drawing/2014/main" id="{9E025217-C9ED-408C-BBAD-E1D3F9D3FBB4}"/>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Adversarial escape tests pass.&#10;Only qualified profiles claim untrusted">
            <a:extLst xmlns:a="http://schemas.openxmlformats.org/drawingml/2006/main">
              <a:ext uri="{FF2B5EF4-FFF2-40B4-BE49-F238E27FC236}">
                <a16:creationId xmlns:a16="http://schemas.microsoft.com/office/drawing/2014/main" id="{9EC67C59-FEC5-4A70-BF9E-6C8F8B7009E8}"/>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Adversarial escape tests pass.</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Only qualified profiles claim untrusted-plugin support.</a:t>
            </a:r>
          </a:p>
        </p:txBody>
      </p:sp>
      <p:sp>
        <p:nvSpPr>
          <p:cNvPr id="9" name="P14-AC01 through P14-AC04">
            <a:extLst xmlns:a="http://schemas.openxmlformats.org/drawingml/2006/main">
              <a:ext uri="{FF2B5EF4-FFF2-40B4-BE49-F238E27FC236}">
                <a16:creationId xmlns:a16="http://schemas.microsoft.com/office/drawing/2014/main" id="{FC74D2D6-35C3-4358-A946-C60B4F249D01}"/>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P14-AC01 through P14-AC05</a:t>
            </a:r>
          </a:p>
        </p:txBody>
      </p:sp>
      <p:sp>
        <p:nvSpPr>
          <p:cNvPr id="10" name="Owner: Security + plugin platform">
            <a:extLst xmlns:a="http://schemas.openxmlformats.org/drawingml/2006/main">
              <a:ext uri="{FF2B5EF4-FFF2-40B4-BE49-F238E27FC236}">
                <a16:creationId xmlns:a16="http://schemas.microsoft.com/office/drawing/2014/main" id="{A8C395CC-B67F-4428-A15A-69EAD999E5FF}"/>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Security + plugin platform</a:t>
            </a:r>
          </a:p>
        </p:txBody>
      </p:sp>
    </p:spTree>
    <p:extLst>
      <p:ext uri="{BB962C8B-B14F-4D97-AF65-F5344CB8AC3E}">
        <p14:creationId xmlns:p14="http://schemas.microsoft.com/office/powerpoint/2010/main" val="355550185"/>
      </p:ext>
    </p:extLst>
  </p:cSld>
</p:sld>
</file>

<file path=ppt/slides/slide4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Proposed capacity and responsiveness">
            <a:extLst xmlns:a="http://schemas.openxmlformats.org/drawingml/2006/main">
              <a:ext uri="{FF2B5EF4-FFF2-40B4-BE49-F238E27FC236}">
                <a16:creationId xmlns:a16="http://schemas.microsoft.com/office/drawing/2014/main" id="{E3A18B5C-DA5A-48CF-B3B6-9BD2C03AA40E}"/>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Proposed capacity and responsiveness</a:t>
            </a:r>
          </a:p>
        </p:txBody>
      </p:sp>
      <p:sp>
        <p:nvSpPr>
          <p:cNvPr id="2" name="36">
            <a:extLst xmlns:a="http://schemas.openxmlformats.org/drawingml/2006/main">
              <a:ext uri="{FF2B5EF4-FFF2-40B4-BE49-F238E27FC236}">
                <a16:creationId xmlns:a16="http://schemas.microsoft.com/office/drawing/2014/main" id="{62B1D485-D080-4AEC-A885-F8A6E13C503F}"/>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43</a:t>
            </a:r>
          </a:p>
        </p:txBody>
      </p:sp>
      <p:graphicFrame>
        <p:nvGraphicFramePr>
          <p:cNvPr id="3" name="">
            <a:extLst xmlns:a="http://schemas.openxmlformats.org/drawingml/2006/main">
              <a:ext uri="{FF2B5EF4-FFF2-40B4-BE49-F238E27FC236}">
                <a16:creationId xmlns:a16="http://schemas.microsoft.com/office/drawing/2014/main" id="{7F9EDDFA-A32A-4C1A-B565-EC2380E40169}"/>
              </a:ext>
            </a:extLst>
          </p:cNvPr>
          <p:cNvGraphicFramePr/>
          <p:nvPr/>
        </p:nvGraphicFramePr>
        <p:xfrm>
          <a:off xmlns:a="http://schemas.openxmlformats.org/drawingml/2006/main" x="609600" y="1752600"/>
          <a:ext xmlns:a="http://schemas.openxmlformats.org/drawingml/2006/main" cx="10972800" cy="3067050"/>
        </p:xfrm>
        <a:graphic xmlns:a="http://schemas.openxmlformats.org/drawingml/2006/main">
          <a:graphicData uri="http://schemas.openxmlformats.org/drawingml/2006/table">
            <a:tbl>
              <a:tblPr/>
              <a:tblGrid>
                <a:gridCol w="2476500"/>
                <a:gridCol w="4876800"/>
                <a:gridCol w="3619500"/>
              </a:tblGrid>
              <a:tr h="613410">
                <a:tc>
                  <a:txBody>
                    <a:bodyPr lIns="95250" tIns="95250" rIns="95250" bIns="95250"/>
                    <a:lstStyle/>
                    <a:p>
                      <a:r>
                        <a:rPr sz="1875" b="1">
                          <a:solidFill>
                            <a:srgbClr val="FFFFFF"/>
                          </a:solidFill>
                          <a:latin typeface="Arial"/>
                          <a:ea typeface="Arial"/>
                          <a:cs typeface="Arial"/>
                        </a:rPr>
                        <a:t>Profile</a:t>
                      </a:r>
                    </a:p>
                  </a:txBody>
                  <a:tcPr marL="91440" marR="91440" marT="45720" marB="45720" anchor="ctr">
                    <a:solidFill>
                      <a:srgbClr val="152E42"/>
                    </a:solidFill>
                  </a:tcPr>
                </a:tc>
                <a:tc>
                  <a:txBody>
                    <a:bodyPr lIns="95250" tIns="95250" rIns="95250" bIns="95250"/>
                    <a:lstStyle/>
                    <a:p>
                      <a:r>
                        <a:rPr sz="1875" b="1">
                          <a:solidFill>
                            <a:srgbClr val="FFFFFF"/>
                          </a:solidFill>
                          <a:latin typeface="Arial"/>
                          <a:ea typeface="Arial"/>
                          <a:cs typeface="Arial"/>
                        </a:rPr>
                        <a:t>Proposed workload</a:t>
                      </a:r>
                    </a:p>
                  </a:txBody>
                  <a:tcPr marL="91440" marR="91440" marT="45720" marB="45720" anchor="ctr">
                    <a:solidFill>
                      <a:srgbClr val="152E42"/>
                    </a:solidFill>
                  </a:tcPr>
                </a:tc>
                <a:tc>
                  <a:txBody>
                    <a:bodyPr lIns="95250" tIns="95250" rIns="95250" bIns="95250"/>
                    <a:lstStyle/>
                    <a:p>
                      <a:r>
                        <a:rPr sz="1875" b="1">
                          <a:solidFill>
                            <a:srgbClr val="FFFFFF"/>
                          </a:solidFill>
                          <a:latin typeface="Arial"/>
                          <a:ea typeface="Arial"/>
                          <a:cs typeface="Arial"/>
                        </a:rPr>
                        <a:t>Purpose</a:t>
                      </a:r>
                    </a:p>
                  </a:txBody>
                  <a:tcPr marL="91440" marR="91440" marT="45720" marB="45720" anchor="ctr">
                    <a:solidFill>
                      <a:srgbClr val="152E42"/>
                    </a:solidFill>
                  </a:tcPr>
                </a:tc>
              </a:tr>
              <a:tr h="613410">
                <a:tc>
                  <a:txBody>
                    <a:bodyPr lIns="95250" tIns="95250" rIns="95250" bIns="95250"/>
                    <a:lstStyle/>
                    <a:p>
                      <a:r>
                        <a:rPr sz="1875" b="0">
                          <a:solidFill>
                            <a:srgbClr val="203747"/>
                          </a:solidFill>
                          <a:latin typeface="Arial"/>
                          <a:ea typeface="Arial"/>
                          <a:cs typeface="Arial"/>
                        </a:rPr>
                        <a:t>Solo</a:t>
                      </a:r>
                    </a:p>
                  </a:txBody>
                  <a:tcPr marL="91440" marR="91440" marT="45720" marB="45720" anchor="ctr">
                    <a:solidFill>
                      <a:srgbClr val="F8F7F2"/>
                    </a:solidFill>
                  </a:tcPr>
                </a:tc>
                <a:tc>
                  <a:txBody>
                    <a:bodyPr lIns="95250" tIns="95250" rIns="95250" bIns="95250"/>
                    <a:lstStyle/>
                    <a:p>
                      <a:r>
                        <a:rPr sz="1875" b="0">
                          <a:solidFill>
                            <a:srgbClr val="203747"/>
                          </a:solidFill>
                          <a:latin typeface="Arial"/>
                          <a:ea typeface="Arial"/>
                          <a:cs typeface="Arial"/>
                        </a:rPr>
                        <a:t>1 user, 2 projects, 4 attempts</a:t>
                      </a:r>
                    </a:p>
                  </a:txBody>
                  <a:tcPr marL="91440" marR="91440" marT="45720" marB="45720" anchor="ctr">
                    <a:solidFill>
                      <a:srgbClr val="F8F7F2"/>
                    </a:solidFill>
                  </a:tcPr>
                </a:tc>
                <a:tc>
                  <a:txBody>
                    <a:bodyPr lIns="95250" tIns="95250" rIns="95250" bIns="95250"/>
                    <a:lstStyle/>
                    <a:p>
                      <a:r>
                        <a:rPr sz="1875" b="0">
                          <a:solidFill>
                            <a:srgbClr val="203747"/>
                          </a:solidFill>
                          <a:latin typeface="Arial"/>
                          <a:ea typeface="Arial"/>
                          <a:cs typeface="Arial"/>
                        </a:rPr>
                        <a:t>Local overhead</a:t>
                      </a:r>
                    </a:p>
                  </a:txBody>
                  <a:tcPr marL="91440" marR="91440" marT="45720" marB="45720" anchor="ctr">
                    <a:solidFill>
                      <a:srgbClr val="F8F7F2"/>
                    </a:solidFill>
                  </a:tcPr>
                </a:tc>
              </a:tr>
              <a:tr h="613410">
                <a:tc>
                  <a:txBody>
                    <a:bodyPr lIns="95250" tIns="95250" rIns="95250" bIns="95250"/>
                    <a:lstStyle/>
                    <a:p>
                      <a:r>
                        <a:rPr sz="1875" b="0">
                          <a:solidFill>
                            <a:srgbClr val="203747"/>
                          </a:solidFill>
                          <a:latin typeface="Arial"/>
                          <a:ea typeface="Arial"/>
                          <a:cs typeface="Arial"/>
                        </a:rPr>
                        <a:t>Team</a:t>
                      </a:r>
                    </a:p>
                  </a:txBody>
                  <a:tcPr marL="91440" marR="91440" marT="45720" marB="45720" anchor="ctr">
                    <a:solidFill>
                      <a:srgbClr val="EEF2EF"/>
                    </a:solidFill>
                  </a:tcPr>
                </a:tc>
                <a:tc>
                  <a:txBody>
                    <a:bodyPr lIns="95250" tIns="95250" rIns="95250" bIns="95250"/>
                    <a:lstStyle/>
                    <a:p>
                      <a:r>
                        <a:rPr sz="1875" b="0">
                          <a:solidFill>
                            <a:srgbClr val="203747"/>
                          </a:solidFill>
                          <a:latin typeface="Arial"/>
                          <a:ea typeface="Arial"/>
                          <a:cs typeface="Arial"/>
                        </a:rPr>
                        <a:t>20 users, 10 projects, 40 attempts</a:t>
                      </a:r>
                    </a:p>
                  </a:txBody>
                  <a:tcPr marL="91440" marR="91440" marT="45720" marB="45720" anchor="ctr">
                    <a:solidFill>
                      <a:srgbClr val="EEF2EF"/>
                    </a:solidFill>
                  </a:tcPr>
                </a:tc>
                <a:tc>
                  <a:txBody>
                    <a:bodyPr lIns="95250" tIns="95250" rIns="95250" bIns="95250"/>
                    <a:lstStyle/>
                    <a:p>
                      <a:r>
                        <a:rPr sz="1875" b="0">
                          <a:solidFill>
                            <a:srgbClr val="203747"/>
                          </a:solidFill>
                          <a:latin typeface="Arial"/>
                          <a:ea typeface="Arial"/>
                          <a:cs typeface="Arial"/>
                        </a:rPr>
                        <a:t>Isolation and contention</a:t>
                      </a:r>
                    </a:p>
                  </a:txBody>
                  <a:tcPr marL="91440" marR="91440" marT="45720" marB="45720" anchor="ctr">
                    <a:solidFill>
                      <a:srgbClr val="EEF2EF"/>
                    </a:solidFill>
                  </a:tcPr>
                </a:tc>
              </a:tr>
              <a:tr h="613410">
                <a:tc>
                  <a:txBody>
                    <a:bodyPr lIns="95250" tIns="95250" rIns="95250" bIns="95250"/>
                    <a:lstStyle/>
                    <a:p>
                      <a:r>
                        <a:rPr sz="1875" b="0">
                          <a:solidFill>
                            <a:srgbClr val="203747"/>
                          </a:solidFill>
                          <a:latin typeface="Arial"/>
                          <a:ea typeface="Arial"/>
                          <a:cs typeface="Arial"/>
                        </a:rPr>
                        <a:t>Federation</a:t>
                      </a:r>
                    </a:p>
                  </a:txBody>
                  <a:tcPr marL="91440" marR="91440" marT="45720" marB="45720" anchor="ctr">
                    <a:solidFill>
                      <a:srgbClr val="F8F7F2"/>
                    </a:solidFill>
                  </a:tcPr>
                </a:tc>
                <a:tc>
                  <a:txBody>
                    <a:bodyPr lIns="95250" tIns="95250" rIns="95250" bIns="95250"/>
                    <a:lstStyle/>
                    <a:p>
                      <a:r>
                        <a:rPr sz="1875" b="0">
                          <a:solidFill>
                            <a:srgbClr val="203747"/>
                          </a:solidFill>
                          <a:latin typeface="Arial"/>
                          <a:ea typeface="Arial"/>
                          <a:cs typeface="Arial"/>
                        </a:rPr>
                        <a:t>3 hubs, 2 organizations</a:t>
                      </a:r>
                    </a:p>
                  </a:txBody>
                  <a:tcPr marL="91440" marR="91440" marT="45720" marB="45720" anchor="ctr">
                    <a:solidFill>
                      <a:srgbClr val="F8F7F2"/>
                    </a:solidFill>
                  </a:tcPr>
                </a:tc>
                <a:tc>
                  <a:txBody>
                    <a:bodyPr lIns="95250" tIns="95250" rIns="95250" bIns="95250"/>
                    <a:lstStyle/>
                    <a:p>
                      <a:r>
                        <a:rPr sz="1875" b="0">
                          <a:solidFill>
                            <a:srgbClr val="203747"/>
                          </a:solidFill>
                          <a:latin typeface="Arial"/>
                          <a:ea typeface="Arial"/>
                          <a:cs typeface="Arial"/>
                        </a:rPr>
                        <a:t>Partition recovery</a:t>
                      </a:r>
                    </a:p>
                  </a:txBody>
                  <a:tcPr marL="91440" marR="91440" marT="45720" marB="45720" anchor="ctr">
                    <a:solidFill>
                      <a:srgbClr val="F8F7F2"/>
                    </a:solidFill>
                  </a:tcPr>
                </a:tc>
              </a:tr>
              <a:tr h="613410">
                <a:tc>
                  <a:txBody>
                    <a:bodyPr lIns="95250" tIns="95250" rIns="95250" bIns="95250"/>
                    <a:lstStyle/>
                    <a:p>
                      <a:r>
                        <a:rPr sz="1875" b="0">
                          <a:solidFill>
                            <a:srgbClr val="203747"/>
                          </a:solidFill>
                          <a:latin typeface="Arial"/>
                          <a:ea typeface="Arial"/>
                          <a:cs typeface="Arial"/>
                        </a:rPr>
                        <a:t>Growth benchmark</a:t>
                      </a:r>
                    </a:p>
                  </a:txBody>
                  <a:tcPr marL="91440" marR="91440" marT="45720" marB="45720" anchor="ctr">
                    <a:solidFill>
                      <a:srgbClr val="EEF2EF"/>
                    </a:solidFill>
                  </a:tcPr>
                </a:tc>
                <a:tc>
                  <a:txBody>
                    <a:bodyPr lIns="95250" tIns="95250" rIns="95250" bIns="95250"/>
                    <a:lstStyle/>
                    <a:p>
                      <a:r>
                        <a:rPr sz="1875" b="0">
                          <a:solidFill>
                            <a:srgbClr val="203747"/>
                          </a:solidFill>
                          <a:latin typeface="Arial"/>
                          <a:ea typeface="Arial"/>
                          <a:cs typeface="Arial"/>
                        </a:rPr>
                        <a:t>200 users, 10 hubs, 400 attempts</a:t>
                      </a:r>
                    </a:p>
                  </a:txBody>
                  <a:tcPr marL="91440" marR="91440" marT="45720" marB="45720" anchor="ctr">
                    <a:solidFill>
                      <a:srgbClr val="EEF2EF"/>
                    </a:solidFill>
                  </a:tcPr>
                </a:tc>
                <a:tc>
                  <a:txBody>
                    <a:bodyPr lIns="95250" tIns="95250" rIns="95250" bIns="95250"/>
                    <a:lstStyle/>
                    <a:p>
                      <a:r>
                        <a:rPr sz="1875" b="0">
                          <a:solidFill>
                            <a:srgbClr val="203747"/>
                          </a:solidFill>
                          <a:latin typeface="Arial"/>
                          <a:ea typeface="Arial"/>
                          <a:cs typeface="Arial"/>
                        </a:rPr>
                        <a:t>Find later bottlenecks</a:t>
                      </a:r>
                    </a:p>
                  </a:txBody>
                  <a:tcPr marL="91440" marR="91440" marT="45720" marB="45720" anchor="ctr">
                    <a:solidFill>
                      <a:srgbClr val="EEF2EF"/>
                    </a:solidFill>
                  </a:tcPr>
                </a:tc>
              </a:tr>
            </a:tbl>
          </a:graphicData>
        </a:graphic>
      </p:graphicFrame>
      <p:sp>
        <p:nvSpPr>
          <p:cNvPr id="4" name="Starting targets for review">
            <a:extLst xmlns:a="http://schemas.openxmlformats.org/drawingml/2006/main">
              <a:ext uri="{FF2B5EF4-FFF2-40B4-BE49-F238E27FC236}">
                <a16:creationId xmlns:a16="http://schemas.microsoft.com/office/drawing/2014/main" id="{EEE0E41A-E2A8-4ECF-9461-B9CE1D8829E4}"/>
              </a:ext>
            </a:extLst>
          </p:cNvPr>
          <p:cNvSpPr>
            <a:spLocks xmlns:a="http://schemas.openxmlformats.org/drawingml/2006/main" noGrp="1"/>
          </p:cNvSpPr>
          <p:nvPr/>
        </p:nvSpPr>
        <p:spPr>
          <a:xfrm xmlns:a="http://schemas.openxmlformats.org/drawingml/2006/main">
            <a:off x="609600" y="51244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Starting targets for review</a:t>
            </a:r>
          </a:p>
        </p:txBody>
      </p:sp>
      <p:sp>
        <p:nvSpPr>
          <p:cNvPr id="5" name="Metadata p95 &lt;250 ms    Dashboard update ≤2 s    10,000-event replay ≤">
            <a:extLst xmlns:a="http://schemas.openxmlformats.org/drawingml/2006/main">
              <a:ext uri="{FF2B5EF4-FFF2-40B4-BE49-F238E27FC236}">
                <a16:creationId xmlns:a16="http://schemas.microsoft.com/office/drawing/2014/main" id="{98370ADD-6F92-49EE-B1B2-C83F15C10734}"/>
              </a:ext>
            </a:extLst>
          </p:cNvPr>
          <p:cNvSpPr>
            <a:spLocks xmlns:a="http://schemas.openxmlformats.org/drawingml/2006/main" noGrp="1"/>
          </p:cNvSpPr>
          <p:nvPr/>
        </p:nvSpPr>
        <p:spPr>
          <a:xfrm xmlns:a="http://schemas.openxmlformats.org/drawingml/2006/main">
            <a:off x="609600" y="5610225"/>
            <a:ext cx="1085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3747"/>
                </a:solidFill>
                <a:latin typeface="Arial"/>
                <a:ea typeface="Arial"/>
                <a:cs typeface="Arial"/>
              </a:defRPr>
            </a:defPPr>
          </a:lstStyle>
          <a:p xmlns:a="http://schemas.openxmlformats.org/drawingml/2006/main">
            <a:pPr algn="l">
              <a:buNone/>
              <a:defRPr sz="1800" b="0">
                <a:solidFill>
                  <a:srgbClr val="203747"/>
                </a:solidFill>
                <a:latin typeface="Arial"/>
                <a:ea typeface="Arial"/>
                <a:cs typeface="Arial"/>
              </a:defRPr>
            </a:pPr>
            <a:r>
              <a:rPr sz="1800" b="0">
                <a:solidFill>
                  <a:srgbClr val="203747"/>
                </a:solidFill>
                <a:latin typeface="Arial"/>
                <a:ea typeface="Arial"/>
                <a:cs typeface="Arial"/>
              </a:rPr>
              <a:t>Metadata p95 &lt;250 ms    Dashboard update ≤2 s    10,000-event replay ≤5 s</a:t>
            </a:r>
          </a:p>
        </p:txBody>
      </p:sp>
    </p:spTree>
    <p:extLst>
      <p:ext uri="{BB962C8B-B14F-4D97-AF65-F5344CB8AC3E}">
        <p14:creationId xmlns:p14="http://schemas.microsoft.com/office/powerpoint/2010/main" val="1211492049"/>
      </p:ext>
    </p:extLst>
  </p:cSld>
</p:sld>
</file>

<file path=ppt/slides/slide4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Verification across real failure boundaries">
            <a:extLst xmlns:a="http://schemas.openxmlformats.org/drawingml/2006/main">
              <a:ext uri="{FF2B5EF4-FFF2-40B4-BE49-F238E27FC236}">
                <a16:creationId xmlns:a16="http://schemas.microsoft.com/office/drawing/2014/main" id="{EDCA2F90-004E-4E43-BFA7-A0BB129F47CD}"/>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Verification across real failure boundaries</a:t>
            </a:r>
          </a:p>
        </p:txBody>
      </p:sp>
      <p:sp>
        <p:nvSpPr>
          <p:cNvPr id="2" name="37">
            <a:extLst xmlns:a="http://schemas.openxmlformats.org/drawingml/2006/main">
              <a:ext uri="{FF2B5EF4-FFF2-40B4-BE49-F238E27FC236}">
                <a16:creationId xmlns:a16="http://schemas.microsoft.com/office/drawing/2014/main" id="{B2E63B88-25D3-45FD-BC85-D1823BC4FA6C}"/>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44</a:t>
            </a:r>
          </a:p>
        </p:txBody>
      </p:sp>
      <p:sp>
        <p:nvSpPr>
          <p:cNvPr id="3" name="Mechanics">
            <a:extLst xmlns:a="http://schemas.openxmlformats.org/drawingml/2006/main">
              <a:ext uri="{FF2B5EF4-FFF2-40B4-BE49-F238E27FC236}">
                <a16:creationId xmlns:a16="http://schemas.microsoft.com/office/drawing/2014/main" id="{0216A242-29D9-4E77-A246-AD0504CAC1D0}"/>
              </a:ext>
            </a:extLst>
          </p:cNvPr>
          <p:cNvSpPr>
            <a:spLocks xmlns:a="http://schemas.openxmlformats.org/drawingml/2006/main" noGrp="1"/>
          </p:cNvSpPr>
          <p:nvPr/>
        </p:nvSpPr>
        <p:spPr>
          <a:xfrm xmlns:a="http://schemas.openxmlformats.org/drawingml/2006/main">
            <a:off x="609600" y="166687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Mechanics</a:t>
            </a:r>
          </a:p>
        </p:txBody>
      </p:sp>
      <p:sp>
        <p:nvSpPr>
          <p:cNvPr id="4" name="Schema, identity, replay, transaction boundaries and idempotency">
            <a:extLst xmlns:a="http://schemas.openxmlformats.org/drawingml/2006/main">
              <a:ext uri="{FF2B5EF4-FFF2-40B4-BE49-F238E27FC236}">
                <a16:creationId xmlns:a16="http://schemas.microsoft.com/office/drawing/2014/main" id="{64CC5ECB-29CC-48C7-B4D4-E9015231ADD6}"/>
              </a:ext>
            </a:extLst>
          </p:cNvPr>
          <p:cNvSpPr>
            <a:spLocks xmlns:a="http://schemas.openxmlformats.org/drawingml/2006/main" noGrp="1"/>
          </p:cNvSpPr>
          <p:nvPr/>
        </p:nvSpPr>
        <p:spPr>
          <a:xfrm xmlns:a="http://schemas.openxmlformats.org/drawingml/2006/main">
            <a:off x="609600" y="20383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Schema, identity, replay, transaction boundaries and idempotency</a:t>
            </a:r>
          </a:p>
        </p:txBody>
      </p:sp>
      <p:sp>
        <p:nvSpPr>
          <p:cNvPr id="5" name="Actual environments">
            <a:extLst xmlns:a="http://schemas.openxmlformats.org/drawingml/2006/main">
              <a:ext uri="{FF2B5EF4-FFF2-40B4-BE49-F238E27FC236}">
                <a16:creationId xmlns:a16="http://schemas.microsoft.com/office/drawing/2014/main" id="{04FADB23-344D-4B6C-870A-33EAA7F0B3A5}"/>
              </a:ext>
            </a:extLst>
          </p:cNvPr>
          <p:cNvSpPr>
            <a:spLocks xmlns:a="http://schemas.openxmlformats.org/drawingml/2006/main" noGrp="1"/>
          </p:cNvSpPr>
          <p:nvPr/>
        </p:nvSpPr>
        <p:spPr>
          <a:xfrm xmlns:a="http://schemas.openxmlformats.org/drawingml/2006/main">
            <a:off x="609600" y="265747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Actual environments</a:t>
            </a:r>
          </a:p>
        </p:txBody>
      </p:sp>
      <p:sp>
        <p:nvSpPr>
          <p:cNvPr id="6" name="Pinned client versions, macOS/Linux/WSL, real NATS and browser recover">
            <a:extLst xmlns:a="http://schemas.openxmlformats.org/drawingml/2006/main">
              <a:ext uri="{FF2B5EF4-FFF2-40B4-BE49-F238E27FC236}">
                <a16:creationId xmlns:a16="http://schemas.microsoft.com/office/drawing/2014/main" id="{BFE1D165-14A4-4701-B2C8-22939A52E999}"/>
              </a:ext>
            </a:extLst>
          </p:cNvPr>
          <p:cNvSpPr>
            <a:spLocks xmlns:a="http://schemas.openxmlformats.org/drawingml/2006/main" noGrp="1"/>
          </p:cNvSpPr>
          <p:nvPr/>
        </p:nvSpPr>
        <p:spPr>
          <a:xfrm xmlns:a="http://schemas.openxmlformats.org/drawingml/2006/main">
            <a:off x="609600" y="30289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Pinned client versions, macOS/Linux/WSL, real NATS and browser recovery</a:t>
            </a:r>
          </a:p>
        </p:txBody>
      </p:sp>
      <p:sp>
        <p:nvSpPr>
          <p:cNvPr id="7" name="Semantic outcomes">
            <a:extLst xmlns:a="http://schemas.openxmlformats.org/drawingml/2006/main">
              <a:ext uri="{FF2B5EF4-FFF2-40B4-BE49-F238E27FC236}">
                <a16:creationId xmlns:a16="http://schemas.microsoft.com/office/drawing/2014/main" id="{35B8D370-2C15-4B67-999A-3A0A30BA1609}"/>
              </a:ext>
            </a:extLst>
          </p:cNvPr>
          <p:cNvSpPr>
            <a:spLocks xmlns:a="http://schemas.openxmlformats.org/drawingml/2006/main" noGrp="1"/>
          </p:cNvSpPr>
          <p:nvPr/>
        </p:nvSpPr>
        <p:spPr>
          <a:xfrm xmlns:a="http://schemas.openxmlformats.org/drawingml/2006/main">
            <a:off x="609600" y="364807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Semantic outcomes</a:t>
            </a:r>
          </a:p>
        </p:txBody>
      </p:sp>
      <p:sp>
        <p:nvSpPr>
          <p:cNvPr id="8" name="Untouched task cases, independent labels, complete cost and rework">
            <a:extLst xmlns:a="http://schemas.openxmlformats.org/drawingml/2006/main">
              <a:ext uri="{FF2B5EF4-FFF2-40B4-BE49-F238E27FC236}">
                <a16:creationId xmlns:a16="http://schemas.microsoft.com/office/drawing/2014/main" id="{4264EF17-15A9-47A1-9872-D3F2FA1D267E}"/>
              </a:ext>
            </a:extLst>
          </p:cNvPr>
          <p:cNvSpPr>
            <a:spLocks xmlns:a="http://schemas.openxmlformats.org/drawingml/2006/main" noGrp="1"/>
          </p:cNvSpPr>
          <p:nvPr/>
        </p:nvSpPr>
        <p:spPr>
          <a:xfrm xmlns:a="http://schemas.openxmlformats.org/drawingml/2006/main">
            <a:off x="609600" y="40195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Untouched task cases, independent labels, complete cost and rework</a:t>
            </a:r>
          </a:p>
        </p:txBody>
      </p:sp>
      <p:sp>
        <p:nvSpPr>
          <p:cNvPr id="9" name="Operations">
            <a:extLst xmlns:a="http://schemas.openxmlformats.org/drawingml/2006/main">
              <a:ext uri="{FF2B5EF4-FFF2-40B4-BE49-F238E27FC236}">
                <a16:creationId xmlns:a16="http://schemas.microsoft.com/office/drawing/2014/main" id="{3762EEEF-CFD3-4B3A-98D6-F002F7E0D7E1}"/>
              </a:ext>
            </a:extLst>
          </p:cNvPr>
          <p:cNvSpPr>
            <a:spLocks xmlns:a="http://schemas.openxmlformats.org/drawingml/2006/main" noGrp="1"/>
          </p:cNvSpPr>
          <p:nvPr/>
        </p:nvSpPr>
        <p:spPr>
          <a:xfrm xmlns:a="http://schemas.openxmlformats.org/drawingml/2006/main">
            <a:off x="609600" y="463867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Operations</a:t>
            </a:r>
          </a:p>
        </p:txBody>
      </p:sp>
      <p:sp>
        <p:nvSpPr>
          <p:cNvPr id="10" name="Partition, revocation, disk pressure, backup restore and migration rol">
            <a:extLst xmlns:a="http://schemas.openxmlformats.org/drawingml/2006/main">
              <a:ext uri="{FF2B5EF4-FFF2-40B4-BE49-F238E27FC236}">
                <a16:creationId xmlns:a16="http://schemas.microsoft.com/office/drawing/2014/main" id="{A6BDC80E-6DBB-4272-9747-ACE9C132F839}"/>
              </a:ext>
            </a:extLst>
          </p:cNvPr>
          <p:cNvSpPr>
            <a:spLocks xmlns:a="http://schemas.openxmlformats.org/drawingml/2006/main" noGrp="1"/>
          </p:cNvSpPr>
          <p:nvPr/>
        </p:nvSpPr>
        <p:spPr>
          <a:xfrm xmlns:a="http://schemas.openxmlformats.org/drawingml/2006/main">
            <a:off x="609600" y="50101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Partition, revocation, disk pressure, backup restore and migration rollback</a:t>
            </a:r>
          </a:p>
        </p:txBody>
      </p:sp>
    </p:spTree>
    <p:extLst>
      <p:ext uri="{BB962C8B-B14F-4D97-AF65-F5344CB8AC3E}">
        <p14:creationId xmlns:p14="http://schemas.microsoft.com/office/powerpoint/2010/main" val="94023601"/>
      </p:ext>
    </p:extLst>
  </p:cSld>
</p:sld>
</file>

<file path=ppt/slides/slide4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5" name="Open decisions and delivery risks">
            <a:extLst xmlns:a="http://schemas.openxmlformats.org/drawingml/2006/main">
              <a:ext uri="{FF2B5EF4-FFF2-40B4-BE49-F238E27FC236}">
                <a16:creationId xmlns:a16="http://schemas.microsoft.com/office/drawing/2014/main" id="{F192C577-E237-4266-BD65-C45CFAB14AD5}"/>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Open decisions and delivery risks</a:t>
            </a:r>
          </a:p>
        </p:txBody>
      </p:sp>
      <p:sp>
        <p:nvSpPr>
          <p:cNvPr id="2" name="38">
            <a:extLst xmlns:a="http://schemas.openxmlformats.org/drawingml/2006/main">
              <a:ext uri="{FF2B5EF4-FFF2-40B4-BE49-F238E27FC236}">
                <a16:creationId xmlns:a16="http://schemas.microsoft.com/office/drawing/2014/main" id="{8922ADEB-A4A9-4088-90BD-39DF6C896D85}"/>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45</a:t>
            </a:r>
          </a:p>
        </p:txBody>
      </p:sp>
      <p:graphicFrame>
        <p:nvGraphicFramePr>
          <p:cNvPr id="3" name="">
            <a:extLst xmlns:a="http://schemas.openxmlformats.org/drawingml/2006/main">
              <a:ext uri="{FF2B5EF4-FFF2-40B4-BE49-F238E27FC236}">
                <a16:creationId xmlns:a16="http://schemas.microsoft.com/office/drawing/2014/main" id="{C44C0DD9-F68B-4F68-9FF8-5B5A513E3AFF}"/>
              </a:ext>
            </a:extLst>
          </p:cNvPr>
          <p:cNvGraphicFramePr/>
          <p:nvPr/>
        </p:nvGraphicFramePr>
        <p:xfrm>
          <a:off xmlns:a="http://schemas.openxmlformats.org/drawingml/2006/main" x="609600" y="1752600"/>
          <a:ext xmlns:a="http://schemas.openxmlformats.org/drawingml/2006/main" cx="10972800" cy="3838575"/>
        </p:xfrm>
        <a:graphic xmlns:a="http://schemas.openxmlformats.org/drawingml/2006/main">
          <a:graphicData uri="http://schemas.openxmlformats.org/drawingml/2006/table">
            <a:tbl>
              <a:tblPr/>
              <a:tblGrid>
                <a:gridCol w="7267575"/>
                <a:gridCol w="3705225"/>
              </a:tblGrid>
              <a:tr h="639763">
                <a:tc>
                  <a:txBody>
                    <a:bodyPr lIns="95250" tIns="95250" rIns="95250" bIns="95250"/>
                    <a:lstStyle/>
                    <a:p>
                      <a:r>
                        <a:rPr sz="1950" b="1">
                          <a:solidFill>
                            <a:srgbClr val="FFFFFF"/>
                          </a:solidFill>
                          <a:latin typeface="Arial"/>
                          <a:ea typeface="Arial"/>
                          <a:cs typeface="Arial"/>
                        </a:rPr>
                        <a:t>Decision</a:t>
                      </a:r>
                    </a:p>
                  </a:txBody>
                  <a:tcPr marL="91440" marR="91440" marT="45720" marB="45720" anchor="ctr">
                    <a:solidFill>
                      <a:srgbClr val="152E42"/>
                    </a:solidFill>
                  </a:tcPr>
                </a:tc>
                <a:tc>
                  <a:txBody>
                    <a:bodyPr lIns="95250" tIns="95250" rIns="95250" bIns="95250"/>
                    <a:lstStyle/>
                    <a:p>
                      <a:r>
                        <a:rPr sz="1950" b="1">
                          <a:solidFill>
                            <a:srgbClr val="FFFFFF"/>
                          </a:solidFill>
                          <a:latin typeface="Arial"/>
                          <a:ea typeface="Arial"/>
                          <a:cs typeface="Arial"/>
                        </a:rPr>
                        <a:t>Review needed before</a:t>
                      </a:r>
                    </a:p>
                  </a:txBody>
                  <a:tcPr marL="91440" marR="91440" marT="45720" marB="45720" anchor="ctr">
                    <a:solidFill>
                      <a:srgbClr val="152E42"/>
                    </a:solidFill>
                  </a:tcPr>
                </a:tc>
              </a:tr>
              <a:tr h="639763">
                <a:tc>
                  <a:txBody>
                    <a:bodyPr lIns="95250" tIns="95250" rIns="95250" bIns="95250"/>
                    <a:lstStyle/>
                    <a:p>
                      <a:r>
                        <a:rPr sz="1950" b="0">
                          <a:solidFill>
                            <a:srgbClr val="203747"/>
                          </a:solidFill>
                          <a:latin typeface="Arial"/>
                          <a:ea typeface="Arial"/>
                          <a:cs typeface="Arial"/>
                        </a:rPr>
                        <a:t>Proof workflow and dashboard commands</a:t>
                      </a:r>
                    </a:p>
                  </a:txBody>
                  <a:tcPr marL="91440" marR="91440" marT="45720" marB="45720" anchor="ctr">
                    <a:solidFill>
                      <a:srgbClr val="F8F7F2"/>
                    </a:solidFill>
                  </a:tcPr>
                </a:tc>
                <a:tc>
                  <a:txBody>
                    <a:bodyPr lIns="95250" tIns="95250" rIns="95250" bIns="95250"/>
                    <a:lstStyle/>
                    <a:p>
                      <a:r>
                        <a:rPr sz="1950" b="0">
                          <a:solidFill>
                            <a:srgbClr val="203747"/>
                          </a:solidFill>
                          <a:latin typeface="Arial"/>
                          <a:ea typeface="Arial"/>
                          <a:cs typeface="Arial"/>
                        </a:rPr>
                        <a:t>P00 exit</a:t>
                      </a:r>
                    </a:p>
                  </a:txBody>
                  <a:tcPr marL="91440" marR="91440" marT="45720" marB="45720" anchor="ctr">
                    <a:solidFill>
                      <a:srgbClr val="F8F7F2"/>
                    </a:solidFill>
                  </a:tcPr>
                </a:tc>
              </a:tr>
              <a:tr h="639763">
                <a:tc>
                  <a:txBody>
                    <a:bodyPr lIns="95250" tIns="95250" rIns="95250" bIns="95250"/>
                    <a:lstStyle/>
                    <a:p>
                      <a:r>
                        <a:rPr sz="1950" b="0">
                          <a:solidFill>
                            <a:srgbClr val="203747"/>
                          </a:solidFill>
                          <a:latin typeface="Arial"/>
                          <a:ea typeface="Arial"/>
                          <a:cs typeface="Arial"/>
                        </a:rPr>
                        <a:t>Runtime, SDKs, NATS profiles and account layout</a:t>
                      </a:r>
                    </a:p>
                  </a:txBody>
                  <a:tcPr marL="91440" marR="91440" marT="45720" marB="45720" anchor="ctr">
                    <a:solidFill>
                      <a:srgbClr val="EEF2EF"/>
                    </a:solidFill>
                  </a:tcPr>
                </a:tc>
                <a:tc>
                  <a:txBody>
                    <a:bodyPr lIns="95250" tIns="95250" rIns="95250" bIns="95250"/>
                    <a:lstStyle/>
                    <a:p>
                      <a:r>
                        <a:rPr sz="1950" b="0">
                          <a:solidFill>
                            <a:srgbClr val="203747"/>
                          </a:solidFill>
                          <a:latin typeface="Arial"/>
                          <a:ea typeface="Arial"/>
                          <a:cs typeface="Arial"/>
                        </a:rPr>
                        <a:t>P01–P04 implementation</a:t>
                      </a:r>
                    </a:p>
                  </a:txBody>
                  <a:tcPr marL="91440" marR="91440" marT="45720" marB="45720" anchor="ctr">
                    <a:solidFill>
                      <a:srgbClr val="EEF2EF"/>
                    </a:solidFill>
                  </a:tcPr>
                </a:tc>
              </a:tr>
              <a:tr h="639763">
                <a:tc>
                  <a:txBody>
                    <a:bodyPr lIns="95250" tIns="95250" rIns="95250" bIns="95250"/>
                    <a:lstStyle/>
                    <a:p>
                      <a:r>
                        <a:rPr sz="1950" b="0">
                          <a:solidFill>
                            <a:srgbClr val="203747"/>
                          </a:solidFill>
                          <a:latin typeface="Arial"/>
                          <a:ea typeface="Arial"/>
                          <a:cs typeface="Arial"/>
                        </a:rPr>
                        <a:t>Client/vendor versions and commercial terms</a:t>
                      </a:r>
                    </a:p>
                  </a:txBody>
                  <a:tcPr marL="91440" marR="91440" marT="45720" marB="45720" anchor="ctr">
                    <a:solidFill>
                      <a:srgbClr val="F8F7F2"/>
                    </a:solidFill>
                  </a:tcPr>
                </a:tc>
                <a:tc>
                  <a:txBody>
                    <a:bodyPr lIns="95250" tIns="95250" rIns="95250" bIns="95250"/>
                    <a:lstStyle/>
                    <a:p>
                      <a:r>
                        <a:rPr sz="1950" b="0">
                          <a:solidFill>
                            <a:srgbClr val="203747"/>
                          </a:solidFill>
                          <a:latin typeface="Arial"/>
                          <a:ea typeface="Arial"/>
                          <a:cs typeface="Arial"/>
                        </a:rPr>
                        <a:t>Supported integration claims</a:t>
                      </a:r>
                    </a:p>
                  </a:txBody>
                  <a:tcPr marL="91440" marR="91440" marT="45720" marB="45720" anchor="ctr">
                    <a:solidFill>
                      <a:srgbClr val="F8F7F2"/>
                    </a:solidFill>
                  </a:tcPr>
                </a:tc>
              </a:tr>
              <a:tr h="639763">
                <a:tc>
                  <a:txBody>
                    <a:bodyPr lIns="95250" tIns="95250" rIns="95250" bIns="95250"/>
                    <a:lstStyle/>
                    <a:p>
                      <a:r>
                        <a:rPr sz="1950" b="0">
                          <a:solidFill>
                            <a:srgbClr val="203747"/>
                          </a:solidFill>
                          <a:latin typeface="Arial"/>
                          <a:ea typeface="Arial"/>
                          <a:cs typeface="Arial"/>
                        </a:rPr>
                        <a:t>Capacity, recovery, staffing and dates</a:t>
                      </a:r>
                    </a:p>
                  </a:txBody>
                  <a:tcPr marL="91440" marR="91440" marT="45720" marB="45720" anchor="ctr">
                    <a:solidFill>
                      <a:srgbClr val="EEF2EF"/>
                    </a:solidFill>
                  </a:tcPr>
                </a:tc>
                <a:tc>
                  <a:txBody>
                    <a:bodyPr lIns="95250" tIns="95250" rIns="95250" bIns="95250"/>
                    <a:lstStyle/>
                    <a:p>
                      <a:r>
                        <a:rPr sz="1950" b="0">
                          <a:solidFill>
                            <a:srgbClr val="203747"/>
                          </a:solidFill>
                          <a:latin typeface="Arial"/>
                          <a:ea typeface="Arial"/>
                          <a:cs typeface="Arial"/>
                        </a:rPr>
                        <a:t>Release promises</a:t>
                      </a:r>
                    </a:p>
                  </a:txBody>
                  <a:tcPr marL="91440" marR="91440" marT="45720" marB="45720" anchor="ctr">
                    <a:solidFill>
                      <a:srgbClr val="EEF2EF"/>
                    </a:solidFill>
                  </a:tcPr>
                </a:tc>
              </a:tr>
              <a:tr h="639763">
                <a:tc>
                  <a:txBody>
                    <a:bodyPr lIns="95250" tIns="95250" rIns="95250" bIns="95250"/>
                    <a:lstStyle/>
                    <a:p>
                      <a:r>
                        <a:rPr sz="1950" b="0">
                          <a:solidFill>
                            <a:srgbClr val="203747"/>
                          </a:solidFill>
                          <a:latin typeface="Arial"/>
                          <a:ea typeface="Arial"/>
                          <a:cs typeface="Arial"/>
                        </a:rPr>
                        <a:t>Jev data policy, budgets and thresholds</a:t>
                      </a:r>
                    </a:p>
                  </a:txBody>
                  <a:tcPr marL="91440" marR="91440" marT="45720" marB="45720" anchor="ctr">
                    <a:solidFill>
                      <a:srgbClr val="F8F7F2"/>
                    </a:solidFill>
                  </a:tcPr>
                </a:tc>
                <a:tc>
                  <a:txBody>
                    <a:bodyPr lIns="95250" tIns="95250" rIns="95250" bIns="95250"/>
                    <a:lstStyle/>
                    <a:p>
                      <a:r>
                        <a:rPr sz="1950" b="0">
                          <a:solidFill>
                            <a:srgbClr val="203747"/>
                          </a:solidFill>
                          <a:latin typeface="Arial"/>
                          <a:ea typeface="Arial"/>
                          <a:cs typeface="Arial"/>
                        </a:rPr>
                        <a:t>Capped live evaluation</a:t>
                      </a:r>
                    </a:p>
                  </a:txBody>
                  <a:tcPr marL="91440" marR="91440" marT="45720" marB="45720" anchor="ctr">
                    <a:solidFill>
                      <a:srgbClr val="F8F7F2"/>
                    </a:solidFill>
                  </a:tcPr>
                </a:tc>
              </a:tr>
            </a:tbl>
          </a:graphicData>
        </a:graphic>
      </p:graphicFrame>
      <p:sp>
        <p:nvSpPr>
          <p:cNvPr id="4" name="Risks concentrate in bootstrap, distributed authority, client coverage">
            <a:extLst xmlns:a="http://schemas.openxmlformats.org/drawingml/2006/main">
              <a:ext uri="{FF2B5EF4-FFF2-40B4-BE49-F238E27FC236}">
                <a16:creationId xmlns:a16="http://schemas.microsoft.com/office/drawing/2014/main" id="{4B68F318-3D13-405F-969E-E500B740B714}"/>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Risks concentrate in bootstrap, distributed authority, client coverage and active-work migration.</a:t>
            </a:r>
          </a:p>
        </p:txBody>
      </p:sp>
    </p:spTree>
    <p:extLst>
      <p:ext uri="{BB962C8B-B14F-4D97-AF65-F5344CB8AC3E}">
        <p14:creationId xmlns:p14="http://schemas.microsoft.com/office/powerpoint/2010/main" val="1466162484"/>
      </p:ext>
    </p:extLst>
  </p:cSld>
</p:sld>
</file>

<file path=ppt/slides/slide46.xml><?xml version="1.0" encoding="utf-8"?>
<p:sld xmlns:p="http://schemas.openxmlformats.org/presentationml/2006/main">
  <p:cSld>
    <p:bg>
      <p:bgPr>
        <a:solidFill xmlns:a="http://schemas.openxmlformats.org/drawingml/2006/main">
          <a:srgbClr val="152E42"/>
        </a:solidFill>
      </p:bgPr>
    </p:bg>
    <p:spTree>
      <p:nvGrpSpPr>
        <p:cNvPr id="1" name=""/>
        <p:cNvGrpSpPr/>
        <p:nvPr/>
      </p:nvGrpSpPr>
      <p:grpSpPr>
        <a:xfrm xmlns:a="http://schemas.openxmlformats.org/drawingml/2006/main"/>
      </p:grpSpPr>
      <p:sp>
        <p:nvSpPr>
          <p:cNvPr id="8" name="Review and authorization">
            <a:extLst xmlns:a="http://schemas.openxmlformats.org/drawingml/2006/main">
              <a:ext uri="{FF2B5EF4-FFF2-40B4-BE49-F238E27FC236}">
                <a16:creationId xmlns:a16="http://schemas.microsoft.com/office/drawing/2014/main" id="{FBC71CA6-C4A3-4ABF-AE18-2A86529CD3BD}"/>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Review and authorization</a:t>
            </a:r>
          </a:p>
        </p:txBody>
      </p:sp>
      <p:sp>
        <p:nvSpPr>
          <p:cNvPr id="2" name="39">
            <a:extLst xmlns:a="http://schemas.openxmlformats.org/drawingml/2006/main">
              <a:ext uri="{FF2B5EF4-FFF2-40B4-BE49-F238E27FC236}">
                <a16:creationId xmlns:a16="http://schemas.microsoft.com/office/drawing/2014/main" id="{D92AA3E1-C37D-4DE0-B8A0-662D1AE3C40F}"/>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B8D7D8"/>
                </a:solidFill>
                <a:latin typeface="Arial"/>
                <a:ea typeface="Arial"/>
                <a:cs typeface="Arial"/>
              </a:defRPr>
            </a:defPPr>
          </a:lstStyle>
          <a:p xmlns:a="http://schemas.openxmlformats.org/drawingml/2006/main">
            <a:pPr algn="r">
              <a:buNone/>
              <a:defRPr sz="1275" b="0">
                <a:solidFill>
                  <a:srgbClr val="B8D7D8"/>
                </a:solidFill>
                <a:latin typeface="Arial"/>
                <a:ea typeface="Arial"/>
                <a:cs typeface="Arial"/>
              </a:defRPr>
            </a:pPr>
            <a:r>
              <a:rPr sz="1275" b="0">
                <a:solidFill>
                  <a:srgbClr val="B8D7D8"/>
                </a:solidFill>
                <a:latin typeface="Arial"/>
                <a:ea typeface="Arial"/>
                <a:cs typeface="Arial"/>
              </a:rPr>
              <a:t>46</a:t>
            </a:r>
          </a:p>
        </p:txBody>
      </p:sp>
      <p:sp>
        <p:nvSpPr>
          <p:cNvPr id="3" name="Resolve P00 choices">
            <a:extLst xmlns:a="http://schemas.openxmlformats.org/drawingml/2006/main">
              <a:ext uri="{FF2B5EF4-FFF2-40B4-BE49-F238E27FC236}">
                <a16:creationId xmlns:a16="http://schemas.microsoft.com/office/drawing/2014/main" id="{FC586F57-775C-424E-A7DB-BEF9140CCB13}"/>
              </a:ext>
            </a:extLst>
          </p:cNvPr>
          <p:cNvSpPr>
            <a:spLocks xmlns:a="http://schemas.openxmlformats.org/drawingml/2006/main" noGrp="1"/>
          </p:cNvSpPr>
          <p:nvPr/>
        </p:nvSpPr>
        <p:spPr>
          <a:xfrm xmlns:a="http://schemas.openxmlformats.org/drawingml/2006/main">
            <a:off x="609600" y="191452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FFFFFF"/>
                </a:solidFill>
                <a:latin typeface="Arial"/>
                <a:ea typeface="Arial"/>
                <a:cs typeface="Arial"/>
              </a:defRPr>
            </a:defPPr>
          </a:lstStyle>
          <a:p xmlns:a="http://schemas.openxmlformats.org/drawingml/2006/main">
            <a:pPr algn="l">
              <a:buNone/>
              <a:defRPr sz="2700" b="1">
                <a:solidFill>
                  <a:srgbClr val="FFFFFF"/>
                </a:solidFill>
                <a:latin typeface="Arial"/>
                <a:ea typeface="Arial"/>
                <a:cs typeface="Arial"/>
              </a:defRPr>
            </a:pPr>
            <a:r>
              <a:rPr sz="2700" b="1">
                <a:solidFill>
                  <a:srgbClr val="FFFFFF"/>
                </a:solidFill>
                <a:latin typeface="Arial"/>
                <a:ea typeface="Arial"/>
                <a:cs typeface="Arial"/>
              </a:rPr>
              <a:t>Resolve P00 choices</a:t>
            </a:r>
          </a:p>
        </p:txBody>
      </p:sp>
      <p:sp>
        <p:nvSpPr>
          <p:cNvPr id="4" name="Approve or revise the phase sequence and proposed targets">
            <a:extLst xmlns:a="http://schemas.openxmlformats.org/drawingml/2006/main">
              <a:ext uri="{FF2B5EF4-FFF2-40B4-BE49-F238E27FC236}">
                <a16:creationId xmlns:a16="http://schemas.microsoft.com/office/drawing/2014/main" id="{D8D3C48F-F332-4481-8E70-67D129A8904A}"/>
              </a:ext>
            </a:extLst>
          </p:cNvPr>
          <p:cNvSpPr>
            <a:spLocks xmlns:a="http://schemas.openxmlformats.org/drawingml/2006/main" noGrp="1"/>
          </p:cNvSpPr>
          <p:nvPr/>
        </p:nvSpPr>
        <p:spPr>
          <a:xfrm xmlns:a="http://schemas.openxmlformats.org/drawingml/2006/main">
            <a:off x="609600" y="27717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C4DFDF"/>
                </a:solidFill>
                <a:latin typeface="Arial"/>
                <a:ea typeface="Arial"/>
                <a:cs typeface="Arial"/>
              </a:defRPr>
            </a:defPPr>
          </a:lstStyle>
          <a:p xmlns:a="http://schemas.openxmlformats.org/drawingml/2006/main">
            <a:pPr algn="l">
              <a:buNone/>
              <a:defRPr sz="2325" b="0">
                <a:solidFill>
                  <a:srgbClr val="C4DFDF"/>
                </a:solidFill>
                <a:latin typeface="Arial"/>
                <a:ea typeface="Arial"/>
                <a:cs typeface="Arial"/>
              </a:defRPr>
            </a:pPr>
            <a:r>
              <a:rPr sz="2325" b="0">
                <a:solidFill>
                  <a:srgbClr val="C4DFDF"/>
                </a:solidFill>
                <a:latin typeface="Arial"/>
                <a:ea typeface="Arial"/>
                <a:cs typeface="Arial"/>
              </a:rPr>
              <a:t>Approve or revise the phase sequence and proposed targets</a:t>
            </a:r>
          </a:p>
        </p:txBody>
      </p:sp>
      <p:sp>
        <p:nvSpPr>
          <p:cNvPr id="5" name="Name gate reviewers and record the accepted plan revision">
            <a:extLst xmlns:a="http://schemas.openxmlformats.org/drawingml/2006/main">
              <a:ext uri="{FF2B5EF4-FFF2-40B4-BE49-F238E27FC236}">
                <a16:creationId xmlns:a16="http://schemas.microsoft.com/office/drawing/2014/main" id="{64D9822B-2A45-44C2-BF1E-7F73B25ED3B1}"/>
              </a:ext>
            </a:extLst>
          </p:cNvPr>
          <p:cNvSpPr>
            <a:spLocks xmlns:a="http://schemas.openxmlformats.org/drawingml/2006/main" noGrp="1"/>
          </p:cNvSpPr>
          <p:nvPr/>
        </p:nvSpPr>
        <p:spPr>
          <a:xfrm xmlns:a="http://schemas.openxmlformats.org/drawingml/2006/main">
            <a:off x="609600" y="38100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C4DFDF"/>
                </a:solidFill>
                <a:latin typeface="Arial"/>
                <a:ea typeface="Arial"/>
                <a:cs typeface="Arial"/>
              </a:defRPr>
            </a:defPPr>
          </a:lstStyle>
          <a:p xmlns:a="http://schemas.openxmlformats.org/drawingml/2006/main">
            <a:pPr algn="l">
              <a:buNone/>
              <a:defRPr sz="2325" b="0">
                <a:solidFill>
                  <a:srgbClr val="C4DFDF"/>
                </a:solidFill>
                <a:latin typeface="Arial"/>
                <a:ea typeface="Arial"/>
                <a:cs typeface="Arial"/>
              </a:defRPr>
            </a:pPr>
            <a:r>
              <a:rPr sz="2325" b="0">
                <a:solidFill>
                  <a:srgbClr val="C4DFDF"/>
                </a:solidFill>
                <a:latin typeface="Arial"/>
                <a:ea typeface="Arial"/>
                <a:cs typeface="Arial"/>
              </a:rPr>
              <a:t>Name gate reviewers and record the accepted plan revision</a:t>
            </a:r>
          </a:p>
        </p:txBody>
      </p:sp>
      <p:sp>
        <p:nvSpPr>
          <p:cNvPr id="6" name="Implementation starts only after Ryan’s explicit authorization">
            <a:extLst xmlns:a="http://schemas.openxmlformats.org/drawingml/2006/main">
              <a:ext uri="{FF2B5EF4-FFF2-40B4-BE49-F238E27FC236}">
                <a16:creationId xmlns:a16="http://schemas.microsoft.com/office/drawing/2014/main" id="{4F3EC163-364C-40FB-94D0-7440CB59CB38}"/>
              </a:ext>
            </a:extLst>
          </p:cNvPr>
          <p:cNvSpPr>
            <a:spLocks xmlns:a="http://schemas.openxmlformats.org/drawingml/2006/main" noGrp="1"/>
          </p:cNvSpPr>
          <p:nvPr/>
        </p:nvSpPr>
        <p:spPr>
          <a:xfrm xmlns:a="http://schemas.openxmlformats.org/drawingml/2006/main">
            <a:off x="609600" y="488632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Arial"/>
                <a:ea typeface="Arial"/>
                <a:cs typeface="Arial"/>
              </a:defRPr>
            </a:defPPr>
          </a:lstStyle>
          <a:p xmlns:a="http://schemas.openxmlformats.org/drawingml/2006/main">
            <a:pPr algn="l">
              <a:buNone/>
              <a:defRPr sz="2325" b="1">
                <a:solidFill>
                  <a:srgbClr val="FFFFFF"/>
                </a:solidFill>
                <a:latin typeface="Arial"/>
                <a:ea typeface="Arial"/>
                <a:cs typeface="Arial"/>
              </a:defRPr>
            </a:pPr>
            <a:r>
              <a:rPr sz="2325" b="1">
                <a:solidFill>
                  <a:srgbClr val="FFFFFF"/>
                </a:solidFill>
                <a:latin typeface="Arial"/>
                <a:ea typeface="Arial"/>
                <a:cs typeface="Arial"/>
              </a:rPr>
              <a:t>Implementation starts only after Ryan’s explicit authorization</a:t>
            </a:r>
          </a:p>
        </p:txBody>
      </p:sp>
      <p:sp>
        <p:nvSpPr>
          <p:cNvPr id="7" name="Planning is ready for review. Repository governance remains blocked&#10;un">
            <a:extLst xmlns:a="http://schemas.openxmlformats.org/drawingml/2006/main">
              <a:ext uri="{FF2B5EF4-FFF2-40B4-BE49-F238E27FC236}">
                <a16:creationId xmlns:a16="http://schemas.microsoft.com/office/drawing/2014/main" id="{F75D2BA4-A920-4ABA-9245-A25686E2F606}"/>
              </a:ext>
            </a:extLst>
          </p:cNvPr>
          <p:cNvSpPr>
            <a:spLocks xmlns:a="http://schemas.openxmlformats.org/drawingml/2006/main" noGrp="1"/>
          </p:cNvSpPr>
          <p:nvPr/>
        </p:nvSpPr>
        <p:spPr>
          <a:xfrm xmlns:a="http://schemas.openxmlformats.org/drawingml/2006/main">
            <a:off x="609600" y="5876925"/>
            <a:ext cx="10477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C4DFDF"/>
                </a:solidFill>
                <a:latin typeface="Arial"/>
                <a:ea typeface="Arial"/>
                <a:cs typeface="Arial"/>
              </a:defRPr>
            </a:defPPr>
          </a:lstStyle>
          <a:p xmlns:a="http://schemas.openxmlformats.org/drawingml/2006/main">
            <a:pPr algn="l">
              <a:buNone/>
              <a:defRPr sz="1650" b="0">
                <a:solidFill>
                  <a:srgbClr val="C4DFDF"/>
                </a:solidFill>
                <a:latin typeface="Arial"/>
                <a:ea typeface="Arial"/>
                <a:cs typeface="Arial"/>
              </a:defRPr>
            </a:pPr>
            <a:r>
              <a:rPr sz="1650" b="0">
                <a:solidFill>
                  <a:srgbClr val="C4DFDF"/>
                </a:solidFill>
                <a:latin typeface="Arial"/>
                <a:ea typeface="Arial"/>
                <a:cs typeface="Arial"/>
              </a:rPr>
              <a:t>Planning is ready for review. Repository governance remains blocked</a:t>
            </a:r>
          </a:p>
          <a:p xmlns:a="http://schemas.openxmlformats.org/drawingml/2006/main">
            <a:pPr algn="l">
              <a:buNone/>
              <a:defRPr sz="1650" b="0">
                <a:solidFill>
                  <a:srgbClr val="C4DFDF"/>
                </a:solidFill>
                <a:latin typeface="Arial"/>
                <a:ea typeface="Arial"/>
                <a:cs typeface="Arial"/>
              </a:defRPr>
            </a:pPr>
            <a:r>
              <a:rPr sz="1650" b="0">
                <a:solidFill>
                  <a:srgbClr val="C4DFDF"/>
                </a:solidFill>
                <a:latin typeface="Arial"/>
                <a:ea typeface="Arial"/>
                <a:cs typeface="Arial"/>
              </a:rPr>
              <a:t>until approved P01 correctness repairs pass.</a:t>
            </a:r>
          </a:p>
        </p:txBody>
      </p:sp>
    </p:spTree>
    <p:extLst>
      <p:ext uri="{BB962C8B-B14F-4D97-AF65-F5344CB8AC3E}">
        <p14:creationId xmlns:p14="http://schemas.microsoft.com/office/powerpoint/2010/main" val="72943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2026-10-09T12:19:32.2420000Z</dcterms:created>
  <dcterms:modified xsi:type="dcterms:W3CDTF">2026-10-09T12:19:32.2430000Z</dcterms:modified>
</coreProperties>
</file>